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2.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29" r:id="rId5"/>
  </p:sldMasterIdLst>
  <p:notesMasterIdLst>
    <p:notesMasterId r:id="rId3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x="12192000" cy="6858000"/>
  <p:notesSz cx="7023100" cy="9309100"/>
  <p:custDataLst>
    <p:tags r:id="rId40"/>
  </p:custDataLst>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CA54C04-2FB0-06D6-7E12-CDD00483D446}" name="Isidora Patricia Correa Poblete" initials="IC" userId="S::isidora.correa@arauco.com::92aa58fe-1b4e-4258-a311-e3f49bad1b50" providerId="AD"/>
  <p188:author id="{FB21CA4C-8796-B5C0-3534-689FC36BE1F8}" name="Carlos Alberto Contreras Villablanca" initials="CV" userId="S::carlos.contreras@arauco.com::e1b5a32a-a352-466b-b131-6fdebd7aa2f2" providerId="AD"/>
  <p188:author id="{9D857388-7C7A-9BA0-28AD-6B4E4EBE7B6C}" name="Christian Aguayo Seguel" initials="CAS" userId="Christian Aguayo Seguel" providerId="None"/>
  <p188:author id="{4B7CD788-EAE6-C614-C671-F938613A56A6}" name="Williams Santiago Hernández" initials="WS" userId="S::williams.santiago@arauco.com::50a87e8b-7848-4093-8267-4e8b411dda78" providerId="AD"/>
  <p188:author id="{D6E10DB1-69D8-9CD9-9620-E47AF80C7BA9}" name="Jaime Alberto Toro Vega" initials="JV" userId="S::jaime.toro@arauco.com::f97a6e41-c772-4897-a275-c2736f0fe8ce" providerId="AD"/>
  <p188:author id="{E069AFBF-31B8-6394-406C-3AAB18503BE6}" name="Mauricio Alejandro Muñoz Troncoso" initials="MM" userId="S::mauricio.munoz.t@arauco.com::ae5c7700-3b27-493d-aea9-3c0631f72af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FE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Estilo claro 1 - Acento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75"/>
    <p:restoredTop sz="94737"/>
  </p:normalViewPr>
  <p:slideViewPr>
    <p:cSldViewPr snapToGrid="0">
      <p:cViewPr>
        <p:scale>
          <a:sx n="120" d="100"/>
          <a:sy n="120" d="100"/>
        </p:scale>
        <p:origin x="400"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notesMaster" Target="notesMasters/notesMaster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tags" Target="tags/tag1.xml"/><Relationship Id="rId45"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heme" Target="theme/theme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20" Type="http://schemas.openxmlformats.org/officeDocument/2006/relationships/slide" Target="slides/slide15.xml"/><Relationship Id="rId4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043343" cy="467071"/>
          </a:xfrm>
          <a:prstGeom prst="rect">
            <a:avLst/>
          </a:prstGeom>
        </p:spPr>
        <p:txBody>
          <a:bodyPr vert="horz" lIns="93316" tIns="46658" rIns="93316" bIns="46658" rtlCol="0"/>
          <a:lstStyle>
            <a:lvl1pPr algn="l">
              <a:defRPr sz="1200"/>
            </a:lvl1pPr>
          </a:lstStyle>
          <a:p>
            <a:endParaRPr lang="en-US"/>
          </a:p>
        </p:txBody>
      </p:sp>
      <p:sp>
        <p:nvSpPr>
          <p:cNvPr id="3" name="Marcador de fecha 2"/>
          <p:cNvSpPr>
            <a:spLocks noGrp="1"/>
          </p:cNvSpPr>
          <p:nvPr>
            <p:ph type="dt" idx="1"/>
          </p:nvPr>
        </p:nvSpPr>
        <p:spPr>
          <a:xfrm>
            <a:off x="3978132" y="0"/>
            <a:ext cx="3043343" cy="467071"/>
          </a:xfrm>
          <a:prstGeom prst="rect">
            <a:avLst/>
          </a:prstGeom>
        </p:spPr>
        <p:txBody>
          <a:bodyPr vert="horz" lIns="93316" tIns="46658" rIns="93316" bIns="46658" rtlCol="0"/>
          <a:lstStyle>
            <a:lvl1pPr algn="r">
              <a:defRPr sz="1200"/>
            </a:lvl1pPr>
          </a:lstStyle>
          <a:p>
            <a:fld id="{371484C8-01AC-44B5-AAD4-7D9AB2D95A65}" type="datetimeFigureOut">
              <a:rPr lang="en-US" smtClean="0"/>
              <a:t>9/23/26</a:t>
            </a:fld>
            <a:endParaRPr lang="en-US"/>
          </a:p>
        </p:txBody>
      </p:sp>
      <p:sp>
        <p:nvSpPr>
          <p:cNvPr id="4" name="Marcador de imagen de diapositiva 3"/>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3316" tIns="46658" rIns="93316" bIns="46658" rtlCol="0" anchor="ctr"/>
          <a:lstStyle/>
          <a:p>
            <a:endParaRPr lang="en-US"/>
          </a:p>
        </p:txBody>
      </p:sp>
      <p:sp>
        <p:nvSpPr>
          <p:cNvPr id="5" name="Marcador de notas 4"/>
          <p:cNvSpPr>
            <a:spLocks noGrp="1"/>
          </p:cNvSpPr>
          <p:nvPr>
            <p:ph type="body" sz="quarter" idx="3"/>
          </p:nvPr>
        </p:nvSpPr>
        <p:spPr>
          <a:xfrm>
            <a:off x="702310" y="4480004"/>
            <a:ext cx="5618480" cy="3665458"/>
          </a:xfrm>
          <a:prstGeom prst="rect">
            <a:avLst/>
          </a:prstGeom>
        </p:spPr>
        <p:txBody>
          <a:bodyPr vert="horz" lIns="93316" tIns="46658" rIns="93316" bIns="46658"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6" name="Marcador de pie de página 5"/>
          <p:cNvSpPr>
            <a:spLocks noGrp="1"/>
          </p:cNvSpPr>
          <p:nvPr>
            <p:ph type="ftr" sz="quarter" idx="4"/>
          </p:nvPr>
        </p:nvSpPr>
        <p:spPr>
          <a:xfrm>
            <a:off x="0" y="8842030"/>
            <a:ext cx="3043343" cy="467071"/>
          </a:xfrm>
          <a:prstGeom prst="rect">
            <a:avLst/>
          </a:prstGeom>
        </p:spPr>
        <p:txBody>
          <a:bodyPr vert="horz" lIns="93316" tIns="46658" rIns="93316" bIns="46658" rtlCol="0" anchor="b"/>
          <a:lstStyle>
            <a:lvl1pPr algn="l">
              <a:defRPr sz="1200"/>
            </a:lvl1pPr>
          </a:lstStyle>
          <a:p>
            <a:endParaRPr lang="en-US"/>
          </a:p>
        </p:txBody>
      </p:sp>
      <p:sp>
        <p:nvSpPr>
          <p:cNvPr id="7" name="Marcador de número de diapositiva 6"/>
          <p:cNvSpPr>
            <a:spLocks noGrp="1"/>
          </p:cNvSpPr>
          <p:nvPr>
            <p:ph type="sldNum" sz="quarter" idx="5"/>
          </p:nvPr>
        </p:nvSpPr>
        <p:spPr>
          <a:xfrm>
            <a:off x="3978132" y="8842030"/>
            <a:ext cx="3043343" cy="467071"/>
          </a:xfrm>
          <a:prstGeom prst="rect">
            <a:avLst/>
          </a:prstGeom>
        </p:spPr>
        <p:txBody>
          <a:bodyPr vert="horz" lIns="93316" tIns="46658" rIns="93316" bIns="46658" rtlCol="0" anchor="b"/>
          <a:lstStyle>
            <a:lvl1pPr algn="r">
              <a:defRPr sz="1200"/>
            </a:lvl1pPr>
          </a:lstStyle>
          <a:p>
            <a:fld id="{3631B0A6-3FCB-43BF-A3B1-F20DCE2A7C2F}" type="slidenum">
              <a:rPr lang="en-US" smtClean="0"/>
              <a:t>‹Nº›</a:t>
            </a:fld>
            <a:endParaRPr lang="en-US"/>
          </a:p>
        </p:txBody>
      </p:sp>
    </p:spTree>
    <p:extLst>
      <p:ext uri="{BB962C8B-B14F-4D97-AF65-F5344CB8AC3E}">
        <p14:creationId xmlns:p14="http://schemas.microsoft.com/office/powerpoint/2010/main" val="1256463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3.png"/><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9.png"/><Relationship Id="rId4" Type="http://schemas.openxmlformats.org/officeDocument/2006/relationships/image" Target="../media/image8.emf"/></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10.png"/><Relationship Id="rId4" Type="http://schemas.openxmlformats.org/officeDocument/2006/relationships/image" Target="../media/image8.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2.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3.png"/><Relationship Id="rId5" Type="http://schemas.openxmlformats.org/officeDocument/2006/relationships/image" Target="../media/image2.emf"/><Relationship Id="rId4" Type="http://schemas.openxmlformats.org/officeDocument/2006/relationships/oleObject" Target="../embeddings/oleObject6.bin"/></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1.xml"/><Relationship Id="rId5" Type="http://schemas.openxmlformats.org/officeDocument/2006/relationships/image" Target="../media/image6.png"/><Relationship Id="rId4" Type="http://schemas.openxmlformats.org/officeDocument/2006/relationships/image" Target="../media/image8.emf"/></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2.xml"/><Relationship Id="rId5" Type="http://schemas.openxmlformats.org/officeDocument/2006/relationships/image" Target="../media/image10.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2.emf"/></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8.xml"/><Relationship Id="rId5" Type="http://schemas.openxmlformats.org/officeDocument/2006/relationships/image" Target="../media/image5.png"/><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23.xml"/><Relationship Id="rId5" Type="http://schemas.openxmlformats.org/officeDocument/2006/relationships/image" Target="../media/image5.png"/><Relationship Id="rId4" Type="http://schemas.openxmlformats.org/officeDocument/2006/relationships/image" Target="../media/image1.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24.xml"/><Relationship Id="rId5" Type="http://schemas.openxmlformats.org/officeDocument/2006/relationships/image" Target="../media/image6.png"/><Relationship Id="rId4" Type="http://schemas.openxmlformats.org/officeDocument/2006/relationships/image" Target="../media/image1.emf"/></Relationships>
</file>

<file path=ppt/slideLayouts/_rels/slideLayout6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28.xml"/><Relationship Id="rId7" Type="http://schemas.openxmlformats.org/officeDocument/2006/relationships/image" Target="../media/image3.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image" Target="../media/image1.emf"/><Relationship Id="rId5" Type="http://schemas.openxmlformats.org/officeDocument/2006/relationships/oleObject" Target="../embeddings/oleObject20.bin"/><Relationship Id="rId4"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2.png"/><Relationship Id="rId5" Type="http://schemas.openxmlformats.org/officeDocument/2006/relationships/image" Target="../media/image1.emf"/><Relationship Id="rId4" Type="http://schemas.openxmlformats.org/officeDocument/2006/relationships/oleObject" Target="../embeddings/oleObject21.bin"/></Relationships>
</file>

<file path=ppt/slideLayouts/_rels/slideLayout7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11.png"/><Relationship Id="rId5" Type="http://schemas.openxmlformats.org/officeDocument/2006/relationships/image" Target="../media/image13.emf"/><Relationship Id="rId4" Type="http://schemas.openxmlformats.org/officeDocument/2006/relationships/oleObject" Target="../embeddings/oleObject22.bin"/></Relationships>
</file>

<file path=ppt/slideLayouts/_rels/slideLayout7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3.bin"/></Relationships>
</file>

<file path=ppt/slideLayouts/_rels/slideLayout7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4.bin"/></Relationships>
</file>

<file path=ppt/slideLayouts/_rels/slideLayout7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5.bin"/></Relationships>
</file>

<file path=ppt/slideLayouts/_rels/slideLayout7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7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7.bin"/></Relationships>
</file>

<file path=ppt/slideLayouts/_rels/slideLayout76.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8.bin"/></Relationships>
</file>

<file path=ppt/slideLayouts/_rels/slideLayout77.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9.bin"/></Relationships>
</file>

<file path=ppt/slideLayouts/_rels/slideLayout78.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79.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30.bin"/></Relationships>
</file>

<file path=ppt/slideLayouts/_rels/slideLayout80.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image" Target="../media/image9.png"/><Relationship Id="rId5" Type="http://schemas.openxmlformats.org/officeDocument/2006/relationships/image" Target="../media/image1.emf"/><Relationship Id="rId4" Type="http://schemas.openxmlformats.org/officeDocument/2006/relationships/oleObject" Target="../embeddings/oleObject31.bin"/></Relationships>
</file>

<file path=ppt/slideLayouts/_rels/slideLayout81.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32.bin"/></Relationships>
</file>

<file path=ppt/slideLayouts/_rels/slideLayout82.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8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8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33.bin"/></Relationships>
</file>

<file path=ppt/slideLayouts/_rels/slideLayout8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34.bin"/></Relationships>
</file>

<file path=ppt/slideLayouts/_rels/slideLayout8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35.bin"/></Relationships>
</file>

<file path=ppt/slideLayouts/_rels/slideLayout8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36.bin"/></Relationships>
</file>

<file path=ppt/slideLayouts/_rels/slideLayout88.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37.bin"/></Relationships>
</file>

<file path=ppt/slideLayouts/_rels/slideLayout8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38.bin"/></Relationships>
</file>

<file path=ppt/slideLayouts/_rels/slideLayout9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39.bin"/></Relationships>
</file>

<file path=ppt/slideLayouts/_rels/slideLayout9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2.xml"/><Relationship Id="rId1" Type="http://schemas.openxmlformats.org/officeDocument/2006/relationships/tags" Target="../tags/tag75.xml"/></Relationships>
</file>

<file path=ppt/slideLayouts/_rels/slideLayout9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40.bin"/></Relationships>
</file>

<file path=ppt/slideLayouts/_rels/slideLayout9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image" Target="../media/image12.png"/><Relationship Id="rId5" Type="http://schemas.openxmlformats.org/officeDocument/2006/relationships/image" Target="../media/image1.emf"/><Relationship Id="rId4" Type="http://schemas.openxmlformats.org/officeDocument/2006/relationships/oleObject" Target="../embeddings/oleObject41.bin"/></Relationships>
</file>

<file path=ppt/slideLayouts/_rels/slideLayout9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9.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100.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42.bin"/></Relationships>
</file>

<file path=ppt/slideLayouts/_rels/slideLayout101.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102.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43.bin"/></Relationships>
</file>

<file path=ppt/slideLayouts/_rels/slideLayout10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10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44.bin"/></Relationships>
</file>

<file path=ppt/slideLayouts/_rels/slideLayout10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1.xml"/><Relationship Id="rId1" Type="http://schemas.openxmlformats.org/officeDocument/2006/relationships/tags" Target="../tags/tag100.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45.bin"/></Relationships>
</file>

<file path=ppt/slideLayouts/_rels/slideLayout106.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46.bin"/></Relationships>
</file>

<file path=ppt/slideLayouts/_rels/slideLayout107.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image" Target="../media/image9.png"/><Relationship Id="rId5" Type="http://schemas.openxmlformats.org/officeDocument/2006/relationships/image" Target="../media/image1.emf"/><Relationship Id="rId4" Type="http://schemas.openxmlformats.org/officeDocument/2006/relationships/oleObject" Target="../embeddings/oleObject47.bin"/></Relationships>
</file>

<file path=ppt/slideLayouts/_rels/slideLayout108.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7.xml"/><Relationship Id="rId1" Type="http://schemas.openxmlformats.org/officeDocument/2006/relationships/tags" Target="../tags/tag106.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48.bin"/></Relationships>
</file>

<file path=ppt/slideLayouts/_rels/slideLayout109.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9.xml"/><Relationship Id="rId1" Type="http://schemas.openxmlformats.org/officeDocument/2006/relationships/tags" Target="../tags/tag108.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49.bin"/></Relationships>
</file>

<file path=ppt/slideLayouts/_rels/slideLayout110.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11.xml"/><Relationship Id="rId1" Type="http://schemas.openxmlformats.org/officeDocument/2006/relationships/tags" Target="../tags/tag110.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50.bin"/></Relationships>
</file>

<file path=ppt/slideLayouts/_rels/slideLayout111.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51.bin"/></Relationships>
</file>

<file path=ppt/slideLayouts/_rels/slideLayout112.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52.bin"/></Relationships>
</file>

<file path=ppt/slideLayouts/_rels/slideLayout11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3.bin"/></Relationships>
</file>

<file path=ppt/slideLayouts/_rels/slideLayout11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4.bin"/></Relationships>
</file>

<file path=ppt/slideLayouts/_rels/slideLayout11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55.bin"/></Relationships>
</file>

<file path=ppt/slideLayouts/_rels/slideLayout11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3.xml"/><Relationship Id="rId1" Type="http://schemas.openxmlformats.org/officeDocument/2006/relationships/tags" Target="../tags/tag122.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6.bin"/></Relationships>
</file>

<file path=ppt/slideLayouts/_rels/slideLayout117.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25.xml"/><Relationship Id="rId1" Type="http://schemas.openxmlformats.org/officeDocument/2006/relationships/tags" Target="../tags/tag124.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57.bin"/></Relationships>
</file>

<file path=ppt/slideLayouts/_rels/slideLayout11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7.xml"/><Relationship Id="rId1" Type="http://schemas.openxmlformats.org/officeDocument/2006/relationships/tags" Target="../tags/tag126.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8.bin"/></Relationships>
</file>

<file path=ppt/slideLayouts/_rels/slideLayout11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9.xml"/><Relationship Id="rId1" Type="http://schemas.openxmlformats.org/officeDocument/2006/relationships/tags" Target="../tags/tag128.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9.bin"/></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2.xml"/><Relationship Id="rId1" Type="http://schemas.openxmlformats.org/officeDocument/2006/relationships/tags" Target="../tags/tag130.xml"/></Relationships>
</file>

<file path=ppt/slideLayouts/_rels/slideLayout12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32.xml"/><Relationship Id="rId1" Type="http://schemas.openxmlformats.org/officeDocument/2006/relationships/tags" Target="../tags/tag131.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60.bin"/></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84" imgH="384" progId="TCLayout.ActiveDocument.1">
                  <p:embed/>
                </p:oleObj>
              </mc:Choice>
              <mc:Fallback>
                <p:oleObj name="Diapositiva de think-cell" r:id="rId4" imgW="384" imgH="384"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a:solidFill>
                <a:srgbClr val="FFFFFF"/>
              </a:solidFill>
              <a:latin typeface="Trebuchet MS" panose="020B0603020202020204" pitchFamily="34" charset="0"/>
              <a:ea typeface="+mj-ea"/>
              <a:cs typeface="+mj-cs"/>
              <a:sym typeface="Trebuchet MS" panose="020B0603020202020204" pitchFamily="34" charset="0"/>
            </a:endParaRPr>
          </a:p>
        </p:txBody>
      </p:sp>
      <p:pic>
        <p:nvPicPr>
          <p:cNvPr id="19" name="Imagen 12"/>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12358"/>
            <a:ext cx="12193200" cy="6870358"/>
          </a:xfrm>
          <a:prstGeom prst="rect">
            <a:avLst/>
          </a:prstGeom>
        </p:spPr>
      </p:pic>
      <p:sp>
        <p:nvSpPr>
          <p:cNvPr id="23" name="Text Placeholder 3"/>
          <p:cNvSpPr>
            <a:spLocks noGrp="1"/>
          </p:cNvSpPr>
          <p:nvPr>
            <p:ph type="body" sz="quarter" idx="10" hasCustomPrompt="1"/>
          </p:nvPr>
        </p:nvSpPr>
        <p:spPr>
          <a:xfrm>
            <a:off x="1044646" y="3652140"/>
            <a:ext cx="6213724" cy="1763242"/>
          </a:xfrm>
        </p:spPr>
        <p:txBody>
          <a:bodyPr/>
          <a:lstStyle>
            <a:lvl1pPr>
              <a:defRPr sz="4000">
                <a:solidFill>
                  <a:schemeClr val="bg1"/>
                </a:solidFill>
                <a:latin typeface="+mn-lt"/>
                <a:ea typeface="+mn-ea"/>
                <a:cs typeface="+mn-cs"/>
                <a:sym typeface="+mn-lt"/>
              </a:defRPr>
            </a:lvl1pPr>
          </a:lstStyle>
          <a:p>
            <a:pPr lvl="0"/>
            <a:r>
              <a:rPr lang="de-DE"/>
              <a:t>Título de la presentación</a:t>
            </a:r>
          </a:p>
        </p:txBody>
      </p:sp>
      <p:sp>
        <p:nvSpPr>
          <p:cNvPr id="24" name="Text Placeholder 5"/>
          <p:cNvSpPr>
            <a:spLocks noGrp="1"/>
          </p:cNvSpPr>
          <p:nvPr>
            <p:ph type="body" sz="quarter" idx="11" hasCustomPrompt="1"/>
          </p:nvPr>
        </p:nvSpPr>
        <p:spPr>
          <a:xfrm>
            <a:off x="1044650" y="5415382"/>
            <a:ext cx="6213720" cy="487706"/>
          </a:xfrm>
        </p:spPr>
        <p:txBody>
          <a:bodyPr/>
          <a:lstStyle>
            <a:lvl1pPr>
              <a:defRPr kumimoji="0" lang="en-US" sz="2000" b="0" i="0" u="none" strike="noStrike" kern="1200" cap="none" spc="0" normalizeH="0" baseline="0" dirty="0">
                <a:ln>
                  <a:noFill/>
                </a:ln>
                <a:solidFill>
                  <a:srgbClr val="BFB800"/>
                </a:solidFill>
                <a:effectLst/>
                <a:uLnTx/>
                <a:uFillTx/>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FECHA</a:t>
            </a:r>
          </a:p>
        </p:txBody>
      </p:sp>
    </p:spTree>
    <p:extLst>
      <p:ext uri="{BB962C8B-B14F-4D97-AF65-F5344CB8AC3E}">
        <p14:creationId xmlns:p14="http://schemas.microsoft.com/office/powerpoint/2010/main" val="40491991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pic>
        <p:nvPicPr>
          <p:cNvPr id="8" name="Imagen 9" descr="ARAUCO_CORTEZA.png"/>
          <p:cNvPicPr>
            <a:picLocks noChangeAspect="1"/>
          </p:cNvPicPr>
          <p:nvPr userDrawn="1"/>
        </p:nvPicPr>
        <p:blipFill>
          <a:blip r:embed="rId2" cstate="print">
            <a:extLst>
              <a:ext uri="{28A0092B-C50C-407E-A947-70E740481C1C}">
                <a14:useLocalDpi xmlns:a14="http://schemas.microsoft.com/office/drawing/2010/main" val="0"/>
              </a:ext>
            </a:extLst>
          </a:blip>
          <a:srcRect l="4091" t="18738" r="3792" b="13930"/>
          <a:stretch>
            <a:fillRect/>
          </a:stretch>
        </p:blipFill>
        <p:spPr>
          <a:xfrm>
            <a:off x="630000" y="211660"/>
            <a:ext cx="1320800" cy="252507"/>
          </a:xfrm>
          <a:prstGeom prst="rect">
            <a:avLst/>
          </a:prstGeom>
        </p:spPr>
      </p:pic>
    </p:spTree>
    <p:extLst>
      <p:ext uri="{BB962C8B-B14F-4D97-AF65-F5344CB8AC3E}">
        <p14:creationId xmlns:p14="http://schemas.microsoft.com/office/powerpoint/2010/main" val="27917066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8214818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a:t>Click to add title</a:t>
            </a: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119280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609804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95790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40928769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spTree>
    <p:extLst>
      <p:ext uri="{BB962C8B-B14F-4D97-AF65-F5344CB8AC3E}">
        <p14:creationId xmlns:p14="http://schemas.microsoft.com/office/powerpoint/2010/main" val="40993560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6234389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800" kern="120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37668410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8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21364706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a:solidFill>
                  <a:schemeClr val="tx2"/>
                </a:solidFill>
              </a:rPr>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11240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1343732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24" imgH="324" progId="TCLayout.ActiveDocument.1">
                  <p:embed/>
                </p:oleObj>
              </mc:Choice>
              <mc:Fallback>
                <p:oleObj name="Diapositiva de think-cell"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800" kern="120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a:t>Click to add title</a:t>
            </a:r>
          </a:p>
        </p:txBody>
      </p:sp>
      <p:pic>
        <p:nvPicPr>
          <p:cNvPr id="15" name="Picture 1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51240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19006023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47305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31390011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pic>
        <p:nvPicPr>
          <p:cNvPr id="16"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12287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13331532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31314040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6174188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24" imgH="324" progId="TCLayout.ActiveDocument.1">
                  <p:embed/>
                </p:oleObj>
              </mc:Choice>
              <mc:Fallback>
                <p:oleObj name="Diapositiva de think-cell" r:id="rId3" imgW="324" imgH="32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mn-lt"/>
              <a:sym typeface="Trebuchet MS" panose="020B0603020202020204" pitchFamily="34" charset="0"/>
            </a:endParaRPr>
          </a:p>
        </p:txBody>
      </p:sp>
    </p:spTree>
    <p:extLst>
      <p:ext uri="{BB962C8B-B14F-4D97-AF65-F5344CB8AC3E}">
        <p14:creationId xmlns:p14="http://schemas.microsoft.com/office/powerpoint/2010/main" val="7428294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9105516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25862301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32204805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1259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84" imgH="384" progId="TCLayout.ActiveDocument.1">
                  <p:embed/>
                </p:oleObj>
              </mc:Choice>
              <mc:Fallback>
                <p:oleObj name="Diapositiva de think-cell" r:id="rId3" imgW="384" imgH="38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Rectangle 9"/>
          <p:cNvSpPr/>
          <p:nvPr userDrawn="1"/>
        </p:nvSpPr>
        <p:spPr>
          <a:xfrm>
            <a:off x="-19050" y="0"/>
            <a:ext cx="12211050" cy="6858000"/>
          </a:xfrm>
          <a:prstGeom prst="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n-US" sz="8000">
                <a:solidFill>
                  <a:schemeClr val="bg1"/>
                </a:solidFill>
              </a:rPr>
              <a:t>Thank You</a:t>
            </a:r>
          </a:p>
        </p:txBody>
      </p:sp>
      <p:cxnSp>
        <p:nvCxnSpPr>
          <p:cNvPr id="11" name="Straight Connector 10"/>
          <p:cNvCxnSpPr/>
          <p:nvPr userDrawn="1"/>
        </p:nvCxnSpPr>
        <p:spPr>
          <a:xfrm>
            <a:off x="10477500" y="0"/>
            <a:ext cx="0" cy="2343150"/>
          </a:xfrm>
          <a:prstGeom prst="line">
            <a:avLst/>
          </a:prstGeom>
          <a:ln w="9525" cap="rnd">
            <a:solidFill>
              <a:schemeClr val="bg1"/>
            </a:solidFill>
            <a:prstDash val="solid"/>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45386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30457234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84" imgH="384" progId="TCLayout.ActiveDocument.1">
                  <p:embed/>
                </p:oleObj>
              </mc:Choice>
              <mc:Fallback>
                <p:oleObj name="Diapositiva de think-cell" r:id="rId4" imgW="384" imgH="384"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a:solidFill>
                <a:srgbClr val="FFFFFF"/>
              </a:solidFill>
              <a:latin typeface="Trebuchet MS" panose="020B0603020202020204" pitchFamily="34" charset="0"/>
              <a:ea typeface="+mj-ea"/>
              <a:cs typeface="+mj-cs"/>
              <a:sym typeface="Trebuchet MS" panose="020B0603020202020204" pitchFamily="34" charset="0"/>
            </a:endParaRPr>
          </a:p>
        </p:txBody>
      </p:sp>
      <p:pic>
        <p:nvPicPr>
          <p:cNvPr id="23" name="Imagen 12"/>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12358"/>
            <a:ext cx="12193200" cy="6870358"/>
          </a:xfrm>
          <a:prstGeom prst="rect">
            <a:avLst/>
          </a:prstGeom>
        </p:spPr>
      </p:pic>
      <p:sp>
        <p:nvSpPr>
          <p:cNvPr id="24" name="Text Placeholder 3"/>
          <p:cNvSpPr>
            <a:spLocks noGrp="1"/>
          </p:cNvSpPr>
          <p:nvPr>
            <p:ph type="body" sz="quarter" idx="10" hasCustomPrompt="1"/>
          </p:nvPr>
        </p:nvSpPr>
        <p:spPr>
          <a:xfrm>
            <a:off x="1044646" y="3652140"/>
            <a:ext cx="6213724" cy="1763242"/>
          </a:xfrm>
        </p:spPr>
        <p:txBody>
          <a:bodyPr/>
          <a:lstStyle>
            <a:lvl1pPr>
              <a:defRPr sz="4000">
                <a:solidFill>
                  <a:schemeClr val="bg1"/>
                </a:solidFill>
                <a:latin typeface="+mn-lt"/>
                <a:ea typeface="+mn-ea"/>
                <a:cs typeface="+mn-cs"/>
                <a:sym typeface="+mn-lt"/>
              </a:defRPr>
            </a:lvl1pPr>
          </a:lstStyle>
          <a:p>
            <a:pPr lvl="0"/>
            <a:r>
              <a:rPr lang="de-DE"/>
              <a:t>Título de la presentación</a:t>
            </a:r>
          </a:p>
        </p:txBody>
      </p:sp>
      <p:sp>
        <p:nvSpPr>
          <p:cNvPr id="25" name="Text Placeholder 5"/>
          <p:cNvSpPr>
            <a:spLocks noGrp="1"/>
          </p:cNvSpPr>
          <p:nvPr>
            <p:ph type="body" sz="quarter" idx="11" hasCustomPrompt="1"/>
          </p:nvPr>
        </p:nvSpPr>
        <p:spPr>
          <a:xfrm>
            <a:off x="1044650" y="5415382"/>
            <a:ext cx="6213720" cy="487706"/>
          </a:xfrm>
        </p:spPr>
        <p:txBody>
          <a:bodyPr/>
          <a:lstStyle>
            <a:lvl1pPr>
              <a:defRPr kumimoji="0" lang="en-US" sz="2000" b="0" i="0" u="none" strike="noStrike" kern="1200" cap="none" spc="0" normalizeH="0" baseline="0" dirty="0">
                <a:ln>
                  <a:noFill/>
                </a:ln>
                <a:solidFill>
                  <a:srgbClr val="BFB800"/>
                </a:solidFill>
                <a:effectLst/>
                <a:uLnTx/>
                <a:uFillTx/>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FECHA</a:t>
            </a:r>
          </a:p>
        </p:txBody>
      </p:sp>
    </p:spTree>
    <p:extLst>
      <p:ext uri="{BB962C8B-B14F-4D97-AF65-F5344CB8AC3E}">
        <p14:creationId xmlns:p14="http://schemas.microsoft.com/office/powerpoint/2010/main" val="31726055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a:t>Click to add title</a:t>
            </a:r>
          </a:p>
        </p:txBody>
      </p:sp>
      <p:pic>
        <p:nvPicPr>
          <p:cNvPr id="6" name="Imagen 9" descr="ARAUCO_CORTEZA.png"/>
          <p:cNvPicPr>
            <a:picLocks noChangeAspect="1"/>
          </p:cNvPicPr>
          <p:nvPr userDrawn="1"/>
        </p:nvPicPr>
        <p:blipFill>
          <a:blip r:embed="rId2" cstate="print">
            <a:extLst>
              <a:ext uri="{28A0092B-C50C-407E-A947-70E740481C1C}">
                <a14:useLocalDpi xmlns:a14="http://schemas.microsoft.com/office/drawing/2010/main" val="0"/>
              </a:ext>
            </a:extLst>
          </a:blip>
          <a:srcRect l="4091" t="18738" r="3792" b="13930"/>
          <a:stretch>
            <a:fillRect/>
          </a:stretch>
        </p:blipFill>
        <p:spPr>
          <a:xfrm>
            <a:off x="630000" y="211660"/>
            <a:ext cx="1320800" cy="252507"/>
          </a:xfrm>
          <a:prstGeom prst="rect">
            <a:avLst/>
          </a:prstGeom>
        </p:spPr>
      </p:pic>
    </p:spTree>
    <p:extLst>
      <p:ext uri="{BB962C8B-B14F-4D97-AF65-F5344CB8AC3E}">
        <p14:creationId xmlns:p14="http://schemas.microsoft.com/office/powerpoint/2010/main" val="1882342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16615372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26902071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0458191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42791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1547176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28195783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25542448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8366565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800" kern="120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762454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8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7430638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24" imgH="324" progId="TCLayout.ActiveDocument.1">
                  <p:embed/>
                </p:oleObj>
              </mc:Choice>
              <mc:Fallback>
                <p:oleObj name="Diapositiva de think-cell"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a:solidFill>
                  <a:schemeClr val="tx2"/>
                </a:solidFill>
              </a:rPr>
              <a:t>Click to add title</a:t>
            </a:r>
          </a:p>
        </p:txBody>
      </p:sp>
      <p:pic>
        <p:nvPicPr>
          <p:cNvPr id="12"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15814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15470761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800" kern="120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4627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19386287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27788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5156584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23923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0483903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3766473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337936413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84" imgH="384" progId="TCLayout.ActiveDocument.1">
                  <p:embed/>
                </p:oleObj>
              </mc:Choice>
              <mc:Fallback>
                <p:oleObj name="Diapositiva de think-cell" r:id="rId3" imgW="384" imgH="38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mn-lt"/>
              <a:sym typeface="Trebuchet MS" panose="020B0603020202020204" pitchFamily="34" charset="0"/>
            </a:endParaRPr>
          </a:p>
        </p:txBody>
      </p:sp>
    </p:spTree>
    <p:extLst>
      <p:ext uri="{BB962C8B-B14F-4D97-AF65-F5344CB8AC3E}">
        <p14:creationId xmlns:p14="http://schemas.microsoft.com/office/powerpoint/2010/main" val="13329995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8279414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00495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8591063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8132202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Tree>
    <p:extLst>
      <p:ext uri="{BB962C8B-B14F-4D97-AF65-F5344CB8AC3E}">
        <p14:creationId xmlns:p14="http://schemas.microsoft.com/office/powerpoint/2010/main" val="6289886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84" imgH="384" progId="TCLayout.ActiveDocument.1">
                  <p:embed/>
                </p:oleObj>
              </mc:Choice>
              <mc:Fallback>
                <p:oleObj name="Diapositiva de think-cell" r:id="rId3" imgW="384" imgH="38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Rectangle 6"/>
          <p:cNvSpPr/>
          <p:nvPr userDrawn="1"/>
        </p:nvSpPr>
        <p:spPr>
          <a:xfrm>
            <a:off x="-19050" y="0"/>
            <a:ext cx="12211050" cy="6858000"/>
          </a:xfrm>
          <a:prstGeom prst="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n-US" sz="8000">
                <a:solidFill>
                  <a:schemeClr val="bg1"/>
                </a:solidFill>
              </a:rPr>
              <a:t>Thank You</a:t>
            </a:r>
          </a:p>
        </p:txBody>
      </p:sp>
      <p:cxnSp>
        <p:nvCxnSpPr>
          <p:cNvPr id="11" name="Straight Connector 10"/>
          <p:cNvCxnSpPr/>
          <p:nvPr userDrawn="1"/>
        </p:nvCxnSpPr>
        <p:spPr>
          <a:xfrm>
            <a:off x="10477500" y="0"/>
            <a:ext cx="0" cy="2343150"/>
          </a:xfrm>
          <a:prstGeom prst="line">
            <a:avLst/>
          </a:prstGeom>
          <a:ln w="9525" cap="rnd">
            <a:solidFill>
              <a:schemeClr val="bg1"/>
            </a:solidFill>
            <a:prstDash val="solid"/>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19866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17939589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59771259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2024 by Boston Consulting Group. All rights reserved.</a:t>
            </a: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a:solidFill>
                  <a:schemeClr val="bg1"/>
                </a:solidFill>
                <a:latin typeface="+mj-lt"/>
              </a:rPr>
              <a:t>Agenda</a:t>
            </a:r>
          </a:p>
        </p:txBody>
      </p:sp>
    </p:spTree>
    <p:extLst>
      <p:ext uri="{BB962C8B-B14F-4D97-AF65-F5344CB8AC3E}">
        <p14:creationId xmlns:p14="http://schemas.microsoft.com/office/powerpoint/2010/main" val="38466115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80515195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2024 by Boston Consulting Group. All rights reserved.</a:t>
            </a: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a:solidFill>
                <a:prstClr val="white"/>
              </a:solidFill>
              <a:latin typeface="Trebuchet MS" panose="020B0603020202020204" pitchFamily="34" charset="0"/>
            </a:endParaRPr>
          </a:p>
        </p:txBody>
      </p:sp>
    </p:spTree>
    <p:extLst>
      <p:ext uri="{BB962C8B-B14F-4D97-AF65-F5344CB8AC3E}">
        <p14:creationId xmlns:p14="http://schemas.microsoft.com/office/powerpoint/2010/main" val="32574187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8135901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2024 by Boston Consulting Group. All rights reserved.</a:t>
            </a: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52469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45170057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a:solidFill>
                  <a:schemeClr val="bg1"/>
                </a:solidFill>
              </a:rPr>
              <a:t>Agenda</a:t>
            </a:r>
          </a:p>
        </p:txBody>
      </p:sp>
    </p:spTree>
    <p:extLst>
      <p:ext uri="{BB962C8B-B14F-4D97-AF65-F5344CB8AC3E}">
        <p14:creationId xmlns:p14="http://schemas.microsoft.com/office/powerpoint/2010/main" val="21972531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420701738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2024 by Boston Consulting Group. All rights reserved.</a:t>
            </a:r>
          </a:p>
        </p:txBody>
      </p:sp>
      <p:sp>
        <p:nvSpPr>
          <p:cNvPr id="8" name="Rectangle 7"/>
          <p:cNvSpPr/>
          <p:nvPr userDrawn="1"/>
        </p:nvSpPr>
        <p:spPr bwMode="invGray">
          <a:xfrm>
            <a:off x="1388145" y="4691187"/>
            <a:ext cx="929337" cy="995874"/>
          </a:xfrm>
          <a:prstGeom prst="rect">
            <a:avLst/>
          </a:prstGeom>
          <a:no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1"/>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1"/>
            </a:solidFill>
          </a:ln>
        </p:spPr>
        <p:txBody>
          <a:bodyPr wrap="square" lIns="612000" tIns="468000" rIns="0" bIns="0" rtlCol="0" anchor="t">
            <a:spAutoFit/>
          </a:bodyPr>
          <a:lstStyle/>
          <a:p>
            <a:pPr>
              <a:lnSpc>
                <a:spcPct val="90000"/>
              </a:lnSpc>
              <a:spcAft>
                <a:spcPts val="600"/>
              </a:spcAft>
            </a:pPr>
            <a:endParaRPr lang="en-US" sz="540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solidFill>
                  <a:schemeClr val="tx2"/>
                </a:solidFill>
              </a:rPr>
              <a:t>Agenda</a:t>
            </a:r>
          </a:p>
        </p:txBody>
      </p:sp>
    </p:spTree>
    <p:extLst>
      <p:ext uri="{BB962C8B-B14F-4D97-AF65-F5344CB8AC3E}">
        <p14:creationId xmlns:p14="http://schemas.microsoft.com/office/powerpoint/2010/main" val="36146690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73967060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2024 by Boston Consulting Group. All rights reserved.</a:t>
            </a:r>
          </a:p>
        </p:txBody>
      </p:sp>
      <p:sp>
        <p:nvSpPr>
          <p:cNvPr id="8" name="Rectangle 7"/>
          <p:cNvSpPr/>
          <p:nvPr userDrawn="1"/>
        </p:nvSpPr>
        <p:spPr bwMode="white">
          <a:xfrm>
            <a:off x="1284743" y="1428131"/>
            <a:ext cx="947672" cy="947672"/>
          </a:xfrm>
          <a:prstGeom prst="rect">
            <a:avLst/>
          </a:prstGeom>
          <a:no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a:solidFill>
                <a:prstClr val="white"/>
              </a:solidFill>
              <a:latin typeface="Trebuchet MS" panose="020B0603020202020204" pitchFamily="34" charset="0"/>
            </a:endParaRPr>
          </a:p>
        </p:txBody>
      </p:sp>
    </p:spTree>
    <p:extLst>
      <p:ext uri="{BB962C8B-B14F-4D97-AF65-F5344CB8AC3E}">
        <p14:creationId xmlns:p14="http://schemas.microsoft.com/office/powerpoint/2010/main" val="27735179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65077550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2024 by Boston Consulting Group. All rights reserved.</a:t>
            </a: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a:solidFill>
                  <a:schemeClr val="tx2"/>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09919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14166437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a:solidFill>
                  <a:schemeClr val="bg1"/>
                </a:solidFill>
              </a:rPr>
              <a:t>Agenda</a:t>
            </a:r>
          </a:p>
        </p:txBody>
      </p:sp>
    </p:spTree>
    <p:extLst>
      <p:ext uri="{BB962C8B-B14F-4D97-AF65-F5344CB8AC3E}">
        <p14:creationId xmlns:p14="http://schemas.microsoft.com/office/powerpoint/2010/main" val="13691292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6028519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2024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70621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6591914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5" imgW="270" imgH="270" progId="TCLayout.ActiveDocument.1">
                  <p:embed/>
                </p:oleObj>
              </mc:Choice>
              <mc:Fallback>
                <p:oleObj name="Diapositiva de think-cell" r:id="rId5" imgW="270" imgH="270"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4" name="Rectangle 3" hidden="1"/>
          <p:cNvSpPr/>
          <p:nvPr userDrawn="1">
            <p:custDataLst>
              <p:tags r:id="rId2"/>
            </p:custDataLst>
          </p:nvPr>
        </p:nvSpPr>
        <p:spPr>
          <a:xfrm>
            <a:off x="0" y="0"/>
            <a:ext cx="158750" cy="158750"/>
          </a:xfrm>
          <a:prstGeom prst="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ts val="3600"/>
              </a:lnSpc>
              <a:spcBef>
                <a:spcPct val="0"/>
              </a:spcBef>
              <a:spcAft>
                <a:spcPct val="0"/>
              </a:spcAft>
            </a:pPr>
            <a:endParaRPr lang="es-ES_tradnl" sz="4000" b="0" i="0" baseline="0" err="1">
              <a:solidFill>
                <a:schemeClr val="bg1"/>
              </a:solidFill>
              <a:latin typeface="Calibri" panose="020F0502020204030204" pitchFamily="34" charset="0"/>
              <a:ea typeface="+mn-ea"/>
              <a:cs typeface="Lato Light" panose="020F0502020204030203" pitchFamily="34" charset="0"/>
              <a:sym typeface="Calibri" panose="020F0502020204030204" pitchFamily="34" charset="0"/>
            </a:endParaRPr>
          </a:p>
        </p:txBody>
      </p:sp>
      <p:pic>
        <p:nvPicPr>
          <p:cNvPr id="16" name="Imagen 1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0" y="-12358"/>
            <a:ext cx="12193200" cy="6870358"/>
          </a:xfrm>
          <a:prstGeom prst="rect">
            <a:avLst/>
          </a:prstGeom>
        </p:spPr>
      </p:pic>
      <p:sp>
        <p:nvSpPr>
          <p:cNvPr id="3" name="Title 2"/>
          <p:cNvSpPr>
            <a:spLocks noGrp="1"/>
          </p:cNvSpPr>
          <p:nvPr>
            <p:ph type="title" hasCustomPrompt="1"/>
          </p:nvPr>
        </p:nvSpPr>
        <p:spPr>
          <a:xfrm>
            <a:off x="1044646" y="3652140"/>
            <a:ext cx="6213724" cy="1763242"/>
          </a:xfrm>
        </p:spPr>
        <p:txBody>
          <a:bodyPr lIns="0" tIns="0">
            <a:noAutofit/>
          </a:bodyPr>
          <a:lstStyle>
            <a:lvl1pPr>
              <a:defRPr kumimoji="0" lang="es-ES" sz="4000" b="0" i="0" u="none" strike="noStrike" cap="none" spc="0" normalizeH="0" baseline="0" noProof="0" dirty="0">
                <a:ln>
                  <a:noFill/>
                </a:ln>
                <a:solidFill>
                  <a:sysClr val="window" lastClr="FFFFFF"/>
                </a:solidFill>
                <a:effectLst/>
                <a:uLnTx/>
                <a:uFillTx/>
                <a:ea typeface="+mn-ea"/>
                <a:cs typeface="Lato Light"/>
                <a:sym typeface="Calibri" panose="020F0502020204030204" pitchFamily="34" charset="0"/>
              </a:defRPr>
            </a:lvl1pPr>
          </a:lstStyle>
          <a:p>
            <a:pPr marL="0" marR="0" lvl="0" indent="0" fontAlgn="auto">
              <a:lnSpc>
                <a:spcPts val="3600"/>
              </a:lnSpc>
              <a:spcBef>
                <a:spcPts val="600"/>
              </a:spcBef>
              <a:spcAft>
                <a:spcPts val="300"/>
              </a:spcAft>
              <a:buClrTx/>
              <a:buSzTx/>
              <a:buFont typeface="Arial" panose="020B0604020202020204" pitchFamily="34" charset="0"/>
              <a:tabLst/>
            </a:pPr>
            <a:r>
              <a:rPr kumimoji="0" lang="es-ES_tradnl" sz="4000" b="0" i="0" u="none" strike="noStrike" kern="1200" cap="none" spc="0" normalizeH="0" baseline="0" noProof="0">
                <a:ln>
                  <a:noFill/>
                </a:ln>
                <a:solidFill>
                  <a:sysClr val="window" lastClr="FFFFFF"/>
                </a:solidFill>
                <a:effectLst/>
                <a:uLnTx/>
                <a:uFillTx/>
                <a:latin typeface="Calibri" panose="020F0502020204030204" pitchFamily="34" charset="0"/>
                <a:ea typeface="+mn-ea"/>
                <a:sym typeface="Calibri" panose="020F0502020204030204" pitchFamily="34" charset="0"/>
              </a:rPr>
              <a:t>Título de la presentación</a:t>
            </a:r>
            <a:endParaRPr kumimoji="0" lang="es-ES" sz="4000" b="0" i="0" u="none" strike="noStrike" kern="1200" cap="none" spc="0" normalizeH="0" baseline="0" noProof="0">
              <a:ln>
                <a:noFill/>
              </a:ln>
              <a:solidFill>
                <a:sysClr val="window" lastClr="FFFFFF"/>
              </a:solidFill>
              <a:effectLst/>
              <a:uLnTx/>
              <a:uFillTx/>
              <a:latin typeface="Calibri" panose="020F0502020204030204" pitchFamily="34" charset="0"/>
              <a:ea typeface="+mn-ea"/>
              <a:sym typeface="Calibri" panose="020F0502020204030204" pitchFamily="34" charset="0"/>
            </a:endParaRPr>
          </a:p>
        </p:txBody>
      </p:sp>
      <p:sp>
        <p:nvSpPr>
          <p:cNvPr id="6" name="Text Placeholder 5"/>
          <p:cNvSpPr>
            <a:spLocks noGrp="1"/>
          </p:cNvSpPr>
          <p:nvPr>
            <p:ph type="body" sz="quarter" idx="10" hasCustomPrompt="1"/>
          </p:nvPr>
        </p:nvSpPr>
        <p:spPr>
          <a:xfrm>
            <a:off x="1044650" y="5415382"/>
            <a:ext cx="6213720" cy="487706"/>
          </a:xfrm>
          <a:noFill/>
        </p:spPr>
        <p:txBody>
          <a:bodyPr lIns="0" tIns="0">
            <a:normAutofit/>
          </a:bodyPr>
          <a:lstStyle>
            <a:lvl1pPr>
              <a:defRPr kumimoji="0" lang="en-US" sz="2000" b="0" i="0" u="none" strike="noStrike" cap="none" spc="0" normalizeH="0" baseline="0" dirty="0">
                <a:ln>
                  <a:noFill/>
                </a:ln>
                <a:solidFill>
                  <a:srgbClr val="BFB800"/>
                </a:solidFill>
                <a:effectLst/>
                <a:uLnTx/>
                <a:uFillTx/>
                <a:cs typeface="Lato Light"/>
              </a:defRPr>
            </a:lvl1pPr>
          </a:lstStyle>
          <a:p>
            <a:pPr marR="0" lvl="0" fontAlgn="auto">
              <a:buClrTx/>
              <a:buSzTx/>
              <a:buNone/>
              <a:tabLst/>
            </a:pPr>
            <a:r>
              <a:rPr kumimoji="0" lang="es-ES_tradnl" sz="2000" b="0" i="0" u="none" strike="noStrike" kern="1200" cap="none" spc="0" normalizeH="0" baseline="0" noProof="0">
                <a:ln>
                  <a:noFill/>
                </a:ln>
                <a:solidFill>
                  <a:srgbClr val="BFB800"/>
                </a:solidFill>
                <a:effectLst/>
                <a:uLnTx/>
                <a:uFillTx/>
                <a:latin typeface="Calibri" panose="020F0502020204030204" pitchFamily="34" charset="0"/>
                <a:ea typeface="+mn-ea"/>
                <a:sym typeface="Calibri" panose="020F0502020204030204" pitchFamily="34" charset="0"/>
              </a:rPr>
              <a:t>FECHA</a:t>
            </a:r>
            <a:endParaRPr lang="en-US"/>
          </a:p>
        </p:txBody>
      </p:sp>
      <p:pic>
        <p:nvPicPr>
          <p:cNvPr id="7" name="Picture 6"/>
          <p:cNvPicPr>
            <a:picLocks noChangeAspect="1"/>
          </p:cNvPicPr>
          <p:nvPr userDrawn="1">
            <p:custDataLst>
              <p:tags r:id="rId3"/>
            </p:custDataLst>
          </p:nvPr>
        </p:nvPicPr>
        <p:blipFill>
          <a:blip r:embed="rId8"/>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2529425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10069592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Calibri" panose="020F0502020204030204" pitchFamily="34" charset="0"/>
                <a:sym typeface="Calibri" panose="020F050202020403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5" name="Title 4"/>
          <p:cNvSpPr>
            <a:spLocks noGrp="1"/>
          </p:cNvSpPr>
          <p:nvPr>
            <p:ph type="title" hasCustomPrompt="1"/>
          </p:nvPr>
        </p:nvSpPr>
        <p:spPr>
          <a:xfrm>
            <a:off x="630000" y="622800"/>
            <a:ext cx="9761592"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Calibri" panose="020F0502020204030204" pitchFamily="34" charset="0"/>
                <a:sym typeface="Calibri" panose="020F0502020204030204" pitchFamily="34" charset="0"/>
              </a:defRPr>
            </a:lvl1pPr>
          </a:lstStyle>
          <a:p>
            <a:pPr lvl="0"/>
            <a:r>
              <a:rPr lang="en-US"/>
              <a:t>Click to add title</a:t>
            </a:r>
          </a:p>
        </p:txBody>
      </p:sp>
      <p:pic>
        <p:nvPicPr>
          <p:cNvPr id="13" name="Imagen 9" descr="ARAUCO_CORTEZA.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0433205" y="622800"/>
            <a:ext cx="1323026" cy="346032"/>
          </a:xfrm>
          <a:prstGeom prst="rect">
            <a:avLst/>
          </a:prstGeom>
        </p:spPr>
      </p:pic>
      <p:pic>
        <p:nvPicPr>
          <p:cNvPr id="8" name="Picture 7"/>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085082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15893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Calibri" panose="020F0502020204030204" pitchFamily="34" charset="0"/>
                <a:sym typeface="Calibri" panose="020F050202020403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7883007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26691855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5" name="Object 4"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Calibri" panose="020F0502020204030204" pitchFamily="34" charset="0"/>
              <a:sym typeface="Calibri" panose="020F0502020204030204" pitchFamily="34" charset="0"/>
            </a:endParaRPr>
          </a:p>
        </p:txBody>
      </p:sp>
      <p:pic>
        <p:nvPicPr>
          <p:cNvPr id="10" name="Picture 9"/>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1477256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6170344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Calibri" panose="020F0502020204030204" pitchFamily="34" charset="0"/>
                <a:sym typeface="Calibri" panose="020F0502020204030204" pitchFamily="34" charset="0"/>
              </a:defRPr>
            </a:lvl1pPr>
          </a:lstStyle>
          <a:p>
            <a:r>
              <a:rPr lang="en-US"/>
              <a:t>Click to add big statement text</a:t>
            </a:r>
          </a:p>
        </p:txBody>
      </p:sp>
      <p:cxnSp>
        <p:nvCxnSpPr>
          <p:cNvPr id="148" name="Straight Connector 147"/>
          <p:cNvCxnSpPr/>
          <p:nvPr userDrawn="1"/>
        </p:nvCxnSpPr>
        <p:spPr bwMode="white">
          <a:xfrm>
            <a:off x="31024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0924980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6607849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6" name="Picture 15"/>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0458885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03077481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0"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Calibri" panose="020F0502020204030204" pitchFamily="34" charset="0"/>
                <a:sym typeface="Calibri" panose="020F0502020204030204" pitchFamily="34" charset="0"/>
              </a:defRPr>
            </a:lvl1pPr>
          </a:lstStyle>
          <a:p>
            <a:pPr lvl="0"/>
            <a:r>
              <a:rPr lang="en-US"/>
              <a:t>Click to add title</a:t>
            </a:r>
          </a:p>
        </p:txBody>
      </p:sp>
      <p:pic>
        <p:nvPicPr>
          <p:cNvPr id="12" name="Picture 11"/>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5452751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787585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pic>
        <p:nvPicPr>
          <p:cNvPr id="17" name="Picture 1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20257724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4295591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Picture 10"/>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Calibri" panose="020F0502020204030204" pitchFamily="34" charset="0"/>
                <a:sym typeface="Calibri" panose="020F0502020204030204" pitchFamily="34" charset="0"/>
              </a:defRPr>
            </a:lvl1pPr>
          </a:lstStyle>
          <a:p>
            <a:r>
              <a:rPr lang="en-US"/>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8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2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8" name="Picture 17"/>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1810559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05378326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9" name="Picture 8"/>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Calibri" panose="020F0502020204030204" pitchFamily="34" charset="0"/>
                <a:sym typeface="Calibri" panose="020F0502020204030204" pitchFamily="34" charset="0"/>
              </a:defRPr>
            </a:lvl1pPr>
          </a:lstStyle>
          <a:p>
            <a:r>
              <a:rPr lang="en-US"/>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5" name="Copyright" hidden="1"/>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Calibri" panose="020F0502020204030204" pitchFamily="34" charset="0"/>
                <a:sym typeface="Calibri" panose="020F0502020204030204" pitchFamily="34" charset="0"/>
              </a:defRPr>
            </a:lvl1pPr>
          </a:lstStyle>
          <a:p>
            <a:r>
              <a:rPr lang="en-US"/>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8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pic>
        <p:nvPicPr>
          <p:cNvPr id="17" name="Picture 1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734254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71058853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5"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08638" y="359436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Calibri" panose="020F0502020204030204" pitchFamily="34" charset="0"/>
                <a:sym typeface="Calibri" panose="020F0502020204030204" pitchFamily="34" charset="0"/>
              </a:defRPr>
            </a:lvl1pPr>
          </a:lstStyle>
          <a:p>
            <a:r>
              <a:rPr lang="en-US">
                <a:solidFill>
                  <a:schemeClr val="tx2"/>
                </a:solidFill>
              </a:rPr>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80023304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19214481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Calibri" panose="020F0502020204030204" pitchFamily="34" charset="0"/>
                <a:sym typeface="Calibri" panose="020F0502020204030204" pitchFamily="34" charset="0"/>
              </a:defRPr>
            </a:lvl1pPr>
          </a:lstStyle>
          <a:p>
            <a:r>
              <a:rPr lang="en-US"/>
              <a:t>Click to add title</a:t>
            </a:r>
          </a:p>
        </p:txBody>
      </p:sp>
      <p:pic>
        <p:nvPicPr>
          <p:cNvPr id="4" name="Picture 3"/>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6216" b="7716"/>
          <a:stretch/>
        </p:blipFill>
        <p:spPr>
          <a:xfrm rot="120000">
            <a:off x="2141308" y="3402828"/>
            <a:ext cx="2694666" cy="3461745"/>
          </a:xfrm>
          <a:prstGeom prst="rect">
            <a:avLst/>
          </a:prstGeom>
        </p:spPr>
      </p:pic>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4647494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32084259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800" kern="1200">
              <a:solidFill>
                <a:schemeClr val="bg1"/>
              </a:solidFill>
              <a:latin typeface="Calibri" panose="020F0502020204030204" pitchFamily="34" charset="0"/>
              <a:ea typeface="+mn-ea"/>
              <a:cs typeface="+mn-cs"/>
              <a:sym typeface="Calibri" panose="020F050202020403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pic>
        <p:nvPicPr>
          <p:cNvPr id="11"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33900" y="3395662"/>
            <a:ext cx="1298575" cy="3571875"/>
          </a:xfrm>
          <a:prstGeom prst="rect">
            <a:avLst/>
          </a:prstGeom>
          <a:noFill/>
          <a:extLst>
            <a:ext uri="{909E8E84-426E-40DD-AFC4-6F175D3DCCD1}">
              <a14:hiddenFill xmlns:a14="http://schemas.microsoft.com/office/drawing/2010/main">
                <a:solidFill>
                  <a:srgbClr val="FFFFFF"/>
                </a:solidFill>
              </a14:hiddenFill>
            </a:ext>
          </a:extLst>
        </p:spPr>
      </p:pic>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5" name="Picture 14"/>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8579603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66999815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Calibri" panose="020F0502020204030204" pitchFamily="34" charset="0"/>
                <a:sym typeface="Calibri" panose="020F0502020204030204" pitchFamily="34" charset="0"/>
              </a:defRPr>
            </a:lvl1pPr>
          </a:lstStyle>
          <a:p>
            <a:r>
              <a:rPr lang="en-US"/>
              <a:t>Click to add title</a:t>
            </a:r>
          </a:p>
        </p:txBody>
      </p:sp>
      <p:pic>
        <p:nvPicPr>
          <p:cNvPr id="20" name="Picture 19"/>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7562" b="6867"/>
          <a:stretch/>
        </p:blipFill>
        <p:spPr>
          <a:xfrm>
            <a:off x="3549481" y="3416300"/>
            <a:ext cx="2694666" cy="3441700"/>
          </a:xfrm>
          <a:prstGeom prst="rect">
            <a:avLst/>
          </a:prstGeom>
        </p:spPr>
      </p:pic>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4813189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26249125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8"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13"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5378758" y="3589606"/>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Calibri" panose="020F0502020204030204" pitchFamily="34" charset="0"/>
                <a:sym typeface="Calibri" panose="020F0502020204030204" pitchFamily="34" charset="0"/>
              </a:defRPr>
            </a:lvl1pPr>
          </a:lstStyle>
          <a:p>
            <a:pPr lvl="0"/>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7213850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019879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Calibri" panose="020F0502020204030204" pitchFamily="34" charset="0"/>
                <a:sym typeface="Calibri" panose="020F0502020204030204" pitchFamily="34" charset="0"/>
              </a:defRPr>
            </a:lvl1pPr>
          </a:lstStyle>
          <a:p>
            <a:pPr lvl="0"/>
            <a:r>
              <a:rPr lang="en-US"/>
              <a:t>Click to add title</a:t>
            </a:r>
          </a:p>
        </p:txBody>
      </p:sp>
      <p:pic>
        <p:nvPicPr>
          <p:cNvPr id="17" name="Picture 16"/>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9052" b="6867"/>
          <a:stretch/>
        </p:blipFill>
        <p:spPr>
          <a:xfrm rot="120000">
            <a:off x="4428422" y="3407803"/>
            <a:ext cx="2694666" cy="3456551"/>
          </a:xfrm>
          <a:prstGeom prst="rect">
            <a:avLst/>
          </a:prstGeom>
        </p:spPr>
      </p:pic>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9647882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3594386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7490341" y="3589606"/>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Calibri" panose="020F0502020204030204" pitchFamily="34" charset="0"/>
                <a:sym typeface="Calibri" panose="020F0502020204030204" pitchFamily="34" charset="0"/>
              </a:defRPr>
            </a:lvl1pPr>
          </a:lstStyle>
          <a:p>
            <a:pPr lvl="0"/>
            <a:r>
              <a:rPr lang="en-US"/>
              <a:t>Click to add title</a:t>
            </a:r>
          </a:p>
        </p:txBody>
      </p:sp>
      <p:pic>
        <p:nvPicPr>
          <p:cNvPr id="16" name="Picture 15"/>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524156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79875147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Calibri" panose="020F0502020204030204" pitchFamily="34" charset="0"/>
                <a:sym typeface="Calibri" panose="020F0502020204030204" pitchFamily="34" charset="0"/>
              </a:defRPr>
            </a:lvl1pPr>
          </a:lstStyle>
          <a:p>
            <a:pPr lvl="0"/>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3" name="Picture 12"/>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9052" b="6867"/>
          <a:stretch/>
        </p:blipFill>
        <p:spPr>
          <a:xfrm rot="120000">
            <a:off x="6524770" y="3407803"/>
            <a:ext cx="2694666" cy="3456551"/>
          </a:xfrm>
          <a:prstGeom prst="rect">
            <a:avLst/>
          </a:prstGeom>
        </p:spPr>
      </p:pic>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898651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67572447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pic>
        <p:nvPicPr>
          <p:cNvPr id="11" name="Picture 10"/>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5122788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66053040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Calibri" panose="020F0502020204030204" pitchFamily="34" charset="0"/>
              <a:sym typeface="Calibri" panose="020F050202020403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rgbClr val="696158"/>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pic>
        <p:nvPicPr>
          <p:cNvPr id="8" name="Picture 7"/>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9430275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52798524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Picture 10"/>
          <p:cNvPicPr>
            <a:picLocks noChangeAspect="1"/>
          </p:cNvPicPr>
          <p:nvPr/>
        </p:nvPicPr>
        <p:blipFill rotWithShape="1">
          <a:blip r:embed="rId6">
            <a:extLst>
              <a:ext uri="{28A0092B-C50C-407E-A947-70E740481C1C}">
                <a14:useLocalDpi xmlns:a14="http://schemas.microsoft.com/office/drawing/2010/main" val="0"/>
              </a:ext>
            </a:extLst>
          </a:blip>
          <a:srcRect r="3634" b="1258"/>
          <a:stretch/>
        </p:blipFill>
        <p:spPr>
          <a:xfrm rot="16200000" flipH="1">
            <a:off x="6797461" y="110968"/>
            <a:ext cx="769257" cy="10019821"/>
          </a:xfrm>
          <a:prstGeom prst="rect">
            <a:avLst/>
          </a:pr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Calibri" panose="020F0502020204030204" pitchFamily="34" charset="0"/>
              <a:sym typeface="Calibri" panose="020F0502020204030204" pitchFamily="34" charset="0"/>
            </a:endParaRPr>
          </a:p>
        </p:txBody>
      </p:sp>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7" name="Picture 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8715087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rgbClr val="949494"/>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04904143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Calibri" panose="020F0502020204030204" pitchFamily="34" charset="0"/>
                <a:sym typeface="Calibri" panose="020F0502020204030204" pitchFamily="34" charset="0"/>
              </a:defRPr>
            </a:lvl1pPr>
          </a:lstStyle>
          <a:p>
            <a:r>
              <a:rPr lang="en-US"/>
              <a:t>Click to add title</a:t>
            </a:r>
          </a:p>
        </p:txBody>
      </p:sp>
      <p:pic>
        <p:nvPicPr>
          <p:cNvPr id="9" name="Picture 8"/>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1993326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18503648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8" name="Picture 7"/>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668409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34218787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pic>
        <p:nvPicPr>
          <p:cNvPr id="10" name="Picture 9"/>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2823594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endParaRPr lang="en-US"/>
          </a:p>
        </p:txBody>
      </p:sp>
      <p:sp>
        <p:nvSpPr>
          <p:cNvPr id="4" name="Rectangle 3"/>
          <p:cNvSpPr/>
          <p:nvPr userDrawn="1"/>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a:latin typeface="+mn-lt"/>
                <a:sym typeface="Trebuchet MS" panose="020B0603020202020204" pitchFamily="34" charset="0"/>
              </a:rPr>
              <a:t>The services and materials provided by The Boston Consulting Group (BCG) are subject to BCG's Standard Terms </a:t>
            </a:r>
            <a:br>
              <a:rPr lang="en-US" sz="900" b="0">
                <a:latin typeface="+mn-lt"/>
                <a:sym typeface="Trebuchet MS" panose="020B0603020202020204" pitchFamily="34" charset="0"/>
              </a:rPr>
            </a:br>
            <a:r>
              <a:rPr lang="en-US" sz="900" b="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a:latin typeface="+mn-lt"/>
                <a:sym typeface="Trebuchet MS" panose="020B0603020202020204" pitchFamily="34" charset="0"/>
              </a:rPr>
            </a:br>
            <a:r>
              <a:rPr lang="en-US" sz="900" b="0">
                <a:latin typeface="+mn-lt"/>
                <a:sym typeface="Trebuchet MS" panose="020B0603020202020204" pitchFamily="34" charset="0"/>
              </a:rPr>
              <a:t>to update these materials after the date hereof, notwithstanding that such information may become outdated </a:t>
            </a:r>
            <a:br>
              <a:rPr lang="en-US" sz="900" b="0">
                <a:latin typeface="+mn-lt"/>
                <a:sym typeface="Trebuchet MS" panose="020B0603020202020204" pitchFamily="34" charset="0"/>
              </a:rPr>
            </a:br>
            <a:r>
              <a:rPr lang="en-US" sz="900" b="0">
                <a:latin typeface="+mn-lt"/>
                <a:sym typeface="Trebuchet MS" panose="020B0603020202020204" pitchFamily="34" charset="0"/>
              </a:rPr>
              <a:t>or inaccurate.</a:t>
            </a:r>
          </a:p>
          <a:p>
            <a:pPr indent="0">
              <a:lnSpc>
                <a:spcPct val="100000"/>
              </a:lnSpc>
            </a:pPr>
            <a:r>
              <a:rPr lang="en-US" sz="900" b="0">
                <a:latin typeface="+mn-lt"/>
                <a:sym typeface="Trebuchet MS" panose="020B0603020202020204" pitchFamily="34" charset="0"/>
              </a:rPr>
              <a:t> </a:t>
            </a:r>
          </a:p>
          <a:p>
            <a:pPr indent="0">
              <a:lnSpc>
                <a:spcPct val="100000"/>
              </a:lnSpc>
            </a:pPr>
            <a:r>
              <a:rPr lang="en-US" sz="900" b="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a:latin typeface="+mn-lt"/>
                <a:sym typeface="Trebuchet MS" panose="020B0603020202020204" pitchFamily="34" charset="0"/>
              </a:rPr>
            </a:br>
            <a:r>
              <a:rPr lang="en-US" sz="900" b="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a:latin typeface="+mn-lt"/>
                <a:sym typeface="Trebuchet MS" panose="020B0603020202020204" pitchFamily="34" charset="0"/>
              </a:rPr>
              <a:t>BCG does not provide fairness opinions or valuations of market transactions, and these materials should not be relied </a:t>
            </a:r>
            <a:br>
              <a:rPr lang="en-US" sz="900" b="0">
                <a:latin typeface="+mn-lt"/>
                <a:sym typeface="Trebuchet MS" panose="020B0603020202020204" pitchFamily="34" charset="0"/>
              </a:rPr>
            </a:br>
            <a:r>
              <a:rPr lang="en-US" sz="900" b="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a:latin typeface="+mn-lt"/>
                <a:sym typeface="Trebuchet MS" panose="020B0603020202020204" pitchFamily="34" charset="0"/>
              </a:rPr>
            </a:br>
            <a:r>
              <a:rPr lang="en-US" sz="900" b="0">
                <a:latin typeface="+mn-lt"/>
                <a:sym typeface="Trebuchet MS" panose="020B0603020202020204" pitchFamily="34" charset="0"/>
              </a:rPr>
              <a:t>or operating assumptions will clearly impact the analyses and conclusions.</a:t>
            </a:r>
          </a:p>
        </p:txBody>
      </p:sp>
      <p:sp>
        <p:nvSpPr>
          <p:cNvPr id="5" name="Title 6"/>
          <p:cNvSpPr txBox="1">
            <a:spLocks/>
          </p:cNvSpPr>
          <p:nvPr userDrawn="1"/>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6" name="Straight Connector 5"/>
          <p:cNvCxnSpPr/>
          <p:nvPr userDrawn="1"/>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userDrawn="1">
            <p:custDataLst>
              <p:tags r:id="rId1"/>
            </p:custDataLst>
          </p:nvPr>
        </p:nvPicPr>
        <p:blipFill>
          <a:blip r:embed="rId3"/>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9799871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81284485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grpSp>
        <p:nvGrpSpPr>
          <p:cNvPr id="93" name="Group 92"/>
          <p:cNvGrpSpPr/>
          <p:nvPr userDrawn="1"/>
        </p:nvGrpSpPr>
        <p:grpSpPr>
          <a:xfrm>
            <a:off x="-600" y="-1"/>
            <a:ext cx="12193800" cy="6858001"/>
            <a:chOff x="-600" y="-1"/>
            <a:chExt cx="12193800" cy="6858001"/>
          </a:xfrm>
        </p:grpSpPr>
        <p:sp>
          <p:nvSpPr>
            <p:cNvPr id="94"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Calibri" panose="020F0502020204030204" pitchFamily="34" charset="0"/>
                <a:sym typeface="Calibri" panose="020F0502020204030204" pitchFamily="34" charset="0"/>
              </a:endParaRPr>
            </a:p>
          </p:txBody>
        </p:sp>
        <p:grpSp>
          <p:nvGrpSpPr>
            <p:cNvPr id="95" name="Baselines / anchors"/>
            <p:cNvGrpSpPr/>
            <p:nvPr userDrawn="1"/>
          </p:nvGrpSpPr>
          <p:grpSpPr>
            <a:xfrm>
              <a:off x="-600" y="622800"/>
              <a:ext cx="12193200" cy="5536800"/>
              <a:chOff x="12623800" y="622800"/>
              <a:chExt cx="11176000" cy="5536800"/>
            </a:xfrm>
          </p:grpSpPr>
          <p:cxnSp>
            <p:nvCxnSpPr>
              <p:cNvPr id="119" name="Straight Connector 118"/>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96" name="Gutter space"/>
            <p:cNvGrpSpPr/>
            <p:nvPr userDrawn="1"/>
          </p:nvGrpSpPr>
          <p:grpSpPr>
            <a:xfrm>
              <a:off x="1277000" y="623550"/>
              <a:ext cx="9638000" cy="5537047"/>
              <a:chOff x="1277000" y="623550"/>
              <a:chExt cx="9638000" cy="5537047"/>
            </a:xfrm>
          </p:grpSpPr>
          <p:sp>
            <p:nvSpPr>
              <p:cNvPr id="108"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9"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0"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1"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2"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3"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4"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5"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6"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7"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8"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sp>
          <p:nvSpPr>
            <p:cNvPr id="97"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Calibri" panose="020F0502020204030204" pitchFamily="34" charset="0"/>
                <a:ea typeface="+mn-ea"/>
                <a:cs typeface="+mn-cs"/>
                <a:sym typeface="Calibri" panose="020F0502020204030204" pitchFamily="34" charset="0"/>
              </a:endParaRPr>
            </a:p>
          </p:txBody>
        </p:sp>
        <p:sp>
          <p:nvSpPr>
            <p:cNvPr id="98"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99"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nvGrpSpPr>
            <p:cNvPr id="100" name="Five column measure"/>
            <p:cNvGrpSpPr/>
            <p:nvPr userDrawn="1"/>
          </p:nvGrpSpPr>
          <p:grpSpPr>
            <a:xfrm>
              <a:off x="629400" y="5975122"/>
              <a:ext cx="10933200" cy="79536"/>
              <a:chOff x="629400" y="5975122"/>
              <a:chExt cx="10933200" cy="79536"/>
            </a:xfrm>
          </p:grpSpPr>
          <p:sp>
            <p:nvSpPr>
              <p:cNvPr id="103"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4"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5"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6"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7"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sp>
          <p:nvSpPr>
            <p:cNvPr id="101"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02" name="Footnote example"/>
            <p:cNvSpPr txBox="1"/>
            <p:nvPr/>
          </p:nvSpPr>
          <p:spPr>
            <a:xfrm>
              <a:off x="630000" y="6144442"/>
              <a:ext cx="10937886"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1.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  2.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  3.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endPar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Note: List footnotes in numerical order. Footnote numbers are not bracketed. Use 10pt font.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Source: Include a source for every chart that you use. Separate sources with a semicolon; BCG-related sources go at the end</a:t>
              </a:r>
            </a:p>
          </p:txBody>
        </p:sp>
      </p:grpSp>
      <p:sp>
        <p:nvSpPr>
          <p:cNvPr id="143" name="Date Placeholder 1"/>
          <p:cNvSpPr>
            <a:spLocks noGrp="1"/>
          </p:cNvSpPr>
          <p:nvPr>
            <p:ph type="dt" sz="half" idx="10"/>
          </p:nvPr>
        </p:nvSpPr>
        <p:spPr>
          <a:xfrm>
            <a:off x="9677400" y="6593721"/>
            <a:ext cx="1482051" cy="153888"/>
          </a:xfr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pic>
        <p:nvPicPr>
          <p:cNvPr id="52" name="Picture 51"/>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6027702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02001230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5" name="Imagen 12"/>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12358"/>
            <a:ext cx="12193200" cy="6870358"/>
          </a:xfrm>
          <a:prstGeom prst="rect">
            <a:avLst/>
          </a:prstGeom>
        </p:spPr>
      </p:pic>
      <p:sp>
        <p:nvSpPr>
          <p:cNvPr id="6" name="Title 2"/>
          <p:cNvSpPr>
            <a:spLocks noGrp="1"/>
          </p:cNvSpPr>
          <p:nvPr>
            <p:ph type="title" hasCustomPrompt="1"/>
          </p:nvPr>
        </p:nvSpPr>
        <p:spPr>
          <a:xfrm>
            <a:off x="1044646" y="3652140"/>
            <a:ext cx="6213724" cy="1763242"/>
          </a:xfrm>
        </p:spPr>
        <p:txBody>
          <a:bodyPr lIns="0" tIns="0">
            <a:noAutofit/>
          </a:bodyPr>
          <a:lstStyle>
            <a:lvl1pPr>
              <a:defRPr kumimoji="0" lang="es-ES" sz="4000" b="0" i="0" u="none" strike="noStrike" cap="none" spc="0" normalizeH="0" baseline="0" noProof="0" dirty="0">
                <a:ln>
                  <a:noFill/>
                </a:ln>
                <a:solidFill>
                  <a:sysClr val="window" lastClr="FFFFFF"/>
                </a:solidFill>
                <a:effectLst/>
                <a:uLnTx/>
                <a:uFillTx/>
                <a:ea typeface="+mn-ea"/>
                <a:cs typeface="Lato Light"/>
                <a:sym typeface="Calibri" panose="020F0502020204030204" pitchFamily="34" charset="0"/>
              </a:defRPr>
            </a:lvl1pPr>
          </a:lstStyle>
          <a:p>
            <a:pPr marL="0" marR="0" lvl="0" indent="0" fontAlgn="auto">
              <a:lnSpc>
                <a:spcPts val="3600"/>
              </a:lnSpc>
              <a:spcBef>
                <a:spcPts val="600"/>
              </a:spcBef>
              <a:spcAft>
                <a:spcPts val="300"/>
              </a:spcAft>
              <a:buClrTx/>
              <a:buSzTx/>
              <a:buFont typeface="Arial" panose="020B0604020202020204" pitchFamily="34" charset="0"/>
              <a:tabLst/>
            </a:pPr>
            <a:r>
              <a:rPr kumimoji="0" lang="es-ES_tradnl" sz="4000" b="0" i="0" u="none" strike="noStrike" kern="1200" cap="none" spc="0" normalizeH="0" baseline="0" noProof="0">
                <a:ln>
                  <a:noFill/>
                </a:ln>
                <a:solidFill>
                  <a:sysClr val="window" lastClr="FFFFFF"/>
                </a:solidFill>
                <a:effectLst/>
                <a:uLnTx/>
                <a:uFillTx/>
                <a:latin typeface="Calibri" panose="020F0502020204030204" pitchFamily="34" charset="0"/>
                <a:ea typeface="+mn-ea"/>
                <a:sym typeface="Calibri" panose="020F0502020204030204" pitchFamily="34" charset="0"/>
              </a:rPr>
              <a:t>Título de la presentación</a:t>
            </a:r>
            <a:endParaRPr kumimoji="0" lang="es-ES" sz="4000" b="0" i="0" u="none" strike="noStrike" kern="1200" cap="none" spc="0" normalizeH="0" baseline="0" noProof="0">
              <a:ln>
                <a:noFill/>
              </a:ln>
              <a:solidFill>
                <a:sysClr val="window" lastClr="FFFFFF"/>
              </a:solidFill>
              <a:effectLst/>
              <a:uLnTx/>
              <a:uFillTx/>
              <a:latin typeface="Calibri" panose="020F0502020204030204" pitchFamily="34" charset="0"/>
              <a:ea typeface="+mn-ea"/>
              <a:sym typeface="Calibri" panose="020F0502020204030204" pitchFamily="34" charset="0"/>
            </a:endParaRPr>
          </a:p>
        </p:txBody>
      </p:sp>
      <p:sp>
        <p:nvSpPr>
          <p:cNvPr id="7" name="Text Placeholder 5"/>
          <p:cNvSpPr>
            <a:spLocks noGrp="1"/>
          </p:cNvSpPr>
          <p:nvPr>
            <p:ph type="body" sz="quarter" idx="10" hasCustomPrompt="1"/>
          </p:nvPr>
        </p:nvSpPr>
        <p:spPr>
          <a:xfrm>
            <a:off x="1044650" y="5415382"/>
            <a:ext cx="6213720" cy="487706"/>
          </a:xfrm>
          <a:noFill/>
        </p:spPr>
        <p:txBody>
          <a:bodyPr lIns="0" tIns="0">
            <a:normAutofit/>
          </a:bodyPr>
          <a:lstStyle>
            <a:lvl1pPr>
              <a:defRPr kumimoji="0" lang="en-US" sz="2000" b="0" i="0" u="none" strike="noStrike" cap="none" spc="0" normalizeH="0" baseline="0" dirty="0">
                <a:ln>
                  <a:noFill/>
                </a:ln>
                <a:solidFill>
                  <a:srgbClr val="BFB800"/>
                </a:solidFill>
                <a:effectLst/>
                <a:uLnTx/>
                <a:uFillTx/>
                <a:cs typeface="Lato Light"/>
              </a:defRPr>
            </a:lvl1pPr>
          </a:lstStyle>
          <a:p>
            <a:pPr marR="0" lvl="0" fontAlgn="auto">
              <a:buClrTx/>
              <a:buSzTx/>
              <a:buNone/>
              <a:tabLst/>
            </a:pPr>
            <a:r>
              <a:rPr kumimoji="0" lang="es-ES_tradnl" sz="2000" b="0" i="0" u="none" strike="noStrike" kern="1200" cap="none" spc="0" normalizeH="0" baseline="0" noProof="0">
                <a:ln>
                  <a:noFill/>
                </a:ln>
                <a:solidFill>
                  <a:srgbClr val="BFB800"/>
                </a:solidFill>
                <a:effectLst/>
                <a:uLnTx/>
                <a:uFillTx/>
                <a:latin typeface="Calibri" panose="020F0502020204030204" pitchFamily="34" charset="0"/>
                <a:ea typeface="+mn-ea"/>
                <a:sym typeface="Calibri" panose="020F0502020204030204" pitchFamily="34" charset="0"/>
              </a:rPr>
              <a:t>FECHA</a:t>
            </a:r>
            <a:endParaRPr lang="en-US"/>
          </a:p>
        </p:txBody>
      </p:sp>
      <p:pic>
        <p:nvPicPr>
          <p:cNvPr id="8" name="Picture 7"/>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4634106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9098474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7" name="Date Placeholder 56"/>
          <p:cNvSpPr>
            <a:spLocks noGrp="1"/>
          </p:cNvSpPr>
          <p:nvPr>
            <p:ph type="dt" sz="half" idx="14"/>
          </p:nvPr>
        </p:nvSpPr>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8" name="Title 7"/>
          <p:cNvSpPr>
            <a:spLocks noGrp="1"/>
          </p:cNvSpPr>
          <p:nvPr>
            <p:ph type="title" hasCustomPrompt="1"/>
          </p:nvPr>
        </p:nvSpPr>
        <p:spPr>
          <a:xfrm>
            <a:off x="630000" y="622800"/>
            <a:ext cx="9761592" cy="332399"/>
          </a:xfr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pic>
        <p:nvPicPr>
          <p:cNvPr id="9" name="Imagen 9" descr="ARAUCO_CORTEZA.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0433205" y="622800"/>
            <a:ext cx="1323026" cy="346032"/>
          </a:xfrm>
          <a:prstGeom prst="rect">
            <a:avLst/>
          </a:prstGeom>
        </p:spPr>
      </p:pic>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766602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6090946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4" name="Date Placeholder 3"/>
          <p:cNvSpPr>
            <a:spLocks noGrp="1"/>
          </p:cNvSpPr>
          <p:nvPr>
            <p:ph type="dt" sz="half" idx="14"/>
          </p:nvPr>
        </p:nvSpPr>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Calibri" panose="020F0502020204030204" pitchFamily="34" charset="0"/>
                <a:sym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2" name="Picture 11"/>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45353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41628111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Date Placeholder 8"/>
          <p:cNvSpPr>
            <a:spLocks noGrp="1"/>
          </p:cNvSpPr>
          <p:nvPr>
            <p:ph type="dt" sz="half" idx="10"/>
          </p:nvPr>
        </p:nvSpPr>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Calibri" panose="020F0502020204030204" pitchFamily="34" charset="0"/>
              <a:sym typeface="Calibri" panose="020F0502020204030204" pitchFamily="34" charset="0"/>
            </a:endParaRPr>
          </a:p>
        </p:txBody>
      </p:sp>
      <p:pic>
        <p:nvPicPr>
          <p:cNvPr id="13" name="Picture 12"/>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308592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416009288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Date Placeholder 8"/>
          <p:cNvSpPr>
            <a:spLocks noGrp="1"/>
          </p:cNvSpPr>
          <p:nvPr>
            <p:ph type="dt" sz="half" idx="10"/>
          </p:nvPr>
        </p:nvSpPr>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Calibri" panose="020F0502020204030204" pitchFamily="34" charset="0"/>
                <a:sym typeface="Calibri" panose="020F0502020204030204" pitchFamily="34" charset="0"/>
              </a:defRPr>
            </a:lvl1pPr>
          </a:lstStyle>
          <a:p>
            <a:r>
              <a:rPr lang="en-US"/>
              <a:t>Click to add section title</a:t>
            </a:r>
          </a:p>
        </p:txBody>
      </p:sp>
      <p:cxnSp>
        <p:nvCxnSpPr>
          <p:cNvPr id="10" name="Straight Connector 9"/>
          <p:cNvCxnSpPr/>
          <p:nvPr userDrawn="1"/>
        </p:nvCxnSpPr>
        <p:spPr bwMode="white">
          <a:xfrm>
            <a:off x="319107"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181157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631314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7141736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5861778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4185954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02131817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6" name="Picture 15"/>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5463554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45314646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2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4073286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97179053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Calibri" panose="020F0502020204030204" pitchFamily="34" charset="0"/>
                <a:sym typeface="Calibri" panose="020F0502020204030204" pitchFamily="34" charset="0"/>
              </a:defRPr>
            </a:lvl1pPr>
          </a:lstStyle>
          <a:p>
            <a:r>
              <a:rPr lang="en-US"/>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8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6" name="Picture 15"/>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87758524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5867101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Calibri" panose="020F0502020204030204" pitchFamily="34" charset="0"/>
                <a:sym typeface="Calibri" panose="020F0502020204030204" pitchFamily="34" charset="0"/>
              </a:defRPr>
            </a:lvl1pPr>
          </a:lstStyle>
          <a:p>
            <a:r>
              <a:rPr lang="en-US"/>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8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pic>
        <p:nvPicPr>
          <p:cNvPr id="17" name="Picture 1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5073707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82341522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9"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08638" y="358801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Calibri" panose="020F0502020204030204" pitchFamily="34" charset="0"/>
                <a:sym typeface="Calibri" panose="020F0502020204030204" pitchFamily="34" charset="0"/>
              </a:defRPr>
            </a:lvl1pPr>
          </a:lstStyle>
          <a:p>
            <a:r>
              <a:rPr lang="en-US">
                <a:solidFill>
                  <a:schemeClr val="tx2"/>
                </a:solidFill>
              </a:rPr>
              <a:t>Click to add title</a:t>
            </a:r>
          </a:p>
        </p:txBody>
      </p:sp>
      <p:pic>
        <p:nvPicPr>
          <p:cNvPr id="12" name="Picture 11"/>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449506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6862649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Calibri" panose="020F0502020204030204" pitchFamily="34" charset="0"/>
                <a:sym typeface="Calibri" panose="020F0502020204030204" pitchFamily="34" charset="0"/>
              </a:defRPr>
            </a:lvl1pPr>
          </a:lstStyle>
          <a:p>
            <a:r>
              <a:rPr lang="en-US"/>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1" name="Picture 10"/>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6216" b="7716"/>
          <a:stretch/>
        </p:blipFill>
        <p:spPr>
          <a:xfrm rot="120000">
            <a:off x="2141308" y="3402828"/>
            <a:ext cx="2694666" cy="3461745"/>
          </a:xfrm>
          <a:prstGeom prst="rect">
            <a:avLst/>
          </a:prstGeom>
        </p:spPr>
      </p:pic>
      <p:pic>
        <p:nvPicPr>
          <p:cNvPr id="12" name="Picture 11"/>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8393569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1072586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800" kern="1200">
              <a:solidFill>
                <a:schemeClr val="bg1"/>
              </a:solidFill>
              <a:latin typeface="Calibri" panose="020F0502020204030204" pitchFamily="34" charset="0"/>
              <a:ea typeface="+mn-ea"/>
              <a:cs typeface="+mn-cs"/>
              <a:sym typeface="Calibri" panose="020F050202020403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pic>
        <p:nvPicPr>
          <p:cNvPr id="18"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33900" y="3382962"/>
            <a:ext cx="1298575" cy="3571875"/>
          </a:xfrm>
          <a:prstGeom prst="rect">
            <a:avLst/>
          </a:prstGeom>
          <a:noFill/>
          <a:extLst>
            <a:ext uri="{909E8E84-426E-40DD-AFC4-6F175D3DCCD1}">
              <a14:hiddenFill xmlns:a14="http://schemas.microsoft.com/office/drawing/2010/main">
                <a:solidFill>
                  <a:srgbClr val="FFFFFF"/>
                </a:solidFill>
              </a14:hiddenFill>
            </a:ext>
          </a:extLst>
        </p:spPr>
      </p:pic>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6032954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6566610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Calibri" panose="020F0502020204030204" pitchFamily="34" charset="0"/>
                <a:sym typeface="Calibri" panose="020F0502020204030204" pitchFamily="34" charset="0"/>
              </a:defRPr>
            </a:lvl1pPr>
          </a:lstStyle>
          <a:p>
            <a:r>
              <a:rPr lang="en-US"/>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7" name="Picture 16"/>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7562" b="6867"/>
          <a:stretch/>
        </p:blipFill>
        <p:spPr>
          <a:xfrm>
            <a:off x="3549481" y="3416300"/>
            <a:ext cx="2694666" cy="3441700"/>
          </a:xfrm>
          <a:prstGeom prst="rect">
            <a:avLst/>
          </a:prstGeom>
        </p:spPr>
      </p:pic>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6043438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51630341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78758" y="358801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8"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3574023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00566950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Calibri" panose="020F0502020204030204" pitchFamily="34" charset="0"/>
                <a:sym typeface="Calibri" panose="020F0502020204030204" pitchFamily="34" charset="0"/>
              </a:defRPr>
            </a:lvl1pPr>
          </a:lstStyle>
          <a:p>
            <a:r>
              <a:rPr lang="en-US"/>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3" name="Picture 12"/>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9052" b="6867"/>
          <a:stretch/>
        </p:blipFill>
        <p:spPr>
          <a:xfrm rot="120000">
            <a:off x="4428422" y="3407803"/>
            <a:ext cx="2694666" cy="3456551"/>
          </a:xfrm>
          <a:prstGeom prst="rect">
            <a:avLst/>
          </a:prstGeom>
        </p:spPr>
      </p:pic>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3929113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18295260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7490341" y="358801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2835113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25298424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Calibri" panose="020F0502020204030204" pitchFamily="34" charset="0"/>
                <a:sym typeface="Calibri" panose="020F0502020204030204" pitchFamily="34" charset="0"/>
              </a:defRPr>
            </a:lvl1pPr>
          </a:lstStyle>
          <a:p>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4" name="Picture 13"/>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9052" b="6867"/>
          <a:stretch/>
        </p:blipFill>
        <p:spPr>
          <a:xfrm rot="120000">
            <a:off x="6524770" y="3407803"/>
            <a:ext cx="2694666" cy="3456551"/>
          </a:xfrm>
          <a:prstGeom prst="rect">
            <a:avLst/>
          </a:prstGeom>
        </p:spPr>
      </p:pic>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586780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36463430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pic>
        <p:nvPicPr>
          <p:cNvPr id="12" name="Picture 11"/>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3442283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55118076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Date Placeholder 7"/>
          <p:cNvSpPr>
            <a:spLocks noGrp="1"/>
          </p:cNvSpPr>
          <p:nvPr>
            <p:ph type="dt" sz="half" idx="10"/>
          </p:nvPr>
        </p:nvSpPr>
        <p:spPr/>
        <p:txBody>
          <a:bodyPr/>
          <a:lstStyle>
            <a:lvl1pPr>
              <a:defRPr>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Calibri" panose="020F0502020204030204" pitchFamily="34" charset="0"/>
              <a:sym typeface="Calibri" panose="020F050202020403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rgbClr val="696158"/>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pic>
        <p:nvPicPr>
          <p:cNvPr id="10" name="Picture 9"/>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7169824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66480377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Picture 10"/>
          <p:cNvPicPr>
            <a:picLocks noChangeAspect="1"/>
          </p:cNvPicPr>
          <p:nvPr/>
        </p:nvPicPr>
        <p:blipFill rotWithShape="1">
          <a:blip r:embed="rId6">
            <a:extLst>
              <a:ext uri="{28A0092B-C50C-407E-A947-70E740481C1C}">
                <a14:useLocalDpi xmlns:a14="http://schemas.microsoft.com/office/drawing/2010/main" val="0"/>
              </a:ext>
            </a:extLst>
          </a:blip>
          <a:srcRect r="3634" b="1258"/>
          <a:stretch/>
        </p:blipFill>
        <p:spPr>
          <a:xfrm rot="16200000" flipH="1">
            <a:off x="6797461" y="110968"/>
            <a:ext cx="769257" cy="10019821"/>
          </a:xfrm>
          <a:prstGeom prst="rect">
            <a:avLst/>
          </a:pr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Calibri" panose="020F0502020204030204" pitchFamily="34" charset="0"/>
              <a:sym typeface="Calibri" panose="020F0502020204030204" pitchFamily="34" charset="0"/>
            </a:endParaRPr>
          </a:p>
        </p:txBody>
      </p:sp>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pic>
        <p:nvPicPr>
          <p:cNvPr id="7" name="Picture 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3773332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rgbClr val="949494"/>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86215037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4" name="Object 3"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Calibri" panose="020F0502020204030204" pitchFamily="34" charset="0"/>
                <a:sym typeface="Calibri" panose="020F0502020204030204" pitchFamily="34" charset="0"/>
              </a:defRPr>
            </a:lvl1pPr>
          </a:lstStyle>
          <a:p>
            <a:r>
              <a:rPr lang="en-US"/>
              <a:t>Click to add title</a:t>
            </a:r>
          </a:p>
        </p:txBody>
      </p:sp>
      <p:pic>
        <p:nvPicPr>
          <p:cNvPr id="9" name="Picture 8"/>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3847448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53084685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2"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08638" y="359436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a:solidFill>
                  <a:schemeClr val="tx2"/>
                </a:solidFill>
                <a:latin typeface="Calibri" panose="020F0502020204030204" pitchFamily="34" charset="0"/>
                <a:sym typeface="Calibri" panose="020F050202020403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4"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8774223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3441129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7" name="Picture 6"/>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41646599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5732447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Date Placeholder 6"/>
          <p:cNvSpPr>
            <a:spLocks noGrp="1"/>
          </p:cNvSpPr>
          <p:nvPr>
            <p:ph type="dt" sz="half" idx="10"/>
          </p:nvPr>
        </p:nvSpPr>
        <p:spPr/>
        <p:txBody>
          <a:bodyPr/>
          <a:lstStyle>
            <a:lvl1pPr>
              <a:defRPr>
                <a:latin typeface="Calibri" panose="020F0502020204030204" pitchFamily="34" charset="0"/>
                <a:sym typeface="Calibri" panose="020F0502020204030204" pitchFamily="34" charset="0"/>
              </a:defRPr>
            </a:lvl1pPr>
          </a:lstStyle>
          <a:p>
            <a:endParaRPr lang="en-US"/>
          </a:p>
        </p:txBody>
      </p:sp>
      <p:sp>
        <p:nvSpPr>
          <p:cNvPr id="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8" name="Picture 7"/>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3781206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D. Disclaimer">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endParaRPr lang="en-US"/>
          </a:p>
        </p:txBody>
      </p:sp>
      <p:sp>
        <p:nvSpPr>
          <p:cNvPr id="4" name="Rectangle 3"/>
          <p:cNvSpPr/>
          <p:nvPr userDrawn="1"/>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a:latin typeface="+mn-lt"/>
                <a:sym typeface="Trebuchet MS" panose="020B0603020202020204" pitchFamily="34" charset="0"/>
              </a:rPr>
              <a:t>The services and materials provided by The Boston Consulting Group (BCG) are subject to BCG's Standard Terms </a:t>
            </a:r>
            <a:br>
              <a:rPr lang="en-US" sz="900" b="0">
                <a:latin typeface="+mn-lt"/>
                <a:sym typeface="Trebuchet MS" panose="020B0603020202020204" pitchFamily="34" charset="0"/>
              </a:rPr>
            </a:br>
            <a:r>
              <a:rPr lang="en-US" sz="900" b="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a:latin typeface="+mn-lt"/>
                <a:sym typeface="Trebuchet MS" panose="020B0603020202020204" pitchFamily="34" charset="0"/>
              </a:rPr>
            </a:br>
            <a:r>
              <a:rPr lang="en-US" sz="900" b="0">
                <a:latin typeface="+mn-lt"/>
                <a:sym typeface="Trebuchet MS" panose="020B0603020202020204" pitchFamily="34" charset="0"/>
              </a:rPr>
              <a:t>to update these materials after the date hereof, notwithstanding that such information may become outdated </a:t>
            </a:r>
            <a:br>
              <a:rPr lang="en-US" sz="900" b="0">
                <a:latin typeface="+mn-lt"/>
                <a:sym typeface="Trebuchet MS" panose="020B0603020202020204" pitchFamily="34" charset="0"/>
              </a:rPr>
            </a:br>
            <a:r>
              <a:rPr lang="en-US" sz="900" b="0">
                <a:latin typeface="+mn-lt"/>
                <a:sym typeface="Trebuchet MS" panose="020B0603020202020204" pitchFamily="34" charset="0"/>
              </a:rPr>
              <a:t>or inaccurate.</a:t>
            </a:r>
          </a:p>
          <a:p>
            <a:pPr indent="0">
              <a:lnSpc>
                <a:spcPct val="100000"/>
              </a:lnSpc>
            </a:pPr>
            <a:r>
              <a:rPr lang="en-US" sz="900" b="0">
                <a:latin typeface="+mn-lt"/>
                <a:sym typeface="Trebuchet MS" panose="020B0603020202020204" pitchFamily="34" charset="0"/>
              </a:rPr>
              <a:t> </a:t>
            </a:r>
          </a:p>
          <a:p>
            <a:pPr indent="0">
              <a:lnSpc>
                <a:spcPct val="100000"/>
              </a:lnSpc>
            </a:pPr>
            <a:r>
              <a:rPr lang="en-US" sz="900" b="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a:latin typeface="+mn-lt"/>
                <a:sym typeface="Trebuchet MS" panose="020B0603020202020204" pitchFamily="34" charset="0"/>
              </a:rPr>
            </a:br>
            <a:r>
              <a:rPr lang="en-US" sz="900" b="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a:latin typeface="+mn-lt"/>
                <a:sym typeface="Trebuchet MS" panose="020B0603020202020204" pitchFamily="34" charset="0"/>
              </a:rPr>
              <a:t>BCG does not provide fairness opinions or valuations of market transactions, and these materials should not be relied </a:t>
            </a:r>
            <a:br>
              <a:rPr lang="en-US" sz="900" b="0">
                <a:latin typeface="+mn-lt"/>
                <a:sym typeface="Trebuchet MS" panose="020B0603020202020204" pitchFamily="34" charset="0"/>
              </a:rPr>
            </a:br>
            <a:r>
              <a:rPr lang="en-US" sz="900" b="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a:latin typeface="+mn-lt"/>
                <a:sym typeface="Trebuchet MS" panose="020B0603020202020204" pitchFamily="34" charset="0"/>
              </a:rPr>
            </a:br>
            <a:r>
              <a:rPr lang="en-US" sz="900" b="0">
                <a:latin typeface="+mn-lt"/>
                <a:sym typeface="Trebuchet MS" panose="020B0603020202020204" pitchFamily="34" charset="0"/>
              </a:rPr>
              <a:t>or operating assumptions will clearly impact the analyses and conclusions.</a:t>
            </a:r>
          </a:p>
        </p:txBody>
      </p:sp>
      <p:sp>
        <p:nvSpPr>
          <p:cNvPr id="5" name="Title 6"/>
          <p:cNvSpPr txBox="1">
            <a:spLocks/>
          </p:cNvSpPr>
          <p:nvPr userDrawn="1"/>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6" name="Straight Connector 5"/>
          <p:cNvCxnSpPr/>
          <p:nvPr userDrawn="1"/>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userDrawn="1">
            <p:custDataLst>
              <p:tags r:id="rId1"/>
            </p:custDataLst>
          </p:nvPr>
        </p:nvPicPr>
        <p:blipFill>
          <a:blip r:embed="rId3"/>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8752063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1389770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Calibri" panose="020F0502020204030204" pitchFamily="34" charset="0"/>
                <a:sym typeface="Calibri" panose="020F0502020204030204" pitchFamily="34" charset="0"/>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Calibri" panose="020F0502020204030204" pitchFamily="34" charset="0"/>
                <a:ea typeface="+mn-ea"/>
                <a:cs typeface="+mn-cs"/>
                <a:sym typeface="Calibri" panose="020F0502020204030204" pitchFamily="34" charset="0"/>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53" name="Footnote example"/>
            <p:cNvSpPr txBox="1"/>
            <p:nvPr/>
          </p:nvSpPr>
          <p:spPr>
            <a:xfrm>
              <a:off x="630000" y="6144442"/>
              <a:ext cx="10937886"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1.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  2.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  3.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endPar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Note: List footnotes in numerical order. Footnote numbers are not bracketed. Use 10pt font.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a:xfrm>
            <a:off x="9677400" y="6593721"/>
            <a:ext cx="1482051" cy="153888"/>
          </a:xfr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5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52" name="Picture 51"/>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1779432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847970"/>
            <a:ext cx="10363200" cy="1661993"/>
          </a:xfrm>
        </p:spPr>
        <p:txBody>
          <a:bodyPr anchor="b"/>
          <a:lstStyle>
            <a:lvl1pPr algn="ctr">
              <a:defRPr sz="6000"/>
            </a:lvl1pPr>
          </a:lstStyle>
          <a:p>
            <a:r>
              <a:rPr lang="es-ES"/>
              <a:t>Haga clic para modificar el estilo de título del patrón</a:t>
            </a:r>
            <a:endParaRPr lang="en-US"/>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s-ES"/>
              <a:t>Haga clic para modificar el estilo de subtítulo del patrón</a:t>
            </a:r>
            <a:endParaRPr lang="en-US"/>
          </a:p>
        </p:txBody>
      </p:sp>
      <p:sp>
        <p:nvSpPr>
          <p:cNvPr id="4" name="Date Placeholder 3"/>
          <p:cNvSpPr>
            <a:spLocks noGrp="1"/>
          </p:cNvSpPr>
          <p:nvPr>
            <p:ph type="dt" sz="half" idx="10"/>
          </p:nvPr>
        </p:nvSpPr>
        <p:spPr>
          <a:xfrm>
            <a:off x="838200" y="6567589"/>
            <a:ext cx="2743200" cy="153888"/>
          </a:xfrm>
          <a:prstGeom prst="rect">
            <a:avLst/>
          </a:prstGeom>
        </p:spPr>
        <p:txBody>
          <a:bodyPr/>
          <a:lstStyle/>
          <a:p>
            <a:fld id="{4F8BDCE8-F917-44D6-A787-23310526E625}" type="datetimeFigureOut">
              <a:rPr lang="es-CL" smtClean="0"/>
              <a:t>23-09-26</a:t>
            </a:fld>
            <a:endParaRPr lang="es-CL"/>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s-CL"/>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551628BD-271B-4EAC-8868-7FB45ED35C25}" type="slidenum">
              <a:rPr lang="es-CL" smtClean="0"/>
              <a:t>‹Nº›</a:t>
            </a:fld>
            <a:endParaRPr lang="es-CL"/>
          </a:p>
        </p:txBody>
      </p:sp>
    </p:spTree>
    <p:extLst>
      <p:ext uri="{BB962C8B-B14F-4D97-AF65-F5344CB8AC3E}">
        <p14:creationId xmlns:p14="http://schemas.microsoft.com/office/powerpoint/2010/main" val="3949255357"/>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80.xml"/><Relationship Id="rId18" Type="http://schemas.openxmlformats.org/officeDocument/2006/relationships/slideLayout" Target="../slideLayouts/slideLayout85.xml"/><Relationship Id="rId26" Type="http://schemas.openxmlformats.org/officeDocument/2006/relationships/slideLayout" Target="../slideLayouts/slideLayout93.xml"/><Relationship Id="rId39" Type="http://schemas.openxmlformats.org/officeDocument/2006/relationships/slideLayout" Target="../slideLayouts/slideLayout106.xml"/><Relationship Id="rId21" Type="http://schemas.openxmlformats.org/officeDocument/2006/relationships/slideLayout" Target="../slideLayouts/slideLayout88.xml"/><Relationship Id="rId34" Type="http://schemas.openxmlformats.org/officeDocument/2006/relationships/slideLayout" Target="../slideLayouts/slideLayout101.xml"/><Relationship Id="rId42" Type="http://schemas.openxmlformats.org/officeDocument/2006/relationships/slideLayout" Target="../slideLayouts/slideLayout109.xml"/><Relationship Id="rId47" Type="http://schemas.openxmlformats.org/officeDocument/2006/relationships/slideLayout" Target="../slideLayouts/slideLayout114.xml"/><Relationship Id="rId50" Type="http://schemas.openxmlformats.org/officeDocument/2006/relationships/slideLayout" Target="../slideLayouts/slideLayout117.xml"/><Relationship Id="rId55" Type="http://schemas.openxmlformats.org/officeDocument/2006/relationships/slideLayout" Target="../slideLayouts/slideLayout122.xml"/><Relationship Id="rId7" Type="http://schemas.openxmlformats.org/officeDocument/2006/relationships/slideLayout" Target="../slideLayouts/slideLayout74.xml"/><Relationship Id="rId2" Type="http://schemas.openxmlformats.org/officeDocument/2006/relationships/slideLayout" Target="../slideLayouts/slideLayout69.xml"/><Relationship Id="rId16" Type="http://schemas.openxmlformats.org/officeDocument/2006/relationships/slideLayout" Target="../slideLayouts/slideLayout83.xml"/><Relationship Id="rId29" Type="http://schemas.openxmlformats.org/officeDocument/2006/relationships/slideLayout" Target="../slideLayouts/slideLayout96.xml"/><Relationship Id="rId11" Type="http://schemas.openxmlformats.org/officeDocument/2006/relationships/slideLayout" Target="../slideLayouts/slideLayout78.xml"/><Relationship Id="rId24" Type="http://schemas.openxmlformats.org/officeDocument/2006/relationships/slideLayout" Target="../slideLayouts/slideLayout91.xml"/><Relationship Id="rId32" Type="http://schemas.openxmlformats.org/officeDocument/2006/relationships/slideLayout" Target="../slideLayouts/slideLayout99.xml"/><Relationship Id="rId37" Type="http://schemas.openxmlformats.org/officeDocument/2006/relationships/slideLayout" Target="../slideLayouts/slideLayout104.xml"/><Relationship Id="rId40" Type="http://schemas.openxmlformats.org/officeDocument/2006/relationships/slideLayout" Target="../slideLayouts/slideLayout107.xml"/><Relationship Id="rId45" Type="http://schemas.openxmlformats.org/officeDocument/2006/relationships/slideLayout" Target="../slideLayouts/slideLayout112.xml"/><Relationship Id="rId53" Type="http://schemas.openxmlformats.org/officeDocument/2006/relationships/slideLayout" Target="../slideLayouts/slideLayout120.xml"/><Relationship Id="rId58" Type="http://schemas.openxmlformats.org/officeDocument/2006/relationships/oleObject" Target="../embeddings/oleObject19.bin"/><Relationship Id="rId5" Type="http://schemas.openxmlformats.org/officeDocument/2006/relationships/slideLayout" Target="../slideLayouts/slideLayout72.xml"/><Relationship Id="rId19" Type="http://schemas.openxmlformats.org/officeDocument/2006/relationships/slideLayout" Target="../slideLayouts/slideLayout86.xml"/><Relationship Id="rId4" Type="http://schemas.openxmlformats.org/officeDocument/2006/relationships/slideLayout" Target="../slideLayouts/slideLayout71.xml"/><Relationship Id="rId9" Type="http://schemas.openxmlformats.org/officeDocument/2006/relationships/slideLayout" Target="../slideLayouts/slideLayout76.xml"/><Relationship Id="rId14" Type="http://schemas.openxmlformats.org/officeDocument/2006/relationships/slideLayout" Target="../slideLayouts/slideLayout81.xml"/><Relationship Id="rId22" Type="http://schemas.openxmlformats.org/officeDocument/2006/relationships/slideLayout" Target="../slideLayouts/slideLayout89.xml"/><Relationship Id="rId27" Type="http://schemas.openxmlformats.org/officeDocument/2006/relationships/slideLayout" Target="../slideLayouts/slideLayout94.xml"/><Relationship Id="rId30" Type="http://schemas.openxmlformats.org/officeDocument/2006/relationships/slideLayout" Target="../slideLayouts/slideLayout97.xml"/><Relationship Id="rId35" Type="http://schemas.openxmlformats.org/officeDocument/2006/relationships/slideLayout" Target="../slideLayouts/slideLayout102.xml"/><Relationship Id="rId43" Type="http://schemas.openxmlformats.org/officeDocument/2006/relationships/slideLayout" Target="../slideLayouts/slideLayout110.xml"/><Relationship Id="rId48" Type="http://schemas.openxmlformats.org/officeDocument/2006/relationships/slideLayout" Target="../slideLayouts/slideLayout115.xml"/><Relationship Id="rId56" Type="http://schemas.openxmlformats.org/officeDocument/2006/relationships/theme" Target="../theme/theme2.xml"/><Relationship Id="rId8" Type="http://schemas.openxmlformats.org/officeDocument/2006/relationships/slideLayout" Target="../slideLayouts/slideLayout75.xml"/><Relationship Id="rId51" Type="http://schemas.openxmlformats.org/officeDocument/2006/relationships/slideLayout" Target="../slideLayouts/slideLayout118.xml"/><Relationship Id="rId3" Type="http://schemas.openxmlformats.org/officeDocument/2006/relationships/slideLayout" Target="../slideLayouts/slideLayout70.xml"/><Relationship Id="rId12" Type="http://schemas.openxmlformats.org/officeDocument/2006/relationships/slideLayout" Target="../slideLayouts/slideLayout79.xml"/><Relationship Id="rId17" Type="http://schemas.openxmlformats.org/officeDocument/2006/relationships/slideLayout" Target="../slideLayouts/slideLayout84.xml"/><Relationship Id="rId25" Type="http://schemas.openxmlformats.org/officeDocument/2006/relationships/slideLayout" Target="../slideLayouts/slideLayout92.xml"/><Relationship Id="rId33" Type="http://schemas.openxmlformats.org/officeDocument/2006/relationships/slideLayout" Target="../slideLayouts/slideLayout100.xml"/><Relationship Id="rId38" Type="http://schemas.openxmlformats.org/officeDocument/2006/relationships/slideLayout" Target="../slideLayouts/slideLayout105.xml"/><Relationship Id="rId46" Type="http://schemas.openxmlformats.org/officeDocument/2006/relationships/slideLayout" Target="../slideLayouts/slideLayout113.xml"/><Relationship Id="rId59" Type="http://schemas.openxmlformats.org/officeDocument/2006/relationships/image" Target="../media/image1.emf"/><Relationship Id="rId20" Type="http://schemas.openxmlformats.org/officeDocument/2006/relationships/slideLayout" Target="../slideLayouts/slideLayout87.xml"/><Relationship Id="rId41" Type="http://schemas.openxmlformats.org/officeDocument/2006/relationships/slideLayout" Target="../slideLayouts/slideLayout108.xml"/><Relationship Id="rId54" Type="http://schemas.openxmlformats.org/officeDocument/2006/relationships/slideLayout" Target="../slideLayouts/slideLayout121.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5" Type="http://schemas.openxmlformats.org/officeDocument/2006/relationships/slideLayout" Target="../slideLayouts/slideLayout82.xml"/><Relationship Id="rId23" Type="http://schemas.openxmlformats.org/officeDocument/2006/relationships/slideLayout" Target="../slideLayouts/slideLayout90.xml"/><Relationship Id="rId28" Type="http://schemas.openxmlformats.org/officeDocument/2006/relationships/slideLayout" Target="../slideLayouts/slideLayout95.xml"/><Relationship Id="rId36" Type="http://schemas.openxmlformats.org/officeDocument/2006/relationships/slideLayout" Target="../slideLayouts/slideLayout103.xml"/><Relationship Id="rId49" Type="http://schemas.openxmlformats.org/officeDocument/2006/relationships/slideLayout" Target="../slideLayouts/slideLayout116.xml"/><Relationship Id="rId57" Type="http://schemas.openxmlformats.org/officeDocument/2006/relationships/tags" Target="../tags/tag25.xml"/><Relationship Id="rId10" Type="http://schemas.openxmlformats.org/officeDocument/2006/relationships/slideLayout" Target="../slideLayouts/slideLayout77.xml"/><Relationship Id="rId31" Type="http://schemas.openxmlformats.org/officeDocument/2006/relationships/slideLayout" Target="../slideLayouts/slideLayout98.xml"/><Relationship Id="rId44" Type="http://schemas.openxmlformats.org/officeDocument/2006/relationships/slideLayout" Target="../slideLayouts/slideLayout111.xml"/><Relationship Id="rId52" Type="http://schemas.openxmlformats.org/officeDocument/2006/relationships/slideLayout" Target="../slideLayouts/slideLayout1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80096730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71" imgW="270" imgH="270" progId="TCLayout.ActiveDocument.1">
                  <p:embed/>
                </p:oleObj>
              </mc:Choice>
              <mc:Fallback>
                <p:oleObj name="Diapositiva de think-cell" r:id="rId71" imgW="270" imgH="270" progId="TCLayout.ActiveDocument.1">
                  <p:embed/>
                  <p:pic>
                    <p:nvPicPr>
                      <p:cNvPr id="2" name="Object 1" hidden="1"/>
                      <p:cNvPicPr/>
                      <p:nvPr/>
                    </p:nvPicPr>
                    <p:blipFill>
                      <a:blip r:embed="rId72"/>
                      <a:stretch>
                        <a:fillRect/>
                      </a:stretch>
                    </p:blipFill>
                    <p:spPr>
                      <a:xfrm>
                        <a:off x="1588" y="1588"/>
                        <a:ext cx="1587" cy="1587"/>
                      </a:xfrm>
                      <a:prstGeom prst="rect">
                        <a:avLst/>
                      </a:prstGeom>
                    </p:spPr>
                  </p:pic>
                </p:oleObj>
              </mc:Fallback>
            </mc:AlternateContent>
          </a:graphicData>
        </a:graphic>
      </p:graphicFrame>
      <p:sp>
        <p:nvSpPr>
          <p:cNvPr id="3" name="Rectangle 2" hidden="1"/>
          <p:cNvSpPr/>
          <p:nvPr userDrawn="1">
            <p:custDataLst>
              <p:tags r:id="rId70"/>
            </p:custDataLst>
          </p:nvPr>
        </p:nvSpPr>
        <p:spPr>
          <a:xfrm>
            <a:off x="0" y="0"/>
            <a:ext cx="158750" cy="158750"/>
          </a:xfrm>
          <a:prstGeom prst="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2400" b="0" i="0" baseline="0" err="1">
              <a:solidFill>
                <a:srgbClr val="FFFFFF"/>
              </a:solidFill>
              <a:latin typeface="Calibri" panose="020F0502020204030204" pitchFamily="34" charset="0"/>
              <a:ea typeface="+mj-ea"/>
              <a:cs typeface="+mj-cs"/>
              <a:sym typeface="Calibri" panose="020F0502020204030204" pitchFamily="34" charset="0"/>
            </a:endParaRP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Level six</a:t>
            </a:r>
          </a:p>
          <a:p>
            <a:pPr lvl="6"/>
            <a:r>
              <a:rPr lang="en-US"/>
              <a:t>Level seven</a:t>
            </a:r>
          </a:p>
          <a:p>
            <a:pPr lvl="7"/>
            <a:r>
              <a:rPr lang="en-US"/>
              <a:t>Level eight</a:t>
            </a:r>
          </a:p>
          <a:p>
            <a:pPr lvl="8"/>
            <a:r>
              <a:rPr lang="en-US"/>
              <a:t>Level nine</a:t>
            </a:r>
          </a:p>
        </p:txBody>
      </p:sp>
    </p:spTree>
    <p:extLst>
      <p:ext uri="{BB962C8B-B14F-4D97-AF65-F5344CB8AC3E}">
        <p14:creationId xmlns:p14="http://schemas.microsoft.com/office/powerpoint/2010/main" val="3722070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57"/>
            </p:custDataLst>
            <p:extLst>
              <p:ext uri="{D42A27DB-BD31-4B8C-83A1-F6EECF244321}">
                <p14:modId xmlns:p14="http://schemas.microsoft.com/office/powerpoint/2010/main" val="16063410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58" imgW="270" imgH="270" progId="TCLayout.ActiveDocument.1">
                  <p:embed/>
                </p:oleObj>
              </mc:Choice>
              <mc:Fallback>
                <p:oleObj name="Diapositiva de think-cell" r:id="rId58" imgW="270" imgH="270" progId="TCLayout.ActiveDocument.1">
                  <p:embed/>
                  <p:pic>
                    <p:nvPicPr>
                      <p:cNvPr id="2" name="Object 1" hidden="1"/>
                      <p:cNvPicPr/>
                      <p:nvPr/>
                    </p:nvPicPr>
                    <p:blipFill>
                      <a:blip r:embed="rId59"/>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‹Nº›</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Level six</a:t>
            </a:r>
          </a:p>
          <a:p>
            <a:pPr lvl="6"/>
            <a:r>
              <a:rPr lang="en-US"/>
              <a:t>Level seven</a:t>
            </a:r>
          </a:p>
          <a:p>
            <a:pPr lvl="7"/>
            <a:r>
              <a:rPr lang="en-US"/>
              <a:t>Level eight</a:t>
            </a:r>
          </a:p>
          <a:p>
            <a:pPr lvl="8"/>
            <a:r>
              <a:rPr lang="en-US"/>
              <a:t>Level nine</a:t>
            </a:r>
          </a:p>
        </p:txBody>
      </p:sp>
    </p:spTree>
    <p:extLst>
      <p:ext uri="{BB962C8B-B14F-4D97-AF65-F5344CB8AC3E}">
        <p14:creationId xmlns:p14="http://schemas.microsoft.com/office/powerpoint/2010/main" val="3751854927"/>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 id="2147483745" r:id="rId16"/>
    <p:sldLayoutId id="2147483746" r:id="rId17"/>
    <p:sldLayoutId id="2147483747" r:id="rId18"/>
    <p:sldLayoutId id="2147483748" r:id="rId19"/>
    <p:sldLayoutId id="2147483749" r:id="rId20"/>
    <p:sldLayoutId id="2147483750" r:id="rId21"/>
    <p:sldLayoutId id="2147483751" r:id="rId22"/>
    <p:sldLayoutId id="2147483752" r:id="rId23"/>
    <p:sldLayoutId id="2147483753" r:id="rId24"/>
    <p:sldLayoutId id="2147483754" r:id="rId25"/>
    <p:sldLayoutId id="2147483755" r:id="rId26"/>
    <p:sldLayoutId id="2147483756" r:id="rId27"/>
    <p:sldLayoutId id="2147483757" r:id="rId28"/>
    <p:sldLayoutId id="2147483758" r:id="rId29"/>
    <p:sldLayoutId id="2147483759" r:id="rId30"/>
    <p:sldLayoutId id="2147483760" r:id="rId31"/>
    <p:sldLayoutId id="2147483761" r:id="rId32"/>
    <p:sldLayoutId id="2147483762" r:id="rId33"/>
    <p:sldLayoutId id="2147483763" r:id="rId34"/>
    <p:sldLayoutId id="2147483764" r:id="rId35"/>
    <p:sldLayoutId id="2147483765" r:id="rId36"/>
    <p:sldLayoutId id="2147483766" r:id="rId37"/>
    <p:sldLayoutId id="2147483767" r:id="rId38"/>
    <p:sldLayoutId id="2147483768" r:id="rId39"/>
    <p:sldLayoutId id="2147483769" r:id="rId40"/>
    <p:sldLayoutId id="2147483770" r:id="rId41"/>
    <p:sldLayoutId id="2147483771" r:id="rId42"/>
    <p:sldLayoutId id="2147483772" r:id="rId43"/>
    <p:sldLayoutId id="2147483773" r:id="rId44"/>
    <p:sldLayoutId id="2147483774" r:id="rId45"/>
    <p:sldLayoutId id="2147483775" r:id="rId46"/>
    <p:sldLayoutId id="2147483776" r:id="rId47"/>
    <p:sldLayoutId id="2147483777" r:id="rId48"/>
    <p:sldLayoutId id="2147483778" r:id="rId49"/>
    <p:sldLayoutId id="2147483779" r:id="rId50"/>
    <p:sldLayoutId id="2147483780" r:id="rId51"/>
    <p:sldLayoutId id="2147483781" r:id="rId52"/>
    <p:sldLayoutId id="2147483782" r:id="rId53"/>
    <p:sldLayoutId id="2147483783" r:id="rId54"/>
    <p:sldLayoutId id="2147483785" r:id="rId55"/>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Calibri" panose="020F0502020204030204" pitchFamily="34" charset="0"/>
          <a:ea typeface="+mj-ea"/>
          <a:cs typeface="+mj-cs"/>
          <a:sym typeface="Calibri" panose="020F050202020403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Calibri" panose="020F0502020204030204" pitchFamily="34" charset="0"/>
          <a:ea typeface="+mn-ea"/>
          <a:cs typeface="+mn-cs"/>
          <a:sym typeface="Calibri" panose="020F050202020403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Calibri" panose="020F0502020204030204" pitchFamily="34" charset="0"/>
          <a:ea typeface="+mn-ea"/>
          <a:cs typeface="+mn-cs"/>
          <a:sym typeface="Calibri" panose="020F050202020403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Calibri" panose="020F0502020204030204" pitchFamily="34" charset="0"/>
          <a:ea typeface="+mn-ea"/>
          <a:cs typeface="+mn-cs"/>
          <a:sym typeface="Calibri" panose="020F050202020403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Calibri" panose="020F0502020204030204" pitchFamily="34" charset="0"/>
          <a:ea typeface="+mn-ea"/>
          <a:cs typeface="+mn-cs"/>
          <a:sym typeface="Calibri" panose="020F050202020403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Calibri" panose="020F0502020204030204" pitchFamily="34" charset="0"/>
          <a:ea typeface="+mn-ea"/>
          <a:cs typeface="+mn-cs"/>
          <a:sym typeface="Calibri" panose="020F050202020403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Calibri" panose="020F0502020204030204" pitchFamily="34" charset="0"/>
          <a:ea typeface="+mn-ea"/>
          <a:cs typeface="+mn-cs"/>
          <a:sym typeface="Calibri" panose="020F050202020403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Calibri" panose="020F0502020204030204" pitchFamily="34" charset="0"/>
          <a:ea typeface="+mn-ea"/>
          <a:cs typeface="+mn-cs"/>
          <a:sym typeface="Calibri" panose="020F050202020403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Calibri" panose="020F0502020204030204" pitchFamily="34" charset="0"/>
          <a:ea typeface="+mn-ea"/>
          <a:cs typeface="+mn-cs"/>
          <a:sym typeface="Calibri" panose="020F050202020403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Calibri" panose="020F0502020204030204" pitchFamily="34" charset="0"/>
          <a:ea typeface="+mn-ea"/>
          <a:cs typeface="+mn-cs"/>
          <a:sym typeface="Calibri" panose="020F050202020403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Borrador de trabajo| </a:t>
            </a:r>
            <a:r>
              <a:rPr lang="es-CL" sz="2000" dirty="0">
                <a:solidFill>
                  <a:srgbClr val="A34100"/>
                </a:solidFill>
                <a:latin typeface="+mn-lt"/>
                <a:cs typeface="+mn-lt"/>
              </a:rPr>
              <a:t>Manual de Procesos · Gestión de Personas</a:t>
            </a:r>
            <a:endParaRPr lang="es-CL"/>
          </a:p>
        </p:txBody>
      </p:sp>
      <p:sp>
        <p:nvSpPr>
          <p:cNvPr id="10" name="Banda 10"/>
          <p:cNvSpPr/>
          <p:nvPr/>
        </p:nvSpPr>
        <p:spPr>
          <a:xfrm>
            <a:off x="630000" y="1075000"/>
            <a:ext cx="10933350" cy="331191"/>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1100" dirty="0">
                <a:solidFill>
                  <a:srgbClr val="3F3A33"/>
                </a:solidFill>
                <a:latin typeface="+mn-lt"/>
                <a:cs typeface="+mn-lt"/>
              </a:rPr>
              <a:t>Macroproceso 8 · Negocio de Celulosa · Arauco    ·    Estructura visual heredada del manual del Macroproceso 15</a:t>
            </a:r>
          </a:p>
        </p:txBody>
      </p:sp>
      <p:sp>
        <p:nvSpPr>
          <p:cNvPr id="11" name="Texto 11"/>
          <p:cNvSpPr/>
          <p:nvPr/>
        </p:nvSpPr>
        <p:spPr>
          <a:xfrm>
            <a:off x="630000" y="1496191"/>
            <a:ext cx="10933350" cy="538861"/>
          </a:xfrm>
          <a:prstGeom prst="rect">
            <a:avLst/>
          </a:prstGeom>
          <a:noFill/>
          <a:ln>
            <a:noFill/>
          </a:ln>
        </p:spPr>
        <p:txBody>
          <a:bodyPr wrap="square" lIns="25400" tIns="25400" rIns="25400" bIns="25400" anchor="t">
            <a:noAutofit/>
          </a:bodyPr>
          <a:lstStyle/>
          <a:p>
            <a:pPr algn="l">
              <a:lnSpc>
                <a:spcPct val="90000"/>
              </a:lnSpc>
              <a:buNone/>
            </a:pPr>
            <a:r>
              <a:rPr lang="es-CL" sz="1300" b="1" dirty="0">
                <a:solidFill>
                  <a:srgbClr val="A34100"/>
                </a:solidFill>
                <a:latin typeface="+mn-lt"/>
                <a:cs typeface="+mn-lt"/>
              </a:rPr>
              <a:t>Qué es este documento</a:t>
            </a:r>
          </a:p>
          <a:p>
            <a:pPr algn="l">
              <a:lnSpc>
                <a:spcPct val="90000"/>
              </a:lnSpc>
              <a:spcBef>
                <a:spcPts val="200"/>
              </a:spcBef>
              <a:buNone/>
            </a:pPr>
            <a:r>
              <a:rPr lang="es-CL" sz="1100" dirty="0">
                <a:solidFill>
                  <a:srgbClr val="3F3A33"/>
                </a:solidFill>
                <a:latin typeface="+mn-lt"/>
                <a:cs typeface="+mn-lt"/>
              </a:rPr>
              <a:t>Es la arquitectura preliminar de procesos del MP8, construida sobre el diseño del manual de procesos de la compañía. Traduce a estructura de procesos la clasificación de «cajitas» revisada con </a:t>
            </a:r>
            <a:r>
              <a:rPr lang="es-CL" sz="1100" dirty="0" err="1">
                <a:solidFill>
                  <a:srgbClr val="3F3A33"/>
                </a:solidFill>
                <a:latin typeface="+mn-lt"/>
                <a:cs typeface="+mn-lt"/>
              </a:rPr>
              <a:t>Lider</a:t>
            </a:r>
            <a:r>
              <a:rPr lang="es-CL" sz="1100" dirty="0">
                <a:solidFill>
                  <a:srgbClr val="3F3A33"/>
                </a:solidFill>
                <a:latin typeface="+mn-lt"/>
                <a:cs typeface="+mn-lt"/>
              </a:rPr>
              <a:t> Mejora Continua para las fases 1 a 14 del flujo único MP8 v3.</a:t>
            </a:r>
          </a:p>
        </p:txBody>
      </p:sp>
      <p:sp>
        <p:nvSpPr>
          <p:cNvPr id="12" name="Texto 12"/>
          <p:cNvSpPr/>
          <p:nvPr/>
        </p:nvSpPr>
        <p:spPr>
          <a:xfrm>
            <a:off x="630000" y="2125052"/>
            <a:ext cx="10933350" cy="538861"/>
          </a:xfrm>
          <a:prstGeom prst="rect">
            <a:avLst/>
          </a:prstGeom>
          <a:noFill/>
          <a:ln>
            <a:noFill/>
          </a:ln>
        </p:spPr>
        <p:txBody>
          <a:bodyPr wrap="square" lIns="25400" tIns="25400" rIns="25400" bIns="25400" anchor="t">
            <a:noAutofit/>
          </a:bodyPr>
          <a:lstStyle/>
          <a:p>
            <a:pPr algn="l">
              <a:lnSpc>
                <a:spcPct val="90000"/>
              </a:lnSpc>
              <a:buNone/>
            </a:pPr>
            <a:r>
              <a:rPr lang="es-CL" sz="1300" b="1" dirty="0">
                <a:solidFill>
                  <a:srgbClr val="A34100"/>
                </a:solidFill>
                <a:latin typeface="+mn-lt"/>
                <a:cs typeface="+mn-lt"/>
              </a:rPr>
              <a:t>Qué no es</a:t>
            </a:r>
          </a:p>
          <a:p>
            <a:pPr algn="l">
              <a:lnSpc>
                <a:spcPct val="90000"/>
              </a:lnSpc>
              <a:spcBef>
                <a:spcPts val="200"/>
              </a:spcBef>
              <a:buNone/>
            </a:pPr>
            <a:r>
              <a:rPr lang="es-CL" sz="1100" dirty="0">
                <a:solidFill>
                  <a:srgbClr val="3F3A33"/>
                </a:solidFill>
                <a:latin typeface="+mn-lt"/>
                <a:cs typeface="+mn-lt"/>
              </a:rPr>
              <a:t>No es el manual final ni una definición cerrada. Los nombres, agrupaciones y jerarquías marcados como propuesta o pendiente requieren validación. Las fases 0 y 15 a 18 no fueron revisadas y por eso no se modelan aquí.</a:t>
            </a:r>
          </a:p>
        </p:txBody>
      </p:sp>
      <p:sp>
        <p:nvSpPr>
          <p:cNvPr id="13" name="Tarjeta 13"/>
          <p:cNvSpPr/>
          <p:nvPr/>
        </p:nvSpPr>
        <p:spPr>
          <a:xfrm>
            <a:off x="630000" y="2753913"/>
            <a:ext cx="2643337" cy="660400"/>
          </a:xfrm>
          <a:prstGeom prst="roundRect">
            <a:avLst>
              <a:gd name="adj" fmla="val 5000"/>
            </a:avLst>
          </a:prstGeom>
          <a:solidFill>
            <a:srgbClr val="F6EDE4"/>
          </a:solidFill>
          <a:ln w="9525" cap="flat">
            <a:solidFill>
              <a:srgbClr val="A34100"/>
            </a:solidFill>
          </a:ln>
        </p:spPr>
        <p:txBody>
          <a:bodyPr wrap="square" lIns="76200" tIns="76200" rIns="76200" bIns="76200" anchor="t">
            <a:noAutofit/>
          </a:bodyPr>
          <a:lstStyle/>
          <a:p>
            <a:pPr algn="l">
              <a:lnSpc>
                <a:spcPct val="90000"/>
              </a:lnSpc>
              <a:buNone/>
            </a:pPr>
            <a:r>
              <a:rPr lang="es-CL" sz="2000" b="1" dirty="0">
                <a:solidFill>
                  <a:srgbClr val="A34100"/>
                </a:solidFill>
                <a:latin typeface="+mn-lt"/>
                <a:cs typeface="+mn-lt"/>
              </a:rPr>
              <a:t>5</a:t>
            </a:r>
          </a:p>
          <a:p>
            <a:pPr algn="l">
              <a:lnSpc>
                <a:spcPct val="90000"/>
              </a:lnSpc>
              <a:spcBef>
                <a:spcPts val="200"/>
              </a:spcBef>
              <a:buNone/>
            </a:pPr>
            <a:r>
              <a:rPr lang="es-CL" sz="950" dirty="0">
                <a:solidFill>
                  <a:srgbClr val="3F3A33"/>
                </a:solidFill>
                <a:latin typeface="+mn-lt"/>
                <a:cs typeface="+mn-lt"/>
              </a:rPr>
              <a:t>procesos preliminares</a:t>
            </a:r>
          </a:p>
        </p:txBody>
      </p:sp>
      <p:sp>
        <p:nvSpPr>
          <p:cNvPr id="14" name="Tarjeta 14"/>
          <p:cNvSpPr/>
          <p:nvPr/>
        </p:nvSpPr>
        <p:spPr>
          <a:xfrm>
            <a:off x="3393337" y="2753913"/>
            <a:ext cx="2643337" cy="660400"/>
          </a:xfrm>
          <a:prstGeom prst="roundRect">
            <a:avLst>
              <a:gd name="adj" fmla="val 5000"/>
            </a:avLst>
          </a:prstGeom>
          <a:solidFill>
            <a:srgbClr val="F6EDE4"/>
          </a:solidFill>
          <a:ln w="9525" cap="flat">
            <a:solidFill>
              <a:srgbClr val="A34100"/>
            </a:solidFill>
          </a:ln>
        </p:spPr>
        <p:txBody>
          <a:bodyPr wrap="square" lIns="76200" tIns="76200" rIns="76200" bIns="76200" anchor="t">
            <a:noAutofit/>
          </a:bodyPr>
          <a:lstStyle/>
          <a:p>
            <a:pPr algn="l">
              <a:lnSpc>
                <a:spcPct val="90000"/>
              </a:lnSpc>
              <a:buNone/>
            </a:pPr>
            <a:r>
              <a:rPr lang="es-CL" sz="2000" b="1" dirty="0">
                <a:solidFill>
                  <a:srgbClr val="A34100"/>
                </a:solidFill>
                <a:latin typeface="+mn-lt"/>
                <a:cs typeface="+mn-lt"/>
              </a:rPr>
              <a:t>17</a:t>
            </a:r>
          </a:p>
          <a:p>
            <a:pPr algn="l">
              <a:lnSpc>
                <a:spcPct val="90000"/>
              </a:lnSpc>
              <a:spcBef>
                <a:spcPts val="200"/>
              </a:spcBef>
              <a:buNone/>
            </a:pPr>
            <a:r>
              <a:rPr lang="es-CL" sz="950" dirty="0">
                <a:solidFill>
                  <a:srgbClr val="3F3A33"/>
                </a:solidFill>
                <a:latin typeface="+mn-lt"/>
                <a:cs typeface="+mn-lt"/>
              </a:rPr>
              <a:t>subprocesos identificados</a:t>
            </a:r>
          </a:p>
        </p:txBody>
      </p:sp>
      <p:sp>
        <p:nvSpPr>
          <p:cNvPr id="15" name="Tarjeta 15"/>
          <p:cNvSpPr/>
          <p:nvPr/>
        </p:nvSpPr>
        <p:spPr>
          <a:xfrm>
            <a:off x="6156674" y="2753913"/>
            <a:ext cx="2643337" cy="660400"/>
          </a:xfrm>
          <a:prstGeom prst="roundRect">
            <a:avLst>
              <a:gd name="adj" fmla="val 5000"/>
            </a:avLst>
          </a:prstGeom>
          <a:solidFill>
            <a:srgbClr val="F6EDE4"/>
          </a:solidFill>
          <a:ln w="9525" cap="flat">
            <a:solidFill>
              <a:srgbClr val="A34100"/>
            </a:solidFill>
          </a:ln>
        </p:spPr>
        <p:txBody>
          <a:bodyPr wrap="square" lIns="76200" tIns="76200" rIns="76200" bIns="76200" anchor="t">
            <a:noAutofit/>
          </a:bodyPr>
          <a:lstStyle/>
          <a:p>
            <a:pPr algn="l">
              <a:lnSpc>
                <a:spcPct val="90000"/>
              </a:lnSpc>
              <a:buNone/>
            </a:pPr>
            <a:r>
              <a:rPr lang="es-CL" sz="2000" b="1" dirty="0">
                <a:solidFill>
                  <a:srgbClr val="A34100"/>
                </a:solidFill>
                <a:latin typeface="+mn-lt"/>
                <a:cs typeface="+mn-lt"/>
              </a:rPr>
              <a:t>14</a:t>
            </a:r>
          </a:p>
          <a:p>
            <a:pPr algn="l">
              <a:lnSpc>
                <a:spcPct val="90000"/>
              </a:lnSpc>
              <a:spcBef>
                <a:spcPts val="200"/>
              </a:spcBef>
              <a:buNone/>
            </a:pPr>
            <a:r>
              <a:rPr lang="es-CL" sz="950" dirty="0">
                <a:solidFill>
                  <a:srgbClr val="3F3A33"/>
                </a:solidFill>
                <a:latin typeface="+mn-lt"/>
                <a:cs typeface="+mn-lt"/>
              </a:rPr>
              <a:t>fases clasificadas</a:t>
            </a:r>
          </a:p>
        </p:txBody>
      </p:sp>
      <p:sp>
        <p:nvSpPr>
          <p:cNvPr id="16" name="Tarjeta 16"/>
          <p:cNvSpPr/>
          <p:nvPr/>
        </p:nvSpPr>
        <p:spPr>
          <a:xfrm>
            <a:off x="8920011" y="2753913"/>
            <a:ext cx="2643337" cy="660400"/>
          </a:xfrm>
          <a:prstGeom prst="roundRect">
            <a:avLst>
              <a:gd name="adj" fmla="val 5000"/>
            </a:avLst>
          </a:prstGeom>
          <a:solidFill>
            <a:srgbClr val="F1F1F2"/>
          </a:solidFill>
          <a:ln w="9525" cap="flat">
            <a:solidFill>
              <a:srgbClr val="9A9B9F"/>
            </a:solidFill>
          </a:ln>
        </p:spPr>
        <p:txBody>
          <a:bodyPr wrap="square" lIns="76200" tIns="76200" rIns="76200" bIns="76200" anchor="t">
            <a:noAutofit/>
          </a:bodyPr>
          <a:lstStyle/>
          <a:p>
            <a:pPr algn="l">
              <a:lnSpc>
                <a:spcPct val="90000"/>
              </a:lnSpc>
              <a:buNone/>
            </a:pPr>
            <a:r>
              <a:rPr lang="es-CL" sz="2000" b="1" dirty="0">
                <a:solidFill>
                  <a:srgbClr val="55565A"/>
                </a:solidFill>
                <a:latin typeface="+mn-lt"/>
                <a:cs typeface="+mn-lt"/>
              </a:rPr>
              <a:t>5</a:t>
            </a:r>
          </a:p>
          <a:p>
            <a:pPr algn="l">
              <a:lnSpc>
                <a:spcPct val="90000"/>
              </a:lnSpc>
              <a:spcBef>
                <a:spcPts val="200"/>
              </a:spcBef>
              <a:buNone/>
            </a:pPr>
            <a:r>
              <a:rPr lang="es-CL" sz="950" dirty="0">
                <a:solidFill>
                  <a:srgbClr val="55565A"/>
                </a:solidFill>
                <a:latin typeface="+mn-lt"/>
                <a:cs typeface="+mn-lt"/>
              </a:rPr>
              <a:t>fases aún sin revisar</a:t>
            </a:r>
          </a:p>
        </p:txBody>
      </p:sp>
      <p:sp>
        <p:nvSpPr>
          <p:cNvPr id="17" name="Texto 17"/>
          <p:cNvSpPr/>
          <p:nvPr/>
        </p:nvSpPr>
        <p:spPr>
          <a:xfrm>
            <a:off x="630000" y="3504313"/>
            <a:ext cx="10933350" cy="232080"/>
          </a:xfrm>
          <a:prstGeom prst="rect">
            <a:avLst/>
          </a:prstGeom>
          <a:noFill/>
          <a:ln>
            <a:noFill/>
          </a:ln>
        </p:spPr>
        <p:txBody>
          <a:bodyPr wrap="square" lIns="25400" tIns="25400" rIns="25400" bIns="25400" anchor="t">
            <a:noAutofit/>
          </a:bodyPr>
          <a:lstStyle/>
          <a:p>
            <a:pPr algn="l">
              <a:lnSpc>
                <a:spcPct val="90000"/>
              </a:lnSpc>
              <a:buNone/>
            </a:pPr>
            <a:r>
              <a:rPr lang="es-CL" sz="1300" b="1" dirty="0">
                <a:solidFill>
                  <a:srgbClr val="A34100"/>
                </a:solidFill>
                <a:latin typeface="+mn-lt"/>
                <a:cs typeface="+mn-lt"/>
              </a:rPr>
              <a:t>Contenido</a:t>
            </a:r>
          </a:p>
        </p:txBody>
      </p:sp>
      <p:sp>
        <p:nvSpPr>
          <p:cNvPr id="18" name="Tarjeta 18"/>
          <p:cNvSpPr/>
          <p:nvPr/>
        </p:nvSpPr>
        <p:spPr>
          <a:xfrm>
            <a:off x="630000" y="3826393"/>
            <a:ext cx="2090670" cy="640461"/>
          </a:xfrm>
          <a:prstGeom prst="roundRect">
            <a:avLst>
              <a:gd name="adj" fmla="val 5000"/>
            </a:avLst>
          </a:prstGeom>
          <a:solidFill>
            <a:srgbClr val="FFFFFF"/>
          </a:solidFill>
          <a:ln w="9525" cap="flat">
            <a:solidFill>
              <a:srgbClr val="D6D1C8"/>
            </a:solidFill>
          </a:ln>
        </p:spPr>
        <p:txBody>
          <a:bodyPr wrap="square" lIns="76200" tIns="76200" rIns="76200" bIns="76200" anchor="t">
            <a:noAutofit/>
          </a:bodyPr>
          <a:lstStyle/>
          <a:p>
            <a:pPr algn="l">
              <a:lnSpc>
                <a:spcPct val="90000"/>
              </a:lnSpc>
              <a:buNone/>
            </a:pPr>
            <a:r>
              <a:rPr lang="es-CL" sz="950" b="1" dirty="0">
                <a:solidFill>
                  <a:srgbClr val="A34100"/>
                </a:solidFill>
                <a:latin typeface="+mn-lt"/>
                <a:cs typeface="+mn-lt"/>
              </a:rPr>
              <a:t>Cómo leer</a:t>
            </a:r>
          </a:p>
          <a:p>
            <a:pPr algn="l">
              <a:lnSpc>
                <a:spcPct val="90000"/>
              </a:lnSpc>
              <a:spcBef>
                <a:spcPts val="200"/>
              </a:spcBef>
              <a:buNone/>
            </a:pPr>
            <a:r>
              <a:rPr lang="es-CL" sz="850" dirty="0">
                <a:solidFill>
                  <a:srgbClr val="3F3A33"/>
                </a:solidFill>
                <a:latin typeface="+mn-lt"/>
                <a:cs typeface="+mn-lt"/>
              </a:rPr>
              <a:t>Convenciones de color y estado  ·  criterios de clasificación jerárquica</a:t>
            </a:r>
          </a:p>
        </p:txBody>
      </p:sp>
      <p:sp>
        <p:nvSpPr>
          <p:cNvPr id="19" name="Tarjeta 19"/>
          <p:cNvSpPr/>
          <p:nvPr/>
        </p:nvSpPr>
        <p:spPr>
          <a:xfrm>
            <a:off x="2840670" y="3826393"/>
            <a:ext cx="2090670" cy="640461"/>
          </a:xfrm>
          <a:prstGeom prst="roundRect">
            <a:avLst>
              <a:gd name="adj" fmla="val 5000"/>
            </a:avLst>
          </a:prstGeom>
          <a:solidFill>
            <a:srgbClr val="FFFFFF"/>
          </a:solidFill>
          <a:ln w="9525" cap="flat">
            <a:solidFill>
              <a:srgbClr val="D6D1C8"/>
            </a:solidFill>
          </a:ln>
        </p:spPr>
        <p:txBody>
          <a:bodyPr wrap="square" lIns="76200" tIns="76200" rIns="76200" bIns="76200" anchor="t">
            <a:noAutofit/>
          </a:bodyPr>
          <a:lstStyle/>
          <a:p>
            <a:pPr algn="l">
              <a:lnSpc>
                <a:spcPct val="90000"/>
              </a:lnSpc>
              <a:buNone/>
            </a:pPr>
            <a:r>
              <a:rPr lang="es-CL" sz="950" b="1" dirty="0">
                <a:solidFill>
                  <a:srgbClr val="A34100"/>
                </a:solidFill>
                <a:latin typeface="+mn-lt"/>
                <a:cs typeface="+mn-lt"/>
              </a:rPr>
              <a:t>Alcance</a:t>
            </a:r>
          </a:p>
          <a:p>
            <a:pPr algn="l">
              <a:lnSpc>
                <a:spcPct val="90000"/>
              </a:lnSpc>
              <a:spcBef>
                <a:spcPts val="200"/>
              </a:spcBef>
              <a:buNone/>
            </a:pPr>
            <a:r>
              <a:rPr lang="es-CL" sz="850" dirty="0">
                <a:solidFill>
                  <a:srgbClr val="3F3A33"/>
                </a:solidFill>
                <a:latin typeface="+mn-lt"/>
                <a:cs typeface="+mn-lt"/>
              </a:rPr>
              <a:t>Cobertura del análisis fase por fase</a:t>
            </a:r>
          </a:p>
        </p:txBody>
      </p:sp>
      <p:sp>
        <p:nvSpPr>
          <p:cNvPr id="20" name="Tarjeta 20"/>
          <p:cNvSpPr/>
          <p:nvPr/>
        </p:nvSpPr>
        <p:spPr>
          <a:xfrm>
            <a:off x="5051340" y="3826393"/>
            <a:ext cx="2090670" cy="640461"/>
          </a:xfrm>
          <a:prstGeom prst="roundRect">
            <a:avLst>
              <a:gd name="adj" fmla="val 5000"/>
            </a:avLst>
          </a:prstGeom>
          <a:solidFill>
            <a:srgbClr val="FFFFFF"/>
          </a:solidFill>
          <a:ln w="9525" cap="flat">
            <a:solidFill>
              <a:srgbClr val="D6D1C8"/>
            </a:solidFill>
          </a:ln>
        </p:spPr>
        <p:txBody>
          <a:bodyPr wrap="square" lIns="76200" tIns="76200" rIns="76200" bIns="76200" anchor="t">
            <a:noAutofit/>
          </a:bodyPr>
          <a:lstStyle/>
          <a:p>
            <a:pPr algn="l">
              <a:lnSpc>
                <a:spcPct val="90000"/>
              </a:lnSpc>
              <a:buNone/>
            </a:pPr>
            <a:r>
              <a:rPr lang="es-CL" sz="950" b="1" dirty="0">
                <a:solidFill>
                  <a:srgbClr val="A34100"/>
                </a:solidFill>
                <a:latin typeface="+mn-lt"/>
                <a:cs typeface="+mn-lt"/>
              </a:rPr>
              <a:t>Arquitectura preliminar</a:t>
            </a:r>
          </a:p>
          <a:p>
            <a:pPr algn="l">
              <a:lnSpc>
                <a:spcPct val="90000"/>
              </a:lnSpc>
              <a:spcBef>
                <a:spcPts val="200"/>
              </a:spcBef>
              <a:buNone/>
            </a:pPr>
            <a:r>
              <a:rPr lang="es-CL" sz="850" dirty="0">
                <a:solidFill>
                  <a:srgbClr val="3F3A33"/>
                </a:solidFill>
                <a:latin typeface="+mn-lt"/>
                <a:cs typeface="+mn-lt"/>
              </a:rPr>
              <a:t>Mapa de procesos y subprocesos  ·  equivalencia con las fases del flujo</a:t>
            </a:r>
          </a:p>
        </p:txBody>
      </p:sp>
      <p:sp>
        <p:nvSpPr>
          <p:cNvPr id="21" name="Tarjeta 21"/>
          <p:cNvSpPr/>
          <p:nvPr/>
        </p:nvSpPr>
        <p:spPr>
          <a:xfrm>
            <a:off x="7262010" y="3826393"/>
            <a:ext cx="2090670" cy="640461"/>
          </a:xfrm>
          <a:prstGeom prst="roundRect">
            <a:avLst>
              <a:gd name="adj" fmla="val 5000"/>
            </a:avLst>
          </a:prstGeom>
          <a:solidFill>
            <a:srgbClr val="FFFFFF"/>
          </a:solidFill>
          <a:ln w="9525" cap="flat">
            <a:solidFill>
              <a:srgbClr val="D6D1C8"/>
            </a:solidFill>
          </a:ln>
        </p:spPr>
        <p:txBody>
          <a:bodyPr wrap="square" lIns="76200" tIns="76200" rIns="76200" bIns="76200" anchor="t">
            <a:noAutofit/>
          </a:bodyPr>
          <a:lstStyle/>
          <a:p>
            <a:pPr algn="l">
              <a:lnSpc>
                <a:spcPct val="90000"/>
              </a:lnSpc>
              <a:buNone/>
            </a:pPr>
            <a:r>
              <a:rPr lang="es-CL" sz="950" b="1" dirty="0">
                <a:solidFill>
                  <a:srgbClr val="A34100"/>
                </a:solidFill>
                <a:latin typeface="+mn-lt"/>
                <a:cs typeface="+mn-lt"/>
              </a:rPr>
              <a:t>Detalle por proceso</a:t>
            </a:r>
          </a:p>
          <a:p>
            <a:pPr algn="l">
              <a:lnSpc>
                <a:spcPct val="90000"/>
              </a:lnSpc>
              <a:spcBef>
                <a:spcPts val="200"/>
              </a:spcBef>
              <a:buNone/>
            </a:pPr>
            <a:r>
              <a:rPr lang="es-CL" sz="850" dirty="0">
                <a:solidFill>
                  <a:srgbClr val="3F3A33"/>
                </a:solidFill>
                <a:latin typeface="+mn-lt"/>
                <a:cs typeface="+mn-lt"/>
              </a:rPr>
              <a:t>Apertura de cada proceso y clasificación caja por caja</a:t>
            </a:r>
          </a:p>
        </p:txBody>
      </p:sp>
      <p:sp>
        <p:nvSpPr>
          <p:cNvPr id="22" name="Tarjeta 22"/>
          <p:cNvSpPr/>
          <p:nvPr/>
        </p:nvSpPr>
        <p:spPr>
          <a:xfrm>
            <a:off x="9472680" y="3826393"/>
            <a:ext cx="2090670" cy="640461"/>
          </a:xfrm>
          <a:prstGeom prst="roundRect">
            <a:avLst>
              <a:gd name="adj" fmla="val 5000"/>
            </a:avLst>
          </a:prstGeom>
          <a:solidFill>
            <a:srgbClr val="FFFFFF"/>
          </a:solidFill>
          <a:ln w="9525" cap="flat">
            <a:solidFill>
              <a:srgbClr val="D6D1C8"/>
            </a:solidFill>
          </a:ln>
        </p:spPr>
        <p:txBody>
          <a:bodyPr wrap="square" lIns="76200" tIns="76200" rIns="76200" bIns="76200" anchor="t">
            <a:noAutofit/>
          </a:bodyPr>
          <a:lstStyle/>
          <a:p>
            <a:pPr algn="l">
              <a:lnSpc>
                <a:spcPct val="90000"/>
              </a:lnSpc>
              <a:buNone/>
            </a:pPr>
            <a:r>
              <a:rPr lang="es-CL" sz="950" b="1" dirty="0">
                <a:solidFill>
                  <a:srgbClr val="A34100"/>
                </a:solidFill>
                <a:latin typeface="+mn-lt"/>
                <a:cs typeface="+mn-lt"/>
              </a:rPr>
              <a:t>Cierre</a:t>
            </a:r>
          </a:p>
          <a:p>
            <a:pPr algn="l">
              <a:lnSpc>
                <a:spcPct val="90000"/>
              </a:lnSpc>
              <a:spcBef>
                <a:spcPts val="200"/>
              </a:spcBef>
              <a:buNone/>
            </a:pPr>
            <a:r>
              <a:rPr lang="es-CL" sz="850" dirty="0">
                <a:solidFill>
                  <a:srgbClr val="3F3A33"/>
                </a:solidFill>
                <a:latin typeface="+mn-lt"/>
                <a:cs typeface="+mn-lt"/>
              </a:rPr>
              <a:t>Observaciones, preguntas para validar y trazabilidad de las fuentes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Cómo leer| </a:t>
            </a:r>
            <a:r>
              <a:rPr lang="es-CL" sz="2000" dirty="0">
                <a:solidFill>
                  <a:srgbClr val="A34100"/>
                </a:solidFill>
                <a:latin typeface="+mn-lt"/>
                <a:cs typeface="+mn-lt"/>
              </a:rPr>
              <a:t>Convenciones de color y estado</a:t>
            </a:r>
            <a:endParaRPr lang="es-CL"/>
          </a:p>
        </p:txBody>
      </p:sp>
      <p:sp>
        <p:nvSpPr>
          <p:cNvPr id="10" name="Banda 10"/>
          <p:cNvSpPr/>
          <p:nvPr/>
        </p:nvSpPr>
        <p:spPr>
          <a:xfrm>
            <a:off x="630000" y="1075000"/>
            <a:ext cx="10933350" cy="324218"/>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1050" dirty="0">
                <a:solidFill>
                  <a:srgbClr val="3F3A33"/>
                </a:solidFill>
                <a:latin typeface="+mn-lt"/>
                <a:cs typeface="+mn-lt"/>
              </a:rPr>
              <a:t>El color del texto indica el grado de definición. No es decorativo.</a:t>
            </a:r>
          </a:p>
        </p:txBody>
      </p:sp>
      <p:sp>
        <p:nvSpPr>
          <p:cNvPr id="11" name="Texto 11"/>
          <p:cNvSpPr/>
          <p:nvPr/>
        </p:nvSpPr>
        <p:spPr>
          <a:xfrm>
            <a:off x="630000" y="2885249"/>
            <a:ext cx="10933350" cy="490055"/>
          </a:xfrm>
          <a:prstGeom prst="rect">
            <a:avLst/>
          </a:prstGeom>
          <a:noFill/>
          <a:ln>
            <a:noFill/>
          </a:ln>
        </p:spPr>
        <p:txBody>
          <a:bodyPr wrap="square" lIns="25400" tIns="25400" rIns="25400" bIns="25400" anchor="t">
            <a:noAutofit/>
          </a:bodyPr>
          <a:lstStyle/>
          <a:p>
            <a:pPr algn="l">
              <a:lnSpc>
                <a:spcPct val="90000"/>
              </a:lnSpc>
              <a:buNone/>
            </a:pPr>
            <a:r>
              <a:rPr lang="es-CL" sz="1150" b="1" dirty="0">
                <a:solidFill>
                  <a:srgbClr val="A34100"/>
                </a:solidFill>
                <a:latin typeface="+mn-lt"/>
                <a:cs typeface="+mn-lt"/>
              </a:rPr>
              <a:t>Regla de numeración de cajas</a:t>
            </a:r>
          </a:p>
          <a:p>
            <a:pPr algn="l">
              <a:lnSpc>
                <a:spcPct val="90000"/>
              </a:lnSpc>
              <a:spcBef>
                <a:spcPts val="200"/>
              </a:spcBef>
              <a:buNone/>
            </a:pPr>
            <a:r>
              <a:rPr lang="es-CL" sz="1000" dirty="0">
                <a:solidFill>
                  <a:srgbClr val="3F3A33"/>
                </a:solidFill>
                <a:latin typeface="+mn-lt"/>
                <a:cs typeface="+mn-lt"/>
              </a:rPr>
              <a:t>Se numera de izquierda a derecha en la primera fila, de derecha a izquierda en la segunda, y así alternando. Las decisiones y los controles no consumen número. Las cajas señaladas como «específico de Arauco» son propias de la compañía y no existen en el PCF genérico.</a:t>
            </a:r>
          </a:p>
        </p:txBody>
      </p:sp>
      <p:sp>
        <p:nvSpPr>
          <p:cNvPr id="12" name="Ejemplo 12"/>
          <p:cNvSpPr/>
          <p:nvPr/>
        </p:nvSpPr>
        <p:spPr>
          <a:xfrm>
            <a:off x="630000" y="3465304"/>
            <a:ext cx="950000" cy="381000"/>
          </a:xfrm>
          <a:prstGeom prst="roundRect">
            <a:avLst>
              <a:gd name="adj" fmla="val 5000"/>
            </a:avLst>
          </a:prstGeom>
          <a:solidFill>
            <a:srgbClr val="FBF8F1"/>
          </a:solidFill>
          <a:ln w="9525" cap="flat">
            <a:solidFill>
              <a:srgbClr val="C9B98F"/>
            </a:solidFill>
          </a:ln>
        </p:spPr>
        <p:txBody>
          <a:bodyPr wrap="square" lIns="63500" tIns="63500" rIns="63500" bIns="63500" anchor="ctr">
            <a:noAutofit/>
          </a:bodyPr>
          <a:lstStyle/>
          <a:p>
            <a:pPr algn="ctr">
              <a:lnSpc>
                <a:spcPct val="90000"/>
              </a:lnSpc>
              <a:buNone/>
            </a:pPr>
            <a:r>
              <a:rPr lang="es-CL" sz="850" dirty="0">
                <a:solidFill>
                  <a:srgbClr val="3F3A33"/>
                </a:solidFill>
                <a:latin typeface="+mn-lt"/>
                <a:cs typeface="+mn-lt"/>
              </a:rPr>
              <a:t>caja 1</a:t>
            </a:r>
          </a:p>
        </p:txBody>
      </p:sp>
      <p:sp>
        <p:nvSpPr>
          <p:cNvPr id="13" name="Ejemplo 13"/>
          <p:cNvSpPr/>
          <p:nvPr/>
        </p:nvSpPr>
        <p:spPr>
          <a:xfrm>
            <a:off x="1670000" y="3465304"/>
            <a:ext cx="950000" cy="381000"/>
          </a:xfrm>
          <a:prstGeom prst="roundRect">
            <a:avLst>
              <a:gd name="adj" fmla="val 5000"/>
            </a:avLst>
          </a:prstGeom>
          <a:solidFill>
            <a:srgbClr val="FBF8F1"/>
          </a:solidFill>
          <a:ln w="9525" cap="flat">
            <a:solidFill>
              <a:srgbClr val="C9B98F"/>
            </a:solidFill>
          </a:ln>
        </p:spPr>
        <p:txBody>
          <a:bodyPr wrap="square" lIns="63500" tIns="63500" rIns="63500" bIns="63500" anchor="ctr">
            <a:noAutofit/>
          </a:bodyPr>
          <a:lstStyle/>
          <a:p>
            <a:pPr algn="ctr">
              <a:lnSpc>
                <a:spcPct val="90000"/>
              </a:lnSpc>
              <a:buNone/>
            </a:pPr>
            <a:r>
              <a:rPr lang="es-CL" sz="850" dirty="0">
                <a:solidFill>
                  <a:srgbClr val="3F3A33"/>
                </a:solidFill>
                <a:latin typeface="+mn-lt"/>
                <a:cs typeface="+mn-lt"/>
              </a:rPr>
              <a:t>caja 2</a:t>
            </a:r>
          </a:p>
        </p:txBody>
      </p:sp>
      <p:sp>
        <p:nvSpPr>
          <p:cNvPr id="14" name="Ejemplo 14"/>
          <p:cNvSpPr/>
          <p:nvPr/>
        </p:nvSpPr>
        <p:spPr>
          <a:xfrm>
            <a:off x="2710000" y="3465304"/>
            <a:ext cx="950000" cy="381000"/>
          </a:xfrm>
          <a:prstGeom prst="roundRect">
            <a:avLst>
              <a:gd name="adj" fmla="val 5000"/>
            </a:avLst>
          </a:prstGeom>
          <a:solidFill>
            <a:srgbClr val="FBF8F1"/>
          </a:solidFill>
          <a:ln w="9525" cap="flat">
            <a:solidFill>
              <a:srgbClr val="C9B98F"/>
            </a:solidFill>
          </a:ln>
        </p:spPr>
        <p:txBody>
          <a:bodyPr wrap="square" lIns="63500" tIns="63500" rIns="63500" bIns="63500" anchor="ctr">
            <a:noAutofit/>
          </a:bodyPr>
          <a:lstStyle/>
          <a:p>
            <a:pPr algn="ctr">
              <a:lnSpc>
                <a:spcPct val="90000"/>
              </a:lnSpc>
              <a:buNone/>
            </a:pPr>
            <a:r>
              <a:rPr lang="es-CL" sz="850" dirty="0">
                <a:solidFill>
                  <a:srgbClr val="3F3A33"/>
                </a:solidFill>
                <a:latin typeface="+mn-lt"/>
                <a:cs typeface="+mn-lt"/>
              </a:rPr>
              <a:t>caja 3</a:t>
            </a:r>
          </a:p>
        </p:txBody>
      </p:sp>
      <p:sp>
        <p:nvSpPr>
          <p:cNvPr id="15" name="Ejemplo 15"/>
          <p:cNvSpPr/>
          <p:nvPr/>
        </p:nvSpPr>
        <p:spPr>
          <a:xfrm>
            <a:off x="3750000" y="3465304"/>
            <a:ext cx="950000" cy="381000"/>
          </a:xfrm>
          <a:prstGeom prst="roundRect">
            <a:avLst>
              <a:gd name="adj" fmla="val 5000"/>
            </a:avLst>
          </a:prstGeom>
          <a:solidFill>
            <a:srgbClr val="FBF8F1"/>
          </a:solidFill>
          <a:ln w="9525" cap="flat">
            <a:solidFill>
              <a:srgbClr val="C9B98F"/>
            </a:solidFill>
          </a:ln>
        </p:spPr>
        <p:txBody>
          <a:bodyPr wrap="square" lIns="63500" tIns="63500" rIns="63500" bIns="63500" anchor="ctr">
            <a:noAutofit/>
          </a:bodyPr>
          <a:lstStyle/>
          <a:p>
            <a:pPr algn="ctr">
              <a:lnSpc>
                <a:spcPct val="90000"/>
              </a:lnSpc>
              <a:buNone/>
            </a:pPr>
            <a:r>
              <a:rPr lang="es-CL" sz="850" dirty="0">
                <a:solidFill>
                  <a:srgbClr val="3F3A33"/>
                </a:solidFill>
                <a:latin typeface="+mn-lt"/>
                <a:cs typeface="+mn-lt"/>
              </a:rPr>
              <a:t>caja 4</a:t>
            </a:r>
          </a:p>
        </p:txBody>
      </p:sp>
      <p:sp>
        <p:nvSpPr>
          <p:cNvPr id="16" name="Sentido 16"/>
          <p:cNvSpPr/>
          <p:nvPr/>
        </p:nvSpPr>
        <p:spPr>
          <a:xfrm>
            <a:off x="4790000" y="3465304"/>
            <a:ext cx="1300000" cy="381000"/>
          </a:xfrm>
          <a:prstGeom prst="rect">
            <a:avLst/>
          </a:prstGeom>
          <a:noFill/>
          <a:ln>
            <a:noFill/>
          </a:ln>
        </p:spPr>
        <p:txBody>
          <a:bodyPr wrap="square" lIns="38100" tIns="38100" rIns="38100" bIns="38100" anchor="ctr">
            <a:noAutofit/>
          </a:bodyPr>
          <a:lstStyle/>
          <a:p>
            <a:pPr algn="l">
              <a:lnSpc>
                <a:spcPct val="90000"/>
              </a:lnSpc>
              <a:buNone/>
            </a:pPr>
            <a:r>
              <a:rPr lang="es-CL" sz="750" dirty="0">
                <a:solidFill>
                  <a:srgbClr val="6B655C"/>
                </a:solidFill>
                <a:latin typeface="+mn-lt"/>
                <a:cs typeface="+mn-lt"/>
              </a:rPr>
              <a:t>1ª fila · de izquierda a derecha</a:t>
            </a:r>
          </a:p>
        </p:txBody>
      </p:sp>
      <p:sp>
        <p:nvSpPr>
          <p:cNvPr id="17" name="Ejemplo 17"/>
          <p:cNvSpPr/>
          <p:nvPr/>
        </p:nvSpPr>
        <p:spPr>
          <a:xfrm>
            <a:off x="630000" y="3936304"/>
            <a:ext cx="950000" cy="381000"/>
          </a:xfrm>
          <a:prstGeom prst="roundRect">
            <a:avLst>
              <a:gd name="adj" fmla="val 5000"/>
            </a:avLst>
          </a:prstGeom>
          <a:solidFill>
            <a:srgbClr val="FBF8F1"/>
          </a:solidFill>
          <a:ln w="9525" cap="flat">
            <a:solidFill>
              <a:srgbClr val="C9B98F"/>
            </a:solidFill>
          </a:ln>
        </p:spPr>
        <p:txBody>
          <a:bodyPr wrap="square" lIns="63500" tIns="63500" rIns="63500" bIns="63500" anchor="ctr">
            <a:noAutofit/>
          </a:bodyPr>
          <a:lstStyle/>
          <a:p>
            <a:pPr algn="ctr">
              <a:lnSpc>
                <a:spcPct val="90000"/>
              </a:lnSpc>
              <a:buNone/>
            </a:pPr>
            <a:r>
              <a:rPr lang="es-CL" sz="850" dirty="0">
                <a:solidFill>
                  <a:srgbClr val="3F3A33"/>
                </a:solidFill>
                <a:latin typeface="+mn-lt"/>
                <a:cs typeface="+mn-lt"/>
              </a:rPr>
              <a:t>caja 8</a:t>
            </a:r>
          </a:p>
        </p:txBody>
      </p:sp>
      <p:sp>
        <p:nvSpPr>
          <p:cNvPr id="18" name="Ejemplo 18"/>
          <p:cNvSpPr/>
          <p:nvPr/>
        </p:nvSpPr>
        <p:spPr>
          <a:xfrm>
            <a:off x="1670000" y="3936304"/>
            <a:ext cx="950000" cy="381000"/>
          </a:xfrm>
          <a:prstGeom prst="roundRect">
            <a:avLst>
              <a:gd name="adj" fmla="val 5000"/>
            </a:avLst>
          </a:prstGeom>
          <a:solidFill>
            <a:srgbClr val="FBF8F1"/>
          </a:solidFill>
          <a:ln w="9525" cap="flat">
            <a:solidFill>
              <a:srgbClr val="C9B98F"/>
            </a:solidFill>
          </a:ln>
        </p:spPr>
        <p:txBody>
          <a:bodyPr wrap="square" lIns="63500" tIns="63500" rIns="63500" bIns="63500" anchor="ctr">
            <a:noAutofit/>
          </a:bodyPr>
          <a:lstStyle/>
          <a:p>
            <a:pPr algn="ctr">
              <a:lnSpc>
                <a:spcPct val="90000"/>
              </a:lnSpc>
              <a:buNone/>
            </a:pPr>
            <a:r>
              <a:rPr lang="es-CL" sz="850" dirty="0">
                <a:solidFill>
                  <a:srgbClr val="3F3A33"/>
                </a:solidFill>
                <a:latin typeface="+mn-lt"/>
                <a:cs typeface="+mn-lt"/>
              </a:rPr>
              <a:t>caja 7</a:t>
            </a:r>
          </a:p>
        </p:txBody>
      </p:sp>
      <p:sp>
        <p:nvSpPr>
          <p:cNvPr id="19" name="Ejemplo 19"/>
          <p:cNvSpPr/>
          <p:nvPr/>
        </p:nvSpPr>
        <p:spPr>
          <a:xfrm>
            <a:off x="2710000" y="3936304"/>
            <a:ext cx="950000" cy="381000"/>
          </a:xfrm>
          <a:prstGeom prst="roundRect">
            <a:avLst>
              <a:gd name="adj" fmla="val 5000"/>
            </a:avLst>
          </a:prstGeom>
          <a:solidFill>
            <a:srgbClr val="FBF8F1"/>
          </a:solidFill>
          <a:ln w="9525" cap="flat">
            <a:solidFill>
              <a:srgbClr val="C9B98F"/>
            </a:solidFill>
          </a:ln>
        </p:spPr>
        <p:txBody>
          <a:bodyPr wrap="square" lIns="63500" tIns="63500" rIns="63500" bIns="63500" anchor="ctr">
            <a:noAutofit/>
          </a:bodyPr>
          <a:lstStyle/>
          <a:p>
            <a:pPr algn="ctr">
              <a:lnSpc>
                <a:spcPct val="90000"/>
              </a:lnSpc>
              <a:buNone/>
            </a:pPr>
            <a:r>
              <a:rPr lang="es-CL" sz="850" dirty="0">
                <a:solidFill>
                  <a:srgbClr val="3F3A33"/>
                </a:solidFill>
                <a:latin typeface="+mn-lt"/>
                <a:cs typeface="+mn-lt"/>
              </a:rPr>
              <a:t>caja 6</a:t>
            </a:r>
          </a:p>
        </p:txBody>
      </p:sp>
      <p:sp>
        <p:nvSpPr>
          <p:cNvPr id="20" name="Ejemplo 20"/>
          <p:cNvSpPr/>
          <p:nvPr/>
        </p:nvSpPr>
        <p:spPr>
          <a:xfrm>
            <a:off x="3750000" y="3936304"/>
            <a:ext cx="950000" cy="381000"/>
          </a:xfrm>
          <a:prstGeom prst="roundRect">
            <a:avLst>
              <a:gd name="adj" fmla="val 5000"/>
            </a:avLst>
          </a:prstGeom>
          <a:solidFill>
            <a:srgbClr val="FBF8F1"/>
          </a:solidFill>
          <a:ln w="9525" cap="flat">
            <a:solidFill>
              <a:srgbClr val="C9B98F"/>
            </a:solidFill>
          </a:ln>
        </p:spPr>
        <p:txBody>
          <a:bodyPr wrap="square" lIns="63500" tIns="63500" rIns="63500" bIns="63500" anchor="ctr">
            <a:noAutofit/>
          </a:bodyPr>
          <a:lstStyle/>
          <a:p>
            <a:pPr algn="ctr">
              <a:lnSpc>
                <a:spcPct val="90000"/>
              </a:lnSpc>
              <a:buNone/>
            </a:pPr>
            <a:r>
              <a:rPr lang="es-CL" sz="850" dirty="0">
                <a:solidFill>
                  <a:srgbClr val="3F3A33"/>
                </a:solidFill>
                <a:latin typeface="+mn-lt"/>
                <a:cs typeface="+mn-lt"/>
              </a:rPr>
              <a:t>caja 5</a:t>
            </a:r>
          </a:p>
        </p:txBody>
      </p:sp>
      <p:sp>
        <p:nvSpPr>
          <p:cNvPr id="21" name="Sentido 21"/>
          <p:cNvSpPr/>
          <p:nvPr/>
        </p:nvSpPr>
        <p:spPr>
          <a:xfrm>
            <a:off x="4790000" y="3936304"/>
            <a:ext cx="1300000" cy="381000"/>
          </a:xfrm>
          <a:prstGeom prst="rect">
            <a:avLst/>
          </a:prstGeom>
          <a:noFill/>
          <a:ln>
            <a:noFill/>
          </a:ln>
        </p:spPr>
        <p:txBody>
          <a:bodyPr wrap="square" lIns="38100" tIns="38100" rIns="38100" bIns="38100" anchor="ctr">
            <a:noAutofit/>
          </a:bodyPr>
          <a:lstStyle/>
          <a:p>
            <a:pPr algn="l">
              <a:lnSpc>
                <a:spcPct val="90000"/>
              </a:lnSpc>
              <a:buNone/>
            </a:pPr>
            <a:r>
              <a:rPr lang="es-CL" sz="750" dirty="0">
                <a:solidFill>
                  <a:srgbClr val="6B655C"/>
                </a:solidFill>
                <a:latin typeface="+mn-lt"/>
                <a:cs typeface="+mn-lt"/>
              </a:rPr>
              <a:t>2ª fila · de derecha a izquierda</a:t>
            </a:r>
          </a:p>
        </p:txBody>
      </p:sp>
      <p:sp>
        <p:nvSpPr>
          <p:cNvPr id="22" name="Ejemplo 22"/>
          <p:cNvSpPr/>
          <p:nvPr/>
        </p:nvSpPr>
        <p:spPr>
          <a:xfrm>
            <a:off x="630000" y="4407304"/>
            <a:ext cx="950000" cy="381000"/>
          </a:xfrm>
          <a:prstGeom prst="roundRect">
            <a:avLst>
              <a:gd name="adj" fmla="val 5000"/>
            </a:avLst>
          </a:prstGeom>
          <a:solidFill>
            <a:srgbClr val="FBF8F1"/>
          </a:solidFill>
          <a:ln w="9525" cap="flat">
            <a:solidFill>
              <a:srgbClr val="C9B98F"/>
            </a:solidFill>
          </a:ln>
        </p:spPr>
        <p:txBody>
          <a:bodyPr wrap="square" lIns="63500" tIns="63500" rIns="63500" bIns="63500" anchor="ctr">
            <a:noAutofit/>
          </a:bodyPr>
          <a:lstStyle/>
          <a:p>
            <a:pPr algn="ctr">
              <a:lnSpc>
                <a:spcPct val="90000"/>
              </a:lnSpc>
              <a:buNone/>
            </a:pPr>
            <a:r>
              <a:rPr lang="es-CL" sz="850" dirty="0">
                <a:solidFill>
                  <a:srgbClr val="3F3A33"/>
                </a:solidFill>
                <a:latin typeface="+mn-lt"/>
                <a:cs typeface="+mn-lt"/>
              </a:rPr>
              <a:t>caja 9</a:t>
            </a:r>
          </a:p>
        </p:txBody>
      </p:sp>
      <p:sp>
        <p:nvSpPr>
          <p:cNvPr id="23" name="Ejemplo 23"/>
          <p:cNvSpPr/>
          <p:nvPr/>
        </p:nvSpPr>
        <p:spPr>
          <a:xfrm>
            <a:off x="1670000" y="4407304"/>
            <a:ext cx="950000" cy="381000"/>
          </a:xfrm>
          <a:prstGeom prst="roundRect">
            <a:avLst>
              <a:gd name="adj" fmla="val 5000"/>
            </a:avLst>
          </a:prstGeom>
          <a:solidFill>
            <a:srgbClr val="FBF8F1"/>
          </a:solidFill>
          <a:ln w="9525" cap="flat">
            <a:solidFill>
              <a:srgbClr val="C9B98F"/>
            </a:solidFill>
          </a:ln>
        </p:spPr>
        <p:txBody>
          <a:bodyPr wrap="square" lIns="63500" tIns="63500" rIns="63500" bIns="63500" anchor="ctr">
            <a:noAutofit/>
          </a:bodyPr>
          <a:lstStyle/>
          <a:p>
            <a:pPr algn="ctr">
              <a:lnSpc>
                <a:spcPct val="90000"/>
              </a:lnSpc>
              <a:buNone/>
            </a:pPr>
            <a:r>
              <a:rPr lang="es-CL" sz="850" dirty="0">
                <a:solidFill>
                  <a:srgbClr val="3F3A33"/>
                </a:solidFill>
                <a:latin typeface="+mn-lt"/>
                <a:cs typeface="+mn-lt"/>
              </a:rPr>
              <a:t>caja 10</a:t>
            </a:r>
          </a:p>
        </p:txBody>
      </p:sp>
      <p:sp>
        <p:nvSpPr>
          <p:cNvPr id="24" name="Ejemplo 24"/>
          <p:cNvSpPr/>
          <p:nvPr/>
        </p:nvSpPr>
        <p:spPr>
          <a:xfrm>
            <a:off x="2710000" y="4407304"/>
            <a:ext cx="950000" cy="381000"/>
          </a:xfrm>
          <a:prstGeom prst="roundRect">
            <a:avLst>
              <a:gd name="adj" fmla="val 5000"/>
            </a:avLst>
          </a:prstGeom>
          <a:solidFill>
            <a:srgbClr val="FBF8F1"/>
          </a:solidFill>
          <a:ln w="9525" cap="flat">
            <a:solidFill>
              <a:srgbClr val="C9B98F"/>
            </a:solidFill>
          </a:ln>
        </p:spPr>
        <p:txBody>
          <a:bodyPr wrap="square" lIns="63500" tIns="63500" rIns="63500" bIns="63500" anchor="ctr">
            <a:noAutofit/>
          </a:bodyPr>
          <a:lstStyle/>
          <a:p>
            <a:pPr algn="ctr">
              <a:lnSpc>
                <a:spcPct val="90000"/>
              </a:lnSpc>
              <a:buNone/>
            </a:pPr>
            <a:r>
              <a:rPr lang="es-CL" sz="850" dirty="0">
                <a:solidFill>
                  <a:srgbClr val="3F3A33"/>
                </a:solidFill>
                <a:latin typeface="+mn-lt"/>
                <a:cs typeface="+mn-lt"/>
              </a:rPr>
              <a:t>caja 11</a:t>
            </a:r>
          </a:p>
        </p:txBody>
      </p:sp>
      <p:sp>
        <p:nvSpPr>
          <p:cNvPr id="25" name="Ejemplo 25"/>
          <p:cNvSpPr/>
          <p:nvPr/>
        </p:nvSpPr>
        <p:spPr>
          <a:xfrm>
            <a:off x="3750000" y="4407304"/>
            <a:ext cx="950000" cy="381000"/>
          </a:xfrm>
          <a:prstGeom prst="roundRect">
            <a:avLst>
              <a:gd name="adj" fmla="val 5000"/>
            </a:avLst>
          </a:prstGeom>
          <a:solidFill>
            <a:srgbClr val="FBF8F1"/>
          </a:solidFill>
          <a:ln w="9525" cap="flat">
            <a:solidFill>
              <a:srgbClr val="C9B98F"/>
            </a:solidFill>
          </a:ln>
        </p:spPr>
        <p:txBody>
          <a:bodyPr wrap="square" lIns="63500" tIns="63500" rIns="63500" bIns="63500" anchor="ctr">
            <a:noAutofit/>
          </a:bodyPr>
          <a:lstStyle/>
          <a:p>
            <a:pPr algn="ctr">
              <a:lnSpc>
                <a:spcPct val="90000"/>
              </a:lnSpc>
              <a:buNone/>
            </a:pPr>
            <a:r>
              <a:rPr lang="es-CL" sz="850" dirty="0">
                <a:solidFill>
                  <a:srgbClr val="3F3A33"/>
                </a:solidFill>
                <a:latin typeface="+mn-lt"/>
                <a:cs typeface="+mn-lt"/>
              </a:rPr>
              <a:t>caja 12</a:t>
            </a:r>
          </a:p>
        </p:txBody>
      </p:sp>
      <p:sp>
        <p:nvSpPr>
          <p:cNvPr id="26" name="Sentido 26"/>
          <p:cNvSpPr/>
          <p:nvPr/>
        </p:nvSpPr>
        <p:spPr>
          <a:xfrm>
            <a:off x="4790000" y="4407304"/>
            <a:ext cx="1300000" cy="381000"/>
          </a:xfrm>
          <a:prstGeom prst="rect">
            <a:avLst/>
          </a:prstGeom>
          <a:noFill/>
          <a:ln>
            <a:noFill/>
          </a:ln>
        </p:spPr>
        <p:txBody>
          <a:bodyPr wrap="square" lIns="38100" tIns="38100" rIns="38100" bIns="38100" anchor="ctr">
            <a:noAutofit/>
          </a:bodyPr>
          <a:lstStyle/>
          <a:p>
            <a:pPr algn="l">
              <a:lnSpc>
                <a:spcPct val="90000"/>
              </a:lnSpc>
              <a:buNone/>
            </a:pPr>
            <a:r>
              <a:rPr lang="es-CL" sz="750" dirty="0">
                <a:solidFill>
                  <a:srgbClr val="6B655C"/>
                </a:solidFill>
                <a:latin typeface="+mn-lt"/>
                <a:cs typeface="+mn-lt"/>
              </a:rPr>
              <a:t>3ª fila · de izquierda a derecha</a:t>
            </a:r>
          </a:p>
        </p:txBody>
      </p:sp>
      <p:sp>
        <p:nvSpPr>
          <p:cNvPr id="27" name="Nota 27"/>
          <p:cNvSpPr/>
          <p:nvPr/>
        </p:nvSpPr>
        <p:spPr>
          <a:xfrm>
            <a:off x="6180000" y="3465304"/>
            <a:ext cx="5383350" cy="1323000"/>
          </a:xfrm>
          <a:prstGeom prst="roundRect">
            <a:avLst>
              <a:gd name="adj" fmla="val 3000"/>
            </a:avLst>
          </a:prstGeom>
          <a:solidFill>
            <a:srgbClr val="FBF4DF"/>
          </a:solidFill>
          <a:ln w="9525" cap="flat">
            <a:solidFill>
              <a:srgbClr val="6F5800"/>
            </a:solidFill>
          </a:ln>
        </p:spPr>
        <p:txBody>
          <a:bodyPr wrap="square" lIns="76200" tIns="76200" rIns="76200" bIns="76200" anchor="ctr">
            <a:noAutofit/>
          </a:bodyPr>
          <a:lstStyle/>
          <a:p>
            <a:pPr algn="l">
              <a:lnSpc>
                <a:spcPct val="90000"/>
              </a:lnSpc>
              <a:buNone/>
            </a:pPr>
            <a:r>
              <a:rPr lang="es-CL" sz="900" b="1" dirty="0">
                <a:solidFill>
                  <a:srgbClr val="6F5800"/>
                </a:solidFill>
                <a:latin typeface="+mn-lt"/>
                <a:cs typeface="+mn-lt"/>
              </a:rPr>
              <a:t>Las decisiones y los controles no se numeran</a:t>
            </a:r>
          </a:p>
          <a:p>
            <a:pPr algn="l">
              <a:lnSpc>
                <a:spcPct val="90000"/>
              </a:lnSpc>
              <a:spcBef>
                <a:spcPts val="200"/>
              </a:spcBef>
              <a:buNone/>
            </a:pPr>
            <a:r>
              <a:rPr lang="es-CL" sz="850" dirty="0">
                <a:solidFill>
                  <a:srgbClr val="3F3A33"/>
                </a:solidFill>
                <a:latin typeface="+mn-lt"/>
                <a:cs typeface="+mn-lt"/>
              </a:rPr>
              <a:t>Por eso, en la fase 1, la caja 11 es «Emitir organigrama, perfil de cargo y costo organigrama», aunque antes de ella exista la decisión «¿Aprobado por Gerencia de Personas?».</a:t>
            </a:r>
          </a:p>
        </p:txBody>
      </p:sp>
      <p:graphicFrame>
        <p:nvGraphicFramePr>
          <p:cNvPr id="28" name="Tabla 28"/>
          <p:cNvGraphicFramePr>
            <a:graphicFrameLocks noGrp="1"/>
          </p:cNvGraphicFramePr>
          <p:nvPr/>
        </p:nvGraphicFramePr>
        <p:xfrm>
          <a:off x="630000" y="1489218"/>
          <a:ext cx="10933350" cy="1306031"/>
        </p:xfrm>
        <a:graphic>
          <a:graphicData uri="http://schemas.openxmlformats.org/drawingml/2006/table">
            <a:tbl>
              <a:tblPr firstRow="1"/>
              <a:tblGrid>
                <a:gridCol w="1000000">
                  <a:extLst>
                    <a:ext uri="{9D8B030D-6E8A-4147-A177-3AD203B41FA5}">
                      <a16:colId xmlns:a16="http://schemas.microsoft.com/office/drawing/2014/main" val="20000"/>
                    </a:ext>
                  </a:extLst>
                </a:gridCol>
                <a:gridCol w="2000000">
                  <a:extLst>
                    <a:ext uri="{9D8B030D-6E8A-4147-A177-3AD203B41FA5}">
                      <a16:colId xmlns:a16="http://schemas.microsoft.com/office/drawing/2014/main" val="20001"/>
                    </a:ext>
                  </a:extLst>
                </a:gridCol>
                <a:gridCol w="7933350">
                  <a:extLst>
                    <a:ext uri="{9D8B030D-6E8A-4147-A177-3AD203B41FA5}">
                      <a16:colId xmlns:a16="http://schemas.microsoft.com/office/drawing/2014/main" val="20002"/>
                    </a:ext>
                  </a:extLst>
                </a:gridCol>
              </a:tblGrid>
              <a:tr h="211861">
                <a:tc>
                  <a:txBody>
                    <a:bodyPr/>
                    <a:lstStyle/>
                    <a:p>
                      <a:pPr algn="ctr">
                        <a:lnSpc>
                          <a:spcPct val="90000"/>
                        </a:lnSpc>
                        <a:buNone/>
                      </a:pPr>
                      <a:r>
                        <a:rPr lang="es-CL" sz="900" b="1" dirty="0">
                          <a:solidFill>
                            <a:srgbClr val="FFFFFF"/>
                          </a:solidFill>
                          <a:latin typeface="+mn-lt"/>
                          <a:cs typeface="+mn-lt"/>
                        </a:rPr>
                        <a:t>Muestra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Estado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Significado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extLst>
                  <a:ext uri="{0D108BD9-81ED-4DB2-BD59-A6C34878D82A}">
                    <a16:rowId xmlns:a16="http://schemas.microsoft.com/office/drawing/2014/main" val="10000"/>
                  </a:ext>
                </a:extLst>
              </a:tr>
              <a:tr h="218834">
                <a:tc>
                  <a:txBody>
                    <a:bodyPr/>
                    <a:lstStyle/>
                    <a:p>
                      <a:pPr algn="ctr">
                        <a:lnSpc>
                          <a:spcPct val="90000"/>
                        </a:lnSpc>
                        <a:buNone/>
                      </a:pPr>
                      <a:r>
                        <a:rPr lang="es-CL" sz="950" b="1" dirty="0">
                          <a:solidFill>
                            <a:srgbClr val="FFFFFF"/>
                          </a:solidFill>
                          <a:latin typeface="+mn-lt"/>
                          <a:cs typeface="+mn-lt"/>
                        </a:rPr>
                        <a:t>Aa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3F3A33"/>
                    </a:solidFill>
                  </a:tcPr>
                </a:tc>
                <a:tc>
                  <a:txBody>
                    <a:bodyPr/>
                    <a:lstStyle/>
                    <a:p>
                      <a:pPr algn="l">
                        <a:lnSpc>
                          <a:spcPct val="90000"/>
                        </a:lnSpc>
                        <a:buNone/>
                      </a:pPr>
                      <a:r>
                        <a:rPr lang="es-CL" sz="900" b="1" dirty="0">
                          <a:solidFill>
                            <a:srgbClr val="3F3A33"/>
                          </a:solidFill>
                          <a:latin typeface="+mn-lt"/>
                          <a:cs typeface="+mn-lt"/>
                        </a:rPr>
                        <a:t>Confirmado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Definido y acordado en la revisión con </a:t>
                      </a:r>
                      <a:r>
                        <a:rPr lang="es-CL" sz="900" dirty="0" err="1">
                          <a:solidFill>
                            <a:srgbClr val="3F3A33"/>
                          </a:solidFill>
                          <a:latin typeface="+mn-lt"/>
                          <a:cs typeface="+mn-lt"/>
                        </a:rPr>
                        <a:t>Lider</a:t>
                      </a:r>
                      <a:r>
                        <a:rPr lang="es-CL" sz="900" dirty="0">
                          <a:solidFill>
                            <a:srgbClr val="3F3A33"/>
                          </a:solidFill>
                          <a:latin typeface="+mn-lt"/>
                          <a:cs typeface="+mn-lt"/>
                        </a:rPr>
                        <a:t> Mejora Continua. No requiere validación adicional.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1"/>
                  </a:ext>
                </a:extLst>
              </a:tr>
              <a:tr h="218834">
                <a:tc>
                  <a:txBody>
                    <a:bodyPr/>
                    <a:lstStyle/>
                    <a:p>
                      <a:pPr algn="ctr">
                        <a:lnSpc>
                          <a:spcPct val="90000"/>
                        </a:lnSpc>
                        <a:buNone/>
                      </a:pPr>
                      <a:r>
                        <a:rPr lang="es-CL" sz="950" b="1" dirty="0">
                          <a:solidFill>
                            <a:srgbClr val="FFFFFF"/>
                          </a:solidFill>
                          <a:latin typeface="+mn-lt"/>
                          <a:cs typeface="+mn-lt"/>
                        </a:rPr>
                        <a:t>Aa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A34100"/>
                          </a:solidFill>
                          <a:latin typeface="+mn-lt"/>
                          <a:cs typeface="+mn-lt"/>
                        </a:rPr>
                        <a:t>Propuesta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Nombre, agrupación o jerarquía propuesta con base en APQC y en los antecedentes levantados. Requiere validación.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2"/>
                  </a:ext>
                </a:extLst>
              </a:tr>
              <a:tr h="218834">
                <a:tc>
                  <a:txBody>
                    <a:bodyPr/>
                    <a:lstStyle/>
                    <a:p>
                      <a:pPr algn="ctr">
                        <a:lnSpc>
                          <a:spcPct val="90000"/>
                        </a:lnSpc>
                        <a:buNone/>
                      </a:pPr>
                      <a:r>
                        <a:rPr lang="es-CL" sz="950" b="1" dirty="0">
                          <a:solidFill>
                            <a:srgbClr val="FFFFFF"/>
                          </a:solidFill>
                          <a:latin typeface="+mn-lt"/>
                          <a:cs typeface="+mn-lt"/>
                        </a:rPr>
                        <a:t>Aa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55565A"/>
                    </a:solidFill>
                  </a:tcPr>
                </a:tc>
                <a:tc>
                  <a:txBody>
                    <a:bodyPr/>
                    <a:lstStyle/>
                    <a:p>
                      <a:pPr algn="l">
                        <a:lnSpc>
                          <a:spcPct val="90000"/>
                        </a:lnSpc>
                        <a:buNone/>
                      </a:pPr>
                      <a:r>
                        <a:rPr lang="es-CL" sz="900" b="1" dirty="0">
                          <a:solidFill>
                            <a:srgbClr val="55565A"/>
                          </a:solidFill>
                          <a:latin typeface="+mn-lt"/>
                          <a:cs typeface="+mn-lt"/>
                        </a:rPr>
                        <a:t>Pendiente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Sin definición todavía. No se completó para no inventar contenido.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3"/>
                  </a:ext>
                </a:extLst>
              </a:tr>
              <a:tr h="218834">
                <a:tc>
                  <a:txBody>
                    <a:bodyPr/>
                    <a:lstStyle/>
                    <a:p>
                      <a:pPr algn="ctr">
                        <a:lnSpc>
                          <a:spcPct val="90000"/>
                        </a:lnSpc>
                        <a:buNone/>
                      </a:pPr>
                      <a:r>
                        <a:rPr lang="es-CL" sz="950" b="1" dirty="0">
                          <a:solidFill>
                            <a:srgbClr val="FFFFFF"/>
                          </a:solidFill>
                          <a:latin typeface="+mn-lt"/>
                          <a:cs typeface="+mn-lt"/>
                        </a:rPr>
                        <a:t>Aa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14567A"/>
                    </a:solidFill>
                  </a:tcPr>
                </a:tc>
                <a:tc>
                  <a:txBody>
                    <a:bodyPr/>
                    <a:lstStyle/>
                    <a:p>
                      <a:pPr algn="l">
                        <a:lnSpc>
                          <a:spcPct val="90000"/>
                        </a:lnSpc>
                        <a:buNone/>
                      </a:pPr>
                      <a:r>
                        <a:rPr lang="es-CL" sz="900" b="1" dirty="0">
                          <a:solidFill>
                            <a:srgbClr val="14567A"/>
                          </a:solidFill>
                          <a:latin typeface="+mn-lt"/>
                          <a:cs typeface="+mn-lt"/>
                        </a:rPr>
                        <a:t>Control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Punto de verificación del flujo. Se representa, pero no se numera.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4"/>
                  </a:ext>
                </a:extLst>
              </a:tr>
              <a:tr h="218834">
                <a:tc>
                  <a:txBody>
                    <a:bodyPr/>
                    <a:lstStyle/>
                    <a:p>
                      <a:pPr algn="ctr">
                        <a:lnSpc>
                          <a:spcPct val="90000"/>
                        </a:lnSpc>
                        <a:buNone/>
                      </a:pPr>
                      <a:r>
                        <a:rPr lang="es-CL" sz="950" b="1" dirty="0">
                          <a:solidFill>
                            <a:srgbClr val="FFFFFF"/>
                          </a:solidFill>
                          <a:latin typeface="+mn-lt"/>
                          <a:cs typeface="+mn-lt"/>
                        </a:rPr>
                        <a:t>Aa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6F5800"/>
                    </a:solidFill>
                  </a:tcPr>
                </a:tc>
                <a:tc>
                  <a:txBody>
                    <a:bodyPr/>
                    <a:lstStyle/>
                    <a:p>
                      <a:pPr algn="l">
                        <a:lnSpc>
                          <a:spcPct val="90000"/>
                        </a:lnSpc>
                        <a:buNone/>
                      </a:pPr>
                      <a:r>
                        <a:rPr lang="es-CL" sz="900" b="1" dirty="0">
                          <a:solidFill>
                            <a:srgbClr val="6F5800"/>
                          </a:solidFill>
                          <a:latin typeface="+mn-lt"/>
                          <a:cs typeface="+mn-lt"/>
                        </a:rPr>
                        <a:t>Decisión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Compuerta del flujo. Se representa, pero no se numera.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Cómo leer| </a:t>
            </a:r>
            <a:r>
              <a:rPr lang="es-CL" sz="2000" dirty="0">
                <a:solidFill>
                  <a:srgbClr val="A34100"/>
                </a:solidFill>
                <a:latin typeface="+mn-lt"/>
                <a:cs typeface="+mn-lt"/>
              </a:rPr>
              <a:t>Criterios de clasificación jerárquica</a:t>
            </a:r>
            <a:endParaRPr lang="es-CL"/>
          </a:p>
        </p:txBody>
      </p:sp>
      <p:sp>
        <p:nvSpPr>
          <p:cNvPr id="10" name="Banda 10"/>
          <p:cNvSpPr/>
          <p:nvPr/>
        </p:nvSpPr>
        <p:spPr>
          <a:xfrm>
            <a:off x="630000" y="1075000"/>
            <a:ext cx="10933350" cy="324218"/>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1050" dirty="0">
                <a:solidFill>
                  <a:srgbClr val="3F3A33"/>
                </a:solidFill>
                <a:latin typeface="+mn-lt"/>
                <a:cs typeface="+mn-lt"/>
              </a:rPr>
              <a:t>Definiciones aplicadas para clasificar cada caja del flujo MP8 v3.</a:t>
            </a:r>
          </a:p>
        </p:txBody>
      </p:sp>
      <p:sp>
        <p:nvSpPr>
          <p:cNvPr id="11" name="Tarjeta 11"/>
          <p:cNvSpPr/>
          <p:nvPr/>
        </p:nvSpPr>
        <p:spPr>
          <a:xfrm>
            <a:off x="630000" y="1489218"/>
            <a:ext cx="3564450" cy="584683"/>
          </a:xfrm>
          <a:prstGeom prst="roundRect">
            <a:avLst>
              <a:gd name="adj" fmla="val 5000"/>
            </a:avLst>
          </a:prstGeom>
          <a:solidFill>
            <a:srgbClr val="EFE6D0"/>
          </a:solidFill>
          <a:ln w="9525" cap="flat">
            <a:solidFill>
              <a:srgbClr val="A34100"/>
            </a:solidFill>
          </a:ln>
        </p:spPr>
        <p:txBody>
          <a:bodyPr wrap="square" lIns="76200" tIns="76200" rIns="76200" bIns="76200" anchor="t">
            <a:noAutofit/>
          </a:bodyPr>
          <a:lstStyle/>
          <a:p>
            <a:pPr algn="l">
              <a:lnSpc>
                <a:spcPct val="90000"/>
              </a:lnSpc>
              <a:buNone/>
            </a:pPr>
            <a:r>
              <a:rPr lang="es-CL" sz="1200" b="1" dirty="0">
                <a:solidFill>
                  <a:srgbClr val="A34100"/>
                </a:solidFill>
                <a:latin typeface="+mn-lt"/>
                <a:cs typeface="+mn-lt"/>
              </a:rPr>
              <a:t>Proceso</a:t>
            </a:r>
          </a:p>
          <a:p>
            <a:pPr algn="l">
              <a:lnSpc>
                <a:spcPct val="90000"/>
              </a:lnSpc>
              <a:spcBef>
                <a:spcPts val="200"/>
              </a:spcBef>
              <a:buNone/>
            </a:pPr>
            <a:r>
              <a:rPr lang="es-CL" sz="950" dirty="0">
                <a:solidFill>
                  <a:srgbClr val="3F3A33"/>
                </a:solidFill>
                <a:latin typeface="+mn-lt"/>
                <a:cs typeface="+mn-lt"/>
              </a:rPr>
              <a:t>Conjunto de subprocesos con un resultado propio y un dueño identificable.</a:t>
            </a:r>
          </a:p>
        </p:txBody>
      </p:sp>
      <p:sp>
        <p:nvSpPr>
          <p:cNvPr id="12" name="Tarjeta 12"/>
          <p:cNvSpPr/>
          <p:nvPr/>
        </p:nvSpPr>
        <p:spPr>
          <a:xfrm>
            <a:off x="4314450" y="1489218"/>
            <a:ext cx="3564450" cy="584683"/>
          </a:xfrm>
          <a:prstGeom prst="roundRect">
            <a:avLst>
              <a:gd name="adj" fmla="val 5000"/>
            </a:avLst>
          </a:prstGeom>
          <a:solidFill>
            <a:srgbClr val="EFE6D0"/>
          </a:solidFill>
          <a:ln w="9525" cap="flat">
            <a:solidFill>
              <a:srgbClr val="A34100"/>
            </a:solidFill>
          </a:ln>
        </p:spPr>
        <p:txBody>
          <a:bodyPr wrap="square" lIns="76200" tIns="76200" rIns="76200" bIns="76200" anchor="t">
            <a:noAutofit/>
          </a:bodyPr>
          <a:lstStyle/>
          <a:p>
            <a:pPr algn="l">
              <a:lnSpc>
                <a:spcPct val="90000"/>
              </a:lnSpc>
              <a:buNone/>
            </a:pPr>
            <a:r>
              <a:rPr lang="es-CL" sz="1200" b="1" dirty="0">
                <a:solidFill>
                  <a:srgbClr val="A34100"/>
                </a:solidFill>
                <a:latin typeface="+mn-lt"/>
                <a:cs typeface="+mn-lt"/>
              </a:rPr>
              <a:t>Subproceso</a:t>
            </a:r>
          </a:p>
          <a:p>
            <a:pPr algn="l">
              <a:lnSpc>
                <a:spcPct val="90000"/>
              </a:lnSpc>
              <a:spcBef>
                <a:spcPts val="200"/>
              </a:spcBef>
              <a:buNone/>
            </a:pPr>
            <a:r>
              <a:rPr lang="es-CL" sz="950" dirty="0">
                <a:solidFill>
                  <a:srgbClr val="3F3A33"/>
                </a:solidFill>
                <a:latin typeface="+mn-lt"/>
                <a:cs typeface="+mn-lt"/>
              </a:rPr>
              <a:t>Bloque con entradas y salidas propias dentro de un proceso; agrupa actividades.</a:t>
            </a:r>
          </a:p>
        </p:txBody>
      </p:sp>
      <p:sp>
        <p:nvSpPr>
          <p:cNvPr id="13" name="Tarjeta 13"/>
          <p:cNvSpPr/>
          <p:nvPr/>
        </p:nvSpPr>
        <p:spPr>
          <a:xfrm>
            <a:off x="7998900" y="1489218"/>
            <a:ext cx="3564450" cy="584683"/>
          </a:xfrm>
          <a:prstGeom prst="roundRect">
            <a:avLst>
              <a:gd name="adj" fmla="val 5000"/>
            </a:avLst>
          </a:prstGeom>
          <a:solidFill>
            <a:srgbClr val="FBF8F1"/>
          </a:solidFill>
          <a:ln w="9525" cap="flat">
            <a:solidFill>
              <a:srgbClr val="C9B98F"/>
            </a:solidFill>
          </a:ln>
        </p:spPr>
        <p:txBody>
          <a:bodyPr wrap="square" lIns="76200" tIns="76200" rIns="76200" bIns="76200" anchor="t">
            <a:noAutofit/>
          </a:bodyPr>
          <a:lstStyle/>
          <a:p>
            <a:pPr algn="l">
              <a:lnSpc>
                <a:spcPct val="90000"/>
              </a:lnSpc>
              <a:buNone/>
            </a:pPr>
            <a:r>
              <a:rPr lang="es-CL" sz="1200" b="1" dirty="0">
                <a:solidFill>
                  <a:srgbClr val="3F3A33"/>
                </a:solidFill>
                <a:latin typeface="+mn-lt"/>
                <a:cs typeface="+mn-lt"/>
              </a:rPr>
              <a:t>Actividad</a:t>
            </a:r>
          </a:p>
          <a:p>
            <a:pPr algn="l">
              <a:lnSpc>
                <a:spcPct val="90000"/>
              </a:lnSpc>
              <a:spcBef>
                <a:spcPts val="200"/>
              </a:spcBef>
              <a:buNone/>
            </a:pPr>
            <a:r>
              <a:rPr lang="es-CL" sz="950" dirty="0">
                <a:solidFill>
                  <a:srgbClr val="3F3A33"/>
                </a:solidFill>
                <a:latin typeface="+mn-lt"/>
                <a:cs typeface="+mn-lt"/>
              </a:rPr>
              <a:t>Unidad de trabajo con responsable y resultado verificable; agrupa tareas.</a:t>
            </a:r>
          </a:p>
        </p:txBody>
      </p:sp>
      <p:sp>
        <p:nvSpPr>
          <p:cNvPr id="14" name="Tarjeta 14"/>
          <p:cNvSpPr/>
          <p:nvPr/>
        </p:nvSpPr>
        <p:spPr>
          <a:xfrm>
            <a:off x="630000" y="2193901"/>
            <a:ext cx="3564450" cy="584683"/>
          </a:xfrm>
          <a:prstGeom prst="roundRect">
            <a:avLst>
              <a:gd name="adj" fmla="val 5000"/>
            </a:avLst>
          </a:prstGeom>
          <a:solidFill>
            <a:srgbClr val="FFFFFF"/>
          </a:solidFill>
          <a:ln w="9525" cap="flat">
            <a:solidFill>
              <a:srgbClr val="D6D1C8"/>
            </a:solidFill>
          </a:ln>
        </p:spPr>
        <p:txBody>
          <a:bodyPr wrap="square" lIns="76200" tIns="76200" rIns="76200" bIns="76200" anchor="t">
            <a:noAutofit/>
          </a:bodyPr>
          <a:lstStyle/>
          <a:p>
            <a:pPr algn="l">
              <a:lnSpc>
                <a:spcPct val="90000"/>
              </a:lnSpc>
              <a:buNone/>
            </a:pPr>
            <a:r>
              <a:rPr lang="es-CL" sz="1200" b="1" dirty="0">
                <a:solidFill>
                  <a:srgbClr val="6B655C"/>
                </a:solidFill>
                <a:latin typeface="+mn-lt"/>
                <a:cs typeface="+mn-lt"/>
              </a:rPr>
              <a:t>Tarea</a:t>
            </a:r>
          </a:p>
          <a:p>
            <a:pPr algn="l">
              <a:lnSpc>
                <a:spcPct val="90000"/>
              </a:lnSpc>
              <a:spcBef>
                <a:spcPts val="200"/>
              </a:spcBef>
              <a:buNone/>
            </a:pPr>
            <a:r>
              <a:rPr lang="es-CL" sz="950" dirty="0">
                <a:solidFill>
                  <a:srgbClr val="3F3A33"/>
                </a:solidFill>
                <a:latin typeface="+mn-lt"/>
                <a:cs typeface="+mn-lt"/>
              </a:rPr>
              <a:t>Paso operativo concreto dentro de una actividad.</a:t>
            </a:r>
          </a:p>
        </p:txBody>
      </p:sp>
      <p:sp>
        <p:nvSpPr>
          <p:cNvPr id="15" name="Tarjeta 15"/>
          <p:cNvSpPr/>
          <p:nvPr/>
        </p:nvSpPr>
        <p:spPr>
          <a:xfrm>
            <a:off x="4314450" y="2193901"/>
            <a:ext cx="3564450" cy="584683"/>
          </a:xfrm>
          <a:prstGeom prst="roundRect">
            <a:avLst>
              <a:gd name="adj" fmla="val 5000"/>
            </a:avLst>
          </a:prstGeom>
          <a:solidFill>
            <a:srgbClr val="E6EFF5"/>
          </a:solidFill>
          <a:ln w="9525" cap="flat">
            <a:solidFill>
              <a:srgbClr val="14567A"/>
            </a:solidFill>
          </a:ln>
        </p:spPr>
        <p:txBody>
          <a:bodyPr wrap="square" lIns="76200" tIns="76200" rIns="76200" bIns="76200" anchor="t">
            <a:noAutofit/>
          </a:bodyPr>
          <a:lstStyle/>
          <a:p>
            <a:pPr algn="l">
              <a:lnSpc>
                <a:spcPct val="90000"/>
              </a:lnSpc>
              <a:buNone/>
            </a:pPr>
            <a:r>
              <a:rPr lang="es-CL" sz="1200" b="1" dirty="0">
                <a:solidFill>
                  <a:srgbClr val="14567A"/>
                </a:solidFill>
                <a:latin typeface="+mn-lt"/>
                <a:cs typeface="+mn-lt"/>
              </a:rPr>
              <a:t>Control</a:t>
            </a:r>
          </a:p>
          <a:p>
            <a:pPr algn="l">
              <a:lnSpc>
                <a:spcPct val="90000"/>
              </a:lnSpc>
              <a:spcBef>
                <a:spcPts val="200"/>
              </a:spcBef>
              <a:buNone/>
            </a:pPr>
            <a:r>
              <a:rPr lang="es-CL" sz="950" dirty="0">
                <a:solidFill>
                  <a:srgbClr val="3F3A33"/>
                </a:solidFill>
                <a:latin typeface="+mn-lt"/>
                <a:cs typeface="+mn-lt"/>
              </a:rPr>
              <a:t>Verificación que valida o autoriza el avance del flujo.</a:t>
            </a:r>
          </a:p>
        </p:txBody>
      </p:sp>
      <p:sp>
        <p:nvSpPr>
          <p:cNvPr id="16" name="Tarjeta 16"/>
          <p:cNvSpPr/>
          <p:nvPr/>
        </p:nvSpPr>
        <p:spPr>
          <a:xfrm>
            <a:off x="7998900" y="2193901"/>
            <a:ext cx="3564450" cy="584683"/>
          </a:xfrm>
          <a:prstGeom prst="roundRect">
            <a:avLst>
              <a:gd name="adj" fmla="val 5000"/>
            </a:avLst>
          </a:prstGeom>
          <a:solidFill>
            <a:srgbClr val="FBF4DF"/>
          </a:solidFill>
          <a:ln w="9525" cap="flat">
            <a:solidFill>
              <a:srgbClr val="6F5800"/>
            </a:solidFill>
          </a:ln>
        </p:spPr>
        <p:txBody>
          <a:bodyPr wrap="square" lIns="76200" tIns="76200" rIns="76200" bIns="76200" anchor="t">
            <a:noAutofit/>
          </a:bodyPr>
          <a:lstStyle/>
          <a:p>
            <a:pPr algn="l">
              <a:lnSpc>
                <a:spcPct val="90000"/>
              </a:lnSpc>
              <a:buNone/>
            </a:pPr>
            <a:r>
              <a:rPr lang="es-CL" sz="1200" b="1" dirty="0">
                <a:solidFill>
                  <a:srgbClr val="6F5800"/>
                </a:solidFill>
                <a:latin typeface="+mn-lt"/>
                <a:cs typeface="+mn-lt"/>
              </a:rPr>
              <a:t>Decisión</a:t>
            </a:r>
          </a:p>
          <a:p>
            <a:pPr algn="l">
              <a:lnSpc>
                <a:spcPct val="90000"/>
              </a:lnSpc>
              <a:spcBef>
                <a:spcPts val="200"/>
              </a:spcBef>
              <a:buNone/>
            </a:pPr>
            <a:r>
              <a:rPr lang="es-CL" sz="950" dirty="0">
                <a:solidFill>
                  <a:srgbClr val="3F3A33"/>
                </a:solidFill>
                <a:latin typeface="+mn-lt"/>
                <a:cs typeface="+mn-lt"/>
              </a:rPr>
              <a:t>Compuerta que bifurca el flujo según una condición.</a:t>
            </a:r>
          </a:p>
        </p:txBody>
      </p:sp>
      <p:sp>
        <p:nvSpPr>
          <p:cNvPr id="17" name="Texto 17"/>
          <p:cNvSpPr/>
          <p:nvPr/>
        </p:nvSpPr>
        <p:spPr>
          <a:xfrm>
            <a:off x="630000" y="2868584"/>
            <a:ext cx="10933350" cy="211163"/>
          </a:xfrm>
          <a:prstGeom prst="rect">
            <a:avLst/>
          </a:prstGeom>
          <a:noFill/>
          <a:ln>
            <a:noFill/>
          </a:ln>
        </p:spPr>
        <p:txBody>
          <a:bodyPr wrap="square" lIns="25400" tIns="25400" rIns="25400" bIns="25400" anchor="t">
            <a:noAutofit/>
          </a:bodyPr>
          <a:lstStyle/>
          <a:p>
            <a:pPr algn="l">
              <a:lnSpc>
                <a:spcPct val="90000"/>
              </a:lnSpc>
              <a:buNone/>
            </a:pPr>
            <a:r>
              <a:rPr lang="es-CL" sz="1150" b="1" dirty="0">
                <a:solidFill>
                  <a:srgbClr val="A34100"/>
                </a:solidFill>
                <a:latin typeface="+mn-lt"/>
                <a:cs typeface="+mn-lt"/>
              </a:rPr>
              <a:t>Ejemplo de anidamiento en el MP8</a:t>
            </a:r>
          </a:p>
        </p:txBody>
      </p:sp>
      <p:sp>
        <p:nvSpPr>
          <p:cNvPr id="18" name="Nivel 18"/>
          <p:cNvSpPr/>
          <p:nvPr/>
        </p:nvSpPr>
        <p:spPr>
          <a:xfrm>
            <a:off x="630000" y="3169747"/>
            <a:ext cx="10933350" cy="330200"/>
          </a:xfrm>
          <a:prstGeom prst="roundRect">
            <a:avLst>
              <a:gd name="adj" fmla="val 4000"/>
            </a:avLst>
          </a:prstGeom>
          <a:solidFill>
            <a:srgbClr val="EFE6D0"/>
          </a:solidFill>
          <a:ln w="9525" cap="flat">
            <a:solidFill>
              <a:srgbClr val="A34100"/>
            </a:solidFill>
          </a:ln>
        </p:spPr>
        <p:txBody>
          <a:bodyPr wrap="square" lIns="76200" tIns="76200" rIns="76200" bIns="76200" anchor="ctr">
            <a:noAutofit/>
          </a:bodyPr>
          <a:lstStyle/>
          <a:p>
            <a:pPr algn="l">
              <a:lnSpc>
                <a:spcPct val="90000"/>
              </a:lnSpc>
              <a:buNone/>
            </a:pPr>
            <a:r>
              <a:rPr lang="es-CL" sz="900" b="1" dirty="0">
                <a:solidFill>
                  <a:srgbClr val="A34100"/>
                </a:solidFill>
                <a:latin typeface="+mn-lt"/>
                <a:cs typeface="+mn-lt"/>
              </a:rPr>
              <a:t>Proceso   ·   P4 · Desarrollo organizacional</a:t>
            </a:r>
          </a:p>
        </p:txBody>
      </p:sp>
      <p:sp>
        <p:nvSpPr>
          <p:cNvPr id="19" name="Nivel 19"/>
          <p:cNvSpPr/>
          <p:nvPr/>
        </p:nvSpPr>
        <p:spPr>
          <a:xfrm>
            <a:off x="1250000" y="3544947"/>
            <a:ext cx="10313350" cy="330200"/>
          </a:xfrm>
          <a:prstGeom prst="roundRect">
            <a:avLst>
              <a:gd name="adj" fmla="val 4000"/>
            </a:avLst>
          </a:prstGeom>
          <a:solidFill>
            <a:srgbClr val="EFE6D0"/>
          </a:solidFill>
          <a:ln w="9525" cap="flat">
            <a:solidFill>
              <a:srgbClr val="C9B98F"/>
            </a:solidFill>
          </a:ln>
        </p:spPr>
        <p:txBody>
          <a:bodyPr wrap="square" lIns="76200" tIns="76200" rIns="76200" bIns="76200" anchor="ctr">
            <a:noAutofit/>
          </a:bodyPr>
          <a:lstStyle/>
          <a:p>
            <a:pPr algn="l">
              <a:lnSpc>
                <a:spcPct val="90000"/>
              </a:lnSpc>
              <a:buNone/>
            </a:pPr>
            <a:r>
              <a:rPr lang="es-CL" sz="900" b="1" dirty="0">
                <a:solidFill>
                  <a:srgbClr val="3F3A33"/>
                </a:solidFill>
                <a:latin typeface="+mn-lt"/>
                <a:cs typeface="+mn-lt"/>
              </a:rPr>
              <a:t>Subproceso   ·   Formación</a:t>
            </a:r>
          </a:p>
        </p:txBody>
      </p:sp>
      <p:sp>
        <p:nvSpPr>
          <p:cNvPr id="20" name="Nivel 20"/>
          <p:cNvSpPr/>
          <p:nvPr/>
        </p:nvSpPr>
        <p:spPr>
          <a:xfrm>
            <a:off x="1870000" y="3920147"/>
            <a:ext cx="9693350" cy="330200"/>
          </a:xfrm>
          <a:prstGeom prst="roundRect">
            <a:avLst>
              <a:gd name="adj" fmla="val 4000"/>
            </a:avLst>
          </a:prstGeom>
          <a:solidFill>
            <a:srgbClr val="FBF8F1"/>
          </a:solidFill>
          <a:ln w="9525" cap="flat">
            <a:solidFill>
              <a:srgbClr val="C9B98F"/>
            </a:solidFill>
          </a:ln>
        </p:spPr>
        <p:txBody>
          <a:bodyPr wrap="square" lIns="76200" tIns="76200" rIns="76200" bIns="76200" anchor="ctr">
            <a:noAutofit/>
          </a:bodyPr>
          <a:lstStyle/>
          <a:p>
            <a:pPr algn="l">
              <a:lnSpc>
                <a:spcPct val="90000"/>
              </a:lnSpc>
              <a:buNone/>
            </a:pPr>
            <a:r>
              <a:rPr lang="es-CL" sz="900" dirty="0">
                <a:solidFill>
                  <a:srgbClr val="3F3A33"/>
                </a:solidFill>
                <a:latin typeface="+mn-lt"/>
                <a:cs typeface="+mn-lt"/>
              </a:rPr>
              <a:t>Actividad   ·   A4 · Ejecución de la formación  ·  cajas 8 a 12</a:t>
            </a:r>
          </a:p>
        </p:txBody>
      </p:sp>
      <p:sp>
        <p:nvSpPr>
          <p:cNvPr id="21" name="Nivel 21"/>
          <p:cNvSpPr/>
          <p:nvPr/>
        </p:nvSpPr>
        <p:spPr>
          <a:xfrm>
            <a:off x="2490000" y="4295347"/>
            <a:ext cx="9073350" cy="330200"/>
          </a:xfrm>
          <a:prstGeom prst="roundRect">
            <a:avLst>
              <a:gd name="adj" fmla="val 4000"/>
            </a:avLst>
          </a:prstGeom>
          <a:solidFill>
            <a:srgbClr val="FFFFFF"/>
          </a:solidFill>
          <a:ln w="9525" cap="flat">
            <a:solidFill>
              <a:srgbClr val="D6D1C8"/>
            </a:solidFill>
          </a:ln>
        </p:spPr>
        <p:txBody>
          <a:bodyPr wrap="square" lIns="76200" tIns="76200" rIns="76200" bIns="76200" anchor="ctr">
            <a:noAutofit/>
          </a:bodyPr>
          <a:lstStyle/>
          <a:p>
            <a:pPr algn="l">
              <a:lnSpc>
                <a:spcPct val="90000"/>
              </a:lnSpc>
              <a:buNone/>
            </a:pPr>
            <a:r>
              <a:rPr lang="es-CL" sz="900" dirty="0">
                <a:solidFill>
                  <a:srgbClr val="6B655C"/>
                </a:solidFill>
                <a:latin typeface="+mn-lt"/>
                <a:cs typeface="+mn-lt"/>
              </a:rPr>
              <a:t>Tarea   ·   Formación e-learning: nivelación teórica de fundamentos técnicos</a:t>
            </a:r>
          </a:p>
        </p:txBody>
      </p:sp>
      <p:sp>
        <p:nvSpPr>
          <p:cNvPr id="22" name="Texto 22"/>
          <p:cNvSpPr/>
          <p:nvPr/>
        </p:nvSpPr>
        <p:spPr>
          <a:xfrm>
            <a:off x="630000" y="4760547"/>
            <a:ext cx="10933350" cy="629501"/>
          </a:xfrm>
          <a:prstGeom prst="rect">
            <a:avLst/>
          </a:prstGeom>
          <a:noFill/>
          <a:ln>
            <a:noFill/>
          </a:ln>
        </p:spPr>
        <p:txBody>
          <a:bodyPr wrap="square" lIns="25400" tIns="25400" rIns="25400" bIns="25400" anchor="t">
            <a:noAutofit/>
          </a:bodyPr>
          <a:lstStyle/>
          <a:p>
            <a:pPr algn="l">
              <a:lnSpc>
                <a:spcPct val="90000"/>
              </a:lnSpc>
              <a:buNone/>
            </a:pPr>
            <a:r>
              <a:rPr lang="es-CL" sz="1150" b="1" dirty="0">
                <a:solidFill>
                  <a:srgbClr val="A34100"/>
                </a:solidFill>
                <a:latin typeface="+mn-lt"/>
                <a:cs typeface="+mn-lt"/>
              </a:rPr>
              <a:t>Base de las propuestas</a:t>
            </a:r>
          </a:p>
          <a:p>
            <a:pPr algn="l">
              <a:lnSpc>
                <a:spcPct val="90000"/>
              </a:lnSpc>
              <a:spcBef>
                <a:spcPts val="200"/>
              </a:spcBef>
              <a:buNone/>
            </a:pPr>
            <a:r>
              <a:rPr lang="es-CL" sz="1000" dirty="0">
                <a:solidFill>
                  <a:srgbClr val="3F3A33"/>
                </a:solidFill>
                <a:latin typeface="+mn-lt"/>
                <a:cs typeface="+mn-lt"/>
              </a:rPr>
              <a:t>Toda propuesta de nombre o de agrupación se apoya en el APQC PCF v8.0 categoría 7, en los procedimientos vigentes levantados por Loreto, Vanesa y Rocío, en los antecedentes de Paula Silva y en el marco metodológico de la Jornada MGO. Donde ninguna de esas fuentes permite decidir, la caja queda marcada como pendiente en lugar de rellenarse.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Alcance| </a:t>
            </a:r>
            <a:r>
              <a:rPr lang="es-CL" sz="2000" dirty="0">
                <a:solidFill>
                  <a:srgbClr val="A34100"/>
                </a:solidFill>
                <a:latin typeface="+mn-lt"/>
                <a:cs typeface="+mn-lt"/>
              </a:rPr>
              <a:t>Cobertura del análisis</a:t>
            </a:r>
            <a:endParaRPr lang="es-CL" dirty="0"/>
          </a:p>
        </p:txBody>
      </p:sp>
      <p:sp>
        <p:nvSpPr>
          <p:cNvPr id="10" name="Banda 10"/>
          <p:cNvSpPr/>
          <p:nvPr/>
        </p:nvSpPr>
        <p:spPr>
          <a:xfrm>
            <a:off x="630000" y="1075000"/>
            <a:ext cx="10933350" cy="324218"/>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1050" dirty="0">
                <a:solidFill>
                  <a:srgbClr val="3F3A33"/>
                </a:solidFill>
                <a:latin typeface="+mn-lt"/>
                <a:cs typeface="+mn-lt"/>
              </a:rPr>
              <a:t>La revisión con </a:t>
            </a:r>
            <a:r>
              <a:rPr lang="es-CL" sz="1050" dirty="0" err="1">
                <a:solidFill>
                  <a:srgbClr val="3F3A33"/>
                </a:solidFill>
                <a:latin typeface="+mn-lt"/>
                <a:cs typeface="+mn-lt"/>
              </a:rPr>
              <a:t>Lider</a:t>
            </a:r>
            <a:r>
              <a:rPr lang="es-CL" sz="1050" dirty="0">
                <a:solidFill>
                  <a:srgbClr val="3F3A33"/>
                </a:solidFill>
                <a:latin typeface="+mn-lt"/>
                <a:cs typeface="+mn-lt"/>
              </a:rPr>
              <a:t> Mejora Continua cubrió las fases 1 a 14. Las fases 0 y 15 a 18 no se modelan en este borrador.</a:t>
            </a:r>
          </a:p>
        </p:txBody>
      </p:sp>
      <p:graphicFrame>
        <p:nvGraphicFramePr>
          <p:cNvPr id="11" name="Tabla 11"/>
          <p:cNvGraphicFramePr>
            <a:graphicFrameLocks noGrp="1"/>
          </p:cNvGraphicFramePr>
          <p:nvPr>
            <p:extLst>
              <p:ext uri="{D42A27DB-BD31-4B8C-83A1-F6EECF244321}">
                <p14:modId xmlns:p14="http://schemas.microsoft.com/office/powerpoint/2010/main" val="4211721180"/>
              </p:ext>
            </p:extLst>
          </p:nvPr>
        </p:nvGraphicFramePr>
        <p:xfrm>
          <a:off x="630000" y="1489218"/>
          <a:ext cx="10933350" cy="4237220"/>
        </p:xfrm>
        <a:graphic>
          <a:graphicData uri="http://schemas.openxmlformats.org/drawingml/2006/table">
            <a:tbl>
              <a:tblPr firstRow="1"/>
              <a:tblGrid>
                <a:gridCol w="900000">
                  <a:extLst>
                    <a:ext uri="{9D8B030D-6E8A-4147-A177-3AD203B41FA5}">
                      <a16:colId xmlns:a16="http://schemas.microsoft.com/office/drawing/2014/main" val="20000"/>
                    </a:ext>
                  </a:extLst>
                </a:gridCol>
                <a:gridCol w="3900000">
                  <a:extLst>
                    <a:ext uri="{9D8B030D-6E8A-4147-A177-3AD203B41FA5}">
                      <a16:colId xmlns:a16="http://schemas.microsoft.com/office/drawing/2014/main" val="20001"/>
                    </a:ext>
                  </a:extLst>
                </a:gridCol>
                <a:gridCol w="1100000">
                  <a:extLst>
                    <a:ext uri="{9D8B030D-6E8A-4147-A177-3AD203B41FA5}">
                      <a16:colId xmlns:a16="http://schemas.microsoft.com/office/drawing/2014/main" val="20002"/>
                    </a:ext>
                  </a:extLst>
                </a:gridCol>
                <a:gridCol w="1100000">
                  <a:extLst>
                    <a:ext uri="{9D8B030D-6E8A-4147-A177-3AD203B41FA5}">
                      <a16:colId xmlns:a16="http://schemas.microsoft.com/office/drawing/2014/main" val="20003"/>
                    </a:ext>
                  </a:extLst>
                </a:gridCol>
                <a:gridCol w="1100000">
                  <a:extLst>
                    <a:ext uri="{9D8B030D-6E8A-4147-A177-3AD203B41FA5}">
                      <a16:colId xmlns:a16="http://schemas.microsoft.com/office/drawing/2014/main" val="20004"/>
                    </a:ext>
                  </a:extLst>
                </a:gridCol>
                <a:gridCol w="2833350">
                  <a:extLst>
                    <a:ext uri="{9D8B030D-6E8A-4147-A177-3AD203B41FA5}">
                      <a16:colId xmlns:a16="http://schemas.microsoft.com/office/drawing/2014/main" val="20005"/>
                    </a:ext>
                  </a:extLst>
                </a:gridCol>
              </a:tblGrid>
              <a:tr h="211861">
                <a:tc>
                  <a:txBody>
                    <a:bodyPr/>
                    <a:lstStyle/>
                    <a:p>
                      <a:pPr algn="l">
                        <a:lnSpc>
                          <a:spcPct val="90000"/>
                        </a:lnSpc>
                        <a:buNone/>
                      </a:pPr>
                      <a:r>
                        <a:rPr lang="es-CL" sz="900" b="1" dirty="0">
                          <a:solidFill>
                            <a:srgbClr val="FFFFFF"/>
                          </a:solidFill>
                          <a:latin typeface="+mn-lt"/>
                          <a:cs typeface="+mn-lt"/>
                        </a:rPr>
                        <a:t>Fase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Nombre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Cajas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Decisiones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Controles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Estado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extLst>
                  <a:ext uri="{0D108BD9-81ED-4DB2-BD59-A6C34878D82A}">
                    <a16:rowId xmlns:a16="http://schemas.microsoft.com/office/drawing/2014/main" val="10000"/>
                  </a:ext>
                </a:extLst>
              </a:tr>
              <a:tr h="211861">
                <a:tc>
                  <a:txBody>
                    <a:bodyPr/>
                    <a:lstStyle/>
                    <a:p>
                      <a:pPr algn="l">
                        <a:lnSpc>
                          <a:spcPct val="90000"/>
                        </a:lnSpc>
                        <a:buNone/>
                      </a:pPr>
                      <a:r>
                        <a:rPr lang="es-CL" sz="900" b="1" dirty="0">
                          <a:solidFill>
                            <a:srgbClr val="3F3A33"/>
                          </a:solidFill>
                          <a:latin typeface="+mn-lt"/>
                          <a:cs typeface="+mn-lt"/>
                        </a:rPr>
                        <a:t>F1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Necesidad estratégica y plan de dotación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3F3A33"/>
                          </a:solidFill>
                          <a:latin typeface="+mn-lt"/>
                          <a:cs typeface="+mn-lt"/>
                        </a:rPr>
                        <a:t>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6F5800"/>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Clasificada con </a:t>
                      </a:r>
                      <a:r>
                        <a:rPr lang="es-CL" sz="900" dirty="0" err="1">
                          <a:solidFill>
                            <a:srgbClr val="3F3A33"/>
                          </a:solidFill>
                          <a:latin typeface="+mn-lt"/>
                          <a:cs typeface="+mn-lt"/>
                        </a:rPr>
                        <a:t>Lider</a:t>
                      </a:r>
                      <a:r>
                        <a:rPr lang="es-CL" sz="900" dirty="0">
                          <a:solidFill>
                            <a:srgbClr val="3F3A33"/>
                          </a:solidFill>
                          <a:latin typeface="+mn-lt"/>
                          <a:cs typeface="+mn-lt"/>
                        </a:rPr>
                        <a:t> Mejora Continua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1"/>
                  </a:ext>
                </a:extLst>
              </a:tr>
              <a:tr h="211861">
                <a:tc>
                  <a:txBody>
                    <a:bodyPr/>
                    <a:lstStyle/>
                    <a:p>
                      <a:pPr algn="l">
                        <a:lnSpc>
                          <a:spcPct val="90000"/>
                        </a:lnSpc>
                        <a:buNone/>
                      </a:pPr>
                      <a:r>
                        <a:rPr lang="es-CL" sz="900" b="1" dirty="0">
                          <a:solidFill>
                            <a:srgbClr val="3F3A33"/>
                          </a:solidFill>
                          <a:latin typeface="+mn-lt"/>
                          <a:cs typeface="+mn-lt"/>
                        </a:rPr>
                        <a:t>F2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Valoración de cargo y banda de renta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3F3A33"/>
                          </a:solidFill>
                          <a:latin typeface="+mn-lt"/>
                          <a:cs typeface="+mn-lt"/>
                        </a:rPr>
                        <a:t>13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Clasificada con </a:t>
                      </a:r>
                      <a:r>
                        <a:rPr lang="es-CL" sz="900" dirty="0" err="1">
                          <a:solidFill>
                            <a:srgbClr val="3F3A33"/>
                          </a:solidFill>
                          <a:latin typeface="+mn-lt"/>
                          <a:cs typeface="+mn-lt"/>
                        </a:rPr>
                        <a:t>Lider</a:t>
                      </a:r>
                      <a:r>
                        <a:rPr lang="es-CL" sz="900" dirty="0">
                          <a:solidFill>
                            <a:srgbClr val="3F3A33"/>
                          </a:solidFill>
                          <a:latin typeface="+mn-lt"/>
                          <a:cs typeface="+mn-lt"/>
                        </a:rPr>
                        <a:t> Mejora Continua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2"/>
                  </a:ext>
                </a:extLst>
              </a:tr>
              <a:tr h="211861">
                <a:tc>
                  <a:txBody>
                    <a:bodyPr/>
                    <a:lstStyle/>
                    <a:p>
                      <a:pPr algn="l">
                        <a:lnSpc>
                          <a:spcPct val="90000"/>
                        </a:lnSpc>
                        <a:buNone/>
                      </a:pPr>
                      <a:r>
                        <a:rPr lang="es-CL" sz="900" b="1" dirty="0">
                          <a:solidFill>
                            <a:srgbClr val="3F3A33"/>
                          </a:solidFill>
                          <a:latin typeface="+mn-lt"/>
                          <a:cs typeface="+mn-lt"/>
                        </a:rPr>
                        <a:t>F3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Requisición y apertura de vacante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3F3A33"/>
                          </a:solidFill>
                          <a:latin typeface="+mn-lt"/>
                          <a:cs typeface="+mn-lt"/>
                        </a:rPr>
                        <a:t>15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6F5800"/>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Clasificada con </a:t>
                      </a:r>
                      <a:r>
                        <a:rPr lang="es-CL" sz="900" dirty="0" err="1">
                          <a:solidFill>
                            <a:srgbClr val="3F3A33"/>
                          </a:solidFill>
                          <a:latin typeface="+mn-lt"/>
                          <a:cs typeface="+mn-lt"/>
                        </a:rPr>
                        <a:t>Lider</a:t>
                      </a:r>
                      <a:r>
                        <a:rPr lang="es-CL" sz="900" dirty="0">
                          <a:solidFill>
                            <a:srgbClr val="3F3A33"/>
                          </a:solidFill>
                          <a:latin typeface="+mn-lt"/>
                          <a:cs typeface="+mn-lt"/>
                        </a:rPr>
                        <a:t> Mejora Continua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3"/>
                  </a:ext>
                </a:extLst>
              </a:tr>
              <a:tr h="211861">
                <a:tc>
                  <a:txBody>
                    <a:bodyPr/>
                    <a:lstStyle/>
                    <a:p>
                      <a:pPr algn="l">
                        <a:lnSpc>
                          <a:spcPct val="90000"/>
                        </a:lnSpc>
                        <a:buNone/>
                      </a:pPr>
                      <a:r>
                        <a:rPr lang="es-CL" sz="900" b="1" dirty="0">
                          <a:solidFill>
                            <a:srgbClr val="3F3A33"/>
                          </a:solidFill>
                          <a:latin typeface="+mn-lt"/>
                          <a:cs typeface="+mn-lt"/>
                        </a:rPr>
                        <a:t>F4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Reclutamiento y filtro curricular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3F3A33"/>
                          </a:solidFill>
                          <a:latin typeface="+mn-lt"/>
                          <a:cs typeface="+mn-lt"/>
                        </a:rPr>
                        <a:t>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Clasificada con </a:t>
                      </a:r>
                      <a:r>
                        <a:rPr lang="es-CL" sz="900" dirty="0" err="1">
                          <a:solidFill>
                            <a:srgbClr val="3F3A33"/>
                          </a:solidFill>
                          <a:latin typeface="+mn-lt"/>
                          <a:cs typeface="+mn-lt"/>
                        </a:rPr>
                        <a:t>Lider</a:t>
                      </a:r>
                      <a:r>
                        <a:rPr lang="es-CL" sz="900" dirty="0">
                          <a:solidFill>
                            <a:srgbClr val="3F3A33"/>
                          </a:solidFill>
                          <a:latin typeface="+mn-lt"/>
                          <a:cs typeface="+mn-lt"/>
                        </a:rPr>
                        <a:t> Mejora Continua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4"/>
                  </a:ext>
                </a:extLst>
              </a:tr>
              <a:tr h="211861">
                <a:tc>
                  <a:txBody>
                    <a:bodyPr/>
                    <a:lstStyle/>
                    <a:p>
                      <a:pPr algn="l">
                        <a:lnSpc>
                          <a:spcPct val="90000"/>
                        </a:lnSpc>
                        <a:buNone/>
                      </a:pPr>
                      <a:r>
                        <a:rPr lang="es-CL" sz="900" b="1" dirty="0">
                          <a:solidFill>
                            <a:srgbClr val="3F3A33"/>
                          </a:solidFill>
                          <a:latin typeface="+mn-lt"/>
                          <a:cs typeface="+mn-lt"/>
                        </a:rPr>
                        <a:t>F5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Revisión del 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3F3A33"/>
                          </a:solidFill>
                          <a:latin typeface="+mn-lt"/>
                          <a:cs typeface="+mn-lt"/>
                        </a:rPr>
                        <a:t>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6F5800"/>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Clasificada con </a:t>
                      </a:r>
                      <a:r>
                        <a:rPr lang="es-CL" sz="900" dirty="0" err="1">
                          <a:solidFill>
                            <a:srgbClr val="3F3A33"/>
                          </a:solidFill>
                          <a:latin typeface="+mn-lt"/>
                          <a:cs typeface="+mn-lt"/>
                        </a:rPr>
                        <a:t>Lider</a:t>
                      </a:r>
                      <a:r>
                        <a:rPr lang="es-CL" sz="900" dirty="0">
                          <a:solidFill>
                            <a:srgbClr val="3F3A33"/>
                          </a:solidFill>
                          <a:latin typeface="+mn-lt"/>
                          <a:cs typeface="+mn-lt"/>
                        </a:rPr>
                        <a:t> Mejora Continua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5"/>
                  </a:ext>
                </a:extLst>
              </a:tr>
              <a:tr h="211861">
                <a:tc>
                  <a:txBody>
                    <a:bodyPr/>
                    <a:lstStyle/>
                    <a:p>
                      <a:pPr algn="l">
                        <a:lnSpc>
                          <a:spcPct val="90000"/>
                        </a:lnSpc>
                        <a:buNone/>
                      </a:pPr>
                      <a:r>
                        <a:rPr lang="es-CL" sz="900" b="1" dirty="0">
                          <a:solidFill>
                            <a:srgbClr val="3F3A33"/>
                          </a:solidFill>
                          <a:latin typeface="+mn-lt"/>
                          <a:cs typeface="+mn-lt"/>
                        </a:rPr>
                        <a:t>F6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Evaluación área selección · psicolaboral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3F3A33"/>
                          </a:solidFill>
                          <a:latin typeface="+mn-lt"/>
                          <a:cs typeface="+mn-lt"/>
                        </a:rPr>
                        <a:t>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6F5800"/>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Clasificada con </a:t>
                      </a:r>
                      <a:r>
                        <a:rPr lang="es-CL" sz="900" dirty="0" err="1">
                          <a:solidFill>
                            <a:srgbClr val="3F3A33"/>
                          </a:solidFill>
                          <a:latin typeface="+mn-lt"/>
                          <a:cs typeface="+mn-lt"/>
                        </a:rPr>
                        <a:t>Lider</a:t>
                      </a:r>
                      <a:r>
                        <a:rPr lang="es-CL" sz="900" dirty="0">
                          <a:solidFill>
                            <a:srgbClr val="3F3A33"/>
                          </a:solidFill>
                          <a:latin typeface="+mn-lt"/>
                          <a:cs typeface="+mn-lt"/>
                        </a:rPr>
                        <a:t> Mejora Continua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6"/>
                  </a:ext>
                </a:extLst>
              </a:tr>
              <a:tr h="211861">
                <a:tc>
                  <a:txBody>
                    <a:bodyPr/>
                    <a:lstStyle/>
                    <a:p>
                      <a:pPr algn="l">
                        <a:lnSpc>
                          <a:spcPct val="90000"/>
                        </a:lnSpc>
                        <a:buNone/>
                      </a:pPr>
                      <a:r>
                        <a:rPr lang="es-CL" sz="900" b="1" dirty="0">
                          <a:solidFill>
                            <a:srgbClr val="3F3A33"/>
                          </a:solidFill>
                          <a:latin typeface="+mn-lt"/>
                          <a:cs typeface="+mn-lt"/>
                        </a:rPr>
                        <a:t>F7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Evaluación área solicitante · entrevistas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3F3A33"/>
                          </a:solidFill>
                          <a:latin typeface="+mn-lt"/>
                          <a:cs typeface="+mn-lt"/>
                        </a:rPr>
                        <a:t>10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6F5800"/>
                          </a:solidFill>
                          <a:latin typeface="+mn-lt"/>
                          <a:cs typeface="+mn-lt"/>
                        </a:rPr>
                        <a:t>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Clasificada con </a:t>
                      </a:r>
                      <a:r>
                        <a:rPr lang="es-CL" sz="900" dirty="0" err="1">
                          <a:solidFill>
                            <a:srgbClr val="3F3A33"/>
                          </a:solidFill>
                          <a:latin typeface="+mn-lt"/>
                          <a:cs typeface="+mn-lt"/>
                        </a:rPr>
                        <a:t>Lider</a:t>
                      </a:r>
                      <a:r>
                        <a:rPr lang="es-CL" sz="900" dirty="0">
                          <a:solidFill>
                            <a:srgbClr val="3F3A33"/>
                          </a:solidFill>
                          <a:latin typeface="+mn-lt"/>
                          <a:cs typeface="+mn-lt"/>
                        </a:rPr>
                        <a:t> Mejora Continua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7"/>
                  </a:ext>
                </a:extLst>
              </a:tr>
              <a:tr h="211861">
                <a:tc>
                  <a:txBody>
                    <a:bodyPr/>
                    <a:lstStyle/>
                    <a:p>
                      <a:pPr algn="l">
                        <a:lnSpc>
                          <a:spcPct val="90000"/>
                        </a:lnSpc>
                        <a:buNone/>
                      </a:pPr>
                      <a:r>
                        <a:rPr lang="es-CL" sz="900" b="1" dirty="0">
                          <a:solidFill>
                            <a:srgbClr val="3F3A33"/>
                          </a:solidFill>
                          <a:latin typeface="+mn-lt"/>
                          <a:cs typeface="+mn-lt"/>
                        </a:rPr>
                        <a:t>F8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Examen preocupacional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3F3A33"/>
                          </a:solidFill>
                          <a:latin typeface="+mn-lt"/>
                          <a:cs typeface="+mn-lt"/>
                        </a:rPr>
                        <a:t>10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6F5800"/>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Clasificada con </a:t>
                      </a:r>
                      <a:r>
                        <a:rPr lang="es-CL" sz="900" dirty="0" err="1">
                          <a:solidFill>
                            <a:srgbClr val="3F3A33"/>
                          </a:solidFill>
                          <a:latin typeface="+mn-lt"/>
                          <a:cs typeface="+mn-lt"/>
                        </a:rPr>
                        <a:t>Lider</a:t>
                      </a:r>
                      <a:r>
                        <a:rPr lang="es-CL" sz="900" dirty="0">
                          <a:solidFill>
                            <a:srgbClr val="3F3A33"/>
                          </a:solidFill>
                          <a:latin typeface="+mn-lt"/>
                          <a:cs typeface="+mn-lt"/>
                        </a:rPr>
                        <a:t> Mejora Continua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8"/>
                  </a:ext>
                </a:extLst>
              </a:tr>
              <a:tr h="211861">
                <a:tc>
                  <a:txBody>
                    <a:bodyPr/>
                    <a:lstStyle/>
                    <a:p>
                      <a:pPr algn="l">
                        <a:lnSpc>
                          <a:spcPct val="90000"/>
                        </a:lnSpc>
                        <a:buNone/>
                      </a:pPr>
                      <a:r>
                        <a:rPr lang="es-CL" sz="900" b="1" dirty="0">
                          <a:solidFill>
                            <a:srgbClr val="3F3A33"/>
                          </a:solidFill>
                          <a:latin typeface="+mn-lt"/>
                          <a:cs typeface="+mn-lt"/>
                        </a:rPr>
                        <a:t>F9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Flujo de contratación y carta oferta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3F3A33"/>
                          </a:solidFill>
                          <a:latin typeface="+mn-lt"/>
                          <a:cs typeface="+mn-lt"/>
                        </a:rPr>
                        <a:t>16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6F5800"/>
                          </a:solidFill>
                          <a:latin typeface="+mn-lt"/>
                          <a:cs typeface="+mn-lt"/>
                        </a:rPr>
                        <a:t>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Clasificada con </a:t>
                      </a:r>
                      <a:r>
                        <a:rPr lang="es-CL" sz="900" dirty="0" err="1">
                          <a:solidFill>
                            <a:srgbClr val="3F3A33"/>
                          </a:solidFill>
                          <a:latin typeface="+mn-lt"/>
                          <a:cs typeface="+mn-lt"/>
                        </a:rPr>
                        <a:t>Lider</a:t>
                      </a:r>
                      <a:r>
                        <a:rPr lang="es-CL" sz="900" dirty="0">
                          <a:solidFill>
                            <a:srgbClr val="3F3A33"/>
                          </a:solidFill>
                          <a:latin typeface="+mn-lt"/>
                          <a:cs typeface="+mn-lt"/>
                        </a:rPr>
                        <a:t> Mejora Continua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9"/>
                  </a:ext>
                </a:extLst>
              </a:tr>
              <a:tr h="211861">
                <a:tc>
                  <a:txBody>
                    <a:bodyPr/>
                    <a:lstStyle/>
                    <a:p>
                      <a:pPr algn="l">
                        <a:lnSpc>
                          <a:spcPct val="90000"/>
                        </a:lnSpc>
                        <a:buNone/>
                      </a:pPr>
                      <a:r>
                        <a:rPr lang="es-CL" sz="900" b="1" dirty="0">
                          <a:solidFill>
                            <a:srgbClr val="3F3A33"/>
                          </a:solidFill>
                          <a:latin typeface="+mn-lt"/>
                          <a:cs typeface="+mn-lt"/>
                        </a:rPr>
                        <a:t>F10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Onboarding e incorporación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3F3A33"/>
                          </a:solidFill>
                          <a:latin typeface="+mn-lt"/>
                          <a:cs typeface="+mn-lt"/>
                        </a:rPr>
                        <a:t>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Clasificada con </a:t>
                      </a:r>
                      <a:r>
                        <a:rPr lang="es-CL" sz="900" dirty="0" err="1">
                          <a:solidFill>
                            <a:srgbClr val="3F3A33"/>
                          </a:solidFill>
                          <a:latin typeface="+mn-lt"/>
                          <a:cs typeface="+mn-lt"/>
                        </a:rPr>
                        <a:t>Lider</a:t>
                      </a:r>
                      <a:r>
                        <a:rPr lang="es-CL" sz="900" dirty="0">
                          <a:solidFill>
                            <a:srgbClr val="3F3A33"/>
                          </a:solidFill>
                          <a:latin typeface="+mn-lt"/>
                          <a:cs typeface="+mn-lt"/>
                        </a:rPr>
                        <a:t> Mejora Continua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10"/>
                  </a:ext>
                </a:extLst>
              </a:tr>
              <a:tr h="211861">
                <a:tc>
                  <a:txBody>
                    <a:bodyPr/>
                    <a:lstStyle/>
                    <a:p>
                      <a:pPr algn="l">
                        <a:lnSpc>
                          <a:spcPct val="90000"/>
                        </a:lnSpc>
                        <a:buNone/>
                      </a:pPr>
                      <a:r>
                        <a:rPr lang="es-CL" sz="900" b="1" dirty="0">
                          <a:solidFill>
                            <a:srgbClr val="3F3A33"/>
                          </a:solidFill>
                          <a:latin typeface="+mn-lt"/>
                          <a:cs typeface="+mn-lt"/>
                        </a:rPr>
                        <a:t>F11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Formación y habilitación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3F3A33"/>
                          </a:solidFill>
                          <a:latin typeface="+mn-lt"/>
                          <a:cs typeface="+mn-lt"/>
                        </a:rPr>
                        <a:t>19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6F5800"/>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Clasificada con </a:t>
                      </a:r>
                      <a:r>
                        <a:rPr lang="es-CL" sz="900" dirty="0" err="1">
                          <a:solidFill>
                            <a:srgbClr val="3F3A33"/>
                          </a:solidFill>
                          <a:latin typeface="+mn-lt"/>
                          <a:cs typeface="+mn-lt"/>
                        </a:rPr>
                        <a:t>Lider</a:t>
                      </a:r>
                      <a:r>
                        <a:rPr lang="es-CL" sz="900" dirty="0">
                          <a:solidFill>
                            <a:srgbClr val="3F3A33"/>
                          </a:solidFill>
                          <a:latin typeface="+mn-lt"/>
                          <a:cs typeface="+mn-lt"/>
                        </a:rPr>
                        <a:t> Mejora Continua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11"/>
                  </a:ext>
                </a:extLst>
              </a:tr>
              <a:tr h="211861">
                <a:tc>
                  <a:txBody>
                    <a:bodyPr/>
                    <a:lstStyle/>
                    <a:p>
                      <a:pPr algn="l">
                        <a:lnSpc>
                          <a:spcPct val="90000"/>
                        </a:lnSpc>
                        <a:buNone/>
                      </a:pPr>
                      <a:r>
                        <a:rPr lang="es-CL" sz="900" b="1" dirty="0">
                          <a:solidFill>
                            <a:srgbClr val="3F3A33"/>
                          </a:solidFill>
                          <a:latin typeface="+mn-lt"/>
                          <a:cs typeface="+mn-lt"/>
                        </a:rPr>
                        <a:t>F12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Gestión del desempeño · ciclo anual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3F3A33"/>
                          </a:solidFill>
                          <a:latin typeface="+mn-lt"/>
                          <a:cs typeface="+mn-lt"/>
                        </a:rPr>
                        <a:t>30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6F5800"/>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Clasificada con </a:t>
                      </a:r>
                      <a:r>
                        <a:rPr lang="es-CL" sz="900" dirty="0" err="1">
                          <a:solidFill>
                            <a:srgbClr val="3F3A33"/>
                          </a:solidFill>
                          <a:latin typeface="+mn-lt"/>
                          <a:cs typeface="+mn-lt"/>
                        </a:rPr>
                        <a:t>Lider</a:t>
                      </a:r>
                      <a:r>
                        <a:rPr lang="es-CL" sz="900" dirty="0">
                          <a:solidFill>
                            <a:srgbClr val="3F3A33"/>
                          </a:solidFill>
                          <a:latin typeface="+mn-lt"/>
                          <a:cs typeface="+mn-lt"/>
                        </a:rPr>
                        <a:t> Mejora Continua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12"/>
                  </a:ext>
                </a:extLst>
              </a:tr>
              <a:tr h="211861">
                <a:tc>
                  <a:txBody>
                    <a:bodyPr/>
                    <a:lstStyle/>
                    <a:p>
                      <a:pPr algn="l">
                        <a:lnSpc>
                          <a:spcPct val="90000"/>
                        </a:lnSpc>
                        <a:buNone/>
                      </a:pPr>
                      <a:r>
                        <a:rPr lang="es-CL" sz="900" b="1" dirty="0">
                          <a:solidFill>
                            <a:srgbClr val="3F3A33"/>
                          </a:solidFill>
                          <a:latin typeface="+mn-lt"/>
                          <a:cs typeface="+mn-lt"/>
                        </a:rPr>
                        <a:t>F13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Carrera, sucesión y movilidad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3F3A33"/>
                          </a:solidFill>
                          <a:latin typeface="+mn-lt"/>
                          <a:cs typeface="+mn-lt"/>
                        </a:rPr>
                        <a:t>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900" dirty="0">
                          <a:solidFill>
                            <a:srgbClr val="14567A"/>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Clasificada con </a:t>
                      </a:r>
                      <a:r>
                        <a:rPr lang="es-CL" sz="900" dirty="0" err="1">
                          <a:solidFill>
                            <a:srgbClr val="3F3A33"/>
                          </a:solidFill>
                          <a:latin typeface="+mn-lt"/>
                          <a:cs typeface="+mn-lt"/>
                        </a:rPr>
                        <a:t>Lider</a:t>
                      </a:r>
                      <a:r>
                        <a:rPr lang="es-CL" sz="900" dirty="0">
                          <a:solidFill>
                            <a:srgbClr val="3F3A33"/>
                          </a:solidFill>
                          <a:latin typeface="+mn-lt"/>
                          <a:cs typeface="+mn-lt"/>
                        </a:rPr>
                        <a:t> Mejora Continua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13"/>
                  </a:ext>
                </a:extLst>
              </a:tr>
              <a:tr h="211861">
                <a:tc>
                  <a:txBody>
                    <a:bodyPr/>
                    <a:lstStyle/>
                    <a:p>
                      <a:pPr algn="l">
                        <a:lnSpc>
                          <a:spcPct val="90000"/>
                        </a:lnSpc>
                        <a:buNone/>
                      </a:pPr>
                      <a:r>
                        <a:rPr lang="es-CL" sz="900" b="1" dirty="0">
                          <a:solidFill>
                            <a:srgbClr val="3F3A33"/>
                          </a:solidFill>
                          <a:latin typeface="+mn-lt"/>
                          <a:cs typeface="+mn-lt"/>
                        </a:rPr>
                        <a:t>F14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Revisión de renta y beneficios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3F3A33"/>
                          </a:solidFill>
                          <a:latin typeface="+mn-lt"/>
                          <a:cs typeface="+mn-lt"/>
                        </a:rPr>
                        <a:t>17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6F5800"/>
                          </a:solidFill>
                          <a:latin typeface="+mn-lt"/>
                          <a:cs typeface="+mn-lt"/>
                        </a:rPr>
                        <a:t>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900" dirty="0">
                          <a:solidFill>
                            <a:srgbClr val="14567A"/>
                          </a:solidFill>
                          <a:latin typeface="+mn-lt"/>
                          <a:cs typeface="+mn-lt"/>
                        </a:rPr>
                        <a:t>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Clasificada con </a:t>
                      </a:r>
                      <a:r>
                        <a:rPr lang="es-CL" sz="900" dirty="0" err="1">
                          <a:solidFill>
                            <a:srgbClr val="3F3A33"/>
                          </a:solidFill>
                          <a:latin typeface="+mn-lt"/>
                          <a:cs typeface="+mn-lt"/>
                        </a:rPr>
                        <a:t>Lider</a:t>
                      </a:r>
                      <a:r>
                        <a:rPr lang="es-CL" sz="900" dirty="0">
                          <a:solidFill>
                            <a:srgbClr val="3F3A33"/>
                          </a:solidFill>
                          <a:latin typeface="+mn-lt"/>
                          <a:cs typeface="+mn-lt"/>
                        </a:rPr>
                        <a:t> Mejora Continua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14"/>
                  </a:ext>
                </a:extLst>
              </a:tr>
              <a:tr h="211861">
                <a:tc>
                  <a:txBody>
                    <a:bodyPr/>
                    <a:lstStyle/>
                    <a:p>
                      <a:pPr algn="l">
                        <a:lnSpc>
                          <a:spcPct val="90000"/>
                        </a:lnSpc>
                        <a:buNone/>
                      </a:pPr>
                      <a:r>
                        <a:rPr lang="es-CL" sz="900" b="1" dirty="0">
                          <a:solidFill>
                            <a:srgbClr val="55565A"/>
                          </a:solidFill>
                          <a:latin typeface="+mn-lt"/>
                          <a:cs typeface="+mn-lt"/>
                        </a:rPr>
                        <a:t>F0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900" dirty="0">
                          <a:solidFill>
                            <a:srgbClr val="55565A"/>
                          </a:solidFill>
                          <a:latin typeface="+mn-lt"/>
                          <a:cs typeface="+mn-lt"/>
                        </a:rPr>
                        <a:t>Fase 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900" dirty="0">
                          <a:solidFill>
                            <a:srgbClr val="55565A"/>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900" dirty="0">
                          <a:solidFill>
                            <a:srgbClr val="55565A"/>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900" dirty="0">
                          <a:solidFill>
                            <a:srgbClr val="55565A"/>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900" dirty="0">
                          <a:solidFill>
                            <a:srgbClr val="55565A"/>
                          </a:solidFill>
                          <a:latin typeface="+mn-lt"/>
                          <a:cs typeface="+mn-lt"/>
                        </a:rPr>
                        <a:t>No incluida en la revisión con </a:t>
                      </a:r>
                      <a:r>
                        <a:rPr lang="es-CL" sz="900" dirty="0" err="1">
                          <a:solidFill>
                            <a:srgbClr val="55565A"/>
                          </a:solidFill>
                          <a:latin typeface="+mn-lt"/>
                          <a:cs typeface="+mn-lt"/>
                        </a:rPr>
                        <a:t>Lider</a:t>
                      </a:r>
                      <a:r>
                        <a:rPr lang="es-CL" sz="900" dirty="0">
                          <a:solidFill>
                            <a:srgbClr val="55565A"/>
                          </a:solidFill>
                          <a:latin typeface="+mn-lt"/>
                          <a:cs typeface="+mn-lt"/>
                        </a:rPr>
                        <a:t> Mejora Continua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extLst>
                  <a:ext uri="{0D108BD9-81ED-4DB2-BD59-A6C34878D82A}">
                    <a16:rowId xmlns:a16="http://schemas.microsoft.com/office/drawing/2014/main" val="10015"/>
                  </a:ext>
                </a:extLst>
              </a:tr>
              <a:tr h="211861">
                <a:tc>
                  <a:txBody>
                    <a:bodyPr/>
                    <a:lstStyle/>
                    <a:p>
                      <a:pPr algn="l">
                        <a:lnSpc>
                          <a:spcPct val="90000"/>
                        </a:lnSpc>
                        <a:buNone/>
                      </a:pPr>
                      <a:r>
                        <a:rPr lang="es-CL" sz="900" b="1" dirty="0">
                          <a:solidFill>
                            <a:srgbClr val="55565A"/>
                          </a:solidFill>
                          <a:latin typeface="+mn-lt"/>
                          <a:cs typeface="+mn-lt"/>
                        </a:rPr>
                        <a:t>F15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900" dirty="0">
                          <a:solidFill>
                            <a:srgbClr val="55565A"/>
                          </a:solidFill>
                          <a:latin typeface="+mn-lt"/>
                          <a:cs typeface="+mn-lt"/>
                        </a:rPr>
                        <a:t>Administración de nómina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900" dirty="0">
                          <a:solidFill>
                            <a:srgbClr val="55565A"/>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900" dirty="0">
                          <a:solidFill>
                            <a:srgbClr val="55565A"/>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900" dirty="0">
                          <a:solidFill>
                            <a:srgbClr val="55565A"/>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900" dirty="0">
                          <a:solidFill>
                            <a:srgbClr val="55565A"/>
                          </a:solidFill>
                          <a:latin typeface="+mn-lt"/>
                          <a:cs typeface="+mn-lt"/>
                        </a:rPr>
                        <a:t>No revisada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extLst>
                  <a:ext uri="{0D108BD9-81ED-4DB2-BD59-A6C34878D82A}">
                    <a16:rowId xmlns:a16="http://schemas.microsoft.com/office/drawing/2014/main" val="10016"/>
                  </a:ext>
                </a:extLst>
              </a:tr>
              <a:tr h="211861">
                <a:tc>
                  <a:txBody>
                    <a:bodyPr/>
                    <a:lstStyle/>
                    <a:p>
                      <a:pPr algn="l">
                        <a:lnSpc>
                          <a:spcPct val="90000"/>
                        </a:lnSpc>
                        <a:buNone/>
                      </a:pPr>
                      <a:r>
                        <a:rPr lang="es-CL" sz="900" b="1" dirty="0">
                          <a:solidFill>
                            <a:srgbClr val="55565A"/>
                          </a:solidFill>
                          <a:latin typeface="+mn-lt"/>
                          <a:cs typeface="+mn-lt"/>
                        </a:rPr>
                        <a:t>F16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900" dirty="0">
                          <a:solidFill>
                            <a:srgbClr val="55565A"/>
                          </a:solidFill>
                          <a:latin typeface="+mn-lt"/>
                          <a:cs typeface="+mn-lt"/>
                        </a:rPr>
                        <a:t>Clima, asistencia y retención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900" dirty="0">
                          <a:solidFill>
                            <a:srgbClr val="55565A"/>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900" dirty="0">
                          <a:solidFill>
                            <a:srgbClr val="55565A"/>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900" dirty="0">
                          <a:solidFill>
                            <a:srgbClr val="55565A"/>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900" dirty="0">
                          <a:solidFill>
                            <a:srgbClr val="55565A"/>
                          </a:solidFill>
                          <a:latin typeface="+mn-lt"/>
                          <a:cs typeface="+mn-lt"/>
                        </a:rPr>
                        <a:t>No revisada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extLst>
                  <a:ext uri="{0D108BD9-81ED-4DB2-BD59-A6C34878D82A}">
                    <a16:rowId xmlns:a16="http://schemas.microsoft.com/office/drawing/2014/main" val="10017"/>
                  </a:ext>
                </a:extLst>
              </a:tr>
              <a:tr h="211861">
                <a:tc>
                  <a:txBody>
                    <a:bodyPr/>
                    <a:lstStyle/>
                    <a:p>
                      <a:pPr algn="l">
                        <a:lnSpc>
                          <a:spcPct val="90000"/>
                        </a:lnSpc>
                        <a:buNone/>
                      </a:pPr>
                      <a:r>
                        <a:rPr lang="es-CL" sz="900" b="1" dirty="0">
                          <a:solidFill>
                            <a:srgbClr val="55565A"/>
                          </a:solidFill>
                          <a:latin typeface="+mn-lt"/>
                          <a:cs typeface="+mn-lt"/>
                        </a:rPr>
                        <a:t>F17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900" dirty="0">
                          <a:solidFill>
                            <a:srgbClr val="55565A"/>
                          </a:solidFill>
                          <a:latin typeface="+mn-lt"/>
                          <a:cs typeface="+mn-lt"/>
                        </a:rPr>
                        <a:t>Desvinculación y salida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900" dirty="0">
                          <a:solidFill>
                            <a:srgbClr val="55565A"/>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900" dirty="0">
                          <a:solidFill>
                            <a:srgbClr val="55565A"/>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900" dirty="0">
                          <a:solidFill>
                            <a:srgbClr val="55565A"/>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900" dirty="0">
                          <a:solidFill>
                            <a:srgbClr val="55565A"/>
                          </a:solidFill>
                          <a:latin typeface="+mn-lt"/>
                          <a:cs typeface="+mn-lt"/>
                        </a:rPr>
                        <a:t>No revisada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extLst>
                  <a:ext uri="{0D108BD9-81ED-4DB2-BD59-A6C34878D82A}">
                    <a16:rowId xmlns:a16="http://schemas.microsoft.com/office/drawing/2014/main" val="10018"/>
                  </a:ext>
                </a:extLst>
              </a:tr>
              <a:tr h="211861">
                <a:tc>
                  <a:txBody>
                    <a:bodyPr/>
                    <a:lstStyle/>
                    <a:p>
                      <a:pPr algn="l">
                        <a:lnSpc>
                          <a:spcPct val="90000"/>
                        </a:lnSpc>
                        <a:buNone/>
                      </a:pPr>
                      <a:r>
                        <a:rPr lang="es-CL" sz="900" b="1" dirty="0">
                          <a:solidFill>
                            <a:srgbClr val="55565A"/>
                          </a:solidFill>
                          <a:latin typeface="+mn-lt"/>
                          <a:cs typeface="+mn-lt"/>
                        </a:rPr>
                        <a:t>F18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900" dirty="0">
                          <a:solidFill>
                            <a:srgbClr val="55565A"/>
                          </a:solidFill>
                          <a:latin typeface="+mn-lt"/>
                          <a:cs typeface="+mn-lt"/>
                        </a:rPr>
                        <a:t>Backbone de datos y gobernanza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900" dirty="0">
                          <a:solidFill>
                            <a:srgbClr val="55565A"/>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900" dirty="0">
                          <a:solidFill>
                            <a:srgbClr val="55565A"/>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900" dirty="0">
                          <a:solidFill>
                            <a:srgbClr val="55565A"/>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900" dirty="0">
                          <a:solidFill>
                            <a:srgbClr val="55565A"/>
                          </a:solidFill>
                          <a:latin typeface="+mn-lt"/>
                          <a:cs typeface="+mn-lt"/>
                        </a:rPr>
                        <a:t>No revisada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extLst>
                  <a:ext uri="{0D108BD9-81ED-4DB2-BD59-A6C34878D82A}">
                    <a16:rowId xmlns:a16="http://schemas.microsoft.com/office/drawing/2014/main" val="10019"/>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Arquitectura preliminar| </a:t>
            </a:r>
            <a:r>
              <a:rPr lang="es-CL" sz="2000" dirty="0">
                <a:solidFill>
                  <a:srgbClr val="A34100"/>
                </a:solidFill>
                <a:latin typeface="+mn-lt"/>
                <a:cs typeface="+mn-lt"/>
              </a:rPr>
              <a:t>Mapa de procesos y subprocesos</a:t>
            </a:r>
            <a:endParaRPr lang="es-CL"/>
          </a:p>
        </p:txBody>
      </p:sp>
      <p:sp>
        <p:nvSpPr>
          <p:cNvPr id="10" name="Banda 10"/>
          <p:cNvSpPr/>
          <p:nvPr/>
        </p:nvSpPr>
        <p:spPr>
          <a:xfrm>
            <a:off x="630000" y="1075000"/>
            <a:ext cx="10933350" cy="324218"/>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1050" dirty="0">
                <a:solidFill>
                  <a:srgbClr val="3F3A33"/>
                </a:solidFill>
                <a:latin typeface="+mn-lt"/>
                <a:cs typeface="+mn-lt"/>
              </a:rPr>
              <a:t>Cinco procesos preliminares para las fases 1 a 14. El color del nombre indica su estado.</a:t>
            </a:r>
          </a:p>
        </p:txBody>
      </p:sp>
      <p:sp>
        <p:nvSpPr>
          <p:cNvPr id="11" name="Proceso 11"/>
          <p:cNvSpPr/>
          <p:nvPr/>
        </p:nvSpPr>
        <p:spPr>
          <a:xfrm>
            <a:off x="630000" y="1489218"/>
            <a:ext cx="2098670" cy="660400"/>
          </a:xfrm>
          <a:prstGeom prst="roundRect">
            <a:avLst>
              <a:gd name="adj" fmla="val 4000"/>
            </a:avLst>
          </a:prstGeom>
          <a:solidFill>
            <a:srgbClr val="A34100"/>
          </a:solidFill>
          <a:ln>
            <a:noFill/>
          </a:ln>
        </p:spPr>
        <p:txBody>
          <a:bodyPr wrap="square" lIns="63500" tIns="63500" rIns="63500" bIns="63500" anchor="ctr">
            <a:noAutofit/>
          </a:bodyPr>
          <a:lstStyle/>
          <a:p>
            <a:pPr algn="l">
              <a:lnSpc>
                <a:spcPct val="90000"/>
              </a:lnSpc>
              <a:buNone/>
            </a:pPr>
            <a:r>
              <a:rPr lang="es-CL" sz="1000" b="1" dirty="0">
                <a:solidFill>
                  <a:srgbClr val="FFFFFF"/>
                </a:solidFill>
                <a:latin typeface="+mn-lt"/>
                <a:cs typeface="+mn-lt"/>
              </a:rPr>
              <a:t>P1 · Necesidad estratégica y plan de dotación</a:t>
            </a:r>
          </a:p>
          <a:p>
            <a:pPr algn="l">
              <a:lnSpc>
                <a:spcPct val="90000"/>
              </a:lnSpc>
              <a:spcBef>
                <a:spcPts val="200"/>
              </a:spcBef>
              <a:buNone/>
            </a:pPr>
            <a:r>
              <a:rPr lang="es-CL" sz="750" dirty="0">
                <a:solidFill>
                  <a:srgbClr val="F7E2D2"/>
                </a:solidFill>
                <a:latin typeface="+mn-lt"/>
                <a:cs typeface="+mn-lt"/>
              </a:rPr>
              <a:t>APQC 7.1.1 · 7.1.2  ·  confirmado</a:t>
            </a:r>
          </a:p>
        </p:txBody>
      </p:sp>
      <p:sp>
        <p:nvSpPr>
          <p:cNvPr id="12" name="Subproceso 12"/>
          <p:cNvSpPr/>
          <p:nvPr/>
        </p:nvSpPr>
        <p:spPr>
          <a:xfrm>
            <a:off x="630000" y="2209618"/>
            <a:ext cx="2098670" cy="774076"/>
          </a:xfrm>
          <a:prstGeom prst="roundRect">
            <a:avLst>
              <a:gd name="adj" fmla="val 4000"/>
            </a:avLst>
          </a:prstGeom>
          <a:solidFill>
            <a:srgbClr val="EFE6D0"/>
          </a:solidFill>
          <a:ln w="9525" cap="flat">
            <a:solidFill>
              <a:srgbClr val="C9B98F"/>
            </a:solidFill>
          </a:ln>
        </p:spPr>
        <p:txBody>
          <a:bodyPr wrap="square" lIns="63500" tIns="63500" rIns="63500" bIns="63500" anchor="t">
            <a:noAutofit/>
          </a:bodyPr>
          <a:lstStyle/>
          <a:p>
            <a:pPr algn="l">
              <a:lnSpc>
                <a:spcPct val="90000"/>
              </a:lnSpc>
              <a:buNone/>
            </a:pPr>
            <a:r>
              <a:rPr lang="es-CL" sz="900" b="1" dirty="0">
                <a:solidFill>
                  <a:srgbClr val="3F3A33"/>
                </a:solidFill>
                <a:latin typeface="+mn-lt"/>
                <a:cs typeface="+mn-lt"/>
              </a:rPr>
              <a:t>Identificar necesidades estratégicas de RRHH</a:t>
            </a:r>
          </a:p>
          <a:p>
            <a:pPr algn="l">
              <a:lnSpc>
                <a:spcPct val="90000"/>
              </a:lnSpc>
              <a:spcBef>
                <a:spcPts val="200"/>
              </a:spcBef>
              <a:buNone/>
            </a:pPr>
            <a:r>
              <a:rPr lang="es-CL" sz="750" dirty="0">
                <a:solidFill>
                  <a:srgbClr val="6B655C"/>
                </a:solidFill>
                <a:latin typeface="+mn-lt"/>
                <a:cs typeface="+mn-lt"/>
              </a:rPr>
              <a:t>F1  ·  Sin actividades definidas</a:t>
            </a:r>
          </a:p>
        </p:txBody>
      </p:sp>
      <p:sp>
        <p:nvSpPr>
          <p:cNvPr id="13" name="Subproceso 13"/>
          <p:cNvSpPr/>
          <p:nvPr/>
        </p:nvSpPr>
        <p:spPr>
          <a:xfrm>
            <a:off x="630000" y="3043694"/>
            <a:ext cx="2098670" cy="774076"/>
          </a:xfrm>
          <a:prstGeom prst="roundRect">
            <a:avLst>
              <a:gd name="adj" fmla="val 4000"/>
            </a:avLst>
          </a:prstGeom>
          <a:solidFill>
            <a:srgbClr val="EFE6D0"/>
          </a:solidFill>
          <a:ln w="9525" cap="flat">
            <a:solidFill>
              <a:srgbClr val="C9B98F"/>
            </a:solidFill>
          </a:ln>
        </p:spPr>
        <p:txBody>
          <a:bodyPr wrap="square" lIns="63500" tIns="63500" rIns="63500" bIns="63500" anchor="t">
            <a:noAutofit/>
          </a:bodyPr>
          <a:lstStyle/>
          <a:p>
            <a:pPr algn="l">
              <a:lnSpc>
                <a:spcPct val="90000"/>
              </a:lnSpc>
              <a:buNone/>
            </a:pPr>
            <a:r>
              <a:rPr lang="es-CL" sz="900" b="1" dirty="0">
                <a:solidFill>
                  <a:srgbClr val="3F3A33"/>
                </a:solidFill>
                <a:latin typeface="+mn-lt"/>
                <a:cs typeface="+mn-lt"/>
              </a:rPr>
              <a:t>Estimar dotación futura</a:t>
            </a:r>
          </a:p>
          <a:p>
            <a:pPr algn="l">
              <a:lnSpc>
                <a:spcPct val="90000"/>
              </a:lnSpc>
              <a:spcBef>
                <a:spcPts val="200"/>
              </a:spcBef>
              <a:buNone/>
            </a:pPr>
            <a:r>
              <a:rPr lang="es-CL" sz="750" dirty="0">
                <a:solidFill>
                  <a:srgbClr val="6B655C"/>
                </a:solidFill>
                <a:latin typeface="+mn-lt"/>
                <a:cs typeface="+mn-lt"/>
              </a:rPr>
              <a:t>F1  ·  Cajas 2–6</a:t>
            </a:r>
          </a:p>
        </p:txBody>
      </p:sp>
      <p:sp>
        <p:nvSpPr>
          <p:cNvPr id="14" name="Subproceso 14"/>
          <p:cNvSpPr/>
          <p:nvPr/>
        </p:nvSpPr>
        <p:spPr>
          <a:xfrm>
            <a:off x="630000" y="3877770"/>
            <a:ext cx="2098670" cy="774076"/>
          </a:xfrm>
          <a:prstGeom prst="roundRect">
            <a:avLst>
              <a:gd name="adj" fmla="val 4000"/>
            </a:avLst>
          </a:prstGeom>
          <a:solidFill>
            <a:srgbClr val="EFE6D0"/>
          </a:solidFill>
          <a:ln w="9525" cap="flat">
            <a:solidFill>
              <a:srgbClr val="C9B98F"/>
            </a:solidFill>
          </a:ln>
        </p:spPr>
        <p:txBody>
          <a:bodyPr wrap="square" lIns="63500" tIns="63500" rIns="63500" bIns="63500" anchor="t">
            <a:noAutofit/>
          </a:bodyPr>
          <a:lstStyle/>
          <a:p>
            <a:pPr algn="l">
              <a:lnSpc>
                <a:spcPct val="90000"/>
              </a:lnSpc>
              <a:buNone/>
            </a:pPr>
            <a:r>
              <a:rPr lang="es-CL" sz="900" b="1" dirty="0">
                <a:solidFill>
                  <a:srgbClr val="3F3A33"/>
                </a:solidFill>
                <a:latin typeface="+mn-lt"/>
                <a:cs typeface="+mn-lt"/>
              </a:rPr>
              <a:t>Diseñar plan de dotación / organigrama</a:t>
            </a:r>
          </a:p>
          <a:p>
            <a:pPr algn="l">
              <a:lnSpc>
                <a:spcPct val="90000"/>
              </a:lnSpc>
              <a:spcBef>
                <a:spcPts val="200"/>
              </a:spcBef>
              <a:buNone/>
            </a:pPr>
            <a:r>
              <a:rPr lang="es-CL" sz="750" dirty="0">
                <a:solidFill>
                  <a:srgbClr val="6B655C"/>
                </a:solidFill>
                <a:latin typeface="+mn-lt"/>
                <a:cs typeface="+mn-lt"/>
              </a:rPr>
              <a:t>F1  ·  Cajas 8–11</a:t>
            </a:r>
          </a:p>
        </p:txBody>
      </p:sp>
      <p:sp>
        <p:nvSpPr>
          <p:cNvPr id="15" name="Proceso 15"/>
          <p:cNvSpPr/>
          <p:nvPr/>
        </p:nvSpPr>
        <p:spPr>
          <a:xfrm>
            <a:off x="2838670" y="1489218"/>
            <a:ext cx="2098670" cy="660400"/>
          </a:xfrm>
          <a:prstGeom prst="roundRect">
            <a:avLst>
              <a:gd name="adj" fmla="val 4000"/>
            </a:avLst>
          </a:prstGeom>
          <a:solidFill>
            <a:srgbClr val="A34100"/>
          </a:solidFill>
          <a:ln>
            <a:noFill/>
          </a:ln>
        </p:spPr>
        <p:txBody>
          <a:bodyPr wrap="square" lIns="63500" tIns="63500" rIns="63500" bIns="63500" anchor="ctr">
            <a:noAutofit/>
          </a:bodyPr>
          <a:lstStyle/>
          <a:p>
            <a:pPr algn="l">
              <a:lnSpc>
                <a:spcPct val="90000"/>
              </a:lnSpc>
              <a:buNone/>
            </a:pPr>
            <a:r>
              <a:rPr lang="es-CL" sz="1000" b="1" dirty="0">
                <a:solidFill>
                  <a:srgbClr val="FFFFFF"/>
                </a:solidFill>
                <a:latin typeface="+mn-lt"/>
                <a:cs typeface="+mn-lt"/>
              </a:rPr>
              <a:t>P2 · Valoración de cargo y banda de renta</a:t>
            </a:r>
          </a:p>
          <a:p>
            <a:pPr algn="l">
              <a:lnSpc>
                <a:spcPct val="90000"/>
              </a:lnSpc>
              <a:spcBef>
                <a:spcPts val="200"/>
              </a:spcBef>
              <a:buNone/>
            </a:pPr>
            <a:r>
              <a:rPr lang="es-CL" sz="750" dirty="0">
                <a:solidFill>
                  <a:srgbClr val="F7E2D2"/>
                </a:solidFill>
                <a:latin typeface="+mn-lt"/>
                <a:cs typeface="+mn-lt"/>
              </a:rPr>
              <a:t>APQC 7.1.2.2 · 7.1.2.15 · 7.5.1  ·  confirmado</a:t>
            </a:r>
          </a:p>
        </p:txBody>
      </p:sp>
      <p:sp>
        <p:nvSpPr>
          <p:cNvPr id="16" name="Subproceso 16"/>
          <p:cNvSpPr/>
          <p:nvPr/>
        </p:nvSpPr>
        <p:spPr>
          <a:xfrm>
            <a:off x="2838670" y="2209618"/>
            <a:ext cx="2098670" cy="774076"/>
          </a:xfrm>
          <a:prstGeom prst="roundRect">
            <a:avLst>
              <a:gd name="adj" fmla="val 4000"/>
            </a:avLst>
          </a:prstGeom>
          <a:solidFill>
            <a:srgbClr val="EFE6D0"/>
          </a:solidFill>
          <a:ln w="9525" cap="flat">
            <a:solidFill>
              <a:srgbClr val="C9B98F"/>
            </a:solidFill>
          </a:ln>
        </p:spPr>
        <p:txBody>
          <a:bodyPr wrap="square" lIns="63500" tIns="63500" rIns="63500" bIns="63500" anchor="t">
            <a:noAutofit/>
          </a:bodyPr>
          <a:lstStyle/>
          <a:p>
            <a:pPr algn="l">
              <a:lnSpc>
                <a:spcPct val="90000"/>
              </a:lnSpc>
              <a:buNone/>
            </a:pPr>
            <a:r>
              <a:rPr lang="es-CL" sz="900" b="1" dirty="0">
                <a:solidFill>
                  <a:srgbClr val="3F3A33"/>
                </a:solidFill>
                <a:latin typeface="+mn-lt"/>
                <a:cs typeface="+mn-lt"/>
              </a:rPr>
              <a:t>Benchmark de remuneración</a:t>
            </a:r>
          </a:p>
          <a:p>
            <a:pPr algn="l">
              <a:lnSpc>
                <a:spcPct val="90000"/>
              </a:lnSpc>
              <a:spcBef>
                <a:spcPts val="200"/>
              </a:spcBef>
              <a:buNone/>
            </a:pPr>
            <a:r>
              <a:rPr lang="es-CL" sz="750" dirty="0">
                <a:solidFill>
                  <a:srgbClr val="6B655C"/>
                </a:solidFill>
                <a:latin typeface="+mn-lt"/>
                <a:cs typeface="+mn-lt"/>
              </a:rPr>
              <a:t>F2  ·  Cajas 1–3</a:t>
            </a:r>
          </a:p>
        </p:txBody>
      </p:sp>
      <p:sp>
        <p:nvSpPr>
          <p:cNvPr id="17" name="Subproceso 17"/>
          <p:cNvSpPr/>
          <p:nvPr/>
        </p:nvSpPr>
        <p:spPr>
          <a:xfrm>
            <a:off x="2838670" y="3043694"/>
            <a:ext cx="2098670" cy="774076"/>
          </a:xfrm>
          <a:prstGeom prst="roundRect">
            <a:avLst>
              <a:gd name="adj" fmla="val 4000"/>
            </a:avLst>
          </a:prstGeom>
          <a:solidFill>
            <a:srgbClr val="EFE6D0"/>
          </a:solidFill>
          <a:ln w="9525" cap="flat">
            <a:solidFill>
              <a:srgbClr val="C9B98F"/>
            </a:solidFill>
          </a:ln>
        </p:spPr>
        <p:txBody>
          <a:bodyPr wrap="square" lIns="63500" tIns="63500" rIns="63500" bIns="63500" anchor="t">
            <a:noAutofit/>
          </a:bodyPr>
          <a:lstStyle/>
          <a:p>
            <a:pPr algn="l">
              <a:lnSpc>
                <a:spcPct val="90000"/>
              </a:lnSpc>
              <a:buNone/>
            </a:pPr>
            <a:r>
              <a:rPr lang="es-CL" sz="900" b="1" dirty="0">
                <a:solidFill>
                  <a:srgbClr val="3F3A33"/>
                </a:solidFill>
                <a:latin typeface="+mn-lt"/>
                <a:cs typeface="+mn-lt"/>
              </a:rPr>
              <a:t>Valoración del cargo y definición de bandas salariales</a:t>
            </a:r>
          </a:p>
          <a:p>
            <a:pPr algn="l">
              <a:lnSpc>
                <a:spcPct val="90000"/>
              </a:lnSpc>
              <a:spcBef>
                <a:spcPts val="200"/>
              </a:spcBef>
              <a:buNone/>
            </a:pPr>
            <a:r>
              <a:rPr lang="es-CL" sz="750" dirty="0">
                <a:solidFill>
                  <a:srgbClr val="6B655C"/>
                </a:solidFill>
                <a:latin typeface="+mn-lt"/>
                <a:cs typeface="+mn-lt"/>
              </a:rPr>
              <a:t>F2  ·  Cajas 4–6</a:t>
            </a:r>
          </a:p>
        </p:txBody>
      </p:sp>
      <p:sp>
        <p:nvSpPr>
          <p:cNvPr id="18" name="Subproceso 18"/>
          <p:cNvSpPr/>
          <p:nvPr/>
        </p:nvSpPr>
        <p:spPr>
          <a:xfrm>
            <a:off x="2838670" y="3877770"/>
            <a:ext cx="2098670" cy="774076"/>
          </a:xfrm>
          <a:prstGeom prst="roundRect">
            <a:avLst>
              <a:gd name="adj" fmla="val 4000"/>
            </a:avLst>
          </a:prstGeom>
          <a:solidFill>
            <a:srgbClr val="EFE6D0"/>
          </a:solidFill>
          <a:ln w="9525" cap="flat">
            <a:solidFill>
              <a:srgbClr val="C9B98F"/>
            </a:solidFill>
          </a:ln>
        </p:spPr>
        <p:txBody>
          <a:bodyPr wrap="square" lIns="63500" tIns="63500" rIns="63500" bIns="63500" anchor="t">
            <a:noAutofit/>
          </a:bodyPr>
          <a:lstStyle/>
          <a:p>
            <a:pPr algn="l">
              <a:lnSpc>
                <a:spcPct val="90000"/>
              </a:lnSpc>
              <a:buNone/>
            </a:pPr>
            <a:r>
              <a:rPr lang="es-CL" sz="900" b="1" dirty="0">
                <a:solidFill>
                  <a:srgbClr val="3F3A33"/>
                </a:solidFill>
                <a:latin typeface="+mn-lt"/>
                <a:cs typeface="+mn-lt"/>
              </a:rPr>
              <a:t>Administración periódica del marco de compensación</a:t>
            </a:r>
          </a:p>
          <a:p>
            <a:pPr algn="l">
              <a:lnSpc>
                <a:spcPct val="90000"/>
              </a:lnSpc>
              <a:spcBef>
                <a:spcPts val="200"/>
              </a:spcBef>
              <a:buNone/>
            </a:pPr>
            <a:r>
              <a:rPr lang="es-CL" sz="750" dirty="0">
                <a:solidFill>
                  <a:srgbClr val="6B655C"/>
                </a:solidFill>
                <a:latin typeface="+mn-lt"/>
                <a:cs typeface="+mn-lt"/>
              </a:rPr>
              <a:t>F2  ·  Cajas 7–9</a:t>
            </a:r>
          </a:p>
        </p:txBody>
      </p:sp>
      <p:sp>
        <p:nvSpPr>
          <p:cNvPr id="19" name="Subproceso 19"/>
          <p:cNvSpPr/>
          <p:nvPr/>
        </p:nvSpPr>
        <p:spPr>
          <a:xfrm>
            <a:off x="2838670" y="4711846"/>
            <a:ext cx="2098670" cy="774076"/>
          </a:xfrm>
          <a:prstGeom prst="roundRect">
            <a:avLst>
              <a:gd name="adj" fmla="val 4000"/>
            </a:avLst>
          </a:prstGeom>
          <a:solidFill>
            <a:srgbClr val="F7EDE3"/>
          </a:solidFill>
          <a:ln w="9525" cap="flat">
            <a:solidFill>
              <a:srgbClr val="A34100"/>
            </a:solidFill>
            <a:prstDash val="dash"/>
          </a:ln>
        </p:spPr>
        <p:txBody>
          <a:bodyPr wrap="square" lIns="63500" tIns="63500" rIns="63500" bIns="63500" anchor="t">
            <a:noAutofit/>
          </a:bodyPr>
          <a:lstStyle/>
          <a:p>
            <a:pPr algn="l">
              <a:lnSpc>
                <a:spcPct val="90000"/>
              </a:lnSpc>
              <a:buNone/>
            </a:pPr>
            <a:r>
              <a:rPr lang="es-CL" sz="900" b="1" dirty="0">
                <a:solidFill>
                  <a:srgbClr val="A34100"/>
                </a:solidFill>
                <a:latin typeface="+mn-lt"/>
                <a:cs typeface="+mn-lt"/>
              </a:rPr>
              <a:t>Gobierno y publicación del marco de compensaciones</a:t>
            </a:r>
          </a:p>
          <a:p>
            <a:pPr algn="l">
              <a:lnSpc>
                <a:spcPct val="90000"/>
              </a:lnSpc>
              <a:spcBef>
                <a:spcPts val="200"/>
              </a:spcBef>
              <a:buNone/>
            </a:pPr>
            <a:r>
              <a:rPr lang="es-CL" sz="750" dirty="0">
                <a:solidFill>
                  <a:srgbClr val="6B655C"/>
                </a:solidFill>
                <a:latin typeface="+mn-lt"/>
                <a:cs typeface="+mn-lt"/>
              </a:rPr>
              <a:t>F2  ·  Cajas 10–13</a:t>
            </a:r>
          </a:p>
        </p:txBody>
      </p:sp>
      <p:sp>
        <p:nvSpPr>
          <p:cNvPr id="20" name="Proceso 20"/>
          <p:cNvSpPr/>
          <p:nvPr/>
        </p:nvSpPr>
        <p:spPr>
          <a:xfrm>
            <a:off x="5047340" y="1489218"/>
            <a:ext cx="2098670" cy="660400"/>
          </a:xfrm>
          <a:prstGeom prst="roundRect">
            <a:avLst>
              <a:gd name="adj" fmla="val 4000"/>
            </a:avLst>
          </a:prstGeom>
          <a:solidFill>
            <a:srgbClr val="A34100"/>
          </a:solidFill>
          <a:ln w="9525" cap="flat">
            <a:solidFill>
              <a:srgbClr val="FFD9BC"/>
            </a:solidFill>
            <a:prstDash val="dash"/>
          </a:ln>
        </p:spPr>
        <p:txBody>
          <a:bodyPr wrap="square" lIns="63500" tIns="63500" rIns="63500" bIns="63500" anchor="ctr">
            <a:noAutofit/>
          </a:bodyPr>
          <a:lstStyle/>
          <a:p>
            <a:pPr algn="l">
              <a:lnSpc>
                <a:spcPct val="90000"/>
              </a:lnSpc>
              <a:buNone/>
            </a:pPr>
            <a:r>
              <a:rPr lang="es-CL" sz="1000" b="1" dirty="0">
                <a:solidFill>
                  <a:srgbClr val="FFFFFF"/>
                </a:solidFill>
                <a:latin typeface="+mn-lt"/>
                <a:cs typeface="+mn-lt"/>
              </a:rPr>
              <a:t>P3 · Atracción y selección de personas</a:t>
            </a:r>
          </a:p>
          <a:p>
            <a:pPr algn="l">
              <a:lnSpc>
                <a:spcPct val="90000"/>
              </a:lnSpc>
              <a:spcBef>
                <a:spcPts val="200"/>
              </a:spcBef>
              <a:buNone/>
            </a:pPr>
            <a:r>
              <a:rPr lang="es-CL" sz="750" dirty="0">
                <a:solidFill>
                  <a:srgbClr val="F7E2D2"/>
                </a:solidFill>
                <a:latin typeface="+mn-lt"/>
                <a:cs typeface="+mn-lt"/>
              </a:rPr>
              <a:t>APQC 7.2 · fases 3 a 10  ·  propuesta</a:t>
            </a:r>
          </a:p>
        </p:txBody>
      </p:sp>
      <p:sp>
        <p:nvSpPr>
          <p:cNvPr id="21" name="Subproceso 21"/>
          <p:cNvSpPr/>
          <p:nvPr/>
        </p:nvSpPr>
        <p:spPr>
          <a:xfrm>
            <a:off x="5047340" y="2209618"/>
            <a:ext cx="2098670" cy="774076"/>
          </a:xfrm>
          <a:prstGeom prst="roundRect">
            <a:avLst>
              <a:gd name="adj" fmla="val 4000"/>
            </a:avLst>
          </a:prstGeom>
          <a:solidFill>
            <a:srgbClr val="EFE6D0"/>
          </a:solidFill>
          <a:ln w="9525" cap="flat">
            <a:solidFill>
              <a:srgbClr val="C9B98F"/>
            </a:solidFill>
          </a:ln>
        </p:spPr>
        <p:txBody>
          <a:bodyPr wrap="square" lIns="63500" tIns="63500" rIns="63500" bIns="63500" anchor="t">
            <a:noAutofit/>
          </a:bodyPr>
          <a:lstStyle/>
          <a:p>
            <a:pPr algn="l">
              <a:lnSpc>
                <a:spcPct val="90000"/>
              </a:lnSpc>
              <a:buNone/>
            </a:pPr>
            <a:r>
              <a:rPr lang="es-CL" sz="900" b="1" dirty="0">
                <a:solidFill>
                  <a:srgbClr val="3F3A33"/>
                </a:solidFill>
                <a:latin typeface="+mn-lt"/>
                <a:cs typeface="+mn-lt"/>
              </a:rPr>
              <a:t>Requisición y apertura de vacante</a:t>
            </a:r>
          </a:p>
          <a:p>
            <a:pPr algn="l">
              <a:lnSpc>
                <a:spcPct val="90000"/>
              </a:lnSpc>
              <a:spcBef>
                <a:spcPts val="200"/>
              </a:spcBef>
              <a:buNone/>
            </a:pPr>
            <a:r>
              <a:rPr lang="es-CL" sz="750" dirty="0">
                <a:solidFill>
                  <a:srgbClr val="6B655C"/>
                </a:solidFill>
                <a:latin typeface="+mn-lt"/>
                <a:cs typeface="+mn-lt"/>
              </a:rPr>
              <a:t>F3  ·  Subproceso completo</a:t>
            </a:r>
          </a:p>
        </p:txBody>
      </p:sp>
      <p:sp>
        <p:nvSpPr>
          <p:cNvPr id="22" name="Subproceso 22"/>
          <p:cNvSpPr/>
          <p:nvPr/>
        </p:nvSpPr>
        <p:spPr>
          <a:xfrm>
            <a:off x="5047340" y="3043694"/>
            <a:ext cx="2098670" cy="774076"/>
          </a:xfrm>
          <a:prstGeom prst="roundRect">
            <a:avLst>
              <a:gd name="adj" fmla="val 4000"/>
            </a:avLst>
          </a:prstGeom>
          <a:solidFill>
            <a:srgbClr val="F7EDE3"/>
          </a:solidFill>
          <a:ln w="9525" cap="flat">
            <a:solidFill>
              <a:srgbClr val="A34100"/>
            </a:solidFill>
            <a:prstDash val="dash"/>
          </a:ln>
        </p:spPr>
        <p:txBody>
          <a:bodyPr wrap="square" lIns="63500" tIns="63500" rIns="63500" bIns="63500" anchor="t">
            <a:noAutofit/>
          </a:bodyPr>
          <a:lstStyle/>
          <a:p>
            <a:pPr algn="l">
              <a:lnSpc>
                <a:spcPct val="90000"/>
              </a:lnSpc>
              <a:buNone/>
            </a:pPr>
            <a:r>
              <a:rPr lang="es-CL" sz="900" b="1" dirty="0">
                <a:solidFill>
                  <a:srgbClr val="A34100"/>
                </a:solidFill>
                <a:latin typeface="+mn-lt"/>
                <a:cs typeface="+mn-lt"/>
              </a:rPr>
              <a:t>Reclutamiento y preselección</a:t>
            </a:r>
          </a:p>
          <a:p>
            <a:pPr algn="l">
              <a:lnSpc>
                <a:spcPct val="90000"/>
              </a:lnSpc>
              <a:spcBef>
                <a:spcPts val="200"/>
              </a:spcBef>
              <a:buNone/>
            </a:pPr>
            <a:r>
              <a:rPr lang="es-CL" sz="750" dirty="0">
                <a:solidFill>
                  <a:srgbClr val="6B655C"/>
                </a:solidFill>
                <a:latin typeface="+mn-lt"/>
                <a:cs typeface="+mn-lt"/>
              </a:rPr>
              <a:t>F4 · F5  ·  2 actividades</a:t>
            </a:r>
          </a:p>
        </p:txBody>
      </p:sp>
      <p:sp>
        <p:nvSpPr>
          <p:cNvPr id="23" name="Subproceso 23"/>
          <p:cNvSpPr/>
          <p:nvPr/>
        </p:nvSpPr>
        <p:spPr>
          <a:xfrm>
            <a:off x="5047340" y="3877770"/>
            <a:ext cx="2098670" cy="774076"/>
          </a:xfrm>
          <a:prstGeom prst="roundRect">
            <a:avLst>
              <a:gd name="adj" fmla="val 4000"/>
            </a:avLst>
          </a:prstGeom>
          <a:solidFill>
            <a:srgbClr val="F7EDE3"/>
          </a:solidFill>
          <a:ln w="9525" cap="flat">
            <a:solidFill>
              <a:srgbClr val="A34100"/>
            </a:solidFill>
            <a:prstDash val="dash"/>
          </a:ln>
        </p:spPr>
        <p:txBody>
          <a:bodyPr wrap="square" lIns="63500" tIns="63500" rIns="63500" bIns="63500" anchor="t">
            <a:noAutofit/>
          </a:bodyPr>
          <a:lstStyle/>
          <a:p>
            <a:pPr algn="l">
              <a:lnSpc>
                <a:spcPct val="90000"/>
              </a:lnSpc>
              <a:buNone/>
            </a:pPr>
            <a:r>
              <a:rPr lang="es-CL" sz="900" b="1" dirty="0">
                <a:solidFill>
                  <a:srgbClr val="A34100"/>
                </a:solidFill>
                <a:latin typeface="+mn-lt"/>
                <a:cs typeface="+mn-lt"/>
              </a:rPr>
              <a:t>Evaluación y selección de candidatos</a:t>
            </a:r>
          </a:p>
          <a:p>
            <a:pPr algn="l">
              <a:lnSpc>
                <a:spcPct val="90000"/>
              </a:lnSpc>
              <a:spcBef>
                <a:spcPts val="200"/>
              </a:spcBef>
              <a:buNone/>
            </a:pPr>
            <a:r>
              <a:rPr lang="es-CL" sz="750" dirty="0">
                <a:solidFill>
                  <a:srgbClr val="6B655C"/>
                </a:solidFill>
                <a:latin typeface="+mn-lt"/>
                <a:cs typeface="+mn-lt"/>
              </a:rPr>
              <a:t>F6 · F7  ·  2 actividades</a:t>
            </a:r>
          </a:p>
        </p:txBody>
      </p:sp>
      <p:sp>
        <p:nvSpPr>
          <p:cNvPr id="24" name="Subproceso 24"/>
          <p:cNvSpPr/>
          <p:nvPr/>
        </p:nvSpPr>
        <p:spPr>
          <a:xfrm>
            <a:off x="5047340" y="4711846"/>
            <a:ext cx="2098670" cy="774076"/>
          </a:xfrm>
          <a:prstGeom prst="roundRect">
            <a:avLst>
              <a:gd name="adj" fmla="val 4000"/>
            </a:avLst>
          </a:prstGeom>
          <a:solidFill>
            <a:srgbClr val="F7EDE3"/>
          </a:solidFill>
          <a:ln w="9525" cap="flat">
            <a:solidFill>
              <a:srgbClr val="A34100"/>
            </a:solidFill>
            <a:prstDash val="dash"/>
          </a:ln>
        </p:spPr>
        <p:txBody>
          <a:bodyPr wrap="square" lIns="63500" tIns="63500" rIns="63500" bIns="63500" anchor="t">
            <a:noAutofit/>
          </a:bodyPr>
          <a:lstStyle/>
          <a:p>
            <a:pPr algn="l">
              <a:lnSpc>
                <a:spcPct val="90000"/>
              </a:lnSpc>
              <a:buNone/>
            </a:pPr>
            <a:r>
              <a:rPr lang="es-CL" sz="900" b="1" dirty="0">
                <a:solidFill>
                  <a:srgbClr val="A34100"/>
                </a:solidFill>
                <a:latin typeface="+mn-lt"/>
                <a:cs typeface="+mn-lt"/>
              </a:rPr>
              <a:t>Verificación preocupacional y contratación</a:t>
            </a:r>
          </a:p>
          <a:p>
            <a:pPr algn="l">
              <a:lnSpc>
                <a:spcPct val="90000"/>
              </a:lnSpc>
              <a:spcBef>
                <a:spcPts val="200"/>
              </a:spcBef>
              <a:buNone/>
            </a:pPr>
            <a:r>
              <a:rPr lang="es-CL" sz="750" dirty="0">
                <a:solidFill>
                  <a:srgbClr val="6B655C"/>
                </a:solidFill>
                <a:latin typeface="+mn-lt"/>
                <a:cs typeface="+mn-lt"/>
              </a:rPr>
              <a:t>F8 · F9  ·  2 actividades</a:t>
            </a:r>
          </a:p>
        </p:txBody>
      </p:sp>
      <p:sp>
        <p:nvSpPr>
          <p:cNvPr id="25" name="Subproceso 25"/>
          <p:cNvSpPr/>
          <p:nvPr/>
        </p:nvSpPr>
        <p:spPr>
          <a:xfrm>
            <a:off x="5047340" y="5545922"/>
            <a:ext cx="2098670" cy="774076"/>
          </a:xfrm>
          <a:prstGeom prst="roundRect">
            <a:avLst>
              <a:gd name="adj" fmla="val 4000"/>
            </a:avLst>
          </a:prstGeom>
          <a:solidFill>
            <a:srgbClr val="F7EDE3"/>
          </a:solidFill>
          <a:ln w="9525" cap="flat">
            <a:solidFill>
              <a:srgbClr val="A34100"/>
            </a:solidFill>
            <a:prstDash val="dash"/>
          </a:ln>
        </p:spPr>
        <p:txBody>
          <a:bodyPr wrap="square" lIns="63500" tIns="63500" rIns="63500" bIns="63500" anchor="t">
            <a:noAutofit/>
          </a:bodyPr>
          <a:lstStyle/>
          <a:p>
            <a:pPr algn="l">
              <a:lnSpc>
                <a:spcPct val="90000"/>
              </a:lnSpc>
              <a:buNone/>
            </a:pPr>
            <a:r>
              <a:rPr lang="es-CL" sz="900" b="1" dirty="0">
                <a:solidFill>
                  <a:srgbClr val="A34100"/>
                </a:solidFill>
                <a:latin typeface="+mn-lt"/>
                <a:cs typeface="+mn-lt"/>
              </a:rPr>
              <a:t>Incorporación y onboarding</a:t>
            </a:r>
          </a:p>
          <a:p>
            <a:pPr algn="l">
              <a:lnSpc>
                <a:spcPct val="90000"/>
              </a:lnSpc>
              <a:spcBef>
                <a:spcPts val="200"/>
              </a:spcBef>
              <a:buNone/>
            </a:pPr>
            <a:r>
              <a:rPr lang="es-CL" sz="750" dirty="0">
                <a:solidFill>
                  <a:srgbClr val="6B655C"/>
                </a:solidFill>
                <a:latin typeface="+mn-lt"/>
                <a:cs typeface="+mn-lt"/>
              </a:rPr>
              <a:t>F10  ·  1 actividad</a:t>
            </a:r>
          </a:p>
        </p:txBody>
      </p:sp>
      <p:sp>
        <p:nvSpPr>
          <p:cNvPr id="26" name="Proceso 26"/>
          <p:cNvSpPr/>
          <p:nvPr/>
        </p:nvSpPr>
        <p:spPr>
          <a:xfrm>
            <a:off x="7256010" y="1489218"/>
            <a:ext cx="2098670" cy="660400"/>
          </a:xfrm>
          <a:prstGeom prst="roundRect">
            <a:avLst>
              <a:gd name="adj" fmla="val 4000"/>
            </a:avLst>
          </a:prstGeom>
          <a:solidFill>
            <a:srgbClr val="A34100"/>
          </a:solidFill>
          <a:ln>
            <a:noFill/>
          </a:ln>
        </p:spPr>
        <p:txBody>
          <a:bodyPr wrap="square" lIns="63500" tIns="63500" rIns="63500" bIns="63500" anchor="ctr">
            <a:noAutofit/>
          </a:bodyPr>
          <a:lstStyle/>
          <a:p>
            <a:pPr algn="l">
              <a:lnSpc>
                <a:spcPct val="90000"/>
              </a:lnSpc>
              <a:buNone/>
            </a:pPr>
            <a:r>
              <a:rPr lang="es-CL" sz="1000" b="1" dirty="0">
                <a:solidFill>
                  <a:srgbClr val="FFFFFF"/>
                </a:solidFill>
                <a:latin typeface="+mn-lt"/>
                <a:cs typeface="+mn-lt"/>
              </a:rPr>
              <a:t>P4 · Desarrollo organizacional</a:t>
            </a:r>
          </a:p>
          <a:p>
            <a:pPr algn="l">
              <a:lnSpc>
                <a:spcPct val="90000"/>
              </a:lnSpc>
              <a:spcBef>
                <a:spcPts val="200"/>
              </a:spcBef>
              <a:buNone/>
            </a:pPr>
            <a:r>
              <a:rPr lang="es-CL" sz="750" dirty="0">
                <a:solidFill>
                  <a:srgbClr val="F7E2D2"/>
                </a:solidFill>
                <a:latin typeface="+mn-lt"/>
                <a:cs typeface="+mn-lt"/>
              </a:rPr>
              <a:t>APQC 7.3 · 7.6.1  ·  confirmado</a:t>
            </a:r>
          </a:p>
        </p:txBody>
      </p:sp>
      <p:sp>
        <p:nvSpPr>
          <p:cNvPr id="27" name="Subproceso 27"/>
          <p:cNvSpPr/>
          <p:nvPr/>
        </p:nvSpPr>
        <p:spPr>
          <a:xfrm>
            <a:off x="7256010" y="2209618"/>
            <a:ext cx="2098670" cy="774076"/>
          </a:xfrm>
          <a:prstGeom prst="roundRect">
            <a:avLst>
              <a:gd name="adj" fmla="val 4000"/>
            </a:avLst>
          </a:prstGeom>
          <a:solidFill>
            <a:srgbClr val="EFE6D0"/>
          </a:solidFill>
          <a:ln w="9525" cap="flat">
            <a:solidFill>
              <a:srgbClr val="C9B98F"/>
            </a:solidFill>
          </a:ln>
        </p:spPr>
        <p:txBody>
          <a:bodyPr wrap="square" lIns="63500" tIns="63500" rIns="63500" bIns="63500" anchor="t">
            <a:noAutofit/>
          </a:bodyPr>
          <a:lstStyle/>
          <a:p>
            <a:pPr algn="l">
              <a:lnSpc>
                <a:spcPct val="90000"/>
              </a:lnSpc>
              <a:buNone/>
            </a:pPr>
            <a:r>
              <a:rPr lang="es-CL" sz="900" b="1" dirty="0">
                <a:solidFill>
                  <a:srgbClr val="3F3A33"/>
                </a:solidFill>
                <a:latin typeface="+mn-lt"/>
                <a:cs typeface="+mn-lt"/>
              </a:rPr>
              <a:t>Formación</a:t>
            </a:r>
          </a:p>
          <a:p>
            <a:pPr algn="l">
              <a:lnSpc>
                <a:spcPct val="90000"/>
              </a:lnSpc>
              <a:spcBef>
                <a:spcPts val="200"/>
              </a:spcBef>
              <a:buNone/>
            </a:pPr>
            <a:r>
              <a:rPr lang="es-CL" sz="750" dirty="0">
                <a:solidFill>
                  <a:srgbClr val="6B655C"/>
                </a:solidFill>
                <a:latin typeface="+mn-lt"/>
                <a:cs typeface="+mn-lt"/>
              </a:rPr>
              <a:t>F11  ·  19 cajas por agrupar</a:t>
            </a:r>
          </a:p>
        </p:txBody>
      </p:sp>
      <p:sp>
        <p:nvSpPr>
          <p:cNvPr id="28" name="Subproceso 28"/>
          <p:cNvSpPr/>
          <p:nvPr/>
        </p:nvSpPr>
        <p:spPr>
          <a:xfrm>
            <a:off x="7256010" y="3043694"/>
            <a:ext cx="2098670" cy="774076"/>
          </a:xfrm>
          <a:prstGeom prst="roundRect">
            <a:avLst>
              <a:gd name="adj" fmla="val 4000"/>
            </a:avLst>
          </a:prstGeom>
          <a:solidFill>
            <a:srgbClr val="EFE6D0"/>
          </a:solidFill>
          <a:ln w="9525" cap="flat">
            <a:solidFill>
              <a:srgbClr val="C9B98F"/>
            </a:solidFill>
          </a:ln>
        </p:spPr>
        <p:txBody>
          <a:bodyPr wrap="square" lIns="63500" tIns="63500" rIns="63500" bIns="63500" anchor="t">
            <a:noAutofit/>
          </a:bodyPr>
          <a:lstStyle/>
          <a:p>
            <a:pPr algn="l">
              <a:lnSpc>
                <a:spcPct val="90000"/>
              </a:lnSpc>
              <a:buNone/>
            </a:pPr>
            <a:r>
              <a:rPr lang="es-CL" sz="900" b="1" dirty="0">
                <a:solidFill>
                  <a:srgbClr val="3F3A33"/>
                </a:solidFill>
                <a:latin typeface="+mn-lt"/>
                <a:cs typeface="+mn-lt"/>
              </a:rPr>
              <a:t>Gestión del desempeño</a:t>
            </a:r>
          </a:p>
          <a:p>
            <a:pPr algn="l">
              <a:lnSpc>
                <a:spcPct val="90000"/>
              </a:lnSpc>
              <a:spcBef>
                <a:spcPts val="200"/>
              </a:spcBef>
              <a:buNone/>
            </a:pPr>
            <a:r>
              <a:rPr lang="es-CL" sz="750" dirty="0">
                <a:solidFill>
                  <a:srgbClr val="6B655C"/>
                </a:solidFill>
                <a:latin typeface="+mn-lt"/>
                <a:cs typeface="+mn-lt"/>
              </a:rPr>
              <a:t>F12  ·  4 actividades</a:t>
            </a:r>
          </a:p>
        </p:txBody>
      </p:sp>
      <p:sp>
        <p:nvSpPr>
          <p:cNvPr id="29" name="Subproceso 29"/>
          <p:cNvSpPr/>
          <p:nvPr/>
        </p:nvSpPr>
        <p:spPr>
          <a:xfrm>
            <a:off x="7256010" y="3877770"/>
            <a:ext cx="2098670" cy="774076"/>
          </a:xfrm>
          <a:prstGeom prst="roundRect">
            <a:avLst>
              <a:gd name="adj" fmla="val 4000"/>
            </a:avLst>
          </a:prstGeom>
          <a:solidFill>
            <a:srgbClr val="EFE6D0"/>
          </a:solidFill>
          <a:ln w="9525" cap="flat">
            <a:solidFill>
              <a:srgbClr val="C9B98F"/>
            </a:solidFill>
          </a:ln>
        </p:spPr>
        <p:txBody>
          <a:bodyPr wrap="square" lIns="63500" tIns="63500" rIns="63500" bIns="63500" anchor="t">
            <a:noAutofit/>
          </a:bodyPr>
          <a:lstStyle/>
          <a:p>
            <a:pPr algn="l">
              <a:lnSpc>
                <a:spcPct val="90000"/>
              </a:lnSpc>
              <a:buNone/>
            </a:pPr>
            <a:r>
              <a:rPr lang="es-CL" sz="900" b="1" dirty="0">
                <a:solidFill>
                  <a:srgbClr val="3F3A33"/>
                </a:solidFill>
                <a:latin typeface="+mn-lt"/>
                <a:cs typeface="+mn-lt"/>
              </a:rPr>
              <a:t>Carrera, sucesión y movilidad</a:t>
            </a:r>
          </a:p>
          <a:p>
            <a:pPr algn="l">
              <a:lnSpc>
                <a:spcPct val="90000"/>
              </a:lnSpc>
              <a:spcBef>
                <a:spcPts val="200"/>
              </a:spcBef>
              <a:buNone/>
            </a:pPr>
            <a:r>
              <a:rPr lang="es-CL" sz="750" dirty="0">
                <a:solidFill>
                  <a:srgbClr val="6B655C"/>
                </a:solidFill>
                <a:latin typeface="+mn-lt"/>
                <a:cs typeface="+mn-lt"/>
              </a:rPr>
              <a:t>F13  ·  Proceso padre propuesto</a:t>
            </a:r>
          </a:p>
        </p:txBody>
      </p:sp>
      <p:sp>
        <p:nvSpPr>
          <p:cNvPr id="30" name="Proceso 30"/>
          <p:cNvSpPr/>
          <p:nvPr/>
        </p:nvSpPr>
        <p:spPr>
          <a:xfrm>
            <a:off x="9464680" y="1489218"/>
            <a:ext cx="2098670" cy="660400"/>
          </a:xfrm>
          <a:prstGeom prst="roundRect">
            <a:avLst>
              <a:gd name="adj" fmla="val 4000"/>
            </a:avLst>
          </a:prstGeom>
          <a:solidFill>
            <a:srgbClr val="A34100"/>
          </a:solidFill>
          <a:ln w="9525" cap="flat">
            <a:solidFill>
              <a:srgbClr val="FFD9BC"/>
            </a:solidFill>
            <a:prstDash val="dash"/>
          </a:ln>
        </p:spPr>
        <p:txBody>
          <a:bodyPr wrap="square" lIns="63500" tIns="63500" rIns="63500" bIns="63500" anchor="ctr">
            <a:noAutofit/>
          </a:bodyPr>
          <a:lstStyle/>
          <a:p>
            <a:pPr algn="l">
              <a:lnSpc>
                <a:spcPct val="90000"/>
              </a:lnSpc>
              <a:buNone/>
            </a:pPr>
            <a:r>
              <a:rPr lang="es-CL" sz="1000" b="1" dirty="0">
                <a:solidFill>
                  <a:srgbClr val="FFFFFF"/>
                </a:solidFill>
                <a:latin typeface="+mn-lt"/>
                <a:cs typeface="+mn-lt"/>
              </a:rPr>
              <a:t>P5 · Compensaciones y beneficios</a:t>
            </a:r>
          </a:p>
          <a:p>
            <a:pPr algn="l">
              <a:lnSpc>
                <a:spcPct val="90000"/>
              </a:lnSpc>
              <a:spcBef>
                <a:spcPts val="200"/>
              </a:spcBef>
              <a:buNone/>
            </a:pPr>
            <a:r>
              <a:rPr lang="es-CL" sz="750" dirty="0">
                <a:solidFill>
                  <a:srgbClr val="F7E2D2"/>
                </a:solidFill>
                <a:latin typeface="+mn-lt"/>
                <a:cs typeface="+mn-lt"/>
              </a:rPr>
              <a:t>APQC 7.5.1 · 7.5.2  ·  propuesta</a:t>
            </a:r>
          </a:p>
        </p:txBody>
      </p:sp>
      <p:sp>
        <p:nvSpPr>
          <p:cNvPr id="31" name="Subproceso 31"/>
          <p:cNvSpPr/>
          <p:nvPr/>
        </p:nvSpPr>
        <p:spPr>
          <a:xfrm>
            <a:off x="9464680" y="2209618"/>
            <a:ext cx="2098670" cy="774076"/>
          </a:xfrm>
          <a:prstGeom prst="roundRect">
            <a:avLst>
              <a:gd name="adj" fmla="val 4000"/>
            </a:avLst>
          </a:prstGeom>
          <a:solidFill>
            <a:srgbClr val="EFE6D0"/>
          </a:solidFill>
          <a:ln w="9525" cap="flat">
            <a:solidFill>
              <a:srgbClr val="C9B98F"/>
            </a:solidFill>
          </a:ln>
        </p:spPr>
        <p:txBody>
          <a:bodyPr wrap="square" lIns="63500" tIns="63500" rIns="63500" bIns="63500" anchor="t">
            <a:noAutofit/>
          </a:bodyPr>
          <a:lstStyle/>
          <a:p>
            <a:pPr algn="l">
              <a:lnSpc>
                <a:spcPct val="90000"/>
              </a:lnSpc>
              <a:buNone/>
            </a:pPr>
            <a:r>
              <a:rPr lang="es-CL" sz="900" b="1" dirty="0">
                <a:solidFill>
                  <a:srgbClr val="3F3A33"/>
                </a:solidFill>
                <a:latin typeface="+mn-lt"/>
                <a:cs typeface="+mn-lt"/>
              </a:rPr>
              <a:t>Remuneración y compensación</a:t>
            </a:r>
          </a:p>
          <a:p>
            <a:pPr algn="l">
              <a:lnSpc>
                <a:spcPct val="90000"/>
              </a:lnSpc>
              <a:spcBef>
                <a:spcPts val="200"/>
              </a:spcBef>
              <a:buNone/>
            </a:pPr>
            <a:r>
              <a:rPr lang="es-CL" sz="750" dirty="0">
                <a:solidFill>
                  <a:srgbClr val="6B655C"/>
                </a:solidFill>
                <a:latin typeface="+mn-lt"/>
                <a:cs typeface="+mn-lt"/>
              </a:rPr>
              <a:t>F14  ·  Agrupación interna propuesta</a:t>
            </a:r>
          </a:p>
        </p:txBody>
      </p:sp>
      <p:sp>
        <p:nvSpPr>
          <p:cNvPr id="32" name="Subproceso 32"/>
          <p:cNvSpPr/>
          <p:nvPr/>
        </p:nvSpPr>
        <p:spPr>
          <a:xfrm>
            <a:off x="9464680" y="3043694"/>
            <a:ext cx="2098670" cy="774076"/>
          </a:xfrm>
          <a:prstGeom prst="roundRect">
            <a:avLst>
              <a:gd name="adj" fmla="val 4000"/>
            </a:avLst>
          </a:prstGeom>
          <a:solidFill>
            <a:srgbClr val="EFE6D0"/>
          </a:solidFill>
          <a:ln w="9525" cap="flat">
            <a:solidFill>
              <a:srgbClr val="C9B98F"/>
            </a:solidFill>
          </a:ln>
        </p:spPr>
        <p:txBody>
          <a:bodyPr wrap="square" lIns="63500" tIns="63500" rIns="63500" bIns="63500" anchor="t">
            <a:noAutofit/>
          </a:bodyPr>
          <a:lstStyle/>
          <a:p>
            <a:pPr algn="l">
              <a:lnSpc>
                <a:spcPct val="90000"/>
              </a:lnSpc>
              <a:buNone/>
            </a:pPr>
            <a:r>
              <a:rPr lang="es-CL" sz="900" b="1" dirty="0">
                <a:solidFill>
                  <a:srgbClr val="3F3A33"/>
                </a:solidFill>
                <a:latin typeface="+mn-lt"/>
                <a:cs typeface="+mn-lt"/>
              </a:rPr>
              <a:t>Beneficios</a:t>
            </a:r>
          </a:p>
          <a:p>
            <a:pPr algn="l">
              <a:lnSpc>
                <a:spcPct val="90000"/>
              </a:lnSpc>
              <a:spcBef>
                <a:spcPts val="200"/>
              </a:spcBef>
              <a:buNone/>
            </a:pPr>
            <a:r>
              <a:rPr lang="es-CL" sz="750" dirty="0">
                <a:solidFill>
                  <a:srgbClr val="6B655C"/>
                </a:solidFill>
                <a:latin typeface="+mn-lt"/>
                <a:cs typeface="+mn-lt"/>
              </a:rPr>
              <a:t>F14  ·  Cajas 19–21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Arquitectura preliminar| </a:t>
            </a:r>
            <a:r>
              <a:rPr lang="es-CL" sz="2000" dirty="0">
                <a:solidFill>
                  <a:srgbClr val="A34100"/>
                </a:solidFill>
                <a:latin typeface="+mn-lt"/>
                <a:cs typeface="+mn-lt"/>
              </a:rPr>
              <a:t>De fase del flujo a estructura de procesos</a:t>
            </a:r>
            <a:endParaRPr lang="es-CL"/>
          </a:p>
        </p:txBody>
      </p:sp>
      <p:sp>
        <p:nvSpPr>
          <p:cNvPr id="10" name="Banda 10"/>
          <p:cNvSpPr/>
          <p:nvPr/>
        </p:nvSpPr>
        <p:spPr>
          <a:xfrm>
            <a:off x="630000" y="1075000"/>
            <a:ext cx="10933350" cy="324218"/>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1050" dirty="0">
                <a:solidFill>
                  <a:srgbClr val="3F3A33"/>
                </a:solidFill>
                <a:latin typeface="+mn-lt"/>
                <a:cs typeface="+mn-lt"/>
              </a:rPr>
              <a:t>Equivalencia entre cada fase del flujo único MP8 v3 y su lugar en la arquitectura de procesos.</a:t>
            </a:r>
          </a:p>
        </p:txBody>
      </p:sp>
      <p:graphicFrame>
        <p:nvGraphicFramePr>
          <p:cNvPr id="11" name="Tabla 11"/>
          <p:cNvGraphicFramePr>
            <a:graphicFrameLocks noGrp="1"/>
          </p:cNvGraphicFramePr>
          <p:nvPr/>
        </p:nvGraphicFramePr>
        <p:xfrm>
          <a:off x="630000" y="1489218"/>
          <a:ext cx="10933350" cy="4739713"/>
        </p:xfrm>
        <a:graphic>
          <a:graphicData uri="http://schemas.openxmlformats.org/drawingml/2006/table">
            <a:tbl>
              <a:tblPr firstRow="1"/>
              <a:tblGrid>
                <a:gridCol w="560000">
                  <a:extLst>
                    <a:ext uri="{9D8B030D-6E8A-4147-A177-3AD203B41FA5}">
                      <a16:colId xmlns:a16="http://schemas.microsoft.com/office/drawing/2014/main" val="20000"/>
                    </a:ext>
                  </a:extLst>
                </a:gridCol>
                <a:gridCol w="2150000">
                  <a:extLst>
                    <a:ext uri="{9D8B030D-6E8A-4147-A177-3AD203B41FA5}">
                      <a16:colId xmlns:a16="http://schemas.microsoft.com/office/drawing/2014/main" val="20001"/>
                    </a:ext>
                  </a:extLst>
                </a:gridCol>
                <a:gridCol w="2350000">
                  <a:extLst>
                    <a:ext uri="{9D8B030D-6E8A-4147-A177-3AD203B41FA5}">
                      <a16:colId xmlns:a16="http://schemas.microsoft.com/office/drawing/2014/main" val="20002"/>
                    </a:ext>
                  </a:extLst>
                </a:gridCol>
                <a:gridCol w="3400000">
                  <a:extLst>
                    <a:ext uri="{9D8B030D-6E8A-4147-A177-3AD203B41FA5}">
                      <a16:colId xmlns:a16="http://schemas.microsoft.com/office/drawing/2014/main" val="20003"/>
                    </a:ext>
                  </a:extLst>
                </a:gridCol>
                <a:gridCol w="1200000">
                  <a:extLst>
                    <a:ext uri="{9D8B030D-6E8A-4147-A177-3AD203B41FA5}">
                      <a16:colId xmlns:a16="http://schemas.microsoft.com/office/drawing/2014/main" val="20004"/>
                    </a:ext>
                  </a:extLst>
                </a:gridCol>
                <a:gridCol w="1273350">
                  <a:extLst>
                    <a:ext uri="{9D8B030D-6E8A-4147-A177-3AD203B41FA5}">
                      <a16:colId xmlns:a16="http://schemas.microsoft.com/office/drawing/2014/main" val="20005"/>
                    </a:ext>
                  </a:extLst>
                </a:gridCol>
              </a:tblGrid>
              <a:tr h="211861">
                <a:tc>
                  <a:txBody>
                    <a:bodyPr/>
                    <a:lstStyle/>
                    <a:p>
                      <a:pPr algn="l">
                        <a:lnSpc>
                          <a:spcPct val="90000"/>
                        </a:lnSpc>
                        <a:buNone/>
                      </a:pPr>
                      <a:r>
                        <a:rPr lang="es-CL" sz="900" b="1" dirty="0">
                          <a:solidFill>
                            <a:srgbClr val="FFFFFF"/>
                          </a:solidFill>
                          <a:latin typeface="+mn-lt"/>
                          <a:cs typeface="+mn-lt"/>
                        </a:rPr>
                        <a:t>Fase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Nombre de la fase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Proceso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Subproceso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Nivel de la fase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Confirmado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extLst>
                  <a:ext uri="{0D108BD9-81ED-4DB2-BD59-A6C34878D82A}">
                    <a16:rowId xmlns:a16="http://schemas.microsoft.com/office/drawing/2014/main" val="10000"/>
                  </a:ext>
                </a:extLst>
              </a:tr>
              <a:tr h="441947">
                <a:tc>
                  <a:txBody>
                    <a:bodyPr/>
                    <a:lstStyle/>
                    <a:p>
                      <a:pPr algn="l">
                        <a:lnSpc>
                          <a:spcPct val="90000"/>
                        </a:lnSpc>
                        <a:buNone/>
                      </a:pPr>
                      <a:r>
                        <a:rPr lang="es-CL" sz="850" b="1" dirty="0">
                          <a:solidFill>
                            <a:srgbClr val="3F3A33"/>
                          </a:solidFill>
                          <a:latin typeface="+mn-lt"/>
                          <a:cs typeface="+mn-lt"/>
                        </a:rPr>
                        <a:t>F1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Necesidad estratégica y plan de dotación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P1 · Necesidad estratégica y plan de dotación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Identificar necesidades estratégicas de RRHH / Estimar dotación futura / Diseñar plan de dotación / organigrama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Proceso completo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50" b="1" dirty="0">
                          <a:solidFill>
                            <a:srgbClr val="3F3A33"/>
                          </a:solidFill>
                          <a:latin typeface="+mn-lt"/>
                          <a:cs typeface="+mn-lt"/>
                        </a:rPr>
                        <a:t>Sí</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1"/>
                  </a:ext>
                </a:extLst>
              </a:tr>
              <a:tr h="560476">
                <a:tc>
                  <a:txBody>
                    <a:bodyPr/>
                    <a:lstStyle/>
                    <a:p>
                      <a:pPr algn="l">
                        <a:lnSpc>
                          <a:spcPct val="90000"/>
                        </a:lnSpc>
                        <a:buNone/>
                      </a:pPr>
                      <a:r>
                        <a:rPr lang="es-CL" sz="850" b="1" dirty="0">
                          <a:solidFill>
                            <a:srgbClr val="3F3A33"/>
                          </a:solidFill>
                          <a:latin typeface="+mn-lt"/>
                          <a:cs typeface="+mn-lt"/>
                        </a:rPr>
                        <a:t>F2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Valoración de cargo y banda de renta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P2 · Valoración de cargo y banda de renta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Benchmark de remuneración / Valoración del cargo y definición de bandas salariales / Administración periódica del marco de compensación / Gobierno y publicación del marco de compensaciones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Proceso completo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50" b="1" dirty="0">
                          <a:solidFill>
                            <a:srgbClr val="A34100"/>
                          </a:solidFill>
                          <a:latin typeface="+mn-lt"/>
                          <a:cs typeface="+mn-lt"/>
                        </a:rPr>
                        <a:t>Prop.</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2"/>
                  </a:ext>
                </a:extLst>
              </a:tr>
              <a:tr h="323418">
                <a:tc>
                  <a:txBody>
                    <a:bodyPr/>
                    <a:lstStyle/>
                    <a:p>
                      <a:pPr algn="l">
                        <a:lnSpc>
                          <a:spcPct val="90000"/>
                        </a:lnSpc>
                        <a:buNone/>
                      </a:pPr>
                      <a:r>
                        <a:rPr lang="es-CL" sz="850" b="1" dirty="0">
                          <a:solidFill>
                            <a:srgbClr val="3F3A33"/>
                          </a:solidFill>
                          <a:latin typeface="+mn-lt"/>
                          <a:cs typeface="+mn-lt"/>
                        </a:rPr>
                        <a:t>F3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Requisición y apertura de vacante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P3 · Atracción y selección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Requisición y apertura de vacante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Subproceso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50" b="1" dirty="0">
                          <a:solidFill>
                            <a:srgbClr val="A34100"/>
                          </a:solidFill>
                          <a:latin typeface="+mn-lt"/>
                          <a:cs typeface="+mn-lt"/>
                        </a:rPr>
                        <a:t>Prop.</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3"/>
                  </a:ext>
                </a:extLst>
              </a:tr>
              <a:tr h="323418">
                <a:tc>
                  <a:txBody>
                    <a:bodyPr/>
                    <a:lstStyle/>
                    <a:p>
                      <a:pPr algn="l">
                        <a:lnSpc>
                          <a:spcPct val="90000"/>
                        </a:lnSpc>
                        <a:buNone/>
                      </a:pPr>
                      <a:r>
                        <a:rPr lang="es-CL" sz="850" b="1" dirty="0">
                          <a:solidFill>
                            <a:srgbClr val="3F3A33"/>
                          </a:solidFill>
                          <a:latin typeface="+mn-lt"/>
                          <a:cs typeface="+mn-lt"/>
                        </a:rPr>
                        <a:t>F4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Reclutamiento y filtro curricular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P3 · Atracción y selección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Reclutamiento y preselección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50" b="1" dirty="0">
                          <a:solidFill>
                            <a:srgbClr val="A34100"/>
                          </a:solidFill>
                          <a:latin typeface="+mn-lt"/>
                          <a:cs typeface="+mn-lt"/>
                        </a:rPr>
                        <a:t>Prop.</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4"/>
                  </a:ext>
                </a:extLst>
              </a:tr>
              <a:tr h="323418">
                <a:tc>
                  <a:txBody>
                    <a:bodyPr/>
                    <a:lstStyle/>
                    <a:p>
                      <a:pPr algn="l">
                        <a:lnSpc>
                          <a:spcPct val="90000"/>
                        </a:lnSpc>
                        <a:buNone/>
                      </a:pPr>
                      <a:r>
                        <a:rPr lang="es-CL" sz="850" b="1" dirty="0">
                          <a:solidFill>
                            <a:srgbClr val="3F3A33"/>
                          </a:solidFill>
                          <a:latin typeface="+mn-lt"/>
                          <a:cs typeface="+mn-lt"/>
                        </a:rPr>
                        <a:t>F5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Revisión del 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P3 · Atracción y selección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Reclutamiento y preselección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50" b="1" dirty="0">
                          <a:solidFill>
                            <a:srgbClr val="A34100"/>
                          </a:solidFill>
                          <a:latin typeface="+mn-lt"/>
                          <a:cs typeface="+mn-lt"/>
                        </a:rPr>
                        <a:t>Prop.</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5"/>
                  </a:ext>
                </a:extLst>
              </a:tr>
              <a:tr h="323418">
                <a:tc>
                  <a:txBody>
                    <a:bodyPr/>
                    <a:lstStyle/>
                    <a:p>
                      <a:pPr algn="l">
                        <a:lnSpc>
                          <a:spcPct val="90000"/>
                        </a:lnSpc>
                        <a:buNone/>
                      </a:pPr>
                      <a:r>
                        <a:rPr lang="es-CL" sz="850" b="1" dirty="0">
                          <a:solidFill>
                            <a:srgbClr val="3F3A33"/>
                          </a:solidFill>
                          <a:latin typeface="+mn-lt"/>
                          <a:cs typeface="+mn-lt"/>
                        </a:rPr>
                        <a:t>F6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Evaluación área selección · psicolaboral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P3 · Atracción y selección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Evaluación y selección de candidatos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50" b="1" dirty="0">
                          <a:solidFill>
                            <a:srgbClr val="A34100"/>
                          </a:solidFill>
                          <a:latin typeface="+mn-lt"/>
                          <a:cs typeface="+mn-lt"/>
                        </a:rPr>
                        <a:t>Prop.</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6"/>
                  </a:ext>
                </a:extLst>
              </a:tr>
              <a:tr h="323418">
                <a:tc>
                  <a:txBody>
                    <a:bodyPr/>
                    <a:lstStyle/>
                    <a:p>
                      <a:pPr algn="l">
                        <a:lnSpc>
                          <a:spcPct val="90000"/>
                        </a:lnSpc>
                        <a:buNone/>
                      </a:pPr>
                      <a:r>
                        <a:rPr lang="es-CL" sz="850" b="1" dirty="0">
                          <a:solidFill>
                            <a:srgbClr val="3F3A33"/>
                          </a:solidFill>
                          <a:latin typeface="+mn-lt"/>
                          <a:cs typeface="+mn-lt"/>
                        </a:rPr>
                        <a:t>F7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Evaluación área solicitante · entrevistas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P3 · Atracción y selección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Evaluación y selección de candidatos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50" b="1" dirty="0">
                          <a:solidFill>
                            <a:srgbClr val="A34100"/>
                          </a:solidFill>
                          <a:latin typeface="+mn-lt"/>
                          <a:cs typeface="+mn-lt"/>
                        </a:rPr>
                        <a:t>Prop.</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7"/>
                  </a:ext>
                </a:extLst>
              </a:tr>
              <a:tr h="323418">
                <a:tc>
                  <a:txBody>
                    <a:bodyPr/>
                    <a:lstStyle/>
                    <a:p>
                      <a:pPr algn="l">
                        <a:lnSpc>
                          <a:spcPct val="90000"/>
                        </a:lnSpc>
                        <a:buNone/>
                      </a:pPr>
                      <a:r>
                        <a:rPr lang="es-CL" sz="850" b="1" dirty="0">
                          <a:solidFill>
                            <a:srgbClr val="3F3A33"/>
                          </a:solidFill>
                          <a:latin typeface="+mn-lt"/>
                          <a:cs typeface="+mn-lt"/>
                        </a:rPr>
                        <a:t>F8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Examen preocupacional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P3 · Atracción y selección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Verificación preocupacional y contratación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50" b="1" dirty="0">
                          <a:solidFill>
                            <a:srgbClr val="A34100"/>
                          </a:solidFill>
                          <a:latin typeface="+mn-lt"/>
                          <a:cs typeface="+mn-lt"/>
                        </a:rPr>
                        <a:t>Prop.</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8"/>
                  </a:ext>
                </a:extLst>
              </a:tr>
              <a:tr h="323418">
                <a:tc>
                  <a:txBody>
                    <a:bodyPr/>
                    <a:lstStyle/>
                    <a:p>
                      <a:pPr algn="l">
                        <a:lnSpc>
                          <a:spcPct val="90000"/>
                        </a:lnSpc>
                        <a:buNone/>
                      </a:pPr>
                      <a:r>
                        <a:rPr lang="es-CL" sz="850" b="1" dirty="0">
                          <a:solidFill>
                            <a:srgbClr val="3F3A33"/>
                          </a:solidFill>
                          <a:latin typeface="+mn-lt"/>
                          <a:cs typeface="+mn-lt"/>
                        </a:rPr>
                        <a:t>F9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Flujo de contratación y carta oferta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P3 · Atracción y selección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Verificación preocupacional y contratación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50" b="1" dirty="0">
                          <a:solidFill>
                            <a:srgbClr val="A34100"/>
                          </a:solidFill>
                          <a:latin typeface="+mn-lt"/>
                          <a:cs typeface="+mn-lt"/>
                        </a:rPr>
                        <a:t>Prop.</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9"/>
                  </a:ext>
                </a:extLst>
              </a:tr>
              <a:tr h="323418">
                <a:tc>
                  <a:txBody>
                    <a:bodyPr/>
                    <a:lstStyle/>
                    <a:p>
                      <a:pPr algn="l">
                        <a:lnSpc>
                          <a:spcPct val="90000"/>
                        </a:lnSpc>
                        <a:buNone/>
                      </a:pPr>
                      <a:r>
                        <a:rPr lang="es-CL" sz="850" b="1" dirty="0">
                          <a:solidFill>
                            <a:srgbClr val="3F3A33"/>
                          </a:solidFill>
                          <a:latin typeface="+mn-lt"/>
                          <a:cs typeface="+mn-lt"/>
                        </a:rPr>
                        <a:t>F10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Onboarding e incorporación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P3 · Atracción y selección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Incorporación y onboarding</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50" b="1" dirty="0">
                          <a:solidFill>
                            <a:srgbClr val="A34100"/>
                          </a:solidFill>
                          <a:latin typeface="+mn-lt"/>
                          <a:cs typeface="+mn-lt"/>
                        </a:rPr>
                        <a:t>Prop.</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10"/>
                  </a:ext>
                </a:extLst>
              </a:tr>
              <a:tr h="204889">
                <a:tc>
                  <a:txBody>
                    <a:bodyPr/>
                    <a:lstStyle/>
                    <a:p>
                      <a:pPr algn="l">
                        <a:lnSpc>
                          <a:spcPct val="90000"/>
                        </a:lnSpc>
                        <a:buNone/>
                      </a:pPr>
                      <a:r>
                        <a:rPr lang="es-CL" sz="850" b="1" dirty="0">
                          <a:solidFill>
                            <a:srgbClr val="3F3A33"/>
                          </a:solidFill>
                          <a:latin typeface="+mn-lt"/>
                          <a:cs typeface="+mn-lt"/>
                        </a:rPr>
                        <a:t>F11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Formación y habilitación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P4 · Desarrollo organizacional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Formación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Subproceso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50" b="1" dirty="0">
                          <a:solidFill>
                            <a:srgbClr val="3F3A33"/>
                          </a:solidFill>
                          <a:latin typeface="+mn-lt"/>
                          <a:cs typeface="+mn-lt"/>
                        </a:rPr>
                        <a:t>Sí</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11"/>
                  </a:ext>
                </a:extLst>
              </a:tr>
              <a:tr h="323418">
                <a:tc>
                  <a:txBody>
                    <a:bodyPr/>
                    <a:lstStyle/>
                    <a:p>
                      <a:pPr algn="l">
                        <a:lnSpc>
                          <a:spcPct val="90000"/>
                        </a:lnSpc>
                        <a:buNone/>
                      </a:pPr>
                      <a:r>
                        <a:rPr lang="es-CL" sz="850" b="1" dirty="0">
                          <a:solidFill>
                            <a:srgbClr val="3F3A33"/>
                          </a:solidFill>
                          <a:latin typeface="+mn-lt"/>
                          <a:cs typeface="+mn-lt"/>
                        </a:rPr>
                        <a:t>F12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Gestión del desempeño · ciclo anual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P4 · Desarrollo organizacional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Gestión del desempeño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Subproceso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50" b="1" dirty="0">
                          <a:solidFill>
                            <a:srgbClr val="3F3A33"/>
                          </a:solidFill>
                          <a:latin typeface="+mn-lt"/>
                          <a:cs typeface="+mn-lt"/>
                        </a:rPr>
                        <a:t>Sí</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12"/>
                  </a:ext>
                </a:extLst>
              </a:tr>
              <a:tr h="204889">
                <a:tc>
                  <a:txBody>
                    <a:bodyPr/>
                    <a:lstStyle/>
                    <a:p>
                      <a:pPr algn="l">
                        <a:lnSpc>
                          <a:spcPct val="90000"/>
                        </a:lnSpc>
                        <a:buNone/>
                      </a:pPr>
                      <a:r>
                        <a:rPr lang="es-CL" sz="850" b="1" dirty="0">
                          <a:solidFill>
                            <a:srgbClr val="3F3A33"/>
                          </a:solidFill>
                          <a:latin typeface="+mn-lt"/>
                          <a:cs typeface="+mn-lt"/>
                        </a:rPr>
                        <a:t>F13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Carrera, sucesión y movilidad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P4 · Desarrollo organizacional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Carrera, sucesión y movilidad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Subproceso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50" b="1" dirty="0">
                          <a:solidFill>
                            <a:srgbClr val="3F3A33"/>
                          </a:solidFill>
                          <a:latin typeface="+mn-lt"/>
                          <a:cs typeface="+mn-lt"/>
                        </a:rPr>
                        <a:t>Sí</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13"/>
                  </a:ext>
                </a:extLst>
              </a:tr>
              <a:tr h="204889">
                <a:tc>
                  <a:txBody>
                    <a:bodyPr/>
                    <a:lstStyle/>
                    <a:p>
                      <a:pPr algn="l">
                        <a:lnSpc>
                          <a:spcPct val="90000"/>
                        </a:lnSpc>
                        <a:buNone/>
                      </a:pPr>
                      <a:r>
                        <a:rPr lang="es-CL" sz="850" b="1" dirty="0">
                          <a:solidFill>
                            <a:srgbClr val="3F3A33"/>
                          </a:solidFill>
                          <a:latin typeface="+mn-lt"/>
                          <a:cs typeface="+mn-lt"/>
                        </a:rPr>
                        <a:t>F14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Revisión de renta y beneficios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P5 · Compensaciones y beneficios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Remuneración y compensación / Beneficios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Dos subprocesos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50" b="1" dirty="0">
                          <a:solidFill>
                            <a:srgbClr val="A34100"/>
                          </a:solidFill>
                          <a:latin typeface="+mn-lt"/>
                          <a:cs typeface="+mn-lt"/>
                        </a:rPr>
                        <a:t>Prop.</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1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P1 · Apertura del proceso| Necesidad estratégica y plan de dotación</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APQC 7.1.1 · 7.1.2    ·    proceso confirmado</a:t>
            </a:r>
          </a:p>
        </p:txBody>
      </p:sp>
      <p:sp>
        <p:nvSpPr>
          <p:cNvPr id="11" name="Subproceso 11"/>
          <p:cNvSpPr/>
          <p:nvPr/>
        </p:nvSpPr>
        <p:spPr>
          <a:xfrm>
            <a:off x="630000" y="1475274"/>
            <a:ext cx="3577783" cy="364058"/>
          </a:xfrm>
          <a:prstGeom prst="roundRect">
            <a:avLst>
              <a:gd name="adj" fmla="val 4000"/>
            </a:avLst>
          </a:prstGeom>
          <a:solidFill>
            <a:srgbClr val="A34100"/>
          </a:solidFill>
          <a:ln>
            <a:noFill/>
          </a:ln>
        </p:spPr>
        <p:txBody>
          <a:bodyPr wrap="square" lIns="63500" tIns="63500" rIns="63500" bIns="63500" anchor="ctr">
            <a:noAutofit/>
          </a:bodyPr>
          <a:lstStyle/>
          <a:p>
            <a:pPr algn="l">
              <a:lnSpc>
                <a:spcPct val="90000"/>
              </a:lnSpc>
              <a:buNone/>
            </a:pPr>
            <a:r>
              <a:rPr lang="es-CL" sz="750" b="1" dirty="0">
                <a:solidFill>
                  <a:srgbClr val="F7E2D2"/>
                </a:solidFill>
                <a:latin typeface="+mn-lt"/>
                <a:cs typeface="+mn-lt"/>
              </a:rPr>
              <a:t>Subproceso 1  ·  F1</a:t>
            </a:r>
          </a:p>
          <a:p>
            <a:pPr algn="l">
              <a:lnSpc>
                <a:spcPct val="90000"/>
              </a:lnSpc>
              <a:spcBef>
                <a:spcPts val="200"/>
              </a:spcBef>
              <a:buNone/>
            </a:pPr>
            <a:r>
              <a:rPr lang="es-CL" sz="950" b="1" dirty="0">
                <a:solidFill>
                  <a:srgbClr val="FFFFFF"/>
                </a:solidFill>
                <a:latin typeface="+mn-lt"/>
                <a:cs typeface="+mn-lt"/>
              </a:rPr>
              <a:t>Identificar necesidades estratégicas de RRHH</a:t>
            </a:r>
          </a:p>
        </p:txBody>
      </p:sp>
      <p:sp>
        <p:nvSpPr>
          <p:cNvPr id="12" name="Chip 12"/>
          <p:cNvSpPr/>
          <p:nvPr/>
        </p:nvSpPr>
        <p:spPr>
          <a:xfrm>
            <a:off x="630000" y="1939332"/>
            <a:ext cx="3577783" cy="508000"/>
          </a:xfrm>
          <a:prstGeom prst="roundRect">
            <a:avLst>
              <a:gd name="adj" fmla="val 4000"/>
            </a:avLst>
          </a:prstGeom>
          <a:solidFill>
            <a:srgbClr val="EFE6D0"/>
          </a:solidFill>
          <a:ln w="9525" cap="flat">
            <a:solidFill>
              <a:srgbClr val="C9B98F"/>
            </a:solidFill>
          </a:ln>
        </p:spPr>
        <p:txBody>
          <a:bodyPr wrap="square" lIns="57150" tIns="57150" rIns="57150" bIns="57150" anchor="ctr">
            <a:noAutofit/>
          </a:bodyPr>
          <a:lstStyle/>
          <a:p>
            <a:pPr algn="l">
              <a:lnSpc>
                <a:spcPct val="90000"/>
              </a:lnSpc>
              <a:buNone/>
            </a:pPr>
            <a:r>
              <a:rPr lang="es-CL" sz="750" b="1" dirty="0">
                <a:solidFill>
                  <a:srgbClr val="3F3A33"/>
                </a:solidFill>
                <a:latin typeface="+mn-lt"/>
                <a:cs typeface="+mn-lt"/>
              </a:rPr>
              <a:t>1 · Identificar necesidades estratégicas de RRHH</a:t>
            </a:r>
          </a:p>
        </p:txBody>
      </p:sp>
      <p:sp>
        <p:nvSpPr>
          <p:cNvPr id="13" name="Subproceso 13"/>
          <p:cNvSpPr/>
          <p:nvPr/>
        </p:nvSpPr>
        <p:spPr>
          <a:xfrm>
            <a:off x="4307783" y="1475274"/>
            <a:ext cx="3577783" cy="364058"/>
          </a:xfrm>
          <a:prstGeom prst="roundRect">
            <a:avLst>
              <a:gd name="adj" fmla="val 4000"/>
            </a:avLst>
          </a:prstGeom>
          <a:solidFill>
            <a:srgbClr val="A34100"/>
          </a:solidFill>
          <a:ln>
            <a:noFill/>
          </a:ln>
        </p:spPr>
        <p:txBody>
          <a:bodyPr wrap="square" lIns="63500" tIns="63500" rIns="63500" bIns="63500" anchor="ctr">
            <a:noAutofit/>
          </a:bodyPr>
          <a:lstStyle/>
          <a:p>
            <a:pPr algn="l">
              <a:lnSpc>
                <a:spcPct val="90000"/>
              </a:lnSpc>
              <a:buNone/>
            </a:pPr>
            <a:r>
              <a:rPr lang="es-CL" sz="750" b="1" dirty="0">
                <a:solidFill>
                  <a:srgbClr val="F7E2D2"/>
                </a:solidFill>
                <a:latin typeface="+mn-lt"/>
                <a:cs typeface="+mn-lt"/>
              </a:rPr>
              <a:t>Subproceso 2  ·  F1</a:t>
            </a:r>
          </a:p>
          <a:p>
            <a:pPr algn="l">
              <a:lnSpc>
                <a:spcPct val="90000"/>
              </a:lnSpc>
              <a:spcBef>
                <a:spcPts val="200"/>
              </a:spcBef>
              <a:buNone/>
            </a:pPr>
            <a:r>
              <a:rPr lang="es-CL" sz="950" b="1" dirty="0">
                <a:solidFill>
                  <a:srgbClr val="FFFFFF"/>
                </a:solidFill>
                <a:latin typeface="+mn-lt"/>
                <a:cs typeface="+mn-lt"/>
              </a:rPr>
              <a:t>Estimar dotación futura</a:t>
            </a:r>
          </a:p>
        </p:txBody>
      </p:sp>
      <p:sp>
        <p:nvSpPr>
          <p:cNvPr id="14" name="Chip 14"/>
          <p:cNvSpPr/>
          <p:nvPr/>
        </p:nvSpPr>
        <p:spPr>
          <a:xfrm>
            <a:off x="4307783" y="1939332"/>
            <a:ext cx="3577783" cy="508000"/>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2 · Recopilar información de perfiles de cargo</a:t>
            </a:r>
          </a:p>
        </p:txBody>
      </p:sp>
      <p:sp>
        <p:nvSpPr>
          <p:cNvPr id="15" name="Chip 15"/>
          <p:cNvSpPr/>
          <p:nvPr/>
        </p:nvSpPr>
        <p:spPr>
          <a:xfrm>
            <a:off x="4307783" y="2497332"/>
            <a:ext cx="3577783" cy="508000"/>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3 · Gestionar familias de cargos y niveles de grado</a:t>
            </a:r>
          </a:p>
        </p:txBody>
      </p:sp>
      <p:sp>
        <p:nvSpPr>
          <p:cNvPr id="16" name="Chip 16"/>
          <p:cNvSpPr/>
          <p:nvPr/>
        </p:nvSpPr>
        <p:spPr>
          <a:xfrm>
            <a:off x="4307783" y="3055332"/>
            <a:ext cx="3577783" cy="508000"/>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4 · Evaluar la dotación actual</a:t>
            </a:r>
          </a:p>
        </p:txBody>
      </p:sp>
      <p:sp>
        <p:nvSpPr>
          <p:cNvPr id="17" name="Chip 17"/>
          <p:cNvSpPr/>
          <p:nvPr/>
        </p:nvSpPr>
        <p:spPr>
          <a:xfrm>
            <a:off x="4307783" y="3613332"/>
            <a:ext cx="3577783" cy="508000"/>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5 · Validar la estructura organizacional vigente</a:t>
            </a:r>
          </a:p>
        </p:txBody>
      </p:sp>
      <p:sp>
        <p:nvSpPr>
          <p:cNvPr id="18" name="Chip 18"/>
          <p:cNvSpPr/>
          <p:nvPr/>
        </p:nvSpPr>
        <p:spPr>
          <a:xfrm>
            <a:off x="4307783" y="4171332"/>
            <a:ext cx="3577783" cy="508000"/>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6 · Analizar cambios de estructura y proyectos</a:t>
            </a:r>
          </a:p>
        </p:txBody>
      </p:sp>
      <p:sp>
        <p:nvSpPr>
          <p:cNvPr id="19" name="Chip 19"/>
          <p:cNvSpPr/>
          <p:nvPr/>
        </p:nvSpPr>
        <p:spPr>
          <a:xfrm>
            <a:off x="4307783" y="4729332"/>
            <a:ext cx="3577783" cy="508000"/>
          </a:xfrm>
          <a:prstGeom prst="roundRect">
            <a:avLst>
              <a:gd name="adj" fmla="val 4000"/>
            </a:avLst>
          </a:prstGeom>
          <a:solidFill>
            <a:srgbClr val="F1F1F2"/>
          </a:solidFill>
          <a:ln w="9525" cap="flat">
            <a:solidFill>
              <a:srgbClr val="9A9B9F"/>
            </a:solidFill>
            <a:prstDash val="dash"/>
          </a:ln>
        </p:spPr>
        <p:txBody>
          <a:bodyPr wrap="square" lIns="57150" tIns="57150" rIns="57150" bIns="57150" anchor="ctr">
            <a:noAutofit/>
          </a:bodyPr>
          <a:lstStyle/>
          <a:p>
            <a:pPr algn="l">
              <a:lnSpc>
                <a:spcPct val="90000"/>
              </a:lnSpc>
              <a:buNone/>
            </a:pPr>
            <a:r>
              <a:rPr lang="es-CL" sz="750" dirty="0">
                <a:solidFill>
                  <a:srgbClr val="55565A"/>
                </a:solidFill>
                <a:latin typeface="+mn-lt"/>
                <a:cs typeface="+mn-lt"/>
              </a:rPr>
              <a:t>7 · Estimar dotación futura según proyecciones</a:t>
            </a:r>
          </a:p>
        </p:txBody>
      </p:sp>
      <p:sp>
        <p:nvSpPr>
          <p:cNvPr id="20" name="Subproceso 20"/>
          <p:cNvSpPr/>
          <p:nvPr/>
        </p:nvSpPr>
        <p:spPr>
          <a:xfrm>
            <a:off x="7985566" y="1475274"/>
            <a:ext cx="3577783" cy="364058"/>
          </a:xfrm>
          <a:prstGeom prst="roundRect">
            <a:avLst>
              <a:gd name="adj" fmla="val 4000"/>
            </a:avLst>
          </a:prstGeom>
          <a:solidFill>
            <a:srgbClr val="A34100"/>
          </a:solidFill>
          <a:ln>
            <a:noFill/>
          </a:ln>
        </p:spPr>
        <p:txBody>
          <a:bodyPr wrap="square" lIns="63500" tIns="63500" rIns="63500" bIns="63500" anchor="ctr">
            <a:noAutofit/>
          </a:bodyPr>
          <a:lstStyle/>
          <a:p>
            <a:pPr algn="l">
              <a:lnSpc>
                <a:spcPct val="90000"/>
              </a:lnSpc>
              <a:buNone/>
            </a:pPr>
            <a:r>
              <a:rPr lang="es-CL" sz="750" b="1" dirty="0">
                <a:solidFill>
                  <a:srgbClr val="F7E2D2"/>
                </a:solidFill>
                <a:latin typeface="+mn-lt"/>
                <a:cs typeface="+mn-lt"/>
              </a:rPr>
              <a:t>Subproceso 3  ·  F1</a:t>
            </a:r>
          </a:p>
          <a:p>
            <a:pPr algn="l">
              <a:lnSpc>
                <a:spcPct val="90000"/>
              </a:lnSpc>
              <a:spcBef>
                <a:spcPts val="200"/>
              </a:spcBef>
              <a:buNone/>
            </a:pPr>
            <a:r>
              <a:rPr lang="es-CL" sz="950" b="1" dirty="0">
                <a:solidFill>
                  <a:srgbClr val="FFFFFF"/>
                </a:solidFill>
                <a:latin typeface="+mn-lt"/>
                <a:cs typeface="+mn-lt"/>
              </a:rPr>
              <a:t>Diseñar plan de dotación / organigrama</a:t>
            </a:r>
          </a:p>
        </p:txBody>
      </p:sp>
      <p:sp>
        <p:nvSpPr>
          <p:cNvPr id="21" name="Chip 21"/>
          <p:cNvSpPr/>
          <p:nvPr/>
        </p:nvSpPr>
        <p:spPr>
          <a:xfrm>
            <a:off x="7985566" y="1939332"/>
            <a:ext cx="3577783" cy="508000"/>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8 · Diseñar plan de dotación con perfiles requeridos</a:t>
            </a:r>
          </a:p>
        </p:txBody>
      </p:sp>
      <p:sp>
        <p:nvSpPr>
          <p:cNvPr id="22" name="Chip 22"/>
          <p:cNvSpPr/>
          <p:nvPr/>
        </p:nvSpPr>
        <p:spPr>
          <a:xfrm>
            <a:off x="7985566" y="2497332"/>
            <a:ext cx="3577783" cy="508000"/>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9 · Validar plan con líderes de área</a:t>
            </a:r>
          </a:p>
        </p:txBody>
      </p:sp>
      <p:sp>
        <p:nvSpPr>
          <p:cNvPr id="23" name="Chip 23"/>
          <p:cNvSpPr/>
          <p:nvPr/>
        </p:nvSpPr>
        <p:spPr>
          <a:xfrm>
            <a:off x="7985566" y="3055332"/>
            <a:ext cx="3577783" cy="508000"/>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10 · Ajustar según feedback de líderes</a:t>
            </a:r>
          </a:p>
        </p:txBody>
      </p:sp>
      <p:sp>
        <p:nvSpPr>
          <p:cNvPr id="24" name="Chip 24"/>
          <p:cNvSpPr/>
          <p:nvPr/>
        </p:nvSpPr>
        <p:spPr>
          <a:xfrm>
            <a:off x="7985566" y="3613332"/>
            <a:ext cx="3577783" cy="508000"/>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11 · Emitir organigrama, perfil de cargo y costo organigrama</a:t>
            </a:r>
          </a:p>
        </p:txBody>
      </p:sp>
      <p:sp>
        <p:nvSpPr>
          <p:cNvPr id="25" name="Pendientes 25"/>
          <p:cNvSpPr/>
          <p:nvPr/>
        </p:nvSpPr>
        <p:spPr>
          <a:xfrm>
            <a:off x="630000" y="5327332"/>
            <a:ext cx="10933350" cy="403403"/>
          </a:xfrm>
          <a:prstGeom prst="roundRect">
            <a:avLst>
              <a:gd name="adj" fmla="val 2500"/>
            </a:avLst>
          </a:prstGeom>
          <a:solidFill>
            <a:srgbClr val="F6EDE4"/>
          </a:solidFill>
          <a:ln>
            <a:noFill/>
          </a:ln>
        </p:spPr>
        <p:txBody>
          <a:bodyPr wrap="square" lIns="76200" tIns="76200" rIns="76200" bIns="76200" anchor="ctr">
            <a:noAutofit/>
          </a:bodyPr>
          <a:lstStyle/>
          <a:p>
            <a:pPr algn="l">
              <a:lnSpc>
                <a:spcPct val="90000"/>
              </a:lnSpc>
              <a:buNone/>
            </a:pPr>
            <a:r>
              <a:rPr lang="es-CL" sz="950" b="1" dirty="0">
                <a:solidFill>
                  <a:srgbClr val="A34100"/>
                </a:solidFill>
                <a:latin typeface="+mn-lt"/>
                <a:cs typeface="+mn-lt"/>
              </a:rPr>
              <a:t>Qué falta definir en este proceso</a:t>
            </a:r>
          </a:p>
          <a:p>
            <a:pPr algn="l">
              <a:lnSpc>
                <a:spcPct val="90000"/>
              </a:lnSpc>
              <a:spcBef>
                <a:spcPts val="200"/>
              </a:spcBef>
              <a:buNone/>
            </a:pPr>
            <a:r>
              <a:rPr lang="es-CL" sz="850" dirty="0">
                <a:solidFill>
                  <a:srgbClr val="55565A"/>
                </a:solidFill>
                <a:latin typeface="+mn-lt"/>
                <a:cs typeface="+mn-lt"/>
              </a:rPr>
              <a:t>·  F1 · caja 7: Caja que rotula el subproceso: confirmar si además es actividad de cierre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P1 · F1 · Cajas del flujo| </a:t>
            </a:r>
            <a:r>
              <a:rPr lang="es-CL" sz="2000" dirty="0">
                <a:solidFill>
                  <a:srgbClr val="A34100"/>
                </a:solidFill>
                <a:latin typeface="+mn-lt"/>
                <a:cs typeface="+mn-lt"/>
              </a:rPr>
              <a:t>Necesidad estratégica y plan de dotación</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11 cajas numeradas  ·  1 decisión sin numerar  ·  proceso P1 · Necesidad estratégica y plan de dotación</a:t>
            </a:r>
          </a:p>
        </p:txBody>
      </p:sp>
      <p:graphicFrame>
        <p:nvGraphicFramePr>
          <p:cNvPr id="11" name="Tabla 11"/>
          <p:cNvGraphicFramePr>
            <a:graphicFrameLocks noGrp="1"/>
          </p:cNvGraphicFramePr>
          <p:nvPr/>
        </p:nvGraphicFramePr>
        <p:xfrm>
          <a:off x="630000" y="1475274"/>
          <a:ext cx="10933350" cy="2907587"/>
        </p:xfrm>
        <a:graphic>
          <a:graphicData uri="http://schemas.openxmlformats.org/drawingml/2006/table">
            <a:tbl>
              <a:tblPr firstRow="1"/>
              <a:tblGrid>
                <a:gridCol w="430000">
                  <a:extLst>
                    <a:ext uri="{9D8B030D-6E8A-4147-A177-3AD203B41FA5}">
                      <a16:colId xmlns:a16="http://schemas.microsoft.com/office/drawing/2014/main" val="20000"/>
                    </a:ext>
                  </a:extLst>
                </a:gridCol>
                <a:gridCol w="4320000">
                  <a:extLst>
                    <a:ext uri="{9D8B030D-6E8A-4147-A177-3AD203B41FA5}">
                      <a16:colId xmlns:a16="http://schemas.microsoft.com/office/drawing/2014/main" val="20001"/>
                    </a:ext>
                  </a:extLst>
                </a:gridCol>
                <a:gridCol w="780000">
                  <a:extLst>
                    <a:ext uri="{9D8B030D-6E8A-4147-A177-3AD203B41FA5}">
                      <a16:colId xmlns:a16="http://schemas.microsoft.com/office/drawing/2014/main" val="20002"/>
                    </a:ext>
                  </a:extLst>
                </a:gridCol>
                <a:gridCol w="1320000">
                  <a:extLst>
                    <a:ext uri="{9D8B030D-6E8A-4147-A177-3AD203B41FA5}">
                      <a16:colId xmlns:a16="http://schemas.microsoft.com/office/drawing/2014/main" val="20003"/>
                    </a:ext>
                  </a:extLst>
                </a:gridCol>
                <a:gridCol w="4083350">
                  <a:extLst>
                    <a:ext uri="{9D8B030D-6E8A-4147-A177-3AD203B41FA5}">
                      <a16:colId xmlns:a16="http://schemas.microsoft.com/office/drawing/2014/main" val="20004"/>
                    </a:ext>
                  </a:extLst>
                </a:gridCol>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extLst>
                  <a:ext uri="{0D108BD9-81ED-4DB2-BD59-A6C34878D82A}">
                    <a16:rowId xmlns:a16="http://schemas.microsoft.com/office/drawing/2014/main" val="10000"/>
                  </a:ext>
                </a:extLst>
              </a:tr>
              <a:tr h="323418">
                <a:tc>
                  <a:txBody>
                    <a:bodyPr/>
                    <a:lstStyle/>
                    <a:p>
                      <a:pPr algn="ctr">
                        <a:lnSpc>
                          <a:spcPct val="90000"/>
                        </a:lnSpc>
                        <a:buNone/>
                      </a:pPr>
                      <a:r>
                        <a:rPr lang="es-CL" sz="850" b="1" dirty="0">
                          <a:solidFill>
                            <a:srgbClr val="3F3A33"/>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Identificar necesidades estratégicas de RRHH</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7.1.1.1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A34100"/>
                          </a:solidFill>
                          <a:latin typeface="+mn-lt"/>
                          <a:cs typeface="+mn-lt"/>
                        </a:rPr>
                        <a:t>Subproceso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Identificar necesidades estratégicas de RRHH — Subproceso sin actividades definidas todavía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1"/>
                  </a:ext>
                </a:extLst>
              </a:tr>
              <a:tr h="204889">
                <a:tc>
                  <a:txBody>
                    <a:bodyPr/>
                    <a:lstStyle/>
                    <a:p>
                      <a:pPr algn="ctr">
                        <a:lnSpc>
                          <a:spcPct val="90000"/>
                        </a:lnSpc>
                        <a:buNone/>
                      </a:pPr>
                      <a:r>
                        <a:rPr lang="es-CL" sz="850" b="1" dirty="0">
                          <a:solidFill>
                            <a:srgbClr val="3F3A33"/>
                          </a:solidFill>
                          <a:latin typeface="+mn-lt"/>
                          <a:cs typeface="+mn-lt"/>
                        </a:rPr>
                        <a:t>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Recopilar información de perfiles de cargo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7.1.2.16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Estimar dotación futura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2"/>
                  </a:ext>
                </a:extLst>
              </a:tr>
              <a:tr h="204889">
                <a:tc>
                  <a:txBody>
                    <a:bodyPr/>
                    <a:lstStyle/>
                    <a:p>
                      <a:pPr algn="ctr">
                        <a:lnSpc>
                          <a:spcPct val="90000"/>
                        </a:lnSpc>
                        <a:buNone/>
                      </a:pPr>
                      <a:r>
                        <a:rPr lang="es-CL" sz="850" b="1" dirty="0">
                          <a:solidFill>
                            <a:srgbClr val="3F3A33"/>
                          </a:solidFill>
                          <a:latin typeface="+mn-lt"/>
                          <a:cs typeface="+mn-lt"/>
                        </a:rPr>
                        <a:t>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Gestionar familias de cargos y niveles de grado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7.1.2.15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Estimar dotación futura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3"/>
                  </a:ext>
                </a:extLst>
              </a:tr>
              <a:tr h="204889">
                <a:tc>
                  <a:txBody>
                    <a:bodyPr/>
                    <a:lstStyle/>
                    <a:p>
                      <a:pPr algn="ctr">
                        <a:lnSpc>
                          <a:spcPct val="90000"/>
                        </a:lnSpc>
                        <a:buNone/>
                      </a:pPr>
                      <a:r>
                        <a:rPr lang="es-CL" sz="850" b="1" dirty="0">
                          <a:solidFill>
                            <a:srgbClr val="3F3A33"/>
                          </a:solidFill>
                          <a:latin typeface="+mn-lt"/>
                          <a:cs typeface="+mn-lt"/>
                        </a:rPr>
                        <a:t>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Evaluar la dotación actual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7.1.2.1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Estimar dotación futura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4"/>
                  </a:ext>
                </a:extLst>
              </a:tr>
              <a:tr h="204889">
                <a:tc>
                  <a:txBody>
                    <a:bodyPr/>
                    <a:lstStyle/>
                    <a:p>
                      <a:pPr algn="ctr">
                        <a:lnSpc>
                          <a:spcPct val="90000"/>
                        </a:lnSpc>
                        <a:buNone/>
                      </a:pPr>
                      <a:r>
                        <a:rPr lang="es-CL" sz="850" b="1" dirty="0">
                          <a:solidFill>
                            <a:srgbClr val="3F3A33"/>
                          </a:solidFill>
                          <a:latin typeface="+mn-lt"/>
                          <a:cs typeface="+mn-lt"/>
                        </a:rPr>
                        <a:t>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Validar la estructura organizacional vigente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7.1.2.1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Estimar dotación futura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5"/>
                  </a:ext>
                </a:extLst>
              </a:tr>
              <a:tr h="204889">
                <a:tc>
                  <a:txBody>
                    <a:bodyPr/>
                    <a:lstStyle/>
                    <a:p>
                      <a:pPr algn="ctr">
                        <a:lnSpc>
                          <a:spcPct val="90000"/>
                        </a:lnSpc>
                        <a:buNone/>
                      </a:pPr>
                      <a:r>
                        <a:rPr lang="es-CL" sz="850" b="1" dirty="0">
                          <a:solidFill>
                            <a:srgbClr val="3F3A33"/>
                          </a:solidFill>
                          <a:latin typeface="+mn-lt"/>
                          <a:cs typeface="+mn-lt"/>
                        </a:rPr>
                        <a:t>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Analizar cambios de estructura y proyectos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7.1.2.1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Estimar dotación futura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6"/>
                  </a:ext>
                </a:extLst>
              </a:tr>
              <a:tr h="323418">
                <a:tc>
                  <a:txBody>
                    <a:bodyPr/>
                    <a:lstStyle/>
                    <a:p>
                      <a:pPr algn="ctr">
                        <a:lnSpc>
                          <a:spcPct val="90000"/>
                        </a:lnSpc>
                        <a:buNone/>
                      </a:pPr>
                      <a:r>
                        <a:rPr lang="es-CL" sz="850" b="1" dirty="0">
                          <a:solidFill>
                            <a:srgbClr val="3F3A33"/>
                          </a:solidFill>
                          <a:latin typeface="+mn-lt"/>
                          <a:cs typeface="+mn-lt"/>
                        </a:rPr>
                        <a:t>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Estimar dotación futura según proyecciones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7.1.2.1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Estimar dotación futura — Caja que rotula el subproceso: confirmar si además es actividad de cierre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extLst>
                  <a:ext uri="{0D108BD9-81ED-4DB2-BD59-A6C34878D82A}">
                    <a16:rowId xmlns:a16="http://schemas.microsoft.com/office/drawing/2014/main" val="10007"/>
                  </a:ext>
                </a:extLst>
              </a:tr>
              <a:tr h="204889">
                <a:tc>
                  <a:txBody>
                    <a:bodyPr/>
                    <a:lstStyle/>
                    <a:p>
                      <a:pPr algn="ctr">
                        <a:lnSpc>
                          <a:spcPct val="90000"/>
                        </a:lnSpc>
                        <a:buNone/>
                      </a:pPr>
                      <a:r>
                        <a:rPr lang="es-CL" sz="850" b="1" dirty="0">
                          <a:solidFill>
                            <a:srgbClr val="3F3A33"/>
                          </a:solidFill>
                          <a:latin typeface="+mn-lt"/>
                          <a:cs typeface="+mn-lt"/>
                        </a:rPr>
                        <a:t>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Diseñar plan de dotación con perfiles requeridos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7.1.2.1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Diseñar plan de dotación / organigrama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8"/>
                  </a:ext>
                </a:extLst>
              </a:tr>
              <a:tr h="204889">
                <a:tc>
                  <a:txBody>
                    <a:bodyPr/>
                    <a:lstStyle/>
                    <a:p>
                      <a:pPr algn="ctr">
                        <a:lnSpc>
                          <a:spcPct val="90000"/>
                        </a:lnSpc>
                        <a:buNone/>
                      </a:pPr>
                      <a:r>
                        <a:rPr lang="es-CL" sz="850" b="1" dirty="0">
                          <a:solidFill>
                            <a:srgbClr val="3F3A33"/>
                          </a:solidFill>
                          <a:latin typeface="+mn-lt"/>
                          <a:cs typeface="+mn-lt"/>
                        </a:rPr>
                        <a:t>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Validar plan con líderes de área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7.1.2.1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Diseñar plan de dotación / organigrama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9"/>
                  </a:ext>
                </a:extLst>
              </a:tr>
              <a:tr h="204889">
                <a:tc>
                  <a:txBody>
                    <a:bodyPr/>
                    <a:lstStyle/>
                    <a:p>
                      <a:pPr algn="ctr">
                        <a:lnSpc>
                          <a:spcPct val="90000"/>
                        </a:lnSpc>
                        <a:buNone/>
                      </a:pPr>
                      <a:r>
                        <a:rPr lang="es-CL" sz="850" b="1" dirty="0">
                          <a:solidFill>
                            <a:srgbClr val="3F3A33"/>
                          </a:solidFill>
                          <a:latin typeface="+mn-lt"/>
                          <a:cs typeface="+mn-lt"/>
                        </a:rPr>
                        <a:t>10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Ajustar según feedback de líderes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7.1.2.1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Diseñar plan de dotación / organigrama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10"/>
                  </a:ext>
                </a:extLst>
              </a:tr>
              <a:tr h="204889">
                <a:tc>
                  <a:txBody>
                    <a:bodyPr/>
                    <a:lstStyle/>
                    <a:p>
                      <a:pPr algn="ctr">
                        <a:lnSpc>
                          <a:spcPct val="90000"/>
                        </a:lnSpc>
                        <a:buNone/>
                      </a:pPr>
                      <a:r>
                        <a:rPr lang="es-CL" sz="850" b="1" dirty="0">
                          <a:solidFill>
                            <a:srgbClr val="6F5800"/>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¿Aprobado por Gerencia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b="1" dirty="0">
                          <a:solidFill>
                            <a:srgbClr val="6F5800"/>
                          </a:solidFill>
                          <a:latin typeface="+mn-lt"/>
                          <a:cs typeface="+mn-lt"/>
                        </a:rPr>
                        <a:t>Decisión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No entra en la numeración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extLst>
                  <a:ext uri="{0D108BD9-81ED-4DB2-BD59-A6C34878D82A}">
                    <a16:rowId xmlns:a16="http://schemas.microsoft.com/office/drawing/2014/main" val="10011"/>
                  </a:ext>
                </a:extLst>
              </a:tr>
              <a:tr h="204889">
                <a:tc>
                  <a:txBody>
                    <a:bodyPr/>
                    <a:lstStyle/>
                    <a:p>
                      <a:pPr algn="ctr">
                        <a:lnSpc>
                          <a:spcPct val="90000"/>
                        </a:lnSpc>
                        <a:buNone/>
                      </a:pPr>
                      <a:r>
                        <a:rPr lang="es-CL" sz="850" b="1" dirty="0">
                          <a:solidFill>
                            <a:srgbClr val="3F3A33"/>
                          </a:solidFill>
                          <a:latin typeface="+mn-lt"/>
                          <a:cs typeface="+mn-lt"/>
                        </a:rPr>
                        <a:t>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Emitir organigrama, perfil de cargo y costo organigrama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7.1.2.16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Diseñar plan de dotación / organigrama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P2 · Apertura del proceso| Valoración de cargo y banda de renta</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APQC 7.1.2.2 · 7.1.2.15 · 7.5.1    ·    proceso confirmado</a:t>
            </a:r>
          </a:p>
        </p:txBody>
      </p:sp>
      <p:sp>
        <p:nvSpPr>
          <p:cNvPr id="11" name="Subproceso 11"/>
          <p:cNvSpPr/>
          <p:nvPr/>
        </p:nvSpPr>
        <p:spPr>
          <a:xfrm>
            <a:off x="630000" y="1475274"/>
            <a:ext cx="2658337" cy="496532"/>
          </a:xfrm>
          <a:prstGeom prst="roundRect">
            <a:avLst>
              <a:gd name="adj" fmla="val 4000"/>
            </a:avLst>
          </a:prstGeom>
          <a:solidFill>
            <a:srgbClr val="A34100"/>
          </a:solidFill>
          <a:ln>
            <a:noFill/>
          </a:ln>
        </p:spPr>
        <p:txBody>
          <a:bodyPr wrap="square" lIns="63500" tIns="63500" rIns="63500" bIns="63500" anchor="ctr">
            <a:noAutofit/>
          </a:bodyPr>
          <a:lstStyle/>
          <a:p>
            <a:pPr algn="l">
              <a:lnSpc>
                <a:spcPct val="90000"/>
              </a:lnSpc>
              <a:buNone/>
            </a:pPr>
            <a:r>
              <a:rPr lang="es-CL" sz="750" b="1" dirty="0">
                <a:solidFill>
                  <a:srgbClr val="F7E2D2"/>
                </a:solidFill>
                <a:latin typeface="+mn-lt"/>
                <a:cs typeface="+mn-lt"/>
              </a:rPr>
              <a:t>Subproceso 1  ·  F2</a:t>
            </a:r>
          </a:p>
          <a:p>
            <a:pPr algn="l">
              <a:lnSpc>
                <a:spcPct val="90000"/>
              </a:lnSpc>
              <a:spcBef>
                <a:spcPts val="200"/>
              </a:spcBef>
              <a:buNone/>
            </a:pPr>
            <a:r>
              <a:rPr lang="es-CL" sz="950" b="1" dirty="0">
                <a:solidFill>
                  <a:srgbClr val="FFFFFF"/>
                </a:solidFill>
                <a:latin typeface="+mn-lt"/>
                <a:cs typeface="+mn-lt"/>
              </a:rPr>
              <a:t>Benchmark de remuneración</a:t>
            </a:r>
          </a:p>
        </p:txBody>
      </p:sp>
      <p:sp>
        <p:nvSpPr>
          <p:cNvPr id="12" name="Chip 12"/>
          <p:cNvSpPr/>
          <p:nvPr/>
        </p:nvSpPr>
        <p:spPr>
          <a:xfrm>
            <a:off x="630000" y="2071806"/>
            <a:ext cx="2658337" cy="508000"/>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1 · Cotizar y adquirir encuestas de remuneraciones de mercado</a:t>
            </a:r>
          </a:p>
        </p:txBody>
      </p:sp>
      <p:sp>
        <p:nvSpPr>
          <p:cNvPr id="13" name="Chip 13"/>
          <p:cNvSpPr/>
          <p:nvPr/>
        </p:nvSpPr>
        <p:spPr>
          <a:xfrm>
            <a:off x="630000" y="2629806"/>
            <a:ext cx="2658337" cy="508000"/>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2 · Recopilar datos del mercado laboral desde las encuestas</a:t>
            </a:r>
          </a:p>
        </p:txBody>
      </p:sp>
      <p:sp>
        <p:nvSpPr>
          <p:cNvPr id="14" name="Chip 14"/>
          <p:cNvSpPr/>
          <p:nvPr/>
        </p:nvSpPr>
        <p:spPr>
          <a:xfrm>
            <a:off x="630000" y="3187806"/>
            <a:ext cx="2658337" cy="508000"/>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3 · Job matching: comparar el cargo contra el mercado por rubro, nivel y años de experiencia</a:t>
            </a:r>
          </a:p>
        </p:txBody>
      </p:sp>
      <p:sp>
        <p:nvSpPr>
          <p:cNvPr id="15" name="Subproceso 15"/>
          <p:cNvSpPr/>
          <p:nvPr/>
        </p:nvSpPr>
        <p:spPr>
          <a:xfrm>
            <a:off x="3388337" y="1475274"/>
            <a:ext cx="2658337" cy="496532"/>
          </a:xfrm>
          <a:prstGeom prst="roundRect">
            <a:avLst>
              <a:gd name="adj" fmla="val 4000"/>
            </a:avLst>
          </a:prstGeom>
          <a:solidFill>
            <a:srgbClr val="A34100"/>
          </a:solidFill>
          <a:ln>
            <a:noFill/>
          </a:ln>
        </p:spPr>
        <p:txBody>
          <a:bodyPr wrap="square" lIns="63500" tIns="63500" rIns="63500" bIns="63500" anchor="ctr">
            <a:noAutofit/>
          </a:bodyPr>
          <a:lstStyle/>
          <a:p>
            <a:pPr algn="l">
              <a:lnSpc>
                <a:spcPct val="90000"/>
              </a:lnSpc>
              <a:buNone/>
            </a:pPr>
            <a:r>
              <a:rPr lang="es-CL" sz="750" b="1" dirty="0">
                <a:solidFill>
                  <a:srgbClr val="F7E2D2"/>
                </a:solidFill>
                <a:latin typeface="+mn-lt"/>
                <a:cs typeface="+mn-lt"/>
              </a:rPr>
              <a:t>Subproceso 2  ·  F2</a:t>
            </a:r>
          </a:p>
          <a:p>
            <a:pPr algn="l">
              <a:lnSpc>
                <a:spcPct val="90000"/>
              </a:lnSpc>
              <a:spcBef>
                <a:spcPts val="200"/>
              </a:spcBef>
              <a:buNone/>
            </a:pPr>
            <a:r>
              <a:rPr lang="es-CL" sz="950" b="1" dirty="0">
                <a:solidFill>
                  <a:srgbClr val="FFFFFF"/>
                </a:solidFill>
                <a:latin typeface="+mn-lt"/>
                <a:cs typeface="+mn-lt"/>
              </a:rPr>
              <a:t>Valoración del cargo y definición de bandas salariales</a:t>
            </a:r>
          </a:p>
        </p:txBody>
      </p:sp>
      <p:sp>
        <p:nvSpPr>
          <p:cNvPr id="16" name="Chip 16"/>
          <p:cNvSpPr/>
          <p:nvPr/>
        </p:nvSpPr>
        <p:spPr>
          <a:xfrm>
            <a:off x="3388337" y="2071806"/>
            <a:ext cx="2658337" cy="508000"/>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4 · Recopilar sueldos y beneficios internos actuales</a:t>
            </a:r>
          </a:p>
        </p:txBody>
      </p:sp>
      <p:sp>
        <p:nvSpPr>
          <p:cNvPr id="17" name="Chip 17"/>
          <p:cNvSpPr/>
          <p:nvPr/>
        </p:nvSpPr>
        <p:spPr>
          <a:xfrm>
            <a:off x="3388337" y="2629806"/>
            <a:ext cx="2658337" cy="508000"/>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5 · Valorar el cargo y asignarle un grado en la estructura</a:t>
            </a:r>
          </a:p>
        </p:txBody>
      </p:sp>
      <p:sp>
        <p:nvSpPr>
          <p:cNvPr id="18" name="Chip 18"/>
          <p:cNvSpPr/>
          <p:nvPr/>
        </p:nvSpPr>
        <p:spPr>
          <a:xfrm>
            <a:off x="3388337" y="3187806"/>
            <a:ext cx="2658337" cy="508000"/>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6 · Registrar el grado en el código de posición del cargo</a:t>
            </a:r>
          </a:p>
        </p:txBody>
      </p:sp>
      <p:sp>
        <p:nvSpPr>
          <p:cNvPr id="19" name="Subproceso 19"/>
          <p:cNvSpPr/>
          <p:nvPr/>
        </p:nvSpPr>
        <p:spPr>
          <a:xfrm>
            <a:off x="6146674" y="1475274"/>
            <a:ext cx="2658337" cy="496532"/>
          </a:xfrm>
          <a:prstGeom prst="roundRect">
            <a:avLst>
              <a:gd name="adj" fmla="val 4000"/>
            </a:avLst>
          </a:prstGeom>
          <a:solidFill>
            <a:srgbClr val="A34100"/>
          </a:solidFill>
          <a:ln>
            <a:noFill/>
          </a:ln>
        </p:spPr>
        <p:txBody>
          <a:bodyPr wrap="square" lIns="63500" tIns="63500" rIns="63500" bIns="63500" anchor="ctr">
            <a:noAutofit/>
          </a:bodyPr>
          <a:lstStyle/>
          <a:p>
            <a:pPr algn="l">
              <a:lnSpc>
                <a:spcPct val="90000"/>
              </a:lnSpc>
              <a:buNone/>
            </a:pPr>
            <a:r>
              <a:rPr lang="es-CL" sz="750" b="1" dirty="0">
                <a:solidFill>
                  <a:srgbClr val="F7E2D2"/>
                </a:solidFill>
                <a:latin typeface="+mn-lt"/>
                <a:cs typeface="+mn-lt"/>
              </a:rPr>
              <a:t>Subproceso 3  ·  F2</a:t>
            </a:r>
          </a:p>
          <a:p>
            <a:pPr algn="l">
              <a:lnSpc>
                <a:spcPct val="90000"/>
              </a:lnSpc>
              <a:spcBef>
                <a:spcPts val="200"/>
              </a:spcBef>
              <a:buNone/>
            </a:pPr>
            <a:r>
              <a:rPr lang="es-CL" sz="950" b="1" dirty="0">
                <a:solidFill>
                  <a:srgbClr val="FFFFFF"/>
                </a:solidFill>
                <a:latin typeface="+mn-lt"/>
                <a:cs typeface="+mn-lt"/>
              </a:rPr>
              <a:t>Administración periódica del marco de compensación</a:t>
            </a:r>
          </a:p>
        </p:txBody>
      </p:sp>
      <p:sp>
        <p:nvSpPr>
          <p:cNvPr id="20" name="Chip 20"/>
          <p:cNvSpPr/>
          <p:nvPr/>
        </p:nvSpPr>
        <p:spPr>
          <a:xfrm>
            <a:off x="6146674" y="2071806"/>
            <a:ext cx="2658337" cy="508000"/>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7 · Analizar bandas salariales</a:t>
            </a:r>
          </a:p>
        </p:txBody>
      </p:sp>
      <p:sp>
        <p:nvSpPr>
          <p:cNvPr id="21" name="Chip 21"/>
          <p:cNvSpPr/>
          <p:nvPr/>
        </p:nvSpPr>
        <p:spPr>
          <a:xfrm>
            <a:off x="6146674" y="2629806"/>
            <a:ext cx="2658337" cy="508000"/>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8 · Definir la banda de renta asociada a cada grado</a:t>
            </a:r>
          </a:p>
        </p:txBody>
      </p:sp>
      <p:sp>
        <p:nvSpPr>
          <p:cNvPr id="22" name="Chip 22"/>
          <p:cNvSpPr/>
          <p:nvPr/>
        </p:nvSpPr>
        <p:spPr>
          <a:xfrm>
            <a:off x="6146674" y="3187806"/>
            <a:ext cx="2658337" cy="508000"/>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9 · Revisar coherencia contra presupuesto disponible</a:t>
            </a:r>
          </a:p>
        </p:txBody>
      </p:sp>
      <p:sp>
        <p:nvSpPr>
          <p:cNvPr id="23" name="Subproceso 23"/>
          <p:cNvSpPr/>
          <p:nvPr/>
        </p:nvSpPr>
        <p:spPr>
          <a:xfrm>
            <a:off x="8905011" y="1475274"/>
            <a:ext cx="2658337" cy="496532"/>
          </a:xfrm>
          <a:prstGeom prst="roundRect">
            <a:avLst>
              <a:gd name="adj" fmla="val 4000"/>
            </a:avLst>
          </a:prstGeom>
          <a:solidFill>
            <a:srgbClr val="A34100"/>
          </a:solidFill>
          <a:ln w="9525" cap="flat">
            <a:solidFill>
              <a:srgbClr val="FFD9BC"/>
            </a:solidFill>
            <a:prstDash val="dash"/>
          </a:ln>
        </p:spPr>
        <p:txBody>
          <a:bodyPr wrap="square" lIns="63500" tIns="63500" rIns="63500" bIns="63500" anchor="ctr">
            <a:noAutofit/>
          </a:bodyPr>
          <a:lstStyle/>
          <a:p>
            <a:pPr algn="l">
              <a:lnSpc>
                <a:spcPct val="90000"/>
              </a:lnSpc>
              <a:buNone/>
            </a:pPr>
            <a:r>
              <a:rPr lang="es-CL" sz="750" b="1" dirty="0">
                <a:solidFill>
                  <a:srgbClr val="F7E2D2"/>
                </a:solidFill>
                <a:latin typeface="+mn-lt"/>
                <a:cs typeface="+mn-lt"/>
              </a:rPr>
              <a:t>Subproceso 4  ·  F2</a:t>
            </a:r>
          </a:p>
          <a:p>
            <a:pPr algn="l">
              <a:lnSpc>
                <a:spcPct val="90000"/>
              </a:lnSpc>
              <a:spcBef>
                <a:spcPts val="200"/>
              </a:spcBef>
              <a:buNone/>
            </a:pPr>
            <a:r>
              <a:rPr lang="es-CL" sz="950" b="1" dirty="0">
                <a:solidFill>
                  <a:srgbClr val="FFFFFF"/>
                </a:solidFill>
                <a:latin typeface="+mn-lt"/>
                <a:cs typeface="+mn-lt"/>
              </a:rPr>
              <a:t>Gobierno y publicación del marco de compensaciones</a:t>
            </a:r>
          </a:p>
        </p:txBody>
      </p:sp>
      <p:sp>
        <p:nvSpPr>
          <p:cNvPr id="24" name="Chip 24"/>
          <p:cNvSpPr/>
          <p:nvPr/>
        </p:nvSpPr>
        <p:spPr>
          <a:xfrm>
            <a:off x="8905011" y="2071806"/>
            <a:ext cx="2658337" cy="508000"/>
          </a:xfrm>
          <a:prstGeom prst="roundRect">
            <a:avLst>
              <a:gd name="adj" fmla="val 4000"/>
            </a:avLst>
          </a:prstGeom>
          <a:solidFill>
            <a:srgbClr val="FBF8F1"/>
          </a:solidFill>
          <a:ln w="9525" cap="flat">
            <a:solidFill>
              <a:srgbClr val="A34100"/>
            </a:solidFill>
            <a:prstDash val="dash"/>
          </a:ln>
        </p:spPr>
        <p:txBody>
          <a:bodyPr wrap="square" lIns="57150" tIns="57150" rIns="57150" bIns="57150" anchor="ctr">
            <a:noAutofit/>
          </a:bodyPr>
          <a:lstStyle/>
          <a:p>
            <a:pPr algn="l">
              <a:lnSpc>
                <a:spcPct val="90000"/>
              </a:lnSpc>
              <a:buNone/>
            </a:pPr>
            <a:r>
              <a:rPr lang="es-CL" sz="750" dirty="0">
                <a:solidFill>
                  <a:srgbClr val="A34100"/>
                </a:solidFill>
                <a:latin typeface="+mn-lt"/>
                <a:cs typeface="+mn-lt"/>
              </a:rPr>
              <a:t>10 · Validar y aprobar la estructura de compensaciones</a:t>
            </a:r>
          </a:p>
        </p:txBody>
      </p:sp>
      <p:sp>
        <p:nvSpPr>
          <p:cNvPr id="25" name="Chip 25"/>
          <p:cNvSpPr/>
          <p:nvPr/>
        </p:nvSpPr>
        <p:spPr>
          <a:xfrm>
            <a:off x="8905011" y="2629806"/>
            <a:ext cx="2658337" cy="508000"/>
          </a:xfrm>
          <a:prstGeom prst="roundRect">
            <a:avLst>
              <a:gd name="adj" fmla="val 4000"/>
            </a:avLst>
          </a:prstGeom>
          <a:solidFill>
            <a:srgbClr val="FBF8F1"/>
          </a:solidFill>
          <a:ln w="9525" cap="flat">
            <a:solidFill>
              <a:srgbClr val="A34100"/>
            </a:solidFill>
            <a:prstDash val="dash"/>
          </a:ln>
        </p:spPr>
        <p:txBody>
          <a:bodyPr wrap="square" lIns="57150" tIns="57150" rIns="57150" bIns="57150" anchor="ctr">
            <a:noAutofit/>
          </a:bodyPr>
          <a:lstStyle/>
          <a:p>
            <a:pPr algn="l">
              <a:lnSpc>
                <a:spcPct val="90000"/>
              </a:lnSpc>
              <a:buNone/>
            </a:pPr>
            <a:r>
              <a:rPr lang="es-CL" sz="750" dirty="0">
                <a:solidFill>
                  <a:srgbClr val="A34100"/>
                </a:solidFill>
                <a:latin typeface="+mn-lt"/>
                <a:cs typeface="+mn-lt"/>
              </a:rPr>
              <a:t>11 · Publicar esquema de compensaciones y rango de renta por cargo</a:t>
            </a:r>
          </a:p>
        </p:txBody>
      </p:sp>
      <p:sp>
        <p:nvSpPr>
          <p:cNvPr id="26" name="Chip 26"/>
          <p:cNvSpPr/>
          <p:nvPr/>
        </p:nvSpPr>
        <p:spPr>
          <a:xfrm>
            <a:off x="8905011" y="3187806"/>
            <a:ext cx="2658337" cy="508000"/>
          </a:xfrm>
          <a:prstGeom prst="roundRect">
            <a:avLst>
              <a:gd name="adj" fmla="val 4000"/>
            </a:avLst>
          </a:prstGeom>
          <a:solidFill>
            <a:srgbClr val="FBF8F1"/>
          </a:solidFill>
          <a:ln w="9525" cap="flat">
            <a:solidFill>
              <a:srgbClr val="A34100"/>
            </a:solidFill>
            <a:prstDash val="dash"/>
          </a:ln>
        </p:spPr>
        <p:txBody>
          <a:bodyPr wrap="square" lIns="57150" tIns="57150" rIns="57150" bIns="57150" anchor="ctr">
            <a:noAutofit/>
          </a:bodyPr>
          <a:lstStyle/>
          <a:p>
            <a:pPr algn="l">
              <a:lnSpc>
                <a:spcPct val="90000"/>
              </a:lnSpc>
              <a:buNone/>
            </a:pPr>
            <a:r>
              <a:rPr lang="es-CL" sz="750" dirty="0">
                <a:solidFill>
                  <a:srgbClr val="A34100"/>
                </a:solidFill>
                <a:latin typeface="+mn-lt"/>
                <a:cs typeface="+mn-lt"/>
              </a:rPr>
              <a:t>12 · Revalorizar anualmente el valor en pesos de cada grado según IPC y ajustes internos</a:t>
            </a:r>
          </a:p>
        </p:txBody>
      </p:sp>
      <p:sp>
        <p:nvSpPr>
          <p:cNvPr id="27" name="Chip 27"/>
          <p:cNvSpPr/>
          <p:nvPr/>
        </p:nvSpPr>
        <p:spPr>
          <a:xfrm>
            <a:off x="8905011" y="3745806"/>
            <a:ext cx="2658337" cy="508000"/>
          </a:xfrm>
          <a:prstGeom prst="roundRect">
            <a:avLst>
              <a:gd name="adj" fmla="val 4000"/>
            </a:avLst>
          </a:prstGeom>
          <a:solidFill>
            <a:srgbClr val="FBF8F1"/>
          </a:solidFill>
          <a:ln w="9525" cap="flat">
            <a:solidFill>
              <a:srgbClr val="A34100"/>
            </a:solidFill>
            <a:prstDash val="dash"/>
          </a:ln>
        </p:spPr>
        <p:txBody>
          <a:bodyPr wrap="square" lIns="57150" tIns="57150" rIns="57150" bIns="57150" anchor="ctr">
            <a:noAutofit/>
          </a:bodyPr>
          <a:lstStyle/>
          <a:p>
            <a:pPr algn="l">
              <a:lnSpc>
                <a:spcPct val="90000"/>
              </a:lnSpc>
              <a:buNone/>
            </a:pPr>
            <a:r>
              <a:rPr lang="es-CL" sz="750" dirty="0">
                <a:solidFill>
                  <a:srgbClr val="A34100"/>
                </a:solidFill>
                <a:latin typeface="+mn-lt"/>
                <a:cs typeface="+mn-lt"/>
              </a:rPr>
              <a:t>13 · Administrar el marco de compensaciones transversalmente en celulosa, madera y forestal, ajustando la magnitud</a:t>
            </a:r>
          </a:p>
        </p:txBody>
      </p:sp>
      <p:sp>
        <p:nvSpPr>
          <p:cNvPr id="28" name="Pendientes 28"/>
          <p:cNvSpPr/>
          <p:nvPr/>
        </p:nvSpPr>
        <p:spPr>
          <a:xfrm>
            <a:off x="630000" y="4343806"/>
            <a:ext cx="10933350" cy="640461"/>
          </a:xfrm>
          <a:prstGeom prst="roundRect">
            <a:avLst>
              <a:gd name="adj" fmla="val 2500"/>
            </a:avLst>
          </a:prstGeom>
          <a:solidFill>
            <a:srgbClr val="F6EDE4"/>
          </a:solidFill>
          <a:ln>
            <a:noFill/>
          </a:ln>
        </p:spPr>
        <p:txBody>
          <a:bodyPr wrap="square" lIns="76200" tIns="76200" rIns="76200" bIns="76200" anchor="ctr">
            <a:noAutofit/>
          </a:bodyPr>
          <a:lstStyle/>
          <a:p>
            <a:pPr algn="l">
              <a:lnSpc>
                <a:spcPct val="90000"/>
              </a:lnSpc>
              <a:buNone/>
            </a:pPr>
            <a:r>
              <a:rPr lang="es-CL" sz="950" b="1" dirty="0">
                <a:solidFill>
                  <a:srgbClr val="A34100"/>
                </a:solidFill>
                <a:latin typeface="+mn-lt"/>
                <a:cs typeface="+mn-lt"/>
              </a:rPr>
              <a:t>Qué falta definir en este proceso</a:t>
            </a:r>
          </a:p>
          <a:p>
            <a:pPr algn="l">
              <a:lnSpc>
                <a:spcPct val="90000"/>
              </a:lnSpc>
              <a:spcBef>
                <a:spcPts val="200"/>
              </a:spcBef>
              <a:buNone/>
            </a:pPr>
            <a:r>
              <a:rPr lang="es-CL" sz="850" dirty="0">
                <a:solidFill>
                  <a:srgbClr val="A34100"/>
                </a:solidFill>
                <a:latin typeface="+mn-lt"/>
                <a:cs typeface="+mn-lt"/>
              </a:rPr>
              <a:t>·  Nombre del subproceso «Gobierno y publicación del marco de compensaciones» propuesto</a:t>
            </a:r>
          </a:p>
          <a:p>
            <a:pPr algn="l">
              <a:lnSpc>
                <a:spcPct val="90000"/>
              </a:lnSpc>
              <a:spcBef>
                <a:spcPts val="200"/>
              </a:spcBef>
              <a:buNone/>
            </a:pPr>
            <a:r>
              <a:rPr lang="es-CL" sz="850" dirty="0">
                <a:solidFill>
                  <a:srgbClr val="A34100"/>
                </a:solidFill>
                <a:latin typeface="+mn-lt"/>
                <a:cs typeface="+mn-lt"/>
              </a:rPr>
              <a:t>·  F2 · cajas 10–11: Nombre del subproceso propuesto según APQC 7.5.1.8 y 7.1.2.11</a:t>
            </a:r>
          </a:p>
          <a:p>
            <a:pPr algn="l">
              <a:lnSpc>
                <a:spcPct val="90000"/>
              </a:lnSpc>
              <a:spcBef>
                <a:spcPts val="200"/>
              </a:spcBef>
              <a:buNone/>
            </a:pPr>
            <a:r>
              <a:rPr lang="es-CL" sz="850" dirty="0">
                <a:solidFill>
                  <a:srgbClr val="A34100"/>
                </a:solidFill>
                <a:latin typeface="+mn-lt"/>
                <a:cs typeface="+mn-lt"/>
              </a:rPr>
              <a:t>·  F2 · cajas 12–13: Revisar con </a:t>
            </a:r>
            <a:r>
              <a:rPr lang="es-CL" sz="850" dirty="0" err="1">
                <a:solidFill>
                  <a:srgbClr val="A34100"/>
                </a:solidFill>
                <a:latin typeface="+mn-lt"/>
                <a:cs typeface="+mn-lt"/>
              </a:rPr>
              <a:t>Lider</a:t>
            </a:r>
            <a:r>
              <a:rPr lang="es-CL" sz="850" dirty="0">
                <a:solidFill>
                  <a:srgbClr val="A34100"/>
                </a:solidFill>
                <a:latin typeface="+mn-lt"/>
                <a:cs typeface="+mn-lt"/>
              </a:rPr>
              <a:t> Mejora Continua: por contenido podría pertenecer al subproceso 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P2 · F2 · Cajas del flujo| </a:t>
            </a:r>
            <a:r>
              <a:rPr lang="es-CL" sz="2000" dirty="0">
                <a:solidFill>
                  <a:srgbClr val="A34100"/>
                </a:solidFill>
                <a:latin typeface="+mn-lt"/>
                <a:cs typeface="+mn-lt"/>
              </a:rPr>
              <a:t>Valoración de cargo y banda de renta</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13 cajas numeradas  ·  sin decisiones  ·  proceso P2 · Valoración de cargo y banda de renta</a:t>
            </a:r>
          </a:p>
        </p:txBody>
      </p:sp>
      <p:graphicFrame>
        <p:nvGraphicFramePr>
          <p:cNvPr id="11" name="Tabla 11"/>
          <p:cNvGraphicFramePr>
            <a:graphicFrameLocks noGrp="1"/>
          </p:cNvGraphicFramePr>
          <p:nvPr/>
        </p:nvGraphicFramePr>
        <p:xfrm>
          <a:off x="630000" y="1475274"/>
          <a:ext cx="10933350" cy="4009237"/>
        </p:xfrm>
        <a:graphic>
          <a:graphicData uri="http://schemas.openxmlformats.org/drawingml/2006/table">
            <a:tbl>
              <a:tblPr firstRow="1"/>
              <a:tblGrid>
                <a:gridCol w="430000">
                  <a:extLst>
                    <a:ext uri="{9D8B030D-6E8A-4147-A177-3AD203B41FA5}">
                      <a16:colId xmlns:a16="http://schemas.microsoft.com/office/drawing/2014/main" val="20000"/>
                    </a:ext>
                  </a:extLst>
                </a:gridCol>
                <a:gridCol w="4320000">
                  <a:extLst>
                    <a:ext uri="{9D8B030D-6E8A-4147-A177-3AD203B41FA5}">
                      <a16:colId xmlns:a16="http://schemas.microsoft.com/office/drawing/2014/main" val="20001"/>
                    </a:ext>
                  </a:extLst>
                </a:gridCol>
                <a:gridCol w="780000">
                  <a:extLst>
                    <a:ext uri="{9D8B030D-6E8A-4147-A177-3AD203B41FA5}">
                      <a16:colId xmlns:a16="http://schemas.microsoft.com/office/drawing/2014/main" val="20002"/>
                    </a:ext>
                  </a:extLst>
                </a:gridCol>
                <a:gridCol w="1320000">
                  <a:extLst>
                    <a:ext uri="{9D8B030D-6E8A-4147-A177-3AD203B41FA5}">
                      <a16:colId xmlns:a16="http://schemas.microsoft.com/office/drawing/2014/main" val="20003"/>
                    </a:ext>
                  </a:extLst>
                </a:gridCol>
                <a:gridCol w="4083350">
                  <a:extLst>
                    <a:ext uri="{9D8B030D-6E8A-4147-A177-3AD203B41FA5}">
                      <a16:colId xmlns:a16="http://schemas.microsoft.com/office/drawing/2014/main" val="20004"/>
                    </a:ext>
                  </a:extLst>
                </a:gridCol>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extLst>
                  <a:ext uri="{0D108BD9-81ED-4DB2-BD59-A6C34878D82A}">
                    <a16:rowId xmlns:a16="http://schemas.microsoft.com/office/drawing/2014/main" val="10000"/>
                  </a:ext>
                </a:extLst>
              </a:tr>
              <a:tr h="309474">
                <a:tc>
                  <a:txBody>
                    <a:bodyPr/>
                    <a:lstStyle/>
                    <a:p>
                      <a:pPr algn="ctr">
                        <a:lnSpc>
                          <a:spcPct val="90000"/>
                        </a:lnSpc>
                        <a:buNone/>
                      </a:pPr>
                      <a:r>
                        <a:rPr lang="es-CL" sz="850" b="1" dirty="0">
                          <a:solidFill>
                            <a:srgbClr val="3F3A33"/>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Cotizar y adquirir encuestas de remuneraciones de mercado</a:t>
                      </a:r>
                    </a:p>
                    <a:p>
                      <a:pPr algn="l">
                        <a:lnSpc>
                          <a:spcPct val="90000"/>
                        </a:lnSpc>
                        <a:spcBef>
                          <a:spcPts val="150"/>
                        </a:spcBef>
                        <a:buNone/>
                      </a:pPr>
                      <a:r>
                        <a:rPr lang="es-CL" sz="750" dirty="0">
                          <a:solidFill>
                            <a:srgbClr val="6B655C"/>
                          </a:solidFill>
                          <a:latin typeface="+mn-lt"/>
                          <a:cs typeface="+mn-lt"/>
                        </a:rPr>
                        <a:t>SG Compensaciones y Beneficios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Benchmark de remuneración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1"/>
                  </a:ext>
                </a:extLst>
              </a:tr>
              <a:tr h="204889">
                <a:tc>
                  <a:txBody>
                    <a:bodyPr/>
                    <a:lstStyle/>
                    <a:p>
                      <a:pPr algn="ctr">
                        <a:lnSpc>
                          <a:spcPct val="90000"/>
                        </a:lnSpc>
                        <a:buNone/>
                      </a:pPr>
                      <a:r>
                        <a:rPr lang="es-CL" sz="850" b="1" dirty="0">
                          <a:solidFill>
                            <a:srgbClr val="3F3A33"/>
                          </a:solidFill>
                          <a:latin typeface="+mn-lt"/>
                          <a:cs typeface="+mn-lt"/>
                        </a:rPr>
                        <a:t>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Recopilar datos del mercado laboral desde las encuestas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7.1.2.2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Benchmark de remuneración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2"/>
                  </a:ext>
                </a:extLst>
              </a:tr>
              <a:tr h="428003">
                <a:tc>
                  <a:txBody>
                    <a:bodyPr/>
                    <a:lstStyle/>
                    <a:p>
                      <a:pPr algn="ctr">
                        <a:lnSpc>
                          <a:spcPct val="90000"/>
                        </a:lnSpc>
                        <a:buNone/>
                      </a:pPr>
                      <a:r>
                        <a:rPr lang="es-CL" sz="850" b="1" dirty="0">
                          <a:solidFill>
                            <a:srgbClr val="3F3A33"/>
                          </a:solidFill>
                          <a:latin typeface="+mn-lt"/>
                          <a:cs typeface="+mn-lt"/>
                        </a:rPr>
                        <a:t>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Job matching: comparar el cargo contra el mercado por rubro, nivel y años de experiencia</a:t>
                      </a:r>
                    </a:p>
                    <a:p>
                      <a:pPr algn="l">
                        <a:lnSpc>
                          <a:spcPct val="90000"/>
                        </a:lnSpc>
                        <a:spcBef>
                          <a:spcPts val="150"/>
                        </a:spcBef>
                        <a:buNone/>
                      </a:pPr>
                      <a:r>
                        <a:rPr lang="es-CL" sz="750" dirty="0">
                          <a:solidFill>
                            <a:srgbClr val="6B655C"/>
                          </a:solidFill>
                          <a:latin typeface="+mn-lt"/>
                          <a:cs typeface="+mn-lt"/>
                        </a:rPr>
                        <a:t>SG Compensaciones y Beneficios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7.5.1.3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Benchmark de remuneración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3"/>
                  </a:ext>
                </a:extLst>
              </a:tr>
              <a:tr h="204889">
                <a:tc>
                  <a:txBody>
                    <a:bodyPr/>
                    <a:lstStyle/>
                    <a:p>
                      <a:pPr algn="ctr">
                        <a:lnSpc>
                          <a:spcPct val="90000"/>
                        </a:lnSpc>
                        <a:buNone/>
                      </a:pPr>
                      <a:r>
                        <a:rPr lang="es-CL" sz="850" b="1" dirty="0">
                          <a:solidFill>
                            <a:srgbClr val="3F3A33"/>
                          </a:solidFill>
                          <a:latin typeface="+mn-lt"/>
                          <a:cs typeface="+mn-lt"/>
                        </a:rPr>
                        <a:t>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Recopilar sueldos y beneficios internos actuales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7.1.2.2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Valoración del cargo y definición de bandas salariales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4"/>
                  </a:ext>
                </a:extLst>
              </a:tr>
              <a:tr h="309474">
                <a:tc>
                  <a:txBody>
                    <a:bodyPr/>
                    <a:lstStyle/>
                    <a:p>
                      <a:pPr algn="ctr">
                        <a:lnSpc>
                          <a:spcPct val="90000"/>
                        </a:lnSpc>
                        <a:buNone/>
                      </a:pPr>
                      <a:r>
                        <a:rPr lang="es-CL" sz="850" b="1" dirty="0">
                          <a:solidFill>
                            <a:srgbClr val="3F3A33"/>
                          </a:solidFill>
                          <a:latin typeface="+mn-lt"/>
                          <a:cs typeface="+mn-lt"/>
                        </a:rPr>
                        <a:t>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Valorar el cargo y asignarle un grado en la estructura</a:t>
                      </a:r>
                    </a:p>
                    <a:p>
                      <a:pPr algn="l">
                        <a:lnSpc>
                          <a:spcPct val="90000"/>
                        </a:lnSpc>
                        <a:spcBef>
                          <a:spcPts val="150"/>
                        </a:spcBef>
                        <a:buNone/>
                      </a:pPr>
                      <a:r>
                        <a:rPr lang="es-CL" sz="750" dirty="0">
                          <a:solidFill>
                            <a:srgbClr val="6B655C"/>
                          </a:solidFill>
                          <a:latin typeface="+mn-lt"/>
                          <a:cs typeface="+mn-lt"/>
                        </a:rPr>
                        <a:t>la valoración es del cargo, no de la persona · SG Compensaciones y Beneficios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7.1.2.15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Valoración del cargo y definición de bandas salariales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5"/>
                  </a:ext>
                </a:extLst>
              </a:tr>
              <a:tr h="309474">
                <a:tc>
                  <a:txBody>
                    <a:bodyPr/>
                    <a:lstStyle/>
                    <a:p>
                      <a:pPr algn="ctr">
                        <a:lnSpc>
                          <a:spcPct val="90000"/>
                        </a:lnSpc>
                        <a:buNone/>
                      </a:pPr>
                      <a:r>
                        <a:rPr lang="es-CL" sz="850" b="1" dirty="0">
                          <a:solidFill>
                            <a:srgbClr val="3F3A33"/>
                          </a:solidFill>
                          <a:latin typeface="+mn-lt"/>
                          <a:cs typeface="+mn-lt"/>
                        </a:rPr>
                        <a:t>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Registrar el grado en el código de posición del cargo</a:t>
                      </a:r>
                    </a:p>
                    <a:p>
                      <a:pPr algn="l">
                        <a:lnSpc>
                          <a:spcPct val="90000"/>
                        </a:lnSpc>
                        <a:spcBef>
                          <a:spcPts val="150"/>
                        </a:spcBef>
                        <a:buNone/>
                      </a:pPr>
                      <a:r>
                        <a:rPr lang="es-CL" sz="750" dirty="0">
                          <a:solidFill>
                            <a:srgbClr val="6B655C"/>
                          </a:solidFill>
                          <a:latin typeface="+mn-lt"/>
                          <a:cs typeface="+mn-lt"/>
                        </a:rPr>
                        <a:t>SG Compensaciones y Beneficios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7.2.5.3.1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Valoración del cargo y definición de bandas salariales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6"/>
                  </a:ext>
                </a:extLst>
              </a:tr>
              <a:tr h="204889">
                <a:tc>
                  <a:txBody>
                    <a:bodyPr/>
                    <a:lstStyle/>
                    <a:p>
                      <a:pPr algn="ctr">
                        <a:lnSpc>
                          <a:spcPct val="90000"/>
                        </a:lnSpc>
                        <a:buNone/>
                      </a:pPr>
                      <a:r>
                        <a:rPr lang="es-CL" sz="850" b="1" dirty="0">
                          <a:solidFill>
                            <a:srgbClr val="3F3A33"/>
                          </a:solidFill>
                          <a:latin typeface="+mn-lt"/>
                          <a:cs typeface="+mn-lt"/>
                        </a:rPr>
                        <a:t>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Analizar bandas salariales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7.1.2.2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Administración periódica del marco de compensación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7"/>
                  </a:ext>
                </a:extLst>
              </a:tr>
              <a:tr h="204889">
                <a:tc>
                  <a:txBody>
                    <a:bodyPr/>
                    <a:lstStyle/>
                    <a:p>
                      <a:pPr algn="ctr">
                        <a:lnSpc>
                          <a:spcPct val="90000"/>
                        </a:lnSpc>
                        <a:buNone/>
                      </a:pPr>
                      <a:r>
                        <a:rPr lang="es-CL" sz="850" b="1" dirty="0">
                          <a:solidFill>
                            <a:srgbClr val="3F3A33"/>
                          </a:solidFill>
                          <a:latin typeface="+mn-lt"/>
                          <a:cs typeface="+mn-lt"/>
                        </a:rPr>
                        <a:t>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Definir la banda de renta asociada a cada grado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7.1.2.2.1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Administración periódica del marco de compensación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8"/>
                  </a:ext>
                </a:extLst>
              </a:tr>
              <a:tr h="204889">
                <a:tc>
                  <a:txBody>
                    <a:bodyPr/>
                    <a:lstStyle/>
                    <a:p>
                      <a:pPr algn="ctr">
                        <a:lnSpc>
                          <a:spcPct val="90000"/>
                        </a:lnSpc>
                        <a:buNone/>
                      </a:pPr>
                      <a:r>
                        <a:rPr lang="es-CL" sz="850" b="1" dirty="0">
                          <a:solidFill>
                            <a:srgbClr val="3F3A33"/>
                          </a:solidFill>
                          <a:latin typeface="+mn-lt"/>
                          <a:cs typeface="+mn-lt"/>
                        </a:rPr>
                        <a:t>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Revisar coherencia contra presupuesto disponible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7.1.2.2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Administración periódica del marco de compensación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9"/>
                  </a:ext>
                </a:extLst>
              </a:tr>
              <a:tr h="323418">
                <a:tc>
                  <a:txBody>
                    <a:bodyPr/>
                    <a:lstStyle/>
                    <a:p>
                      <a:pPr algn="ctr">
                        <a:lnSpc>
                          <a:spcPct val="90000"/>
                        </a:lnSpc>
                        <a:buNone/>
                      </a:pPr>
                      <a:r>
                        <a:rPr lang="es-CL" sz="850" b="1" dirty="0">
                          <a:solidFill>
                            <a:srgbClr val="3F3A33"/>
                          </a:solidFill>
                          <a:latin typeface="+mn-lt"/>
                          <a:cs typeface="+mn-lt"/>
                        </a:rPr>
                        <a:t>10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Validar y aprobar la estructura de compensaciones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7.1.2.2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Gobierno y publicación del marco de compensaciones — Nombre del subproceso propuesto según APQC 7.5.1.8 y 7.1.2.11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10"/>
                  </a:ext>
                </a:extLst>
              </a:tr>
              <a:tr h="204889">
                <a:tc>
                  <a:txBody>
                    <a:bodyPr/>
                    <a:lstStyle/>
                    <a:p>
                      <a:pPr algn="ctr">
                        <a:lnSpc>
                          <a:spcPct val="90000"/>
                        </a:lnSpc>
                        <a:buNone/>
                      </a:pPr>
                      <a:r>
                        <a:rPr lang="es-CL" sz="850" b="1" dirty="0">
                          <a:solidFill>
                            <a:srgbClr val="3F3A33"/>
                          </a:solidFill>
                          <a:latin typeface="+mn-lt"/>
                          <a:cs typeface="+mn-lt"/>
                        </a:rPr>
                        <a:t>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Publicar esquema de compensaciones y rango de renta por cargo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7.1.2.2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Gobierno y publicación del marco de compensaciones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11"/>
                  </a:ext>
                </a:extLst>
              </a:tr>
              <a:tr h="428003">
                <a:tc>
                  <a:txBody>
                    <a:bodyPr/>
                    <a:lstStyle/>
                    <a:p>
                      <a:pPr algn="ctr">
                        <a:lnSpc>
                          <a:spcPct val="90000"/>
                        </a:lnSpc>
                        <a:buNone/>
                      </a:pPr>
                      <a:r>
                        <a:rPr lang="es-CL" sz="850" b="1" dirty="0">
                          <a:solidFill>
                            <a:srgbClr val="3F3A33"/>
                          </a:solidFill>
                          <a:latin typeface="+mn-lt"/>
                          <a:cs typeface="+mn-lt"/>
                        </a:rPr>
                        <a:t>12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Revalorizar anualmente el valor en pesos de cada grado según IPC y ajustes internos</a:t>
                      </a:r>
                    </a:p>
                    <a:p>
                      <a:pPr algn="l">
                        <a:lnSpc>
                          <a:spcPct val="90000"/>
                        </a:lnSpc>
                        <a:spcBef>
                          <a:spcPts val="150"/>
                        </a:spcBef>
                        <a:buNone/>
                      </a:pPr>
                      <a:r>
                        <a:rPr lang="es-CL" sz="750" dirty="0">
                          <a:solidFill>
                            <a:srgbClr val="6B655C"/>
                          </a:solidFill>
                          <a:latin typeface="+mn-lt"/>
                          <a:cs typeface="+mn-lt"/>
                        </a:rPr>
                        <a:t>el grado no cambia, cambia su valor · SG Compensaciones y Beneficios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7.5.1.8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Gobierno y publicación del marco de compensaciones — Revisar con </a:t>
                      </a:r>
                      <a:r>
                        <a:rPr lang="es-CL" sz="850" dirty="0" err="1">
                          <a:solidFill>
                            <a:srgbClr val="A34100"/>
                          </a:solidFill>
                          <a:latin typeface="+mn-lt"/>
                          <a:cs typeface="+mn-lt"/>
                        </a:rPr>
                        <a:t>Lider</a:t>
                      </a:r>
                      <a:r>
                        <a:rPr lang="es-CL" sz="850" dirty="0">
                          <a:solidFill>
                            <a:srgbClr val="A34100"/>
                          </a:solidFill>
                          <a:latin typeface="+mn-lt"/>
                          <a:cs typeface="+mn-lt"/>
                        </a:rPr>
                        <a:t> Mejora Continua: por contenido podría pertenecer al subproceso 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12"/>
                  </a:ext>
                </a:extLst>
              </a:tr>
              <a:tr h="428003">
                <a:tc>
                  <a:txBody>
                    <a:bodyPr/>
                    <a:lstStyle/>
                    <a:p>
                      <a:pPr algn="ctr">
                        <a:lnSpc>
                          <a:spcPct val="90000"/>
                        </a:lnSpc>
                        <a:buNone/>
                      </a:pPr>
                      <a:r>
                        <a:rPr lang="es-CL" sz="850" b="1" dirty="0">
                          <a:solidFill>
                            <a:srgbClr val="3F3A33"/>
                          </a:solidFill>
                          <a:latin typeface="+mn-lt"/>
                          <a:cs typeface="+mn-lt"/>
                        </a:rPr>
                        <a:t>13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Administrar el marco de compensaciones transversalmente en celulosa, madera y forestal, ajustando la magnitud</a:t>
                      </a:r>
                    </a:p>
                    <a:p>
                      <a:pPr algn="l">
                        <a:lnSpc>
                          <a:spcPct val="90000"/>
                        </a:lnSpc>
                        <a:spcBef>
                          <a:spcPts val="150"/>
                        </a:spcBef>
                        <a:buNone/>
                      </a:pPr>
                      <a:r>
                        <a:rPr lang="es-CL" sz="750" dirty="0">
                          <a:solidFill>
                            <a:srgbClr val="6B655C"/>
                          </a:solidFill>
                          <a:latin typeface="+mn-lt"/>
                          <a:cs typeface="+mn-lt"/>
                        </a:rPr>
                        <a:t>SG Compensaciones y Beneficios · transversal a los 3 negocios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7.1.2.11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Gobierno y publicación del marco de compensaciones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P3 · Apertura del proceso| </a:t>
            </a:r>
            <a:r>
              <a:rPr lang="es-CL" sz="2000" dirty="0">
                <a:solidFill>
                  <a:srgbClr val="A34100"/>
                </a:solidFill>
                <a:latin typeface="+mn-lt"/>
                <a:cs typeface="+mn-lt"/>
              </a:rPr>
              <a:t>Atracción y selección de personas</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APQC 7.2 · fases 3 a 10    ·    proceso propuesta    ·    El proceso padre de la fase 3 estaba sin definir: se propone este.</a:t>
            </a:r>
          </a:p>
        </p:txBody>
      </p:sp>
      <p:sp>
        <p:nvSpPr>
          <p:cNvPr id="11" name="Subproceso 11"/>
          <p:cNvSpPr/>
          <p:nvPr/>
        </p:nvSpPr>
        <p:spPr>
          <a:xfrm>
            <a:off x="630000" y="1475274"/>
            <a:ext cx="2106670" cy="496532"/>
          </a:xfrm>
          <a:prstGeom prst="roundRect">
            <a:avLst>
              <a:gd name="adj" fmla="val 4000"/>
            </a:avLst>
          </a:prstGeom>
          <a:solidFill>
            <a:srgbClr val="A34100"/>
          </a:solidFill>
          <a:ln>
            <a:noFill/>
          </a:ln>
        </p:spPr>
        <p:txBody>
          <a:bodyPr wrap="square" lIns="63500" tIns="63500" rIns="63500" bIns="63500" anchor="ctr">
            <a:noAutofit/>
          </a:bodyPr>
          <a:lstStyle/>
          <a:p>
            <a:pPr algn="l">
              <a:lnSpc>
                <a:spcPct val="90000"/>
              </a:lnSpc>
              <a:buNone/>
            </a:pPr>
            <a:r>
              <a:rPr lang="es-CL" sz="750" b="1" dirty="0">
                <a:solidFill>
                  <a:srgbClr val="F7E2D2"/>
                </a:solidFill>
                <a:latin typeface="+mn-lt"/>
                <a:cs typeface="+mn-lt"/>
              </a:rPr>
              <a:t>Subproceso 1  ·  F3</a:t>
            </a:r>
          </a:p>
          <a:p>
            <a:pPr algn="l">
              <a:lnSpc>
                <a:spcPct val="90000"/>
              </a:lnSpc>
              <a:spcBef>
                <a:spcPts val="200"/>
              </a:spcBef>
              <a:buNone/>
            </a:pPr>
            <a:r>
              <a:rPr lang="es-CL" sz="950" b="1" dirty="0">
                <a:solidFill>
                  <a:srgbClr val="FFFFFF"/>
                </a:solidFill>
                <a:latin typeface="+mn-lt"/>
                <a:cs typeface="+mn-lt"/>
              </a:rPr>
              <a:t>Requisición y apertura de vacante</a:t>
            </a:r>
          </a:p>
        </p:txBody>
      </p:sp>
      <p:sp>
        <p:nvSpPr>
          <p:cNvPr id="12" name="Chip 12"/>
          <p:cNvSpPr/>
          <p:nvPr/>
        </p:nvSpPr>
        <p:spPr>
          <a:xfrm>
            <a:off x="630000" y="2071806"/>
            <a:ext cx="2106670" cy="508000"/>
          </a:xfrm>
          <a:prstGeom prst="roundRect">
            <a:avLst>
              <a:gd name="adj" fmla="val 4000"/>
            </a:avLst>
          </a:prstGeom>
          <a:solidFill>
            <a:srgbClr val="F1F1F2"/>
          </a:solidFill>
          <a:ln w="9525" cap="flat">
            <a:solidFill>
              <a:srgbClr val="9A9B9F"/>
            </a:solidFill>
            <a:prstDash val="dash"/>
          </a:ln>
        </p:spPr>
        <p:txBody>
          <a:bodyPr wrap="square" lIns="57150" tIns="57150" rIns="57150" bIns="57150" anchor="ctr">
            <a:noAutofit/>
          </a:bodyPr>
          <a:lstStyle/>
          <a:p>
            <a:pPr algn="l">
              <a:lnSpc>
                <a:spcPct val="90000"/>
              </a:lnSpc>
              <a:buNone/>
            </a:pPr>
            <a:r>
              <a:rPr lang="es-CL" sz="750" dirty="0">
                <a:solidFill>
                  <a:srgbClr val="55565A"/>
                </a:solidFill>
                <a:latin typeface="+mn-lt"/>
                <a:cs typeface="+mn-lt"/>
              </a:rPr>
              <a:t>Cajas 1 a 15 sin agrupar todavía</a:t>
            </a:r>
          </a:p>
          <a:p>
            <a:pPr algn="l">
              <a:lnSpc>
                <a:spcPct val="90000"/>
              </a:lnSpc>
              <a:spcBef>
                <a:spcPts val="200"/>
              </a:spcBef>
              <a:buNone/>
            </a:pPr>
            <a:r>
              <a:rPr lang="es-CL" sz="650" dirty="0">
                <a:solidFill>
                  <a:srgbClr val="6B655C"/>
                </a:solidFill>
                <a:latin typeface="+mn-lt"/>
                <a:cs typeface="+mn-lt"/>
              </a:rPr>
              <a:t>15 cajas  ·  jerarquía interna pendiente</a:t>
            </a:r>
          </a:p>
        </p:txBody>
      </p:sp>
      <p:sp>
        <p:nvSpPr>
          <p:cNvPr id="13" name="Subproceso 13"/>
          <p:cNvSpPr/>
          <p:nvPr/>
        </p:nvSpPr>
        <p:spPr>
          <a:xfrm>
            <a:off x="2836670" y="1475274"/>
            <a:ext cx="2106670" cy="496532"/>
          </a:xfrm>
          <a:prstGeom prst="roundRect">
            <a:avLst>
              <a:gd name="adj" fmla="val 4000"/>
            </a:avLst>
          </a:prstGeom>
          <a:solidFill>
            <a:srgbClr val="A34100"/>
          </a:solidFill>
          <a:ln w="9525" cap="flat">
            <a:solidFill>
              <a:srgbClr val="FFD9BC"/>
            </a:solidFill>
            <a:prstDash val="dash"/>
          </a:ln>
        </p:spPr>
        <p:txBody>
          <a:bodyPr wrap="square" lIns="63500" tIns="63500" rIns="63500" bIns="63500" anchor="ctr">
            <a:noAutofit/>
          </a:bodyPr>
          <a:lstStyle/>
          <a:p>
            <a:pPr algn="l">
              <a:lnSpc>
                <a:spcPct val="90000"/>
              </a:lnSpc>
              <a:buNone/>
            </a:pPr>
            <a:r>
              <a:rPr lang="es-CL" sz="750" b="1" dirty="0">
                <a:solidFill>
                  <a:srgbClr val="F7E2D2"/>
                </a:solidFill>
                <a:latin typeface="+mn-lt"/>
                <a:cs typeface="+mn-lt"/>
              </a:rPr>
              <a:t>Subproceso 2  ·  F4 · F5</a:t>
            </a:r>
          </a:p>
          <a:p>
            <a:pPr algn="l">
              <a:lnSpc>
                <a:spcPct val="90000"/>
              </a:lnSpc>
              <a:spcBef>
                <a:spcPts val="200"/>
              </a:spcBef>
              <a:buNone/>
            </a:pPr>
            <a:r>
              <a:rPr lang="es-CL" sz="950" b="1" dirty="0">
                <a:solidFill>
                  <a:srgbClr val="FFFFFF"/>
                </a:solidFill>
                <a:latin typeface="+mn-lt"/>
                <a:cs typeface="+mn-lt"/>
              </a:rPr>
              <a:t>Reclutamiento y preselección</a:t>
            </a:r>
          </a:p>
        </p:txBody>
      </p:sp>
      <p:sp>
        <p:nvSpPr>
          <p:cNvPr id="14" name="Chip 14"/>
          <p:cNvSpPr/>
          <p:nvPr/>
        </p:nvSpPr>
        <p:spPr>
          <a:xfrm>
            <a:off x="2836670" y="2071806"/>
            <a:ext cx="2106670" cy="508000"/>
          </a:xfrm>
          <a:prstGeom prst="roundRect">
            <a:avLst>
              <a:gd name="adj" fmla="val 4000"/>
            </a:avLst>
          </a:prstGeom>
          <a:solidFill>
            <a:srgbClr val="FFFFFF"/>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Actividad · Reclutamiento y selección</a:t>
            </a:r>
          </a:p>
          <a:p>
            <a:pPr algn="l">
              <a:lnSpc>
                <a:spcPct val="90000"/>
              </a:lnSpc>
              <a:spcBef>
                <a:spcPts val="200"/>
              </a:spcBef>
              <a:buNone/>
            </a:pPr>
            <a:r>
              <a:rPr lang="es-CL" sz="650" dirty="0">
                <a:solidFill>
                  <a:srgbClr val="6B655C"/>
                </a:solidFill>
                <a:latin typeface="+mn-lt"/>
                <a:cs typeface="+mn-lt"/>
              </a:rPr>
              <a:t>cajas 1–9  ·  9 tareas</a:t>
            </a:r>
          </a:p>
        </p:txBody>
      </p:sp>
      <p:sp>
        <p:nvSpPr>
          <p:cNvPr id="15" name="Chip 15"/>
          <p:cNvSpPr/>
          <p:nvPr/>
        </p:nvSpPr>
        <p:spPr>
          <a:xfrm>
            <a:off x="2836670" y="2629806"/>
            <a:ext cx="2106670" cy="508000"/>
          </a:xfrm>
          <a:prstGeom prst="roundRect">
            <a:avLst>
              <a:gd name="adj" fmla="val 4000"/>
            </a:avLst>
          </a:prstGeom>
          <a:solidFill>
            <a:srgbClr val="FFFFFF"/>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Actividad · Revisión del área solicitante</a:t>
            </a:r>
          </a:p>
          <a:p>
            <a:pPr algn="l">
              <a:lnSpc>
                <a:spcPct val="90000"/>
              </a:lnSpc>
              <a:spcBef>
                <a:spcPts val="200"/>
              </a:spcBef>
              <a:buNone/>
            </a:pPr>
            <a:r>
              <a:rPr lang="es-CL" sz="650" dirty="0">
                <a:solidFill>
                  <a:srgbClr val="6B655C"/>
                </a:solidFill>
                <a:latin typeface="+mn-lt"/>
                <a:cs typeface="+mn-lt"/>
              </a:rPr>
              <a:t>cajas 1–7  ·  7 tareas</a:t>
            </a:r>
          </a:p>
        </p:txBody>
      </p:sp>
      <p:sp>
        <p:nvSpPr>
          <p:cNvPr id="16" name="Subproceso 16"/>
          <p:cNvSpPr/>
          <p:nvPr/>
        </p:nvSpPr>
        <p:spPr>
          <a:xfrm>
            <a:off x="5043340" y="1475274"/>
            <a:ext cx="2106670" cy="496532"/>
          </a:xfrm>
          <a:prstGeom prst="roundRect">
            <a:avLst>
              <a:gd name="adj" fmla="val 4000"/>
            </a:avLst>
          </a:prstGeom>
          <a:solidFill>
            <a:srgbClr val="A34100"/>
          </a:solidFill>
          <a:ln w="9525" cap="flat">
            <a:solidFill>
              <a:srgbClr val="FFD9BC"/>
            </a:solidFill>
            <a:prstDash val="dash"/>
          </a:ln>
        </p:spPr>
        <p:txBody>
          <a:bodyPr wrap="square" lIns="63500" tIns="63500" rIns="63500" bIns="63500" anchor="ctr">
            <a:noAutofit/>
          </a:bodyPr>
          <a:lstStyle/>
          <a:p>
            <a:pPr algn="l">
              <a:lnSpc>
                <a:spcPct val="90000"/>
              </a:lnSpc>
              <a:buNone/>
            </a:pPr>
            <a:r>
              <a:rPr lang="es-CL" sz="750" b="1" dirty="0">
                <a:solidFill>
                  <a:srgbClr val="F7E2D2"/>
                </a:solidFill>
                <a:latin typeface="+mn-lt"/>
                <a:cs typeface="+mn-lt"/>
              </a:rPr>
              <a:t>Subproceso 3  ·  F6 · F7</a:t>
            </a:r>
          </a:p>
          <a:p>
            <a:pPr algn="l">
              <a:lnSpc>
                <a:spcPct val="90000"/>
              </a:lnSpc>
              <a:spcBef>
                <a:spcPts val="200"/>
              </a:spcBef>
              <a:buNone/>
            </a:pPr>
            <a:r>
              <a:rPr lang="es-CL" sz="950" b="1" dirty="0">
                <a:solidFill>
                  <a:srgbClr val="FFFFFF"/>
                </a:solidFill>
                <a:latin typeface="+mn-lt"/>
                <a:cs typeface="+mn-lt"/>
              </a:rPr>
              <a:t>Evaluación y selección de candidatos</a:t>
            </a:r>
          </a:p>
        </p:txBody>
      </p:sp>
      <p:sp>
        <p:nvSpPr>
          <p:cNvPr id="17" name="Chip 17"/>
          <p:cNvSpPr/>
          <p:nvPr/>
        </p:nvSpPr>
        <p:spPr>
          <a:xfrm>
            <a:off x="5043340" y="2071806"/>
            <a:ext cx="2106670" cy="508000"/>
          </a:xfrm>
          <a:prstGeom prst="roundRect">
            <a:avLst>
              <a:gd name="adj" fmla="val 4000"/>
            </a:avLst>
          </a:prstGeom>
          <a:solidFill>
            <a:srgbClr val="FFFFFF"/>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Actividad · Evaluación de selección · psicolaboral</a:t>
            </a:r>
          </a:p>
          <a:p>
            <a:pPr algn="l">
              <a:lnSpc>
                <a:spcPct val="90000"/>
              </a:lnSpc>
              <a:spcBef>
                <a:spcPts val="200"/>
              </a:spcBef>
              <a:buNone/>
            </a:pPr>
            <a:r>
              <a:rPr lang="es-CL" sz="650" dirty="0">
                <a:solidFill>
                  <a:srgbClr val="6B655C"/>
                </a:solidFill>
                <a:latin typeface="+mn-lt"/>
                <a:cs typeface="+mn-lt"/>
              </a:rPr>
              <a:t>cajas 1–11  ·  11 tareas</a:t>
            </a:r>
          </a:p>
        </p:txBody>
      </p:sp>
      <p:sp>
        <p:nvSpPr>
          <p:cNvPr id="18" name="Chip 18"/>
          <p:cNvSpPr/>
          <p:nvPr/>
        </p:nvSpPr>
        <p:spPr>
          <a:xfrm>
            <a:off x="5043340" y="2629806"/>
            <a:ext cx="2106670" cy="508000"/>
          </a:xfrm>
          <a:prstGeom prst="roundRect">
            <a:avLst>
              <a:gd name="adj" fmla="val 4000"/>
            </a:avLst>
          </a:prstGeom>
          <a:solidFill>
            <a:srgbClr val="FFFFFF"/>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Actividad · Evaluación del área solicitante</a:t>
            </a:r>
          </a:p>
          <a:p>
            <a:pPr algn="l">
              <a:lnSpc>
                <a:spcPct val="90000"/>
              </a:lnSpc>
              <a:spcBef>
                <a:spcPts val="200"/>
              </a:spcBef>
              <a:buNone/>
            </a:pPr>
            <a:r>
              <a:rPr lang="es-CL" sz="650" dirty="0">
                <a:solidFill>
                  <a:srgbClr val="6B655C"/>
                </a:solidFill>
                <a:latin typeface="+mn-lt"/>
                <a:cs typeface="+mn-lt"/>
              </a:rPr>
              <a:t>cajas 1–10  ·  10 tareas</a:t>
            </a:r>
          </a:p>
        </p:txBody>
      </p:sp>
      <p:sp>
        <p:nvSpPr>
          <p:cNvPr id="19" name="Subproceso 19"/>
          <p:cNvSpPr/>
          <p:nvPr/>
        </p:nvSpPr>
        <p:spPr>
          <a:xfrm>
            <a:off x="7250010" y="1475274"/>
            <a:ext cx="2106670" cy="496532"/>
          </a:xfrm>
          <a:prstGeom prst="roundRect">
            <a:avLst>
              <a:gd name="adj" fmla="val 4000"/>
            </a:avLst>
          </a:prstGeom>
          <a:solidFill>
            <a:srgbClr val="A34100"/>
          </a:solidFill>
          <a:ln w="9525" cap="flat">
            <a:solidFill>
              <a:srgbClr val="FFD9BC"/>
            </a:solidFill>
            <a:prstDash val="dash"/>
          </a:ln>
        </p:spPr>
        <p:txBody>
          <a:bodyPr wrap="square" lIns="63500" tIns="63500" rIns="63500" bIns="63500" anchor="ctr">
            <a:noAutofit/>
          </a:bodyPr>
          <a:lstStyle/>
          <a:p>
            <a:pPr algn="l">
              <a:lnSpc>
                <a:spcPct val="90000"/>
              </a:lnSpc>
              <a:buNone/>
            </a:pPr>
            <a:r>
              <a:rPr lang="es-CL" sz="750" b="1" dirty="0">
                <a:solidFill>
                  <a:srgbClr val="F7E2D2"/>
                </a:solidFill>
                <a:latin typeface="+mn-lt"/>
                <a:cs typeface="+mn-lt"/>
              </a:rPr>
              <a:t>Subproceso 4  ·  F8 · F9</a:t>
            </a:r>
          </a:p>
          <a:p>
            <a:pPr algn="l">
              <a:lnSpc>
                <a:spcPct val="90000"/>
              </a:lnSpc>
              <a:spcBef>
                <a:spcPts val="200"/>
              </a:spcBef>
              <a:buNone/>
            </a:pPr>
            <a:r>
              <a:rPr lang="es-CL" sz="950" b="1" dirty="0">
                <a:solidFill>
                  <a:srgbClr val="FFFFFF"/>
                </a:solidFill>
                <a:latin typeface="+mn-lt"/>
                <a:cs typeface="+mn-lt"/>
              </a:rPr>
              <a:t>Verificación preocupacional y contratación</a:t>
            </a:r>
          </a:p>
        </p:txBody>
      </p:sp>
      <p:sp>
        <p:nvSpPr>
          <p:cNvPr id="20" name="Chip 20"/>
          <p:cNvSpPr/>
          <p:nvPr/>
        </p:nvSpPr>
        <p:spPr>
          <a:xfrm>
            <a:off x="7250010" y="2071806"/>
            <a:ext cx="2106670" cy="508000"/>
          </a:xfrm>
          <a:prstGeom prst="roundRect">
            <a:avLst>
              <a:gd name="adj" fmla="val 4000"/>
            </a:avLst>
          </a:prstGeom>
          <a:solidFill>
            <a:srgbClr val="FFFFFF"/>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Actividad · Examen preocupacional</a:t>
            </a:r>
          </a:p>
          <a:p>
            <a:pPr algn="l">
              <a:lnSpc>
                <a:spcPct val="90000"/>
              </a:lnSpc>
              <a:spcBef>
                <a:spcPts val="200"/>
              </a:spcBef>
              <a:buNone/>
            </a:pPr>
            <a:r>
              <a:rPr lang="es-CL" sz="650" dirty="0">
                <a:solidFill>
                  <a:srgbClr val="6B655C"/>
                </a:solidFill>
                <a:latin typeface="+mn-lt"/>
                <a:cs typeface="+mn-lt"/>
              </a:rPr>
              <a:t>cajas 1–10  ·  10 tareas</a:t>
            </a:r>
          </a:p>
        </p:txBody>
      </p:sp>
      <p:sp>
        <p:nvSpPr>
          <p:cNvPr id="21" name="Chip 21"/>
          <p:cNvSpPr/>
          <p:nvPr/>
        </p:nvSpPr>
        <p:spPr>
          <a:xfrm>
            <a:off x="7250010" y="2629806"/>
            <a:ext cx="2106670" cy="508000"/>
          </a:xfrm>
          <a:prstGeom prst="roundRect">
            <a:avLst>
              <a:gd name="adj" fmla="val 4000"/>
            </a:avLst>
          </a:prstGeom>
          <a:solidFill>
            <a:srgbClr val="FFFFFF"/>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Actividad · Contratación y carta oferta</a:t>
            </a:r>
          </a:p>
          <a:p>
            <a:pPr algn="l">
              <a:lnSpc>
                <a:spcPct val="90000"/>
              </a:lnSpc>
              <a:spcBef>
                <a:spcPts val="200"/>
              </a:spcBef>
              <a:buNone/>
            </a:pPr>
            <a:r>
              <a:rPr lang="es-CL" sz="650" dirty="0">
                <a:solidFill>
                  <a:srgbClr val="6B655C"/>
                </a:solidFill>
                <a:latin typeface="+mn-lt"/>
                <a:cs typeface="+mn-lt"/>
              </a:rPr>
              <a:t>cajas 1–16  ·  16 tareas</a:t>
            </a:r>
          </a:p>
        </p:txBody>
      </p:sp>
      <p:sp>
        <p:nvSpPr>
          <p:cNvPr id="22" name="Subproceso 22"/>
          <p:cNvSpPr/>
          <p:nvPr/>
        </p:nvSpPr>
        <p:spPr>
          <a:xfrm>
            <a:off x="9456680" y="1475274"/>
            <a:ext cx="2106670" cy="496532"/>
          </a:xfrm>
          <a:prstGeom prst="roundRect">
            <a:avLst>
              <a:gd name="adj" fmla="val 4000"/>
            </a:avLst>
          </a:prstGeom>
          <a:solidFill>
            <a:srgbClr val="A34100"/>
          </a:solidFill>
          <a:ln w="9525" cap="flat">
            <a:solidFill>
              <a:srgbClr val="FFD9BC"/>
            </a:solidFill>
            <a:prstDash val="dash"/>
          </a:ln>
        </p:spPr>
        <p:txBody>
          <a:bodyPr wrap="square" lIns="63500" tIns="63500" rIns="63500" bIns="63500" anchor="ctr">
            <a:noAutofit/>
          </a:bodyPr>
          <a:lstStyle/>
          <a:p>
            <a:pPr algn="l">
              <a:lnSpc>
                <a:spcPct val="90000"/>
              </a:lnSpc>
              <a:buNone/>
            </a:pPr>
            <a:r>
              <a:rPr lang="es-CL" sz="750" b="1" dirty="0">
                <a:solidFill>
                  <a:srgbClr val="F7E2D2"/>
                </a:solidFill>
                <a:latin typeface="+mn-lt"/>
                <a:cs typeface="+mn-lt"/>
              </a:rPr>
              <a:t>Subproceso 5  ·  F10</a:t>
            </a:r>
          </a:p>
          <a:p>
            <a:pPr algn="l">
              <a:lnSpc>
                <a:spcPct val="90000"/>
              </a:lnSpc>
              <a:spcBef>
                <a:spcPts val="200"/>
              </a:spcBef>
              <a:buNone/>
            </a:pPr>
            <a:r>
              <a:rPr lang="es-CL" sz="950" b="1" dirty="0">
                <a:solidFill>
                  <a:srgbClr val="FFFFFF"/>
                </a:solidFill>
                <a:latin typeface="+mn-lt"/>
                <a:cs typeface="+mn-lt"/>
              </a:rPr>
              <a:t>Incorporación y onboarding</a:t>
            </a:r>
          </a:p>
        </p:txBody>
      </p:sp>
      <p:sp>
        <p:nvSpPr>
          <p:cNvPr id="23" name="Chip 23"/>
          <p:cNvSpPr/>
          <p:nvPr/>
        </p:nvSpPr>
        <p:spPr>
          <a:xfrm>
            <a:off x="9456680" y="2071806"/>
            <a:ext cx="2106670" cy="508000"/>
          </a:xfrm>
          <a:prstGeom prst="roundRect">
            <a:avLst>
              <a:gd name="adj" fmla="val 4000"/>
            </a:avLst>
          </a:prstGeom>
          <a:solidFill>
            <a:srgbClr val="FFFFFF"/>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Actividad · Onboarding e incorporación</a:t>
            </a:r>
          </a:p>
          <a:p>
            <a:pPr algn="l">
              <a:lnSpc>
                <a:spcPct val="90000"/>
              </a:lnSpc>
              <a:spcBef>
                <a:spcPts val="200"/>
              </a:spcBef>
              <a:buNone/>
            </a:pPr>
            <a:r>
              <a:rPr lang="es-CL" sz="650" dirty="0">
                <a:solidFill>
                  <a:srgbClr val="6B655C"/>
                </a:solidFill>
                <a:latin typeface="+mn-lt"/>
                <a:cs typeface="+mn-lt"/>
              </a:rPr>
              <a:t>cajas 1–8  ·  8 tareas</a:t>
            </a:r>
          </a:p>
        </p:txBody>
      </p:sp>
      <p:sp>
        <p:nvSpPr>
          <p:cNvPr id="24" name="Pendientes 24"/>
          <p:cNvSpPr/>
          <p:nvPr/>
        </p:nvSpPr>
        <p:spPr>
          <a:xfrm>
            <a:off x="630000" y="3227806"/>
            <a:ext cx="10933350" cy="877519"/>
          </a:xfrm>
          <a:prstGeom prst="roundRect">
            <a:avLst>
              <a:gd name="adj" fmla="val 2500"/>
            </a:avLst>
          </a:prstGeom>
          <a:solidFill>
            <a:srgbClr val="F6EDE4"/>
          </a:solidFill>
          <a:ln>
            <a:noFill/>
          </a:ln>
        </p:spPr>
        <p:txBody>
          <a:bodyPr wrap="square" lIns="76200" tIns="76200" rIns="76200" bIns="76200" anchor="ctr">
            <a:noAutofit/>
          </a:bodyPr>
          <a:lstStyle/>
          <a:p>
            <a:pPr algn="l">
              <a:lnSpc>
                <a:spcPct val="90000"/>
              </a:lnSpc>
              <a:buNone/>
            </a:pPr>
            <a:r>
              <a:rPr lang="es-CL" sz="950" b="1" dirty="0">
                <a:solidFill>
                  <a:srgbClr val="A34100"/>
                </a:solidFill>
                <a:latin typeface="+mn-lt"/>
                <a:cs typeface="+mn-lt"/>
              </a:rPr>
              <a:t>Qué falta definir en este proceso</a:t>
            </a:r>
          </a:p>
          <a:p>
            <a:pPr algn="l">
              <a:lnSpc>
                <a:spcPct val="90000"/>
              </a:lnSpc>
              <a:spcBef>
                <a:spcPts val="200"/>
              </a:spcBef>
              <a:buNone/>
            </a:pPr>
            <a:r>
              <a:rPr lang="es-CL" sz="850" dirty="0">
                <a:solidFill>
                  <a:srgbClr val="A34100"/>
                </a:solidFill>
                <a:latin typeface="+mn-lt"/>
                <a:cs typeface="+mn-lt"/>
              </a:rPr>
              <a:t>·  El proceso «Atracción y selección de personas» es una propuesta: APQC 7.2 · fases 3 a 10</a:t>
            </a:r>
          </a:p>
          <a:p>
            <a:pPr algn="l">
              <a:lnSpc>
                <a:spcPct val="90000"/>
              </a:lnSpc>
              <a:spcBef>
                <a:spcPts val="200"/>
              </a:spcBef>
              <a:buNone/>
            </a:pPr>
            <a:r>
              <a:rPr lang="es-CL" sz="850" dirty="0">
                <a:solidFill>
                  <a:srgbClr val="A34100"/>
                </a:solidFill>
                <a:latin typeface="+mn-lt"/>
                <a:cs typeface="+mn-lt"/>
              </a:rPr>
              <a:t>·  Nombre del subproceso «Reclutamiento y preselección» propuesto</a:t>
            </a:r>
          </a:p>
          <a:p>
            <a:pPr algn="l">
              <a:lnSpc>
                <a:spcPct val="90000"/>
              </a:lnSpc>
              <a:spcBef>
                <a:spcPts val="200"/>
              </a:spcBef>
              <a:buNone/>
            </a:pPr>
            <a:r>
              <a:rPr lang="es-CL" sz="850" dirty="0">
                <a:solidFill>
                  <a:srgbClr val="A34100"/>
                </a:solidFill>
                <a:latin typeface="+mn-lt"/>
                <a:cs typeface="+mn-lt"/>
              </a:rPr>
              <a:t>·  Nombre del subproceso «Evaluación y selección de candidatos» propuesto</a:t>
            </a:r>
          </a:p>
          <a:p>
            <a:pPr algn="l">
              <a:lnSpc>
                <a:spcPct val="90000"/>
              </a:lnSpc>
              <a:spcBef>
                <a:spcPts val="200"/>
              </a:spcBef>
              <a:buNone/>
            </a:pPr>
            <a:r>
              <a:rPr lang="es-CL" sz="850" dirty="0">
                <a:solidFill>
                  <a:srgbClr val="A34100"/>
                </a:solidFill>
                <a:latin typeface="+mn-lt"/>
                <a:cs typeface="+mn-lt"/>
              </a:rPr>
              <a:t>·  Nombre del subproceso «Verificación preocupacional y contratación» propuesto</a:t>
            </a:r>
          </a:p>
          <a:p>
            <a:pPr algn="l">
              <a:lnSpc>
                <a:spcPct val="90000"/>
              </a:lnSpc>
              <a:spcBef>
                <a:spcPts val="200"/>
              </a:spcBef>
              <a:buNone/>
            </a:pPr>
            <a:r>
              <a:rPr lang="es-CL" sz="850" dirty="0">
                <a:solidFill>
                  <a:srgbClr val="55565A"/>
                </a:solidFill>
                <a:latin typeface="+mn-lt"/>
                <a:cs typeface="+mn-lt"/>
              </a:rPr>
              <a:t>·  y 2 definiciones más: ver «Observaciones y tensiones detectadas»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P3 · F3 · Cajas del flujo| </a:t>
            </a:r>
            <a:r>
              <a:rPr lang="es-CL" sz="2000" dirty="0">
                <a:solidFill>
                  <a:srgbClr val="A34100"/>
                </a:solidFill>
                <a:latin typeface="+mn-lt"/>
                <a:cs typeface="+mn-lt"/>
              </a:rPr>
              <a:t>Requisición y apertura de vacante</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15 cajas numeradas  ·  1 decisión sin numerar  ·  proceso P3 · Atracción y selección de personas</a:t>
            </a:r>
          </a:p>
        </p:txBody>
      </p:sp>
      <p:graphicFrame>
        <p:nvGraphicFramePr>
          <p:cNvPr id="11" name="Tabla 11"/>
          <p:cNvGraphicFramePr>
            <a:graphicFrameLocks noGrp="1"/>
          </p:cNvGraphicFramePr>
          <p:nvPr/>
        </p:nvGraphicFramePr>
        <p:xfrm>
          <a:off x="630000" y="1475274"/>
          <a:ext cx="10933350" cy="2764802"/>
        </p:xfrm>
        <a:graphic>
          <a:graphicData uri="http://schemas.openxmlformats.org/drawingml/2006/table">
            <a:tbl>
              <a:tblPr firstRow="1"/>
              <a:tblGrid>
                <a:gridCol w="430000">
                  <a:extLst>
                    <a:ext uri="{9D8B030D-6E8A-4147-A177-3AD203B41FA5}">
                      <a16:colId xmlns:a16="http://schemas.microsoft.com/office/drawing/2014/main" val="20000"/>
                    </a:ext>
                  </a:extLst>
                </a:gridCol>
                <a:gridCol w="4320000">
                  <a:extLst>
                    <a:ext uri="{9D8B030D-6E8A-4147-A177-3AD203B41FA5}">
                      <a16:colId xmlns:a16="http://schemas.microsoft.com/office/drawing/2014/main" val="20001"/>
                    </a:ext>
                  </a:extLst>
                </a:gridCol>
                <a:gridCol w="780000">
                  <a:extLst>
                    <a:ext uri="{9D8B030D-6E8A-4147-A177-3AD203B41FA5}">
                      <a16:colId xmlns:a16="http://schemas.microsoft.com/office/drawing/2014/main" val="20002"/>
                    </a:ext>
                  </a:extLst>
                </a:gridCol>
                <a:gridCol w="1320000">
                  <a:extLst>
                    <a:ext uri="{9D8B030D-6E8A-4147-A177-3AD203B41FA5}">
                      <a16:colId xmlns:a16="http://schemas.microsoft.com/office/drawing/2014/main" val="20003"/>
                    </a:ext>
                  </a:extLst>
                </a:gridCol>
                <a:gridCol w="4083350">
                  <a:extLst>
                    <a:ext uri="{9D8B030D-6E8A-4147-A177-3AD203B41FA5}">
                      <a16:colId xmlns:a16="http://schemas.microsoft.com/office/drawing/2014/main" val="20004"/>
                    </a:ext>
                  </a:extLst>
                </a:gridCol>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extLst>
                  <a:ext uri="{0D108BD9-81ED-4DB2-BD59-A6C34878D82A}">
                    <a16:rowId xmlns:a16="http://schemas.microsoft.com/office/drawing/2014/main" val="10000"/>
                  </a:ext>
                </a:extLst>
              </a:tr>
              <a:tr h="323418">
                <a:tc>
                  <a:txBody>
                    <a:bodyPr/>
                    <a:lstStyle/>
                    <a:p>
                      <a:pPr algn="ctr">
                        <a:lnSpc>
                          <a:spcPct val="90000"/>
                        </a:lnSpc>
                        <a:buNone/>
                      </a:pPr>
                      <a:r>
                        <a:rPr lang="es-CL" sz="850" b="1" dirty="0">
                          <a:solidFill>
                            <a:srgbClr val="3F3A33"/>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Verificar disponibilidad de la vacante con el área de Personas</a:t>
                      </a:r>
                    </a:p>
                    <a:p>
                      <a:pPr algn="l">
                        <a:lnSpc>
                          <a:spcPct val="90000"/>
                        </a:lnSpc>
                        <a:spcBef>
                          <a:spcPts val="150"/>
                        </a:spcBef>
                        <a:buNone/>
                      </a:pPr>
                      <a:r>
                        <a:rPr lang="es-CL" sz="750" dirty="0">
                          <a:solidFill>
                            <a:srgbClr val="6B655C"/>
                          </a:solidFill>
                          <a:latin typeface="+mn-lt"/>
                          <a:cs typeface="+mn-lt"/>
                        </a:rPr>
                        <a:t>Área Solicitante · garantiza Generalista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7.2.1.1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Requisición y apertura de vacante — Definir qué cajas son actividades y qué cajas son tareas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extLst>
                  <a:ext uri="{0D108BD9-81ED-4DB2-BD59-A6C34878D82A}">
                    <a16:rowId xmlns:a16="http://schemas.microsoft.com/office/drawing/2014/main" val="10001"/>
                  </a:ext>
                </a:extLst>
              </a:tr>
              <a:tr h="309474">
                <a:tc>
                  <a:txBody>
                    <a:bodyPr/>
                    <a:lstStyle/>
                    <a:p>
                      <a:pPr algn="ctr">
                        <a:lnSpc>
                          <a:spcPct val="90000"/>
                        </a:lnSpc>
                        <a:buNone/>
                      </a:pPr>
                      <a:r>
                        <a:rPr lang="es-CL" sz="850" b="1" dirty="0">
                          <a:solidFill>
                            <a:srgbClr val="3F3A33"/>
                          </a:solidFill>
                          <a:latin typeface="+mn-lt"/>
                          <a:cs typeface="+mn-lt"/>
                        </a:rPr>
                        <a:t>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Comunicar el requerimiento a EP y A&amp;S: cargo y N° de vacantes</a:t>
                      </a:r>
                    </a:p>
                    <a:p>
                      <a:pPr algn="l">
                        <a:lnSpc>
                          <a:spcPct val="90000"/>
                        </a:lnSpc>
                        <a:spcBef>
                          <a:spcPts val="150"/>
                        </a:spcBef>
                        <a:buNone/>
                      </a:pPr>
                      <a:r>
                        <a:rPr lang="es-CL" sz="750" dirty="0">
                          <a:solidFill>
                            <a:srgbClr val="6B655C"/>
                          </a:solidFill>
                          <a:latin typeface="+mn-lt"/>
                          <a:cs typeface="+mn-lt"/>
                        </a:rPr>
                        <a:t>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7.2.1.2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Requisición y apertura de vacante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extLst>
                  <a:ext uri="{0D108BD9-81ED-4DB2-BD59-A6C34878D82A}">
                    <a16:rowId xmlns:a16="http://schemas.microsoft.com/office/drawing/2014/main" val="10002"/>
                  </a:ext>
                </a:extLst>
              </a:tr>
              <a:tr h="309474">
                <a:tc>
                  <a:txBody>
                    <a:bodyPr/>
                    <a:lstStyle/>
                    <a:p>
                      <a:pPr algn="ctr">
                        <a:lnSpc>
                          <a:spcPct val="90000"/>
                        </a:lnSpc>
                        <a:buNone/>
                      </a:pPr>
                      <a:r>
                        <a:rPr lang="es-CL" sz="850" b="1" dirty="0">
                          <a:solidFill>
                            <a:srgbClr val="3F3A33"/>
                          </a:solidFill>
                          <a:latin typeface="+mn-lt"/>
                          <a:cs typeface="+mn-lt"/>
                        </a:rPr>
                        <a:t>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Recibir la necesidad de personal</a:t>
                      </a:r>
                    </a:p>
                    <a:p>
                      <a:pPr algn="l">
                        <a:lnSpc>
                          <a:spcPct val="90000"/>
                        </a:lnSpc>
                        <a:spcBef>
                          <a:spcPts val="150"/>
                        </a:spcBef>
                        <a:buNone/>
                      </a:pPr>
                      <a:r>
                        <a:rPr lang="es-CL" sz="750" dirty="0">
                          <a:solidFill>
                            <a:srgbClr val="6B655C"/>
                          </a:solidFill>
                          <a:latin typeface="+mn-lt"/>
                          <a:cs typeface="+mn-lt"/>
                        </a:rPr>
                        <a:t>Equipo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Requisición y apertura de vacante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extLst>
                  <a:ext uri="{0D108BD9-81ED-4DB2-BD59-A6C34878D82A}">
                    <a16:rowId xmlns:a16="http://schemas.microsoft.com/office/drawing/2014/main" val="10003"/>
                  </a:ext>
                </a:extLst>
              </a:tr>
              <a:tr h="204889">
                <a:tc>
                  <a:txBody>
                    <a:bodyPr/>
                    <a:lstStyle/>
                    <a:p>
                      <a:pPr algn="ctr">
                        <a:lnSpc>
                          <a:spcPct val="90000"/>
                        </a:lnSpc>
                        <a:buNone/>
                      </a:pPr>
                      <a:r>
                        <a:rPr lang="es-CL" sz="850" b="1" dirty="0">
                          <a:solidFill>
                            <a:srgbClr val="3F3A33"/>
                          </a:solidFill>
                          <a:latin typeface="+mn-lt"/>
                          <a:cs typeface="+mn-lt"/>
                        </a:rPr>
                        <a:t>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Priorizar la necesidad según urgencia en reunión de inicio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Requisición y apertura de vacante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extLst>
                  <a:ext uri="{0D108BD9-81ED-4DB2-BD59-A6C34878D82A}">
                    <a16:rowId xmlns:a16="http://schemas.microsoft.com/office/drawing/2014/main" val="10004"/>
                  </a:ext>
                </a:extLst>
              </a:tr>
              <a:tr h="428003">
                <a:tc>
                  <a:txBody>
                    <a:bodyPr/>
                    <a:lstStyle/>
                    <a:p>
                      <a:pPr algn="ctr">
                        <a:lnSpc>
                          <a:spcPct val="90000"/>
                        </a:lnSpc>
                        <a:buNone/>
                      </a:pPr>
                      <a:r>
                        <a:rPr lang="es-CL" sz="850" b="1" dirty="0">
                          <a:solidFill>
                            <a:srgbClr val="3F3A33"/>
                          </a:solidFill>
                          <a:latin typeface="+mn-lt"/>
                          <a:cs typeface="+mn-lt"/>
                        </a:rPr>
                        <a:t>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Disponer rango de renta, posición vacante en organigrama, perfil de cargo, condiciones contractuales, movilización, turnos y horarios</a:t>
                      </a:r>
                    </a:p>
                    <a:p>
                      <a:pPr algn="l">
                        <a:lnSpc>
                          <a:spcPct val="90000"/>
                        </a:lnSpc>
                        <a:spcBef>
                          <a:spcPts val="150"/>
                        </a:spcBef>
                        <a:buNone/>
                      </a:pPr>
                      <a:r>
                        <a:rPr lang="es-CL" sz="750" dirty="0">
                          <a:solidFill>
                            <a:srgbClr val="6B655C"/>
                          </a:solidFill>
                          <a:latin typeface="+mn-lt"/>
                          <a:cs typeface="+mn-lt"/>
                        </a:rPr>
                        <a:t>EP</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7.2.1.2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Requisición y apertura de vacante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extLst>
                  <a:ext uri="{0D108BD9-81ED-4DB2-BD59-A6C34878D82A}">
                    <a16:rowId xmlns:a16="http://schemas.microsoft.com/office/drawing/2014/main" val="10005"/>
                  </a:ext>
                </a:extLst>
              </a:tr>
              <a:tr h="309474">
                <a:tc>
                  <a:txBody>
                    <a:bodyPr/>
                    <a:lstStyle/>
                    <a:p>
                      <a:pPr algn="ctr">
                        <a:lnSpc>
                          <a:spcPct val="90000"/>
                        </a:lnSpc>
                        <a:buNone/>
                      </a:pPr>
                      <a:r>
                        <a:rPr lang="es-CL" sz="850" b="1" dirty="0">
                          <a:solidFill>
                            <a:srgbClr val="3F3A33"/>
                          </a:solidFill>
                          <a:latin typeface="+mn-lt"/>
                          <a:cs typeface="+mn-lt"/>
                        </a:rPr>
                        <a:t>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Abrir el proceso desde el organigrama de posiciones en SSFF</a:t>
                      </a:r>
                    </a:p>
                    <a:p>
                      <a:pPr algn="l">
                        <a:lnSpc>
                          <a:spcPct val="90000"/>
                        </a:lnSpc>
                        <a:spcBef>
                          <a:spcPts val="150"/>
                        </a:spcBef>
                        <a:buNone/>
                      </a:pPr>
                      <a:r>
                        <a:rPr lang="es-CL" sz="750" dirty="0">
                          <a:solidFill>
                            <a:srgbClr val="6B655C"/>
                          </a:solidFill>
                          <a:latin typeface="+mn-lt"/>
                          <a:cs typeface="+mn-lt"/>
                        </a:rPr>
                        <a:t>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7.2.1.2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Requisición y apertura de vacante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extLst>
                  <a:ext uri="{0D108BD9-81ED-4DB2-BD59-A6C34878D82A}">
                    <a16:rowId xmlns:a16="http://schemas.microsoft.com/office/drawing/2014/main" val="10006"/>
                  </a:ext>
                </a:extLst>
              </a:tr>
              <a:tr h="309474">
                <a:tc>
                  <a:txBody>
                    <a:bodyPr/>
                    <a:lstStyle/>
                    <a:p>
                      <a:pPr algn="ctr">
                        <a:lnSpc>
                          <a:spcPct val="90000"/>
                        </a:lnSpc>
                        <a:buNone/>
                      </a:pPr>
                      <a:r>
                        <a:rPr lang="es-CL" sz="850" b="1" dirty="0">
                          <a:solidFill>
                            <a:srgbClr val="3F3A33"/>
                          </a:solidFill>
                          <a:latin typeface="+mn-lt"/>
                          <a:cs typeface="+mn-lt"/>
                        </a:rPr>
                        <a:t>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Aprobar incorporando los apartados de su área</a:t>
                      </a:r>
                    </a:p>
                    <a:p>
                      <a:pPr algn="l">
                        <a:lnSpc>
                          <a:spcPct val="90000"/>
                        </a:lnSpc>
                        <a:spcBef>
                          <a:spcPts val="150"/>
                        </a:spcBef>
                        <a:buNone/>
                      </a:pPr>
                      <a:r>
                        <a:rPr lang="es-CL" sz="750" dirty="0">
                          <a:solidFill>
                            <a:srgbClr val="6B655C"/>
                          </a:solidFill>
                          <a:latin typeface="+mn-lt"/>
                          <a:cs typeface="+mn-lt"/>
                        </a:rPr>
                        <a:t>Generalista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7.2.1.3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Requisición y apertura de vacante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extLst>
                  <a:ext uri="{0D108BD9-81ED-4DB2-BD59-A6C34878D82A}">
                    <a16:rowId xmlns:a16="http://schemas.microsoft.com/office/drawing/2014/main" val="10007"/>
                  </a:ext>
                </a:extLst>
              </a:tr>
              <a:tr h="309474">
                <a:tc>
                  <a:txBody>
                    <a:bodyPr/>
                    <a:lstStyle/>
                    <a:p>
                      <a:pPr algn="ctr">
                        <a:lnSpc>
                          <a:spcPct val="90000"/>
                        </a:lnSpc>
                        <a:buNone/>
                      </a:pPr>
                      <a:r>
                        <a:rPr lang="es-CL" sz="850" b="1" dirty="0">
                          <a:solidFill>
                            <a:srgbClr val="3F3A33"/>
                          </a:solidFill>
                          <a:latin typeface="+mn-lt"/>
                          <a:cs typeface="+mn-lt"/>
                        </a:rPr>
                        <a:t>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Completar los detalles de publicación</a:t>
                      </a:r>
                    </a:p>
                    <a:p>
                      <a:pPr algn="l">
                        <a:lnSpc>
                          <a:spcPct val="90000"/>
                        </a:lnSpc>
                        <a:spcBef>
                          <a:spcPts val="150"/>
                        </a:spcBef>
                        <a:buNone/>
                      </a:pPr>
                      <a:r>
                        <a:rPr lang="es-CL" sz="750" dirty="0">
                          <a:solidFill>
                            <a:srgbClr val="6B655C"/>
                          </a:solidFill>
                          <a:latin typeface="+mn-lt"/>
                          <a:cs typeface="+mn-lt"/>
                        </a:rPr>
                        <a:t>Equipo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7.2.1.4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Requisición y apertura de vacante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P3 · F3 · Cajas del flujo| </a:t>
            </a:r>
            <a:r>
              <a:rPr lang="es-CL" sz="2000" dirty="0">
                <a:solidFill>
                  <a:srgbClr val="A34100"/>
                </a:solidFill>
                <a:latin typeface="+mn-lt"/>
                <a:cs typeface="+mn-lt"/>
              </a:rPr>
              <a:t>Requisición y apertura de vacante · continuación</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6B655C"/>
                </a:solidFill>
                <a:latin typeface="+mn-lt"/>
                <a:cs typeface="+mn-lt"/>
              </a:rPr>
              <a:t>Continuación de la tabla anterior  ·  página 2 de 2</a:t>
            </a:r>
          </a:p>
        </p:txBody>
      </p:sp>
      <p:graphicFrame>
        <p:nvGraphicFramePr>
          <p:cNvPr id="11" name="Tabla 11"/>
          <p:cNvGraphicFramePr>
            <a:graphicFrameLocks noGrp="1"/>
          </p:cNvGraphicFramePr>
          <p:nvPr/>
        </p:nvGraphicFramePr>
        <p:xfrm>
          <a:off x="630000" y="1475274"/>
          <a:ext cx="10933350" cy="2881388"/>
        </p:xfrm>
        <a:graphic>
          <a:graphicData uri="http://schemas.openxmlformats.org/drawingml/2006/table">
            <a:tbl>
              <a:tblPr firstRow="1"/>
              <a:tblGrid>
                <a:gridCol w="430000">
                  <a:extLst>
                    <a:ext uri="{9D8B030D-6E8A-4147-A177-3AD203B41FA5}">
                      <a16:colId xmlns:a16="http://schemas.microsoft.com/office/drawing/2014/main" val="20000"/>
                    </a:ext>
                  </a:extLst>
                </a:gridCol>
                <a:gridCol w="4320000">
                  <a:extLst>
                    <a:ext uri="{9D8B030D-6E8A-4147-A177-3AD203B41FA5}">
                      <a16:colId xmlns:a16="http://schemas.microsoft.com/office/drawing/2014/main" val="20001"/>
                    </a:ext>
                  </a:extLst>
                </a:gridCol>
                <a:gridCol w="780000">
                  <a:extLst>
                    <a:ext uri="{9D8B030D-6E8A-4147-A177-3AD203B41FA5}">
                      <a16:colId xmlns:a16="http://schemas.microsoft.com/office/drawing/2014/main" val="20002"/>
                    </a:ext>
                  </a:extLst>
                </a:gridCol>
                <a:gridCol w="1320000">
                  <a:extLst>
                    <a:ext uri="{9D8B030D-6E8A-4147-A177-3AD203B41FA5}">
                      <a16:colId xmlns:a16="http://schemas.microsoft.com/office/drawing/2014/main" val="20003"/>
                    </a:ext>
                  </a:extLst>
                </a:gridCol>
                <a:gridCol w="4083350">
                  <a:extLst>
                    <a:ext uri="{9D8B030D-6E8A-4147-A177-3AD203B41FA5}">
                      <a16:colId xmlns:a16="http://schemas.microsoft.com/office/drawing/2014/main" val="20004"/>
                    </a:ext>
                  </a:extLst>
                </a:gridCol>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extLst>
                  <a:ext uri="{0D108BD9-81ED-4DB2-BD59-A6C34878D82A}">
                    <a16:rowId xmlns:a16="http://schemas.microsoft.com/office/drawing/2014/main" val="10000"/>
                  </a:ext>
                </a:extLst>
              </a:tr>
              <a:tr h="309474">
                <a:tc>
                  <a:txBody>
                    <a:bodyPr/>
                    <a:lstStyle/>
                    <a:p>
                      <a:pPr algn="ctr">
                        <a:lnSpc>
                          <a:spcPct val="90000"/>
                        </a:lnSpc>
                        <a:buNone/>
                      </a:pPr>
                      <a:r>
                        <a:rPr lang="es-CL" sz="850" b="1" dirty="0">
                          <a:solidFill>
                            <a:srgbClr val="3F3A33"/>
                          </a:solidFill>
                          <a:latin typeface="+mn-lt"/>
                          <a:cs typeface="+mn-lt"/>
                        </a:rPr>
                        <a:t>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Definir fuentes de búsqueda</a:t>
                      </a:r>
                    </a:p>
                    <a:p>
                      <a:pPr algn="l">
                        <a:lnSpc>
                          <a:spcPct val="90000"/>
                        </a:lnSpc>
                        <a:spcBef>
                          <a:spcPts val="150"/>
                        </a:spcBef>
                        <a:buNone/>
                      </a:pPr>
                      <a:r>
                        <a:rPr lang="es-CL" sz="750" dirty="0">
                          <a:solidFill>
                            <a:srgbClr val="6B655C"/>
                          </a:solidFill>
                          <a:latin typeface="+mn-lt"/>
                          <a:cs typeface="+mn-lt"/>
                        </a:rPr>
                        <a:t>Área Solicitante +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7.2.2.1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Requisición y apertura de vacante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extLst>
                  <a:ext uri="{0D108BD9-81ED-4DB2-BD59-A6C34878D82A}">
                    <a16:rowId xmlns:a16="http://schemas.microsoft.com/office/drawing/2014/main" val="10001"/>
                  </a:ext>
                </a:extLst>
              </a:tr>
              <a:tr h="309474">
                <a:tc>
                  <a:txBody>
                    <a:bodyPr/>
                    <a:lstStyle/>
                    <a:p>
                      <a:pPr algn="ctr">
                        <a:lnSpc>
                          <a:spcPct val="90000"/>
                        </a:lnSpc>
                        <a:buNone/>
                      </a:pPr>
                      <a:r>
                        <a:rPr lang="es-CL" sz="850" b="1" dirty="0">
                          <a:solidFill>
                            <a:srgbClr val="3F3A33"/>
                          </a:solidFill>
                          <a:latin typeface="+mn-lt"/>
                          <a:cs typeface="+mn-lt"/>
                        </a:rPr>
                        <a:t>10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Definir modalidad de publicación: interna, externa o mixta</a:t>
                      </a:r>
                    </a:p>
                    <a:p>
                      <a:pPr algn="l">
                        <a:lnSpc>
                          <a:spcPct val="90000"/>
                        </a:lnSpc>
                        <a:spcBef>
                          <a:spcPts val="150"/>
                        </a:spcBef>
                        <a:buNone/>
                      </a:pPr>
                      <a:r>
                        <a:rPr lang="es-CL" sz="750" dirty="0">
                          <a:solidFill>
                            <a:srgbClr val="6B655C"/>
                          </a:solidFill>
                          <a:latin typeface="+mn-lt"/>
                          <a:cs typeface="+mn-lt"/>
                        </a:rPr>
                        <a:t>Área Solicitante +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7.2.2.1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Requisición y apertura de vacante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extLst>
                  <a:ext uri="{0D108BD9-81ED-4DB2-BD59-A6C34878D82A}">
                    <a16:rowId xmlns:a16="http://schemas.microsoft.com/office/drawing/2014/main" val="10002"/>
                  </a:ext>
                </a:extLst>
              </a:tr>
              <a:tr h="428003">
                <a:tc>
                  <a:txBody>
                    <a:bodyPr/>
                    <a:lstStyle/>
                    <a:p>
                      <a:pPr algn="ctr">
                        <a:lnSpc>
                          <a:spcPct val="90000"/>
                        </a:lnSpc>
                        <a:buNone/>
                      </a:pPr>
                      <a:r>
                        <a:rPr lang="es-CL" sz="850" b="1" dirty="0">
                          <a:solidFill>
                            <a:srgbClr val="3F3A33"/>
                          </a:solidFill>
                          <a:latin typeface="+mn-lt"/>
                          <a:cs typeface="+mn-lt"/>
                        </a:rPr>
                        <a:t>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Definir la oferta a publicar en portal ARAUCO y plataformas, considerando atracción de mujeres y PcD</a:t>
                      </a:r>
                    </a:p>
                    <a:p>
                      <a:pPr algn="l">
                        <a:lnSpc>
                          <a:spcPct val="90000"/>
                        </a:lnSpc>
                        <a:spcBef>
                          <a:spcPts val="150"/>
                        </a:spcBef>
                        <a:buNone/>
                      </a:pPr>
                      <a:r>
                        <a:rPr lang="es-CL" sz="750" dirty="0">
                          <a:solidFill>
                            <a:srgbClr val="6B655C"/>
                          </a:solidFill>
                          <a:latin typeface="+mn-lt"/>
                          <a:cs typeface="+mn-lt"/>
                        </a:rPr>
                        <a:t>Área Solicitante +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7.2.2.2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Requisición y apertura de vacante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extLst>
                  <a:ext uri="{0D108BD9-81ED-4DB2-BD59-A6C34878D82A}">
                    <a16:rowId xmlns:a16="http://schemas.microsoft.com/office/drawing/2014/main" val="10003"/>
                  </a:ext>
                </a:extLst>
              </a:tr>
              <a:tr h="323418">
                <a:tc>
                  <a:txBody>
                    <a:bodyPr/>
                    <a:lstStyle/>
                    <a:p>
                      <a:pPr algn="ctr">
                        <a:lnSpc>
                          <a:spcPct val="90000"/>
                        </a:lnSpc>
                        <a:buNone/>
                      </a:pPr>
                      <a:r>
                        <a:rPr lang="es-CL" sz="850" b="1" dirty="0">
                          <a:solidFill>
                            <a:srgbClr val="3F3A33"/>
                          </a:solidFill>
                          <a:latin typeface="+mn-lt"/>
                          <a:cs typeface="+mn-lt"/>
                        </a:rPr>
                        <a:t>12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Enviar la necesidad a las fuentes de búsqueda: LinkedIn y otros portales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Requisición y apertura de vacante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extLst>
                  <a:ext uri="{0D108BD9-81ED-4DB2-BD59-A6C34878D82A}">
                    <a16:rowId xmlns:a16="http://schemas.microsoft.com/office/drawing/2014/main" val="10004"/>
                  </a:ext>
                </a:extLst>
              </a:tr>
              <a:tr h="204889">
                <a:tc>
                  <a:txBody>
                    <a:bodyPr/>
                    <a:lstStyle/>
                    <a:p>
                      <a:pPr algn="ctr">
                        <a:lnSpc>
                          <a:spcPct val="90000"/>
                        </a:lnSpc>
                        <a:buNone/>
                      </a:pPr>
                      <a:r>
                        <a:rPr lang="es-CL" sz="850" b="1" dirty="0">
                          <a:solidFill>
                            <a:srgbClr val="6F5800"/>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¿Proceso masivo o individual?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b="1" dirty="0">
                          <a:solidFill>
                            <a:srgbClr val="6F5800"/>
                          </a:solidFill>
                          <a:latin typeface="+mn-lt"/>
                          <a:cs typeface="+mn-lt"/>
                        </a:rPr>
                        <a:t>Decisión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No entra en la numeración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extLst>
                  <a:ext uri="{0D108BD9-81ED-4DB2-BD59-A6C34878D82A}">
                    <a16:rowId xmlns:a16="http://schemas.microsoft.com/office/drawing/2014/main" val="10005"/>
                  </a:ext>
                </a:extLst>
              </a:tr>
              <a:tr h="428003">
                <a:tc>
                  <a:txBody>
                    <a:bodyPr/>
                    <a:lstStyle/>
                    <a:p>
                      <a:pPr algn="ctr">
                        <a:lnSpc>
                          <a:spcPct val="90000"/>
                        </a:lnSpc>
                        <a:buNone/>
                      </a:pPr>
                      <a:r>
                        <a:rPr lang="es-CL" sz="850" b="1" dirty="0">
                          <a:solidFill>
                            <a:srgbClr val="3F3A33"/>
                          </a:solidFill>
                          <a:latin typeface="+mn-lt"/>
                          <a:cs typeface="+mn-lt"/>
                        </a:rPr>
                        <a:t>13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Asegurar plazos por zona/planta, N° y disponibilidad de vacantes, compensaciones, perfiles de cargo y propuesta de valor</a:t>
                      </a:r>
                    </a:p>
                    <a:p>
                      <a:pPr algn="l">
                        <a:lnSpc>
                          <a:spcPct val="90000"/>
                        </a:lnSpc>
                        <a:spcBef>
                          <a:spcPts val="150"/>
                        </a:spcBef>
                        <a:buNone/>
                      </a:pPr>
                      <a:r>
                        <a:rPr lang="es-CL" sz="750" dirty="0">
                          <a:solidFill>
                            <a:srgbClr val="6B655C"/>
                          </a:solidFill>
                          <a:latin typeface="+mn-lt"/>
                          <a:cs typeface="+mn-lt"/>
                        </a:rPr>
                        <a:t>Equipo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7.2.1.1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Requisición y apertura de vacante — Definir qué cajas son actividades y qué cajas son tareas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extLst>
                  <a:ext uri="{0D108BD9-81ED-4DB2-BD59-A6C34878D82A}">
                    <a16:rowId xmlns:a16="http://schemas.microsoft.com/office/drawing/2014/main" val="10006"/>
                  </a:ext>
                </a:extLst>
              </a:tr>
              <a:tr h="309474">
                <a:tc>
                  <a:txBody>
                    <a:bodyPr/>
                    <a:lstStyle/>
                    <a:p>
                      <a:pPr algn="ctr">
                        <a:lnSpc>
                          <a:spcPct val="90000"/>
                        </a:lnSpc>
                        <a:buNone/>
                      </a:pPr>
                      <a:r>
                        <a:rPr lang="es-CL" sz="850" b="1" dirty="0">
                          <a:solidFill>
                            <a:srgbClr val="3F3A33"/>
                          </a:solidFill>
                          <a:latin typeface="+mn-lt"/>
                          <a:cs typeface="+mn-lt"/>
                        </a:rPr>
                        <a:t>14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Obtener validación de Operaciones y de EP</a:t>
                      </a:r>
                    </a:p>
                    <a:p>
                      <a:pPr algn="l">
                        <a:lnSpc>
                          <a:spcPct val="90000"/>
                        </a:lnSpc>
                        <a:spcBef>
                          <a:spcPts val="150"/>
                        </a:spcBef>
                        <a:buNone/>
                      </a:pPr>
                      <a:r>
                        <a:rPr lang="es-CL" sz="750" dirty="0">
                          <a:solidFill>
                            <a:srgbClr val="6B655C"/>
                          </a:solidFill>
                          <a:latin typeface="+mn-lt"/>
                          <a:cs typeface="+mn-lt"/>
                        </a:rPr>
                        <a:t>Equipo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7.2.1.3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Requisición y apertura de vacante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extLst>
                  <a:ext uri="{0D108BD9-81ED-4DB2-BD59-A6C34878D82A}">
                    <a16:rowId xmlns:a16="http://schemas.microsoft.com/office/drawing/2014/main" val="10007"/>
                  </a:ext>
                </a:extLst>
              </a:tr>
              <a:tr h="309474">
                <a:tc>
                  <a:txBody>
                    <a:bodyPr/>
                    <a:lstStyle/>
                    <a:p>
                      <a:pPr algn="ctr">
                        <a:lnSpc>
                          <a:spcPct val="90000"/>
                        </a:lnSpc>
                        <a:buNone/>
                      </a:pPr>
                      <a:r>
                        <a:rPr lang="es-CL" sz="850" b="1" dirty="0">
                          <a:solidFill>
                            <a:srgbClr val="3F3A33"/>
                          </a:solidFill>
                          <a:latin typeface="+mn-lt"/>
                          <a:cs typeface="+mn-lt"/>
                        </a:rPr>
                        <a:t>15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Coordinar reunión semanal de seguimiento</a:t>
                      </a:r>
                    </a:p>
                    <a:p>
                      <a:pPr algn="l">
                        <a:lnSpc>
                          <a:spcPct val="90000"/>
                        </a:lnSpc>
                        <a:spcBef>
                          <a:spcPts val="150"/>
                        </a:spcBef>
                        <a:buNone/>
                      </a:pPr>
                      <a:r>
                        <a:rPr lang="es-CL" sz="750" dirty="0">
                          <a:solidFill>
                            <a:srgbClr val="6B655C"/>
                          </a:solidFill>
                          <a:latin typeface="+mn-lt"/>
                          <a:cs typeface="+mn-lt"/>
                        </a:rPr>
                        <a:t>Equipo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Requisición y apertura de vacante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P3 · F4 · Cajas del flujo| </a:t>
            </a:r>
            <a:r>
              <a:rPr lang="es-CL" sz="2000" dirty="0">
                <a:solidFill>
                  <a:srgbClr val="A34100"/>
                </a:solidFill>
                <a:latin typeface="+mn-lt"/>
                <a:cs typeface="+mn-lt"/>
              </a:rPr>
              <a:t>Reclutamiento y filtro curricular</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9 cajas numeradas  ·  sin decisiones  ·  proceso P3 · Atracción y selección de personas</a:t>
            </a:r>
          </a:p>
        </p:txBody>
      </p:sp>
      <p:graphicFrame>
        <p:nvGraphicFramePr>
          <p:cNvPr id="11" name="Tabla 11"/>
          <p:cNvGraphicFramePr>
            <a:graphicFrameLocks noGrp="1"/>
          </p:cNvGraphicFramePr>
          <p:nvPr/>
        </p:nvGraphicFramePr>
        <p:xfrm>
          <a:off x="630000" y="1475274"/>
          <a:ext cx="10933350" cy="2853105"/>
        </p:xfrm>
        <a:graphic>
          <a:graphicData uri="http://schemas.openxmlformats.org/drawingml/2006/table">
            <a:tbl>
              <a:tblPr firstRow="1"/>
              <a:tblGrid>
                <a:gridCol w="430000">
                  <a:extLst>
                    <a:ext uri="{9D8B030D-6E8A-4147-A177-3AD203B41FA5}">
                      <a16:colId xmlns:a16="http://schemas.microsoft.com/office/drawing/2014/main" val="20000"/>
                    </a:ext>
                  </a:extLst>
                </a:gridCol>
                <a:gridCol w="4320000">
                  <a:extLst>
                    <a:ext uri="{9D8B030D-6E8A-4147-A177-3AD203B41FA5}">
                      <a16:colId xmlns:a16="http://schemas.microsoft.com/office/drawing/2014/main" val="20001"/>
                    </a:ext>
                  </a:extLst>
                </a:gridCol>
                <a:gridCol w="780000">
                  <a:extLst>
                    <a:ext uri="{9D8B030D-6E8A-4147-A177-3AD203B41FA5}">
                      <a16:colId xmlns:a16="http://schemas.microsoft.com/office/drawing/2014/main" val="20002"/>
                    </a:ext>
                  </a:extLst>
                </a:gridCol>
                <a:gridCol w="1320000">
                  <a:extLst>
                    <a:ext uri="{9D8B030D-6E8A-4147-A177-3AD203B41FA5}">
                      <a16:colId xmlns:a16="http://schemas.microsoft.com/office/drawing/2014/main" val="20003"/>
                    </a:ext>
                  </a:extLst>
                </a:gridCol>
                <a:gridCol w="4083350">
                  <a:extLst>
                    <a:ext uri="{9D8B030D-6E8A-4147-A177-3AD203B41FA5}">
                      <a16:colId xmlns:a16="http://schemas.microsoft.com/office/drawing/2014/main" val="20004"/>
                    </a:ext>
                  </a:extLst>
                </a:gridCol>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extLst>
                  <a:ext uri="{0D108BD9-81ED-4DB2-BD59-A6C34878D82A}">
                    <a16:rowId xmlns:a16="http://schemas.microsoft.com/office/drawing/2014/main" val="10000"/>
                  </a:ext>
                </a:extLst>
              </a:tr>
              <a:tr h="323418">
                <a:tc>
                  <a:txBody>
                    <a:bodyPr/>
                    <a:lstStyle/>
                    <a:p>
                      <a:pPr algn="ctr">
                        <a:lnSpc>
                          <a:spcPct val="90000"/>
                        </a:lnSpc>
                        <a:buNone/>
                      </a:pPr>
                      <a:r>
                        <a:rPr lang="es-CL" sz="850" b="1" dirty="0">
                          <a:solidFill>
                            <a:srgbClr val="3F3A33"/>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Revisar Compliance: rol supervisor y extranjero</a:t>
                      </a:r>
                    </a:p>
                    <a:p>
                      <a:pPr algn="l">
                        <a:lnSpc>
                          <a:spcPct val="90000"/>
                        </a:lnSpc>
                        <a:spcBef>
                          <a:spcPts val="150"/>
                        </a:spcBef>
                        <a:buNone/>
                      </a:pPr>
                      <a:r>
                        <a:rPr lang="es-CL" sz="750" dirty="0">
                          <a:solidFill>
                            <a:srgbClr val="6B655C"/>
                          </a:solidFill>
                          <a:latin typeface="+mn-lt"/>
                          <a:cs typeface="+mn-lt"/>
                        </a:rPr>
                        <a:t>Equipo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7.2.5.1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Reclutamiento y selección — Tareas sujetas a revisión: algunas pueden ser demasiado operativas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1"/>
                  </a:ext>
                </a:extLst>
              </a:tr>
              <a:tr h="309474">
                <a:tc>
                  <a:txBody>
                    <a:bodyPr/>
                    <a:lstStyle/>
                    <a:p>
                      <a:pPr algn="ctr">
                        <a:lnSpc>
                          <a:spcPct val="90000"/>
                        </a:lnSpc>
                        <a:buNone/>
                      </a:pPr>
                      <a:r>
                        <a:rPr lang="es-CL" sz="850" b="1" dirty="0">
                          <a:solidFill>
                            <a:srgbClr val="3F3A33"/>
                          </a:solidFill>
                          <a:latin typeface="+mn-lt"/>
                          <a:cs typeface="+mn-lt"/>
                        </a:rPr>
                        <a:t>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Revisar antecedente Ex ARAUCO</a:t>
                      </a:r>
                    </a:p>
                    <a:p>
                      <a:pPr algn="l">
                        <a:lnSpc>
                          <a:spcPct val="90000"/>
                        </a:lnSpc>
                        <a:spcBef>
                          <a:spcPts val="150"/>
                        </a:spcBef>
                        <a:buNone/>
                      </a:pPr>
                      <a:r>
                        <a:rPr lang="es-CL" sz="750" dirty="0">
                          <a:solidFill>
                            <a:srgbClr val="6B655C"/>
                          </a:solidFill>
                          <a:latin typeface="+mn-lt"/>
                          <a:cs typeface="+mn-lt"/>
                        </a:rPr>
                        <a:t>Equipo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7.2.5.1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Reclutamiento y 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2"/>
                  </a:ext>
                </a:extLst>
              </a:tr>
              <a:tr h="309474">
                <a:tc>
                  <a:txBody>
                    <a:bodyPr/>
                    <a:lstStyle/>
                    <a:p>
                      <a:pPr algn="ctr">
                        <a:lnSpc>
                          <a:spcPct val="90000"/>
                        </a:lnSpc>
                        <a:buNone/>
                      </a:pPr>
                      <a:r>
                        <a:rPr lang="es-CL" sz="850" b="1" dirty="0">
                          <a:solidFill>
                            <a:srgbClr val="3F3A33"/>
                          </a:solidFill>
                          <a:latin typeface="+mn-lt"/>
                          <a:cs typeface="+mn-lt"/>
                        </a:rPr>
                        <a:t>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Revisar condición de extranjero y visa</a:t>
                      </a:r>
                    </a:p>
                    <a:p>
                      <a:pPr algn="l">
                        <a:lnSpc>
                          <a:spcPct val="90000"/>
                        </a:lnSpc>
                        <a:spcBef>
                          <a:spcPts val="150"/>
                        </a:spcBef>
                        <a:buNone/>
                      </a:pPr>
                      <a:r>
                        <a:rPr lang="es-CL" sz="750" dirty="0">
                          <a:solidFill>
                            <a:srgbClr val="6B655C"/>
                          </a:solidFill>
                          <a:latin typeface="+mn-lt"/>
                          <a:cs typeface="+mn-lt"/>
                        </a:rPr>
                        <a:t>Equipo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7.2.5.1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Reclutamiento y 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3"/>
                  </a:ext>
                </a:extLst>
              </a:tr>
              <a:tr h="309474">
                <a:tc>
                  <a:txBody>
                    <a:bodyPr/>
                    <a:lstStyle/>
                    <a:p>
                      <a:pPr algn="ctr">
                        <a:lnSpc>
                          <a:spcPct val="90000"/>
                        </a:lnSpc>
                        <a:buNone/>
                      </a:pPr>
                      <a:r>
                        <a:rPr lang="es-CL" sz="850" b="1" dirty="0">
                          <a:solidFill>
                            <a:srgbClr val="3F3A33"/>
                          </a:solidFill>
                          <a:latin typeface="+mn-lt"/>
                          <a:cs typeface="+mn-lt"/>
                        </a:rPr>
                        <a:t>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Revisar el perfil de cargo con el Área Solicitante si es necesario</a:t>
                      </a:r>
                    </a:p>
                    <a:p>
                      <a:pPr algn="l">
                        <a:lnSpc>
                          <a:spcPct val="90000"/>
                        </a:lnSpc>
                        <a:spcBef>
                          <a:spcPts val="150"/>
                        </a:spcBef>
                        <a:buNone/>
                      </a:pPr>
                      <a:r>
                        <a:rPr lang="es-CL" sz="750" dirty="0">
                          <a:solidFill>
                            <a:srgbClr val="6B655C"/>
                          </a:solidFill>
                          <a:latin typeface="+mn-lt"/>
                          <a:cs typeface="+mn-lt"/>
                        </a:rPr>
                        <a:t>Consultora de 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7.1.2.16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Reclutamiento y 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4"/>
                  </a:ext>
                </a:extLst>
              </a:tr>
              <a:tr h="309474">
                <a:tc>
                  <a:txBody>
                    <a:bodyPr/>
                    <a:lstStyle/>
                    <a:p>
                      <a:pPr algn="ctr">
                        <a:lnSpc>
                          <a:spcPct val="90000"/>
                        </a:lnSpc>
                        <a:buNone/>
                      </a:pPr>
                      <a:r>
                        <a:rPr lang="es-CL" sz="850" b="1" dirty="0">
                          <a:solidFill>
                            <a:srgbClr val="3F3A33"/>
                          </a:solidFill>
                          <a:latin typeface="+mn-lt"/>
                          <a:cs typeface="+mn-lt"/>
                        </a:rPr>
                        <a:t>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Abrir el proceso en plataforma SSFF</a:t>
                      </a:r>
                    </a:p>
                    <a:p>
                      <a:pPr algn="l">
                        <a:lnSpc>
                          <a:spcPct val="90000"/>
                        </a:lnSpc>
                        <a:spcBef>
                          <a:spcPts val="150"/>
                        </a:spcBef>
                        <a:buNone/>
                      </a:pPr>
                      <a:r>
                        <a:rPr lang="es-CL" sz="750" dirty="0">
                          <a:solidFill>
                            <a:srgbClr val="6B655C"/>
                          </a:solidFill>
                          <a:latin typeface="+mn-lt"/>
                          <a:cs typeface="+mn-lt"/>
                        </a:rPr>
                        <a:t>Equipo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7.2.1.4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Reclutamiento y 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5"/>
                  </a:ext>
                </a:extLst>
              </a:tr>
              <a:tr h="204889">
                <a:tc>
                  <a:txBody>
                    <a:bodyPr/>
                    <a:lstStyle/>
                    <a:p>
                      <a:pPr algn="ctr">
                        <a:lnSpc>
                          <a:spcPct val="90000"/>
                        </a:lnSpc>
                        <a:buNone/>
                      </a:pPr>
                      <a:r>
                        <a:rPr lang="es-CL" sz="850" b="1" dirty="0">
                          <a:solidFill>
                            <a:srgbClr val="3F3A33"/>
                          </a:solidFill>
                          <a:latin typeface="+mn-lt"/>
                          <a:cs typeface="+mn-lt"/>
                        </a:rPr>
                        <a:t>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Publicar en portal interno y portales externos de empleo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7.2.2.2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Reclutamiento y 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6"/>
                  </a:ext>
                </a:extLst>
              </a:tr>
              <a:tr h="204889">
                <a:tc>
                  <a:txBody>
                    <a:bodyPr/>
                    <a:lstStyle/>
                    <a:p>
                      <a:pPr algn="ctr">
                        <a:lnSpc>
                          <a:spcPct val="90000"/>
                        </a:lnSpc>
                        <a:buNone/>
                      </a:pPr>
                      <a:r>
                        <a:rPr lang="es-CL" sz="850" b="1" dirty="0">
                          <a:solidFill>
                            <a:srgbClr val="3F3A33"/>
                          </a:solidFill>
                          <a:latin typeface="+mn-lt"/>
                          <a:cs typeface="+mn-lt"/>
                        </a:rPr>
                        <a:t>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Recepcionar postulaciones a través del portal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7.2.5.2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Reclutamiento y 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7"/>
                  </a:ext>
                </a:extLst>
              </a:tr>
              <a:tr h="309474">
                <a:tc>
                  <a:txBody>
                    <a:bodyPr/>
                    <a:lstStyle/>
                    <a:p>
                      <a:pPr algn="ctr">
                        <a:lnSpc>
                          <a:spcPct val="90000"/>
                        </a:lnSpc>
                        <a:buNone/>
                      </a:pPr>
                      <a:r>
                        <a:rPr lang="es-CL" sz="850" b="1" dirty="0">
                          <a:solidFill>
                            <a:srgbClr val="3F3A33"/>
                          </a:solidFill>
                          <a:latin typeface="+mn-lt"/>
                          <a:cs typeface="+mn-lt"/>
                        </a:rPr>
                        <a:t>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Aplicar filtro curricular intencionando candidatas mujeres y PcD</a:t>
                      </a:r>
                    </a:p>
                    <a:p>
                      <a:pPr algn="l">
                        <a:lnSpc>
                          <a:spcPct val="90000"/>
                        </a:lnSpc>
                        <a:spcBef>
                          <a:spcPts val="150"/>
                        </a:spcBef>
                        <a:buNone/>
                      </a:pPr>
                      <a:r>
                        <a:rPr lang="es-CL" sz="750" dirty="0">
                          <a:solidFill>
                            <a:srgbClr val="6B655C"/>
                          </a:solidFill>
                          <a:latin typeface="+mn-lt"/>
                          <a:cs typeface="+mn-lt"/>
                        </a:rPr>
                        <a:t>Equipo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7.2.3.1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Reclutamiento y 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8"/>
                  </a:ext>
                </a:extLst>
              </a:tr>
              <a:tr h="309474">
                <a:tc>
                  <a:txBody>
                    <a:bodyPr/>
                    <a:lstStyle/>
                    <a:p>
                      <a:pPr algn="ctr">
                        <a:lnSpc>
                          <a:spcPct val="90000"/>
                        </a:lnSpc>
                        <a:buNone/>
                      </a:pPr>
                      <a:r>
                        <a:rPr lang="es-CL" sz="850" b="1" dirty="0">
                          <a:solidFill>
                            <a:srgbClr val="3F3A33"/>
                          </a:solidFill>
                          <a:latin typeface="+mn-lt"/>
                          <a:cs typeface="+mn-lt"/>
                        </a:rPr>
                        <a:t>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Dar acceso a la Jefatura Solicitante a los CV</a:t>
                      </a:r>
                    </a:p>
                    <a:p>
                      <a:pPr algn="l">
                        <a:lnSpc>
                          <a:spcPct val="90000"/>
                        </a:lnSpc>
                        <a:spcBef>
                          <a:spcPts val="150"/>
                        </a:spcBef>
                        <a:buNone/>
                      </a:pPr>
                      <a:r>
                        <a:rPr lang="es-CL" sz="750" dirty="0">
                          <a:solidFill>
                            <a:srgbClr val="6B655C"/>
                          </a:solidFill>
                          <a:latin typeface="+mn-lt"/>
                          <a:cs typeface="+mn-lt"/>
                        </a:rPr>
                        <a:t>Equipo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7.2.5.3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Reclutamiento y 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P3 · F5 · Cajas del flujo| </a:t>
            </a:r>
            <a:r>
              <a:rPr lang="es-CL" sz="2000" dirty="0">
                <a:solidFill>
                  <a:srgbClr val="A34100"/>
                </a:solidFill>
                <a:latin typeface="+mn-lt"/>
                <a:cs typeface="+mn-lt"/>
              </a:rPr>
              <a:t>Revisión del área solicitante</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7 cajas numeradas  ·  1 decisión sin numerar  ·  proceso P3 · Atracción y selección de personas</a:t>
            </a:r>
          </a:p>
        </p:txBody>
      </p:sp>
      <p:graphicFrame>
        <p:nvGraphicFramePr>
          <p:cNvPr id="11" name="Tabla 11"/>
          <p:cNvGraphicFramePr>
            <a:graphicFrameLocks noGrp="1"/>
          </p:cNvGraphicFramePr>
          <p:nvPr/>
        </p:nvGraphicFramePr>
        <p:xfrm>
          <a:off x="630000" y="1475274"/>
          <a:ext cx="10933350" cy="2763621"/>
        </p:xfrm>
        <a:graphic>
          <a:graphicData uri="http://schemas.openxmlformats.org/drawingml/2006/table">
            <a:tbl>
              <a:tblPr firstRow="1"/>
              <a:tblGrid>
                <a:gridCol w="430000">
                  <a:extLst>
                    <a:ext uri="{9D8B030D-6E8A-4147-A177-3AD203B41FA5}">
                      <a16:colId xmlns:a16="http://schemas.microsoft.com/office/drawing/2014/main" val="20000"/>
                    </a:ext>
                  </a:extLst>
                </a:gridCol>
                <a:gridCol w="4320000">
                  <a:extLst>
                    <a:ext uri="{9D8B030D-6E8A-4147-A177-3AD203B41FA5}">
                      <a16:colId xmlns:a16="http://schemas.microsoft.com/office/drawing/2014/main" val="20001"/>
                    </a:ext>
                  </a:extLst>
                </a:gridCol>
                <a:gridCol w="780000">
                  <a:extLst>
                    <a:ext uri="{9D8B030D-6E8A-4147-A177-3AD203B41FA5}">
                      <a16:colId xmlns:a16="http://schemas.microsoft.com/office/drawing/2014/main" val="20002"/>
                    </a:ext>
                  </a:extLst>
                </a:gridCol>
                <a:gridCol w="1320000">
                  <a:extLst>
                    <a:ext uri="{9D8B030D-6E8A-4147-A177-3AD203B41FA5}">
                      <a16:colId xmlns:a16="http://schemas.microsoft.com/office/drawing/2014/main" val="20003"/>
                    </a:ext>
                  </a:extLst>
                </a:gridCol>
                <a:gridCol w="4083350">
                  <a:extLst>
                    <a:ext uri="{9D8B030D-6E8A-4147-A177-3AD203B41FA5}">
                      <a16:colId xmlns:a16="http://schemas.microsoft.com/office/drawing/2014/main" val="20004"/>
                    </a:ext>
                  </a:extLst>
                </a:gridCol>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extLst>
                  <a:ext uri="{0D108BD9-81ED-4DB2-BD59-A6C34878D82A}">
                    <a16:rowId xmlns:a16="http://schemas.microsoft.com/office/drawing/2014/main" val="10000"/>
                  </a:ext>
                </a:extLst>
              </a:tr>
              <a:tr h="323418">
                <a:tc>
                  <a:txBody>
                    <a:bodyPr/>
                    <a:lstStyle/>
                    <a:p>
                      <a:pPr algn="ctr">
                        <a:lnSpc>
                          <a:spcPct val="90000"/>
                        </a:lnSpc>
                        <a:buNone/>
                      </a:pPr>
                      <a:r>
                        <a:rPr lang="es-CL" sz="850" b="1" dirty="0">
                          <a:solidFill>
                            <a:srgbClr val="3F3A33"/>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Revisar los CV según los requisitos del perfil de cargo</a:t>
                      </a:r>
                    </a:p>
                    <a:p>
                      <a:pPr algn="l">
                        <a:lnSpc>
                          <a:spcPct val="90000"/>
                        </a:lnSpc>
                        <a:spcBef>
                          <a:spcPts val="150"/>
                        </a:spcBef>
                        <a:buNone/>
                      </a:pPr>
                      <a:r>
                        <a:rPr lang="es-CL" sz="750" dirty="0">
                          <a:solidFill>
                            <a:srgbClr val="6B655C"/>
                          </a:solidFill>
                          <a:latin typeface="+mn-lt"/>
                          <a:cs typeface="+mn-lt"/>
                        </a:rPr>
                        <a:t>Jefatura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7.2.3.1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Revisión del área solicitante — Tareas sujetas a revisión de nivel de detalle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1"/>
                  </a:ext>
                </a:extLst>
              </a:tr>
              <a:tr h="309474">
                <a:tc>
                  <a:txBody>
                    <a:bodyPr/>
                    <a:lstStyle/>
                    <a:p>
                      <a:pPr algn="ctr">
                        <a:lnSpc>
                          <a:spcPct val="90000"/>
                        </a:lnSpc>
                        <a:buNone/>
                      </a:pPr>
                      <a:r>
                        <a:rPr lang="es-CL" sz="850" b="1" dirty="0">
                          <a:solidFill>
                            <a:srgbClr val="3F3A33"/>
                          </a:solidFill>
                          <a:latin typeface="+mn-lt"/>
                          <a:cs typeface="+mn-lt"/>
                        </a:rPr>
                        <a:t>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Preseleccionar máximo 6 perfiles, intencionando mujeres y PcD</a:t>
                      </a:r>
                    </a:p>
                    <a:p>
                      <a:pPr algn="l">
                        <a:lnSpc>
                          <a:spcPct val="90000"/>
                        </a:lnSpc>
                        <a:spcBef>
                          <a:spcPts val="150"/>
                        </a:spcBef>
                        <a:buNone/>
                      </a:pPr>
                      <a:r>
                        <a:rPr lang="es-CL" sz="750" dirty="0">
                          <a:solidFill>
                            <a:srgbClr val="6B655C"/>
                          </a:solidFill>
                          <a:latin typeface="+mn-lt"/>
                          <a:cs typeface="+mn-lt"/>
                        </a:rPr>
                        <a:t>Jefatura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7.2.3.1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Revisión del 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2"/>
                  </a:ext>
                </a:extLst>
              </a:tr>
              <a:tr h="204889">
                <a:tc>
                  <a:txBody>
                    <a:bodyPr/>
                    <a:lstStyle/>
                    <a:p>
                      <a:pPr algn="ctr">
                        <a:lnSpc>
                          <a:spcPct val="90000"/>
                        </a:lnSpc>
                        <a:buNone/>
                      </a:pPr>
                      <a:r>
                        <a:rPr lang="es-CL" sz="850" b="1" dirty="0">
                          <a:solidFill>
                            <a:srgbClr val="6F5800"/>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¿Algún perfil se ajusta?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b="1" dirty="0">
                          <a:solidFill>
                            <a:srgbClr val="6F5800"/>
                          </a:solidFill>
                          <a:latin typeface="+mn-lt"/>
                          <a:cs typeface="+mn-lt"/>
                        </a:rPr>
                        <a:t>Decisión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No entra en la numeración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extLst>
                  <a:ext uri="{0D108BD9-81ED-4DB2-BD59-A6C34878D82A}">
                    <a16:rowId xmlns:a16="http://schemas.microsoft.com/office/drawing/2014/main" val="10003"/>
                  </a:ext>
                </a:extLst>
              </a:tr>
              <a:tr h="323418">
                <a:tc>
                  <a:txBody>
                    <a:bodyPr/>
                    <a:lstStyle/>
                    <a:p>
                      <a:pPr algn="ctr">
                        <a:lnSpc>
                          <a:spcPct val="90000"/>
                        </a:lnSpc>
                        <a:buNone/>
                      </a:pPr>
                      <a:r>
                        <a:rPr lang="es-CL" sz="850" b="1" dirty="0">
                          <a:solidFill>
                            <a:srgbClr val="3F3A33"/>
                          </a:solidFill>
                          <a:latin typeface="+mn-lt"/>
                          <a:cs typeface="+mn-lt"/>
                        </a:rPr>
                        <a:t>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Acordar una segunda entrega de filtro CV</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7.2.2.3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Revisión del área solicitante — Tareas sujetas a revisión de nivel de detalle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4"/>
                  </a:ext>
                </a:extLst>
              </a:tr>
              <a:tr h="309474">
                <a:tc>
                  <a:txBody>
                    <a:bodyPr/>
                    <a:lstStyle/>
                    <a:p>
                      <a:pPr algn="ctr">
                        <a:lnSpc>
                          <a:spcPct val="90000"/>
                        </a:lnSpc>
                        <a:buNone/>
                      </a:pPr>
                      <a:r>
                        <a:rPr lang="es-CL" sz="850" b="1" dirty="0">
                          <a:solidFill>
                            <a:srgbClr val="3F3A33"/>
                          </a:solidFill>
                          <a:latin typeface="+mn-lt"/>
                          <a:cs typeface="+mn-lt"/>
                        </a:rPr>
                        <a:t>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Comunicar a A&amp;S los candidatos que avanzan</a:t>
                      </a:r>
                    </a:p>
                    <a:p>
                      <a:pPr algn="l">
                        <a:lnSpc>
                          <a:spcPct val="90000"/>
                        </a:lnSpc>
                        <a:spcBef>
                          <a:spcPts val="150"/>
                        </a:spcBef>
                        <a:buNone/>
                      </a:pPr>
                      <a:r>
                        <a:rPr lang="es-CL" sz="750" dirty="0">
                          <a:solidFill>
                            <a:srgbClr val="6B655C"/>
                          </a:solidFill>
                          <a:latin typeface="+mn-lt"/>
                          <a:cs typeface="+mn-lt"/>
                        </a:rPr>
                        <a:t>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7.2.3.1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Revisión del 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5"/>
                  </a:ext>
                </a:extLst>
              </a:tr>
              <a:tr h="309474">
                <a:tc>
                  <a:txBody>
                    <a:bodyPr/>
                    <a:lstStyle/>
                    <a:p>
                      <a:pPr algn="ctr">
                        <a:lnSpc>
                          <a:spcPct val="90000"/>
                        </a:lnSpc>
                        <a:buNone/>
                      </a:pPr>
                      <a:r>
                        <a:rPr lang="es-CL" sz="850" b="1" dirty="0">
                          <a:solidFill>
                            <a:srgbClr val="3F3A33"/>
                          </a:solidFill>
                          <a:latin typeface="+mn-lt"/>
                          <a:cs typeface="+mn-lt"/>
                        </a:rPr>
                        <a:t>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Notificar a la persona si pasó o no a la siguiente etapa</a:t>
                      </a:r>
                    </a:p>
                    <a:p>
                      <a:pPr algn="l">
                        <a:lnSpc>
                          <a:spcPct val="90000"/>
                        </a:lnSpc>
                        <a:spcBef>
                          <a:spcPts val="150"/>
                        </a:spcBef>
                        <a:buNone/>
                      </a:pPr>
                      <a:r>
                        <a:rPr lang="es-CL" sz="750" dirty="0">
                          <a:solidFill>
                            <a:srgbClr val="6B655C"/>
                          </a:solidFill>
                          <a:latin typeface="+mn-lt"/>
                          <a:cs typeface="+mn-lt"/>
                        </a:rPr>
                        <a:t>Consultora de 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Revisión del 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6"/>
                  </a:ext>
                </a:extLst>
              </a:tr>
              <a:tr h="309474">
                <a:tc>
                  <a:txBody>
                    <a:bodyPr/>
                    <a:lstStyle/>
                    <a:p>
                      <a:pPr algn="ctr">
                        <a:lnSpc>
                          <a:spcPct val="90000"/>
                        </a:lnSpc>
                        <a:buNone/>
                      </a:pPr>
                      <a:r>
                        <a:rPr lang="es-CL" sz="850" b="1" dirty="0">
                          <a:solidFill>
                            <a:srgbClr val="3F3A33"/>
                          </a:solidFill>
                          <a:latin typeface="+mn-lt"/>
                          <a:cs typeface="+mn-lt"/>
                        </a:rPr>
                        <a:t>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Notificar y agradecer a los no seleccionados por filtro de jefatura</a:t>
                      </a:r>
                    </a:p>
                    <a:p>
                      <a:pPr algn="l">
                        <a:lnSpc>
                          <a:spcPct val="90000"/>
                        </a:lnSpc>
                        <a:spcBef>
                          <a:spcPts val="150"/>
                        </a:spcBef>
                        <a:buNone/>
                      </a:pPr>
                      <a:r>
                        <a:rPr lang="es-CL" sz="750" dirty="0">
                          <a:solidFill>
                            <a:srgbClr val="6B655C"/>
                          </a:solidFill>
                          <a:latin typeface="+mn-lt"/>
                          <a:cs typeface="+mn-lt"/>
                        </a:rPr>
                        <a:t>Equipo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7.2.3.4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Revisión del 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7"/>
                  </a:ext>
                </a:extLst>
              </a:tr>
              <a:tr h="428003">
                <a:tc>
                  <a:txBody>
                    <a:bodyPr/>
                    <a:lstStyle/>
                    <a:p>
                      <a:pPr algn="ctr">
                        <a:lnSpc>
                          <a:spcPct val="90000"/>
                        </a:lnSpc>
                        <a:buNone/>
                      </a:pPr>
                      <a:r>
                        <a:rPr lang="es-CL" sz="850" b="1" dirty="0">
                          <a:solidFill>
                            <a:srgbClr val="3F3A33"/>
                          </a:solidFill>
                          <a:latin typeface="+mn-lt"/>
                          <a:cs typeface="+mn-lt"/>
                        </a:rPr>
                        <a:t>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En masivos, avanzar sin revisión de jefatura, previa revisión telefónica de antecedentes</a:t>
                      </a:r>
                    </a:p>
                    <a:p>
                      <a:pPr algn="l">
                        <a:lnSpc>
                          <a:spcPct val="90000"/>
                        </a:lnSpc>
                        <a:spcBef>
                          <a:spcPts val="150"/>
                        </a:spcBef>
                        <a:buNone/>
                      </a:pPr>
                      <a:r>
                        <a:rPr lang="es-CL" sz="750" dirty="0">
                          <a:solidFill>
                            <a:srgbClr val="6B655C"/>
                          </a:solidFill>
                          <a:latin typeface="+mn-lt"/>
                          <a:cs typeface="+mn-lt"/>
                        </a:rPr>
                        <a:t>Equipo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7.2.3.1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Revisión del 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P3 · F6 · Cajas del flujo| </a:t>
            </a:r>
            <a:r>
              <a:rPr lang="es-CL" sz="2000" dirty="0">
                <a:solidFill>
                  <a:srgbClr val="A34100"/>
                </a:solidFill>
                <a:latin typeface="+mn-lt"/>
                <a:cs typeface="+mn-lt"/>
              </a:rPr>
              <a:t>Evaluación área selección · psicolaboral</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11 cajas numeradas  ·  1 decisión sin numerar  ·  proceso P3 · Atracción y selección de personas</a:t>
            </a:r>
          </a:p>
        </p:txBody>
      </p:sp>
      <p:graphicFrame>
        <p:nvGraphicFramePr>
          <p:cNvPr id="11" name="Tabla 11"/>
          <p:cNvGraphicFramePr>
            <a:graphicFrameLocks noGrp="1"/>
          </p:cNvGraphicFramePr>
          <p:nvPr/>
        </p:nvGraphicFramePr>
        <p:xfrm>
          <a:off x="630000" y="1475274"/>
          <a:ext cx="10933350" cy="4035653"/>
        </p:xfrm>
        <a:graphic>
          <a:graphicData uri="http://schemas.openxmlformats.org/drawingml/2006/table">
            <a:tbl>
              <a:tblPr firstRow="1"/>
              <a:tblGrid>
                <a:gridCol w="430000">
                  <a:extLst>
                    <a:ext uri="{9D8B030D-6E8A-4147-A177-3AD203B41FA5}">
                      <a16:colId xmlns:a16="http://schemas.microsoft.com/office/drawing/2014/main" val="20000"/>
                    </a:ext>
                  </a:extLst>
                </a:gridCol>
                <a:gridCol w="4320000">
                  <a:extLst>
                    <a:ext uri="{9D8B030D-6E8A-4147-A177-3AD203B41FA5}">
                      <a16:colId xmlns:a16="http://schemas.microsoft.com/office/drawing/2014/main" val="20001"/>
                    </a:ext>
                  </a:extLst>
                </a:gridCol>
                <a:gridCol w="780000">
                  <a:extLst>
                    <a:ext uri="{9D8B030D-6E8A-4147-A177-3AD203B41FA5}">
                      <a16:colId xmlns:a16="http://schemas.microsoft.com/office/drawing/2014/main" val="20002"/>
                    </a:ext>
                  </a:extLst>
                </a:gridCol>
                <a:gridCol w="1320000">
                  <a:extLst>
                    <a:ext uri="{9D8B030D-6E8A-4147-A177-3AD203B41FA5}">
                      <a16:colId xmlns:a16="http://schemas.microsoft.com/office/drawing/2014/main" val="20003"/>
                    </a:ext>
                  </a:extLst>
                </a:gridCol>
                <a:gridCol w="4083350">
                  <a:extLst>
                    <a:ext uri="{9D8B030D-6E8A-4147-A177-3AD203B41FA5}">
                      <a16:colId xmlns:a16="http://schemas.microsoft.com/office/drawing/2014/main" val="20004"/>
                    </a:ext>
                  </a:extLst>
                </a:gridCol>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extLst>
                  <a:ext uri="{0D108BD9-81ED-4DB2-BD59-A6C34878D82A}">
                    <a16:rowId xmlns:a16="http://schemas.microsoft.com/office/drawing/2014/main" val="10000"/>
                  </a:ext>
                </a:extLst>
              </a:tr>
              <a:tr h="323418">
                <a:tc>
                  <a:txBody>
                    <a:bodyPr/>
                    <a:lstStyle/>
                    <a:p>
                      <a:pPr algn="ctr">
                        <a:lnSpc>
                          <a:spcPct val="90000"/>
                        </a:lnSpc>
                        <a:buNone/>
                      </a:pPr>
                      <a:r>
                        <a:rPr lang="es-CL" sz="850" b="1" dirty="0">
                          <a:solidFill>
                            <a:srgbClr val="3F3A33"/>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Contactar a los candidatos preseleccionados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7.2.3.2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Evaluación de selección · psicolaboral — Tareas sujetas a revisión de nivel de detalle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1"/>
                  </a:ext>
                </a:extLst>
              </a:tr>
              <a:tr h="309474">
                <a:tc>
                  <a:txBody>
                    <a:bodyPr/>
                    <a:lstStyle/>
                    <a:p>
                      <a:pPr algn="ctr">
                        <a:lnSpc>
                          <a:spcPct val="90000"/>
                        </a:lnSpc>
                        <a:buNone/>
                      </a:pPr>
                      <a:r>
                        <a:rPr lang="es-CL" sz="850" b="1" dirty="0">
                          <a:solidFill>
                            <a:srgbClr val="3F3A33"/>
                          </a:solidFill>
                          <a:latin typeface="+mn-lt"/>
                          <a:cs typeface="+mn-lt"/>
                        </a:rPr>
                        <a:t>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Aplicar entrevista psicolaboral</a:t>
                      </a:r>
                    </a:p>
                    <a:p>
                      <a:pPr algn="l">
                        <a:lnSpc>
                          <a:spcPct val="90000"/>
                        </a:lnSpc>
                        <a:spcBef>
                          <a:spcPts val="150"/>
                        </a:spcBef>
                        <a:buNone/>
                      </a:pPr>
                      <a:r>
                        <a:rPr lang="es-CL" sz="750" dirty="0">
                          <a:solidFill>
                            <a:srgbClr val="6B655C"/>
                          </a:solidFill>
                          <a:latin typeface="+mn-lt"/>
                          <a:cs typeface="+mn-lt"/>
                        </a:rPr>
                        <a:t>Consultora de 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7.2.3.2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Evaluación de selección · psicolaboral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2"/>
                  </a:ext>
                </a:extLst>
              </a:tr>
              <a:tr h="309474">
                <a:tc>
                  <a:txBody>
                    <a:bodyPr/>
                    <a:lstStyle/>
                    <a:p>
                      <a:pPr algn="ctr">
                        <a:lnSpc>
                          <a:spcPct val="90000"/>
                        </a:lnSpc>
                        <a:buNone/>
                      </a:pPr>
                      <a:r>
                        <a:rPr lang="es-CL" sz="850" b="1" dirty="0">
                          <a:solidFill>
                            <a:srgbClr val="3F3A33"/>
                          </a:solidFill>
                          <a:latin typeface="+mn-lt"/>
                          <a:cs typeface="+mn-lt"/>
                        </a:rPr>
                        <a:t>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Aplicar encuesta HAL</a:t>
                      </a:r>
                    </a:p>
                    <a:p>
                      <a:pPr algn="l">
                        <a:lnSpc>
                          <a:spcPct val="90000"/>
                        </a:lnSpc>
                        <a:spcBef>
                          <a:spcPts val="150"/>
                        </a:spcBef>
                        <a:buNone/>
                      </a:pPr>
                      <a:r>
                        <a:rPr lang="es-CL" sz="750" dirty="0">
                          <a:solidFill>
                            <a:srgbClr val="6B655C"/>
                          </a:solidFill>
                          <a:latin typeface="+mn-lt"/>
                          <a:cs typeface="+mn-lt"/>
                        </a:rPr>
                        <a:t>Consultora de 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7.2.3.3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Evaluación de selección · psicolaboral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3"/>
                  </a:ext>
                </a:extLst>
              </a:tr>
              <a:tr h="309474">
                <a:tc>
                  <a:txBody>
                    <a:bodyPr/>
                    <a:lstStyle/>
                    <a:p>
                      <a:pPr algn="ctr">
                        <a:lnSpc>
                          <a:spcPct val="90000"/>
                        </a:lnSpc>
                        <a:buNone/>
                      </a:pPr>
                      <a:r>
                        <a:rPr lang="es-CL" sz="850" b="1" dirty="0">
                          <a:solidFill>
                            <a:srgbClr val="3F3A33"/>
                          </a:solidFill>
                          <a:latin typeface="+mn-lt"/>
                          <a:cs typeface="+mn-lt"/>
                        </a:rPr>
                        <a:t>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Aplicar pruebas psicométricas</a:t>
                      </a:r>
                    </a:p>
                    <a:p>
                      <a:pPr algn="l">
                        <a:lnSpc>
                          <a:spcPct val="90000"/>
                        </a:lnSpc>
                        <a:spcBef>
                          <a:spcPts val="150"/>
                        </a:spcBef>
                        <a:buNone/>
                      </a:pPr>
                      <a:r>
                        <a:rPr lang="es-CL" sz="750" dirty="0">
                          <a:solidFill>
                            <a:srgbClr val="6B655C"/>
                          </a:solidFill>
                          <a:latin typeface="+mn-lt"/>
                          <a:cs typeface="+mn-lt"/>
                        </a:rPr>
                        <a:t>Consultora de 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7.2.3.3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Evaluación de selección · psicolaboral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4"/>
                  </a:ext>
                </a:extLst>
              </a:tr>
              <a:tr h="309474">
                <a:tc>
                  <a:txBody>
                    <a:bodyPr/>
                    <a:lstStyle/>
                    <a:p>
                      <a:pPr algn="ctr">
                        <a:lnSpc>
                          <a:spcPct val="90000"/>
                        </a:lnSpc>
                        <a:buNone/>
                      </a:pPr>
                      <a:r>
                        <a:rPr lang="es-CL" sz="850" b="1" dirty="0">
                          <a:solidFill>
                            <a:srgbClr val="3F3A33"/>
                          </a:solidFill>
                          <a:latin typeface="+mn-lt"/>
                          <a:cs typeface="+mn-lt"/>
                        </a:rPr>
                        <a:t>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Aplicar pruebas técnicas</a:t>
                      </a:r>
                    </a:p>
                    <a:p>
                      <a:pPr algn="l">
                        <a:lnSpc>
                          <a:spcPct val="90000"/>
                        </a:lnSpc>
                        <a:spcBef>
                          <a:spcPts val="150"/>
                        </a:spcBef>
                        <a:buNone/>
                      </a:pPr>
                      <a:r>
                        <a:rPr lang="es-CL" sz="750" dirty="0">
                          <a:solidFill>
                            <a:srgbClr val="6B655C"/>
                          </a:solidFill>
                          <a:latin typeface="+mn-lt"/>
                          <a:cs typeface="+mn-lt"/>
                        </a:rPr>
                        <a:t>Consultora de 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7.2.3.3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Evaluación de selección · psicolaboral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5"/>
                  </a:ext>
                </a:extLst>
              </a:tr>
              <a:tr h="309474">
                <a:tc>
                  <a:txBody>
                    <a:bodyPr/>
                    <a:lstStyle/>
                    <a:p>
                      <a:pPr algn="ctr">
                        <a:lnSpc>
                          <a:spcPct val="90000"/>
                        </a:lnSpc>
                        <a:buNone/>
                      </a:pPr>
                      <a:r>
                        <a:rPr lang="es-CL" sz="850" b="1" dirty="0">
                          <a:solidFill>
                            <a:srgbClr val="3F3A33"/>
                          </a:solidFill>
                          <a:latin typeface="+mn-lt"/>
                          <a:cs typeface="+mn-lt"/>
                        </a:rPr>
                        <a:t>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Levantar referencias</a:t>
                      </a:r>
                    </a:p>
                    <a:p>
                      <a:pPr algn="l">
                        <a:lnSpc>
                          <a:spcPct val="90000"/>
                        </a:lnSpc>
                        <a:spcBef>
                          <a:spcPts val="150"/>
                        </a:spcBef>
                        <a:buNone/>
                      </a:pPr>
                      <a:r>
                        <a:rPr lang="es-CL" sz="750" dirty="0">
                          <a:solidFill>
                            <a:srgbClr val="6B655C"/>
                          </a:solidFill>
                          <a:latin typeface="+mn-lt"/>
                          <a:cs typeface="+mn-lt"/>
                        </a:rPr>
                        <a:t>Consultora de 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7.2.5.1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Evaluación de selección · psicolaboral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6"/>
                  </a:ext>
                </a:extLst>
              </a:tr>
              <a:tr h="204889">
                <a:tc>
                  <a:txBody>
                    <a:bodyPr/>
                    <a:lstStyle/>
                    <a:p>
                      <a:pPr algn="ctr">
                        <a:lnSpc>
                          <a:spcPct val="90000"/>
                        </a:lnSpc>
                        <a:buNone/>
                      </a:pPr>
                      <a:r>
                        <a:rPr lang="es-CL" sz="850" b="1" dirty="0">
                          <a:solidFill>
                            <a:srgbClr val="6F5800"/>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Resultado: ¿Recomendable?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b="1" dirty="0">
                          <a:solidFill>
                            <a:srgbClr val="6F5800"/>
                          </a:solidFill>
                          <a:latin typeface="+mn-lt"/>
                          <a:cs typeface="+mn-lt"/>
                        </a:rPr>
                        <a:t>Decisión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No entra en la numeración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extLst>
                  <a:ext uri="{0D108BD9-81ED-4DB2-BD59-A6C34878D82A}">
                    <a16:rowId xmlns:a16="http://schemas.microsoft.com/office/drawing/2014/main" val="10007"/>
                  </a:ext>
                </a:extLst>
              </a:tr>
              <a:tr h="323418">
                <a:tc>
                  <a:txBody>
                    <a:bodyPr/>
                    <a:lstStyle/>
                    <a:p>
                      <a:pPr algn="ctr">
                        <a:lnSpc>
                          <a:spcPct val="90000"/>
                        </a:lnSpc>
                        <a:buNone/>
                      </a:pPr>
                      <a:r>
                        <a:rPr lang="es-CL" sz="850" b="1" dirty="0">
                          <a:solidFill>
                            <a:srgbClr val="3F3A33"/>
                          </a:solidFill>
                          <a:latin typeface="+mn-lt"/>
                          <a:cs typeface="+mn-lt"/>
                        </a:rPr>
                        <a:t>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Elaborar informe de resultados psicolaboral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7.2.3.4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Evaluación de selección · psicolaboral — Tareas sujetas a revisión de nivel de detalle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8"/>
                  </a:ext>
                </a:extLst>
              </a:tr>
              <a:tr h="309474">
                <a:tc>
                  <a:txBody>
                    <a:bodyPr/>
                    <a:lstStyle/>
                    <a:p>
                      <a:pPr algn="ctr">
                        <a:lnSpc>
                          <a:spcPct val="90000"/>
                        </a:lnSpc>
                        <a:buNone/>
                      </a:pPr>
                      <a:r>
                        <a:rPr lang="es-CL" sz="850" b="1" dirty="0">
                          <a:solidFill>
                            <a:srgbClr val="3F3A33"/>
                          </a:solidFill>
                          <a:latin typeface="+mn-lt"/>
                          <a:cs typeface="+mn-lt"/>
                        </a:rPr>
                        <a:t>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Cargar los resultados en SSFF</a:t>
                      </a:r>
                    </a:p>
                    <a:p>
                      <a:pPr algn="l">
                        <a:lnSpc>
                          <a:spcPct val="90000"/>
                        </a:lnSpc>
                        <a:spcBef>
                          <a:spcPts val="150"/>
                        </a:spcBef>
                        <a:buNone/>
                      </a:pPr>
                      <a:r>
                        <a:rPr lang="es-CL" sz="750" dirty="0">
                          <a:solidFill>
                            <a:srgbClr val="6B655C"/>
                          </a:solidFill>
                          <a:latin typeface="+mn-lt"/>
                          <a:cs typeface="+mn-lt"/>
                        </a:rPr>
                        <a:t>Consultora de 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7.2.5.3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Evaluación de selección · psicolaboral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9"/>
                  </a:ext>
                </a:extLst>
              </a:tr>
              <a:tr h="309474">
                <a:tc>
                  <a:txBody>
                    <a:bodyPr/>
                    <a:lstStyle/>
                    <a:p>
                      <a:pPr algn="ctr">
                        <a:lnSpc>
                          <a:spcPct val="90000"/>
                        </a:lnSpc>
                        <a:buNone/>
                      </a:pPr>
                      <a:r>
                        <a:rPr lang="es-CL" sz="850" b="1" dirty="0">
                          <a:solidFill>
                            <a:srgbClr val="3F3A33"/>
                          </a:solidFill>
                          <a:latin typeface="+mn-lt"/>
                          <a:cs typeface="+mn-lt"/>
                        </a:rPr>
                        <a:t>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Retroalimentar al Área Solicitante</a:t>
                      </a:r>
                    </a:p>
                    <a:p>
                      <a:pPr algn="l">
                        <a:lnSpc>
                          <a:spcPct val="90000"/>
                        </a:lnSpc>
                        <a:spcBef>
                          <a:spcPts val="150"/>
                        </a:spcBef>
                        <a:buNone/>
                      </a:pPr>
                      <a:r>
                        <a:rPr lang="es-CL" sz="750" dirty="0">
                          <a:solidFill>
                            <a:srgbClr val="6B655C"/>
                          </a:solidFill>
                          <a:latin typeface="+mn-lt"/>
                          <a:cs typeface="+mn-lt"/>
                        </a:rPr>
                        <a:t>Equipo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7.2.3.4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Evaluación de selección · psicolaboral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10"/>
                  </a:ext>
                </a:extLst>
              </a:tr>
              <a:tr h="309474">
                <a:tc>
                  <a:txBody>
                    <a:bodyPr/>
                    <a:lstStyle/>
                    <a:p>
                      <a:pPr algn="ctr">
                        <a:lnSpc>
                          <a:spcPct val="90000"/>
                        </a:lnSpc>
                        <a:buNone/>
                      </a:pPr>
                      <a:r>
                        <a:rPr lang="es-CL" sz="850" b="1" dirty="0">
                          <a:solidFill>
                            <a:srgbClr val="3F3A33"/>
                          </a:solidFill>
                          <a:latin typeface="+mn-lt"/>
                          <a:cs typeface="+mn-lt"/>
                        </a:rPr>
                        <a:t>10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Notificar a los postulantes descartados su no continuidad</a:t>
                      </a:r>
                    </a:p>
                    <a:p>
                      <a:pPr algn="l">
                        <a:lnSpc>
                          <a:spcPct val="90000"/>
                        </a:lnSpc>
                        <a:spcBef>
                          <a:spcPts val="150"/>
                        </a:spcBef>
                        <a:buNone/>
                      </a:pPr>
                      <a:r>
                        <a:rPr lang="es-CL" sz="750" dirty="0">
                          <a:solidFill>
                            <a:srgbClr val="6B655C"/>
                          </a:solidFill>
                          <a:latin typeface="+mn-lt"/>
                          <a:cs typeface="+mn-lt"/>
                        </a:rPr>
                        <a:t>Equipo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7.2.3.4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Evaluación de selección · psicolaboral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11"/>
                  </a:ext>
                </a:extLst>
              </a:tr>
              <a:tr h="428003">
                <a:tc>
                  <a:txBody>
                    <a:bodyPr/>
                    <a:lstStyle/>
                    <a:p>
                      <a:pPr algn="ctr">
                        <a:lnSpc>
                          <a:spcPct val="90000"/>
                        </a:lnSpc>
                        <a:buNone/>
                      </a:pPr>
                      <a:r>
                        <a:rPr lang="es-CL" sz="850" b="1" dirty="0">
                          <a:solidFill>
                            <a:srgbClr val="3F3A33"/>
                          </a:solidFill>
                          <a:latin typeface="+mn-lt"/>
                          <a:cs typeface="+mn-lt"/>
                        </a:rPr>
                        <a:t>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No Recomendable: no compartir el informe psicolaboral, entregar feedback verbal</a:t>
                      </a:r>
                    </a:p>
                    <a:p>
                      <a:pPr algn="l">
                        <a:lnSpc>
                          <a:spcPct val="90000"/>
                        </a:lnSpc>
                        <a:spcBef>
                          <a:spcPts val="150"/>
                        </a:spcBef>
                        <a:buNone/>
                      </a:pPr>
                      <a:r>
                        <a:rPr lang="es-CL" sz="750" dirty="0">
                          <a:solidFill>
                            <a:srgbClr val="6F5800"/>
                          </a:solidFill>
                          <a:latin typeface="+mn-lt"/>
                          <a:cs typeface="+mn-lt"/>
                        </a:rPr>
                        <a:t>Específico de Arauco · Equipo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Evaluación de selección · psicolaboral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P3 · F7 · Cajas del flujo| </a:t>
            </a:r>
            <a:r>
              <a:rPr lang="es-CL" sz="2000" dirty="0">
                <a:solidFill>
                  <a:srgbClr val="A34100"/>
                </a:solidFill>
                <a:latin typeface="+mn-lt"/>
                <a:cs typeface="+mn-lt"/>
              </a:rPr>
              <a:t>Evaluación área solicitante · entrevistas</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10 cajas numeradas  ·  2 decisiones sin numerar  ·  proceso P3 · Atracción y selección de personas</a:t>
            </a:r>
          </a:p>
        </p:txBody>
      </p:sp>
      <p:graphicFrame>
        <p:nvGraphicFramePr>
          <p:cNvPr id="11" name="Tabla 11"/>
          <p:cNvGraphicFramePr>
            <a:graphicFrameLocks noGrp="1"/>
          </p:cNvGraphicFramePr>
          <p:nvPr/>
        </p:nvGraphicFramePr>
        <p:xfrm>
          <a:off x="630000" y="1475274"/>
          <a:ext cx="10933350" cy="3588587"/>
        </p:xfrm>
        <a:graphic>
          <a:graphicData uri="http://schemas.openxmlformats.org/drawingml/2006/table">
            <a:tbl>
              <a:tblPr firstRow="1"/>
              <a:tblGrid>
                <a:gridCol w="430000">
                  <a:extLst>
                    <a:ext uri="{9D8B030D-6E8A-4147-A177-3AD203B41FA5}">
                      <a16:colId xmlns:a16="http://schemas.microsoft.com/office/drawing/2014/main" val="20000"/>
                    </a:ext>
                  </a:extLst>
                </a:gridCol>
                <a:gridCol w="4320000">
                  <a:extLst>
                    <a:ext uri="{9D8B030D-6E8A-4147-A177-3AD203B41FA5}">
                      <a16:colId xmlns:a16="http://schemas.microsoft.com/office/drawing/2014/main" val="20001"/>
                    </a:ext>
                  </a:extLst>
                </a:gridCol>
                <a:gridCol w="780000">
                  <a:extLst>
                    <a:ext uri="{9D8B030D-6E8A-4147-A177-3AD203B41FA5}">
                      <a16:colId xmlns:a16="http://schemas.microsoft.com/office/drawing/2014/main" val="20002"/>
                    </a:ext>
                  </a:extLst>
                </a:gridCol>
                <a:gridCol w="1320000">
                  <a:extLst>
                    <a:ext uri="{9D8B030D-6E8A-4147-A177-3AD203B41FA5}">
                      <a16:colId xmlns:a16="http://schemas.microsoft.com/office/drawing/2014/main" val="20003"/>
                    </a:ext>
                  </a:extLst>
                </a:gridCol>
                <a:gridCol w="4083350">
                  <a:extLst>
                    <a:ext uri="{9D8B030D-6E8A-4147-A177-3AD203B41FA5}">
                      <a16:colId xmlns:a16="http://schemas.microsoft.com/office/drawing/2014/main" val="20004"/>
                    </a:ext>
                  </a:extLst>
                </a:gridCol>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extLst>
                  <a:ext uri="{0D108BD9-81ED-4DB2-BD59-A6C34878D82A}">
                    <a16:rowId xmlns:a16="http://schemas.microsoft.com/office/drawing/2014/main" val="10000"/>
                  </a:ext>
                </a:extLst>
              </a:tr>
              <a:tr h="323418">
                <a:tc>
                  <a:txBody>
                    <a:bodyPr/>
                    <a:lstStyle/>
                    <a:p>
                      <a:pPr algn="ctr">
                        <a:lnSpc>
                          <a:spcPct val="90000"/>
                        </a:lnSpc>
                        <a:buNone/>
                      </a:pPr>
                      <a:r>
                        <a:rPr lang="es-CL" sz="850" b="1" dirty="0">
                          <a:solidFill>
                            <a:srgbClr val="3F3A33"/>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Entregar la pauta de entrevista a la jefatura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Evaluación del área solicitante — Tareas sujetas a revisión de nivel de detalle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1"/>
                  </a:ext>
                </a:extLst>
              </a:tr>
              <a:tr h="204889">
                <a:tc>
                  <a:txBody>
                    <a:bodyPr/>
                    <a:lstStyle/>
                    <a:p>
                      <a:pPr algn="ctr">
                        <a:lnSpc>
                          <a:spcPct val="90000"/>
                        </a:lnSpc>
                        <a:buNone/>
                      </a:pPr>
                      <a:r>
                        <a:rPr lang="es-CL" sz="850" b="1" dirty="0">
                          <a:solidFill>
                            <a:srgbClr val="3F3A33"/>
                          </a:solidFill>
                          <a:latin typeface="+mn-lt"/>
                          <a:cs typeface="+mn-lt"/>
                        </a:rPr>
                        <a:t>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Coordinar la entrevista con el jefe del 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7.2.3.2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Evaluación del 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2"/>
                  </a:ext>
                </a:extLst>
              </a:tr>
              <a:tr h="309474">
                <a:tc>
                  <a:txBody>
                    <a:bodyPr/>
                    <a:lstStyle/>
                    <a:p>
                      <a:pPr algn="ctr">
                        <a:lnSpc>
                          <a:spcPct val="90000"/>
                        </a:lnSpc>
                        <a:buNone/>
                      </a:pPr>
                      <a:r>
                        <a:rPr lang="es-CL" sz="850" b="1" dirty="0">
                          <a:solidFill>
                            <a:srgbClr val="3F3A33"/>
                          </a:solidFill>
                          <a:latin typeface="+mn-lt"/>
                          <a:cs typeface="+mn-lt"/>
                        </a:rPr>
                        <a:t>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Realizar como mínimo una entrevista</a:t>
                      </a:r>
                    </a:p>
                    <a:p>
                      <a:pPr algn="l">
                        <a:lnSpc>
                          <a:spcPct val="90000"/>
                        </a:lnSpc>
                        <a:spcBef>
                          <a:spcPts val="150"/>
                        </a:spcBef>
                        <a:buNone/>
                      </a:pPr>
                      <a:r>
                        <a:rPr lang="es-CL" sz="750" dirty="0">
                          <a:solidFill>
                            <a:srgbClr val="6B655C"/>
                          </a:solidFill>
                          <a:latin typeface="+mn-lt"/>
                          <a:cs typeface="+mn-lt"/>
                        </a:rPr>
                        <a:t>Jefatura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7.2.3.2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Evaluación del 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3"/>
                  </a:ext>
                </a:extLst>
              </a:tr>
              <a:tr h="428003">
                <a:tc>
                  <a:txBody>
                    <a:bodyPr/>
                    <a:lstStyle/>
                    <a:p>
                      <a:pPr algn="ctr">
                        <a:lnSpc>
                          <a:spcPct val="90000"/>
                        </a:lnSpc>
                        <a:buNone/>
                      </a:pPr>
                      <a:r>
                        <a:rPr lang="es-CL" sz="850" b="1" dirty="0">
                          <a:solidFill>
                            <a:srgbClr val="3F3A33"/>
                          </a:solidFill>
                          <a:latin typeface="+mn-lt"/>
                          <a:cs typeface="+mn-lt"/>
                        </a:rPr>
                        <a:t>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Añadir una instancia de entrevista de la jefatura siguiente en la línea</a:t>
                      </a:r>
                    </a:p>
                    <a:p>
                      <a:pPr algn="l">
                        <a:lnSpc>
                          <a:spcPct val="90000"/>
                        </a:lnSpc>
                        <a:spcBef>
                          <a:spcPts val="150"/>
                        </a:spcBef>
                        <a:buNone/>
                      </a:pPr>
                      <a:r>
                        <a:rPr lang="es-CL" sz="750" dirty="0">
                          <a:solidFill>
                            <a:srgbClr val="6B655C"/>
                          </a:solidFill>
                          <a:latin typeface="+mn-lt"/>
                          <a:cs typeface="+mn-lt"/>
                        </a:rPr>
                        <a:t>opcional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7.2.3.2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Evaluación del 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4"/>
                  </a:ext>
                </a:extLst>
              </a:tr>
              <a:tr h="204889">
                <a:tc>
                  <a:txBody>
                    <a:bodyPr/>
                    <a:lstStyle/>
                    <a:p>
                      <a:pPr algn="ctr">
                        <a:lnSpc>
                          <a:spcPct val="90000"/>
                        </a:lnSpc>
                        <a:buNone/>
                      </a:pPr>
                      <a:r>
                        <a:rPr lang="es-CL" sz="850" b="1" dirty="0">
                          <a:solidFill>
                            <a:srgbClr val="3F3A33"/>
                          </a:solidFill>
                          <a:latin typeface="+mn-lt"/>
                          <a:cs typeface="+mn-lt"/>
                        </a:rPr>
                        <a:t>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Evaluar según la pauta o los criterios de la jefatura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Evaluación del 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5"/>
                  </a:ext>
                </a:extLst>
              </a:tr>
              <a:tr h="309474">
                <a:tc>
                  <a:txBody>
                    <a:bodyPr/>
                    <a:lstStyle/>
                    <a:p>
                      <a:pPr algn="ctr">
                        <a:lnSpc>
                          <a:spcPct val="90000"/>
                        </a:lnSpc>
                        <a:buNone/>
                      </a:pPr>
                      <a:r>
                        <a:rPr lang="es-CL" sz="850" b="1" dirty="0">
                          <a:solidFill>
                            <a:srgbClr val="3F3A33"/>
                          </a:solidFill>
                          <a:latin typeface="+mn-lt"/>
                          <a:cs typeface="+mn-lt"/>
                        </a:rPr>
                        <a:t>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Retroalimentar lo observado e indicar si avanza</a:t>
                      </a:r>
                    </a:p>
                    <a:p>
                      <a:pPr algn="l">
                        <a:lnSpc>
                          <a:spcPct val="90000"/>
                        </a:lnSpc>
                        <a:spcBef>
                          <a:spcPts val="150"/>
                        </a:spcBef>
                        <a:buNone/>
                      </a:pPr>
                      <a:r>
                        <a:rPr lang="es-CL" sz="750" dirty="0">
                          <a:solidFill>
                            <a:srgbClr val="6B655C"/>
                          </a:solidFill>
                          <a:latin typeface="+mn-lt"/>
                          <a:cs typeface="+mn-lt"/>
                        </a:rPr>
                        <a:t>Jefatura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7.2.3.2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Evaluación del 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6"/>
                  </a:ext>
                </a:extLst>
              </a:tr>
              <a:tr h="204889">
                <a:tc>
                  <a:txBody>
                    <a:bodyPr/>
                    <a:lstStyle/>
                    <a:p>
                      <a:pPr algn="ctr">
                        <a:lnSpc>
                          <a:spcPct val="90000"/>
                        </a:lnSpc>
                        <a:buNone/>
                      </a:pPr>
                      <a:r>
                        <a:rPr lang="es-CL" sz="850" b="1" dirty="0">
                          <a:solidFill>
                            <a:srgbClr val="6F5800"/>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¿Avanza?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b="1" dirty="0">
                          <a:solidFill>
                            <a:srgbClr val="6F5800"/>
                          </a:solidFill>
                          <a:latin typeface="+mn-lt"/>
                          <a:cs typeface="+mn-lt"/>
                        </a:rPr>
                        <a:t>Decisión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No entra en la numeración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extLst>
                  <a:ext uri="{0D108BD9-81ED-4DB2-BD59-A6C34878D82A}">
                    <a16:rowId xmlns:a16="http://schemas.microsoft.com/office/drawing/2014/main" val="10007"/>
                  </a:ext>
                </a:extLst>
              </a:tr>
              <a:tr h="323418">
                <a:tc>
                  <a:txBody>
                    <a:bodyPr/>
                    <a:lstStyle/>
                    <a:p>
                      <a:pPr algn="ctr">
                        <a:lnSpc>
                          <a:spcPct val="90000"/>
                        </a:lnSpc>
                        <a:buNone/>
                      </a:pPr>
                      <a:r>
                        <a:rPr lang="es-CL" sz="850" b="1" dirty="0">
                          <a:solidFill>
                            <a:srgbClr val="3F3A33"/>
                          </a:solidFill>
                          <a:latin typeface="+mn-lt"/>
                          <a:cs typeface="+mn-lt"/>
                        </a:rPr>
                        <a:t>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Señalar la razón de la no continuidad</a:t>
                      </a:r>
                    </a:p>
                    <a:p>
                      <a:pPr algn="l">
                        <a:lnSpc>
                          <a:spcPct val="90000"/>
                        </a:lnSpc>
                        <a:spcBef>
                          <a:spcPts val="150"/>
                        </a:spcBef>
                        <a:buNone/>
                      </a:pPr>
                      <a:r>
                        <a:rPr lang="es-CL" sz="750" dirty="0">
                          <a:solidFill>
                            <a:srgbClr val="6B655C"/>
                          </a:solidFill>
                          <a:latin typeface="+mn-lt"/>
                          <a:cs typeface="+mn-lt"/>
                        </a:rPr>
                        <a:t>Jefatura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7.2.3.4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Evaluación del área solicitante — Tareas sujetas a revisión de nivel de detalle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8"/>
                  </a:ext>
                </a:extLst>
              </a:tr>
              <a:tr h="204889">
                <a:tc>
                  <a:txBody>
                    <a:bodyPr/>
                    <a:lstStyle/>
                    <a:p>
                      <a:pPr algn="ctr">
                        <a:lnSpc>
                          <a:spcPct val="90000"/>
                        </a:lnSpc>
                        <a:buNone/>
                      </a:pPr>
                      <a:r>
                        <a:rPr lang="es-CL" sz="850" b="1" dirty="0">
                          <a:solidFill>
                            <a:srgbClr val="6F5800"/>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¿Es PcD recomendable?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b="1" dirty="0">
                          <a:solidFill>
                            <a:srgbClr val="6F5800"/>
                          </a:solidFill>
                          <a:latin typeface="+mn-lt"/>
                          <a:cs typeface="+mn-lt"/>
                        </a:rPr>
                        <a:t>Decisión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No entra en la numeración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extLst>
                  <a:ext uri="{0D108BD9-81ED-4DB2-BD59-A6C34878D82A}">
                    <a16:rowId xmlns:a16="http://schemas.microsoft.com/office/drawing/2014/main" val="10009"/>
                  </a:ext>
                </a:extLst>
              </a:tr>
              <a:tr h="323418">
                <a:tc>
                  <a:txBody>
                    <a:bodyPr/>
                    <a:lstStyle/>
                    <a:p>
                      <a:pPr algn="ctr">
                        <a:lnSpc>
                          <a:spcPct val="90000"/>
                        </a:lnSpc>
                        <a:buNone/>
                      </a:pPr>
                      <a:r>
                        <a:rPr lang="es-CL" sz="850" b="1" dirty="0">
                          <a:solidFill>
                            <a:srgbClr val="3F3A33"/>
                          </a:solidFill>
                          <a:latin typeface="+mn-lt"/>
                          <a:cs typeface="+mn-lt"/>
                        </a:rPr>
                        <a:t>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Contactar al equipo de Inclusión</a:t>
                      </a:r>
                    </a:p>
                    <a:p>
                      <a:pPr algn="l">
                        <a:lnSpc>
                          <a:spcPct val="90000"/>
                        </a:lnSpc>
                        <a:spcBef>
                          <a:spcPts val="150"/>
                        </a:spcBef>
                        <a:buNone/>
                      </a:pPr>
                      <a:r>
                        <a:rPr lang="es-CL" sz="750" dirty="0">
                          <a:solidFill>
                            <a:srgbClr val="6F5800"/>
                          </a:solidFill>
                          <a:latin typeface="+mn-lt"/>
                          <a:cs typeface="+mn-lt"/>
                        </a:rPr>
                        <a:t>Específico de Arauco · Equipo Selección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Evaluación del área solicitante — Tareas sujetas a revisión de nivel de detalle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10"/>
                  </a:ext>
                </a:extLst>
              </a:tr>
              <a:tr h="309474">
                <a:tc>
                  <a:txBody>
                    <a:bodyPr/>
                    <a:lstStyle/>
                    <a:p>
                      <a:pPr algn="ctr">
                        <a:lnSpc>
                          <a:spcPct val="90000"/>
                        </a:lnSpc>
                        <a:buNone/>
                      </a:pPr>
                      <a:r>
                        <a:rPr lang="es-CL" sz="850" b="1" dirty="0">
                          <a:solidFill>
                            <a:srgbClr val="3F3A33"/>
                          </a:solidFill>
                          <a:latin typeface="+mn-lt"/>
                          <a:cs typeface="+mn-lt"/>
                        </a:rPr>
                        <a:t>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Gestionar análisis funcional y análisis del puesto de trabajo</a:t>
                      </a:r>
                    </a:p>
                    <a:p>
                      <a:pPr algn="l">
                        <a:lnSpc>
                          <a:spcPct val="90000"/>
                        </a:lnSpc>
                        <a:spcBef>
                          <a:spcPts val="150"/>
                        </a:spcBef>
                        <a:buNone/>
                      </a:pPr>
                      <a:r>
                        <a:rPr lang="es-CL" sz="750" dirty="0">
                          <a:solidFill>
                            <a:srgbClr val="6F5800"/>
                          </a:solidFill>
                          <a:latin typeface="+mn-lt"/>
                          <a:cs typeface="+mn-lt"/>
                        </a:rPr>
                        <a:t>Específico de Arauco · Terapeuta Ocupacional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Evaluación del 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11"/>
                  </a:ext>
                </a:extLst>
              </a:tr>
              <a:tr h="204889">
                <a:tc>
                  <a:txBody>
                    <a:bodyPr/>
                    <a:lstStyle/>
                    <a:p>
                      <a:pPr algn="ctr">
                        <a:lnSpc>
                          <a:spcPct val="90000"/>
                        </a:lnSpc>
                        <a:buNone/>
                      </a:pPr>
                      <a:r>
                        <a:rPr lang="es-CL" sz="850" b="1" dirty="0">
                          <a:solidFill>
                            <a:srgbClr val="3F3A33"/>
                          </a:solidFill>
                          <a:latin typeface="+mn-lt"/>
                          <a:cs typeface="+mn-lt"/>
                        </a:rPr>
                        <a:t>10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Definir el candidato seleccionado para examen médico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7.2.3.4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Evaluación del 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P3 · F8 · Cajas del flujo| </a:t>
            </a:r>
            <a:r>
              <a:rPr lang="es-CL" sz="2000" dirty="0">
                <a:solidFill>
                  <a:srgbClr val="A34100"/>
                </a:solidFill>
                <a:latin typeface="+mn-lt"/>
                <a:cs typeface="+mn-lt"/>
              </a:rPr>
              <a:t>Examen preocupacional</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10 cajas numeradas  ·  1 decisión sin numerar  ·  proceso P3 · Atracción y selección de personas</a:t>
            </a:r>
          </a:p>
        </p:txBody>
      </p:sp>
      <p:graphicFrame>
        <p:nvGraphicFramePr>
          <p:cNvPr id="11" name="Tabla 11"/>
          <p:cNvGraphicFramePr>
            <a:graphicFrameLocks noGrp="1"/>
          </p:cNvGraphicFramePr>
          <p:nvPr/>
        </p:nvGraphicFramePr>
        <p:xfrm>
          <a:off x="630000" y="1475274"/>
          <a:ext cx="10933350" cy="3045522"/>
        </p:xfrm>
        <a:graphic>
          <a:graphicData uri="http://schemas.openxmlformats.org/drawingml/2006/table">
            <a:tbl>
              <a:tblPr firstRow="1"/>
              <a:tblGrid>
                <a:gridCol w="430000">
                  <a:extLst>
                    <a:ext uri="{9D8B030D-6E8A-4147-A177-3AD203B41FA5}">
                      <a16:colId xmlns:a16="http://schemas.microsoft.com/office/drawing/2014/main" val="20000"/>
                    </a:ext>
                  </a:extLst>
                </a:gridCol>
                <a:gridCol w="4320000">
                  <a:extLst>
                    <a:ext uri="{9D8B030D-6E8A-4147-A177-3AD203B41FA5}">
                      <a16:colId xmlns:a16="http://schemas.microsoft.com/office/drawing/2014/main" val="20001"/>
                    </a:ext>
                  </a:extLst>
                </a:gridCol>
                <a:gridCol w="780000">
                  <a:extLst>
                    <a:ext uri="{9D8B030D-6E8A-4147-A177-3AD203B41FA5}">
                      <a16:colId xmlns:a16="http://schemas.microsoft.com/office/drawing/2014/main" val="20002"/>
                    </a:ext>
                  </a:extLst>
                </a:gridCol>
                <a:gridCol w="1320000">
                  <a:extLst>
                    <a:ext uri="{9D8B030D-6E8A-4147-A177-3AD203B41FA5}">
                      <a16:colId xmlns:a16="http://schemas.microsoft.com/office/drawing/2014/main" val="20003"/>
                    </a:ext>
                  </a:extLst>
                </a:gridCol>
                <a:gridCol w="4083350">
                  <a:extLst>
                    <a:ext uri="{9D8B030D-6E8A-4147-A177-3AD203B41FA5}">
                      <a16:colId xmlns:a16="http://schemas.microsoft.com/office/drawing/2014/main" val="20004"/>
                    </a:ext>
                  </a:extLst>
                </a:gridCol>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extLst>
                  <a:ext uri="{0D108BD9-81ED-4DB2-BD59-A6C34878D82A}">
                    <a16:rowId xmlns:a16="http://schemas.microsoft.com/office/drawing/2014/main" val="10000"/>
                  </a:ext>
                </a:extLst>
              </a:tr>
              <a:tr h="204889">
                <a:tc>
                  <a:txBody>
                    <a:bodyPr/>
                    <a:lstStyle/>
                    <a:p>
                      <a:pPr algn="ctr">
                        <a:lnSpc>
                          <a:spcPct val="90000"/>
                        </a:lnSpc>
                        <a:buNone/>
                      </a:pPr>
                      <a:r>
                        <a:rPr lang="es-CL" sz="850" b="1" dirty="0">
                          <a:solidFill>
                            <a:srgbClr val="6F5800"/>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¿Oficina/masivo o planta/zona?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b="1" dirty="0">
                          <a:solidFill>
                            <a:srgbClr val="6F5800"/>
                          </a:solidFill>
                          <a:latin typeface="+mn-lt"/>
                          <a:cs typeface="+mn-lt"/>
                        </a:rPr>
                        <a:t>Decisión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No entra en la numeración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extLst>
                  <a:ext uri="{0D108BD9-81ED-4DB2-BD59-A6C34878D82A}">
                    <a16:rowId xmlns:a16="http://schemas.microsoft.com/office/drawing/2014/main" val="10001"/>
                  </a:ext>
                </a:extLst>
              </a:tr>
              <a:tr h="323418">
                <a:tc>
                  <a:txBody>
                    <a:bodyPr/>
                    <a:lstStyle/>
                    <a:p>
                      <a:pPr algn="ctr">
                        <a:lnSpc>
                          <a:spcPct val="90000"/>
                        </a:lnSpc>
                        <a:buNone/>
                      </a:pPr>
                      <a:r>
                        <a:rPr lang="es-CL" sz="850" b="1" dirty="0">
                          <a:solidFill>
                            <a:srgbClr val="3F3A33"/>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Coordinar los exámenes de cargos de oficina y procesos masivos</a:t>
                      </a:r>
                    </a:p>
                    <a:p>
                      <a:pPr algn="l">
                        <a:lnSpc>
                          <a:spcPct val="90000"/>
                        </a:lnSpc>
                        <a:spcBef>
                          <a:spcPts val="150"/>
                        </a:spcBef>
                        <a:buNone/>
                      </a:pPr>
                      <a:r>
                        <a:rPr lang="es-CL" sz="750" dirty="0">
                          <a:solidFill>
                            <a:srgbClr val="6B655C"/>
                          </a:solidFill>
                          <a:latin typeface="+mn-lt"/>
                          <a:cs typeface="+mn-lt"/>
                        </a:rPr>
                        <a:t>Equipo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7.2.5.1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Examen preocupacional — Tareas sujetas a revisión de nivel de detalle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2"/>
                  </a:ext>
                </a:extLst>
              </a:tr>
              <a:tr h="309474">
                <a:tc>
                  <a:txBody>
                    <a:bodyPr/>
                    <a:lstStyle/>
                    <a:p>
                      <a:pPr algn="ctr">
                        <a:lnSpc>
                          <a:spcPct val="90000"/>
                        </a:lnSpc>
                        <a:buNone/>
                      </a:pPr>
                      <a:r>
                        <a:rPr lang="es-CL" sz="850" b="1" dirty="0">
                          <a:solidFill>
                            <a:srgbClr val="3F3A33"/>
                          </a:solidFill>
                          <a:latin typeface="+mn-lt"/>
                          <a:cs typeface="+mn-lt"/>
                        </a:rPr>
                        <a:t>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Coordinar los exámenes de planta y zona</a:t>
                      </a:r>
                    </a:p>
                    <a:p>
                      <a:pPr algn="l">
                        <a:lnSpc>
                          <a:spcPct val="90000"/>
                        </a:lnSpc>
                        <a:spcBef>
                          <a:spcPts val="150"/>
                        </a:spcBef>
                        <a:buNone/>
                      </a:pPr>
                      <a:r>
                        <a:rPr lang="es-CL" sz="750" dirty="0">
                          <a:solidFill>
                            <a:srgbClr val="6B655C"/>
                          </a:solidFill>
                          <a:latin typeface="+mn-lt"/>
                          <a:cs typeface="+mn-lt"/>
                        </a:rPr>
                        <a:t>Generalista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7.2.5.1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Examen preocupacional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3"/>
                  </a:ext>
                </a:extLst>
              </a:tr>
              <a:tr h="204889">
                <a:tc>
                  <a:txBody>
                    <a:bodyPr/>
                    <a:lstStyle/>
                    <a:p>
                      <a:pPr algn="ctr">
                        <a:lnSpc>
                          <a:spcPct val="90000"/>
                        </a:lnSpc>
                        <a:buNone/>
                      </a:pPr>
                      <a:r>
                        <a:rPr lang="es-CL" sz="850" b="1" dirty="0">
                          <a:solidFill>
                            <a:srgbClr val="3F3A33"/>
                          </a:solidFill>
                          <a:latin typeface="+mn-lt"/>
                          <a:cs typeface="+mn-lt"/>
                        </a:rPr>
                        <a:t>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Coordinar con los laboratorios externos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Examen preocupacional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4"/>
                  </a:ext>
                </a:extLst>
              </a:tr>
              <a:tr h="204889">
                <a:tc>
                  <a:txBody>
                    <a:bodyPr/>
                    <a:lstStyle/>
                    <a:p>
                      <a:pPr algn="ctr">
                        <a:lnSpc>
                          <a:spcPct val="90000"/>
                        </a:lnSpc>
                        <a:buNone/>
                      </a:pPr>
                      <a:r>
                        <a:rPr lang="es-CL" sz="850" b="1" dirty="0">
                          <a:solidFill>
                            <a:srgbClr val="3F3A33"/>
                          </a:solidFill>
                          <a:latin typeface="+mn-lt"/>
                          <a:cs typeface="+mn-lt"/>
                        </a:rPr>
                        <a:t>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Citar a los candidatos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Examen preocupacional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5"/>
                  </a:ext>
                </a:extLst>
              </a:tr>
              <a:tr h="204889">
                <a:tc>
                  <a:txBody>
                    <a:bodyPr/>
                    <a:lstStyle/>
                    <a:p>
                      <a:pPr algn="ctr">
                        <a:lnSpc>
                          <a:spcPct val="90000"/>
                        </a:lnSpc>
                        <a:buNone/>
                      </a:pPr>
                      <a:r>
                        <a:rPr lang="es-CL" sz="850" b="1" dirty="0">
                          <a:solidFill>
                            <a:srgbClr val="3F3A33"/>
                          </a:solidFill>
                          <a:latin typeface="+mn-lt"/>
                          <a:cs typeface="+mn-lt"/>
                        </a:rPr>
                        <a:t>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Descargar los resultados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Examen preocupacional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6"/>
                  </a:ext>
                </a:extLst>
              </a:tr>
              <a:tr h="204889">
                <a:tc>
                  <a:txBody>
                    <a:bodyPr/>
                    <a:lstStyle/>
                    <a:p>
                      <a:pPr algn="ctr">
                        <a:lnSpc>
                          <a:spcPct val="90000"/>
                        </a:lnSpc>
                        <a:buNone/>
                      </a:pPr>
                      <a:r>
                        <a:rPr lang="es-CL" sz="850" b="1" dirty="0">
                          <a:solidFill>
                            <a:srgbClr val="3F3A33"/>
                          </a:solidFill>
                          <a:latin typeface="+mn-lt"/>
                          <a:cs typeface="+mn-lt"/>
                        </a:rPr>
                        <a:t>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Revisar y gestionar el resultado de los exámenes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7.2.5.1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Examen preocupacional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7"/>
                  </a:ext>
                </a:extLst>
              </a:tr>
              <a:tr h="204889">
                <a:tc>
                  <a:txBody>
                    <a:bodyPr/>
                    <a:lstStyle/>
                    <a:p>
                      <a:pPr algn="ctr">
                        <a:lnSpc>
                          <a:spcPct val="90000"/>
                        </a:lnSpc>
                        <a:buNone/>
                      </a:pPr>
                      <a:r>
                        <a:rPr lang="es-CL" sz="850" b="1" dirty="0">
                          <a:solidFill>
                            <a:srgbClr val="3F3A33"/>
                          </a:solidFill>
                          <a:latin typeface="+mn-lt"/>
                          <a:cs typeface="+mn-lt"/>
                        </a:rPr>
                        <a:t>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Validar los resultados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Examen preocupacional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8"/>
                  </a:ext>
                </a:extLst>
              </a:tr>
              <a:tr h="204889">
                <a:tc>
                  <a:txBody>
                    <a:bodyPr/>
                    <a:lstStyle/>
                    <a:p>
                      <a:pPr algn="ctr">
                        <a:lnSpc>
                          <a:spcPct val="90000"/>
                        </a:lnSpc>
                        <a:buNone/>
                      </a:pPr>
                      <a:r>
                        <a:rPr lang="es-CL" sz="850" b="1" dirty="0">
                          <a:solidFill>
                            <a:srgbClr val="3F3A33"/>
                          </a:solidFill>
                          <a:latin typeface="+mn-lt"/>
                          <a:cs typeface="+mn-lt"/>
                        </a:rPr>
                        <a:t>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Cargar los resultados en el perfil de la persona en SSFF</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7.2.5.3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Examen preocupacional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9"/>
                  </a:ext>
                </a:extLst>
              </a:tr>
              <a:tr h="323418">
                <a:tc>
                  <a:txBody>
                    <a:bodyPr/>
                    <a:lstStyle/>
                    <a:p>
                      <a:pPr algn="ctr">
                        <a:lnSpc>
                          <a:spcPct val="90000"/>
                        </a:lnSpc>
                        <a:buNone/>
                      </a:pPr>
                      <a:r>
                        <a:rPr lang="es-CL" sz="850" b="1" dirty="0">
                          <a:solidFill>
                            <a:srgbClr val="3F3A33"/>
                          </a:solidFill>
                          <a:latin typeface="+mn-lt"/>
                          <a:cs typeface="+mn-lt"/>
                        </a:rPr>
                        <a:t>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Notificar al Área Solicitante para posicionar a la persona en el sistema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Examen preocupacional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10"/>
                  </a:ext>
                </a:extLst>
              </a:tr>
              <a:tr h="428003">
                <a:tc>
                  <a:txBody>
                    <a:bodyPr/>
                    <a:lstStyle/>
                    <a:p>
                      <a:pPr algn="ctr">
                        <a:lnSpc>
                          <a:spcPct val="90000"/>
                        </a:lnSpc>
                        <a:buNone/>
                      </a:pPr>
                      <a:r>
                        <a:rPr lang="es-CL" sz="850" b="1" dirty="0">
                          <a:solidFill>
                            <a:srgbClr val="3F3A33"/>
                          </a:solidFill>
                          <a:latin typeface="+mn-lt"/>
                          <a:cs typeface="+mn-lt"/>
                        </a:rPr>
                        <a:t>10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PcD: reunión de retroalimentación con Área Solicitante, SSO y DEI para informar observaciones y determinar ajustes necesarios</a:t>
                      </a:r>
                    </a:p>
                    <a:p>
                      <a:pPr algn="l">
                        <a:lnSpc>
                          <a:spcPct val="90000"/>
                        </a:lnSpc>
                        <a:spcBef>
                          <a:spcPts val="150"/>
                        </a:spcBef>
                        <a:buNone/>
                      </a:pPr>
                      <a:r>
                        <a:rPr lang="es-CL" sz="750" dirty="0">
                          <a:solidFill>
                            <a:srgbClr val="6F5800"/>
                          </a:solidFill>
                          <a:latin typeface="+mn-lt"/>
                          <a:cs typeface="+mn-lt"/>
                        </a:rPr>
                        <a:t>Específico de Arauco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Examen preocupacional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P3 · F9 · Cajas del flujo| </a:t>
            </a:r>
            <a:r>
              <a:rPr lang="es-CL" sz="2000" dirty="0">
                <a:solidFill>
                  <a:srgbClr val="A34100"/>
                </a:solidFill>
                <a:latin typeface="+mn-lt"/>
                <a:cs typeface="+mn-lt"/>
              </a:rPr>
              <a:t>Flujo de contratación y carta oferta</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16 cajas numeradas  ·  2 decisiones sin numerar  ·  proceso P3 · Atracción y selección de personas</a:t>
            </a:r>
          </a:p>
        </p:txBody>
      </p:sp>
      <p:graphicFrame>
        <p:nvGraphicFramePr>
          <p:cNvPr id="11" name="Tabla 11"/>
          <p:cNvGraphicFramePr>
            <a:graphicFrameLocks noGrp="1"/>
          </p:cNvGraphicFramePr>
          <p:nvPr/>
        </p:nvGraphicFramePr>
        <p:xfrm>
          <a:off x="630000" y="1475274"/>
          <a:ext cx="10933350" cy="2837166"/>
        </p:xfrm>
        <a:graphic>
          <a:graphicData uri="http://schemas.openxmlformats.org/drawingml/2006/table">
            <a:tbl>
              <a:tblPr firstRow="1"/>
              <a:tblGrid>
                <a:gridCol w="430000">
                  <a:extLst>
                    <a:ext uri="{9D8B030D-6E8A-4147-A177-3AD203B41FA5}">
                      <a16:colId xmlns:a16="http://schemas.microsoft.com/office/drawing/2014/main" val="20000"/>
                    </a:ext>
                  </a:extLst>
                </a:gridCol>
                <a:gridCol w="4320000">
                  <a:extLst>
                    <a:ext uri="{9D8B030D-6E8A-4147-A177-3AD203B41FA5}">
                      <a16:colId xmlns:a16="http://schemas.microsoft.com/office/drawing/2014/main" val="20001"/>
                    </a:ext>
                  </a:extLst>
                </a:gridCol>
                <a:gridCol w="780000">
                  <a:extLst>
                    <a:ext uri="{9D8B030D-6E8A-4147-A177-3AD203B41FA5}">
                      <a16:colId xmlns:a16="http://schemas.microsoft.com/office/drawing/2014/main" val="20002"/>
                    </a:ext>
                  </a:extLst>
                </a:gridCol>
                <a:gridCol w="1320000">
                  <a:extLst>
                    <a:ext uri="{9D8B030D-6E8A-4147-A177-3AD203B41FA5}">
                      <a16:colId xmlns:a16="http://schemas.microsoft.com/office/drawing/2014/main" val="20003"/>
                    </a:ext>
                  </a:extLst>
                </a:gridCol>
                <a:gridCol w="4083350">
                  <a:extLst>
                    <a:ext uri="{9D8B030D-6E8A-4147-A177-3AD203B41FA5}">
                      <a16:colId xmlns:a16="http://schemas.microsoft.com/office/drawing/2014/main" val="20004"/>
                    </a:ext>
                  </a:extLst>
                </a:gridCol>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extLst>
                  <a:ext uri="{0D108BD9-81ED-4DB2-BD59-A6C34878D82A}">
                    <a16:rowId xmlns:a16="http://schemas.microsoft.com/office/drawing/2014/main" val="10000"/>
                  </a:ext>
                </a:extLst>
              </a:tr>
              <a:tr h="323418">
                <a:tc>
                  <a:txBody>
                    <a:bodyPr/>
                    <a:lstStyle/>
                    <a:p>
                      <a:pPr algn="ctr">
                        <a:lnSpc>
                          <a:spcPct val="90000"/>
                        </a:lnSpc>
                        <a:buNone/>
                      </a:pPr>
                      <a:r>
                        <a:rPr lang="es-CL" sz="850" b="1" dirty="0">
                          <a:solidFill>
                            <a:srgbClr val="3F3A33"/>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Posicionar al candidato para el proceso de contratación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7.2.5.3.1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Contratación y carta oferta — Tareas sujetas a revisión de nivel de detalle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1"/>
                  </a:ext>
                </a:extLst>
              </a:tr>
              <a:tr h="204889">
                <a:tc>
                  <a:txBody>
                    <a:bodyPr/>
                    <a:lstStyle/>
                    <a:p>
                      <a:pPr algn="ctr">
                        <a:lnSpc>
                          <a:spcPct val="90000"/>
                        </a:lnSpc>
                        <a:buNone/>
                      </a:pPr>
                      <a:r>
                        <a:rPr lang="es-CL" sz="850" b="1" dirty="0">
                          <a:solidFill>
                            <a:srgbClr val="3F3A33"/>
                          </a:solidFill>
                          <a:latin typeface="+mn-lt"/>
                          <a:cs typeface="+mn-lt"/>
                        </a:rPr>
                        <a:t>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Solicitar la documentación para el contrato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Contratación y carta oferta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2"/>
                  </a:ext>
                </a:extLst>
              </a:tr>
              <a:tr h="309474">
                <a:tc>
                  <a:txBody>
                    <a:bodyPr/>
                    <a:lstStyle/>
                    <a:p>
                      <a:pPr algn="ctr">
                        <a:lnSpc>
                          <a:spcPct val="90000"/>
                        </a:lnSpc>
                        <a:buNone/>
                      </a:pPr>
                      <a:r>
                        <a:rPr lang="es-CL" sz="850" b="1" dirty="0">
                          <a:solidFill>
                            <a:srgbClr val="3F3A33"/>
                          </a:solidFill>
                          <a:latin typeface="+mn-lt"/>
                          <a:cs typeface="+mn-lt"/>
                        </a:rPr>
                        <a:t>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Cargar los documentos al sistema</a:t>
                      </a:r>
                    </a:p>
                    <a:p>
                      <a:pPr algn="l">
                        <a:lnSpc>
                          <a:spcPct val="90000"/>
                        </a:lnSpc>
                        <a:spcBef>
                          <a:spcPts val="150"/>
                        </a:spcBef>
                        <a:buNone/>
                      </a:pPr>
                      <a:r>
                        <a:rPr lang="es-CL" sz="750" dirty="0">
                          <a:solidFill>
                            <a:srgbClr val="6B655C"/>
                          </a:solidFill>
                          <a:latin typeface="+mn-lt"/>
                          <a:cs typeface="+mn-lt"/>
                        </a:rPr>
                        <a:t>el propio postulante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Contratación y carta oferta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3"/>
                  </a:ext>
                </a:extLst>
              </a:tr>
              <a:tr h="204889">
                <a:tc>
                  <a:txBody>
                    <a:bodyPr/>
                    <a:lstStyle/>
                    <a:p>
                      <a:pPr algn="ctr">
                        <a:lnSpc>
                          <a:spcPct val="90000"/>
                        </a:lnSpc>
                        <a:buNone/>
                      </a:pPr>
                      <a:r>
                        <a:rPr lang="es-CL" sz="850" b="1" dirty="0">
                          <a:solidFill>
                            <a:srgbClr val="3F3A33"/>
                          </a:solidFill>
                          <a:latin typeface="+mn-lt"/>
                          <a:cs typeface="+mn-lt"/>
                        </a:rPr>
                        <a:t>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Preparar la propuesta de renta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7.2.4.1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Contratación y carta oferta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4"/>
                  </a:ext>
                </a:extLst>
              </a:tr>
              <a:tr h="204889">
                <a:tc>
                  <a:txBody>
                    <a:bodyPr/>
                    <a:lstStyle/>
                    <a:p>
                      <a:pPr algn="ctr">
                        <a:lnSpc>
                          <a:spcPct val="90000"/>
                        </a:lnSpc>
                        <a:buNone/>
                      </a:pPr>
                      <a:r>
                        <a:rPr lang="es-CL" sz="850" b="1" dirty="0">
                          <a:solidFill>
                            <a:srgbClr val="3F3A33"/>
                          </a:solidFill>
                          <a:latin typeface="+mn-lt"/>
                          <a:cs typeface="+mn-lt"/>
                        </a:rPr>
                        <a:t>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Validar la propuesta de renta entre Generalista y 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Contratación y carta oferta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5"/>
                  </a:ext>
                </a:extLst>
              </a:tr>
              <a:tr h="204889">
                <a:tc>
                  <a:txBody>
                    <a:bodyPr/>
                    <a:lstStyle/>
                    <a:p>
                      <a:pPr algn="ctr">
                        <a:lnSpc>
                          <a:spcPct val="90000"/>
                        </a:lnSpc>
                        <a:buNone/>
                      </a:pPr>
                      <a:r>
                        <a:rPr lang="es-CL" sz="850" b="1" dirty="0">
                          <a:solidFill>
                            <a:srgbClr val="3F3A33"/>
                          </a:solidFill>
                          <a:latin typeface="+mn-lt"/>
                          <a:cs typeface="+mn-lt"/>
                        </a:rPr>
                        <a:t>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Desatar la cadena de aprobación de la propuesta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Contratación y carta oferta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6"/>
                  </a:ext>
                </a:extLst>
              </a:tr>
              <a:tr h="309474">
                <a:tc>
                  <a:txBody>
                    <a:bodyPr/>
                    <a:lstStyle/>
                    <a:p>
                      <a:pPr algn="ctr">
                        <a:lnSpc>
                          <a:spcPct val="90000"/>
                        </a:lnSpc>
                        <a:buNone/>
                      </a:pPr>
                      <a:r>
                        <a:rPr lang="es-CL" sz="850" b="1" dirty="0">
                          <a:solidFill>
                            <a:srgbClr val="3F3A33"/>
                          </a:solidFill>
                          <a:latin typeface="+mn-lt"/>
                          <a:cs typeface="+mn-lt"/>
                        </a:rPr>
                        <a:t>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Generar el flujo de contratación</a:t>
                      </a:r>
                    </a:p>
                    <a:p>
                      <a:pPr algn="l">
                        <a:lnSpc>
                          <a:spcPct val="90000"/>
                        </a:lnSpc>
                        <a:spcBef>
                          <a:spcPts val="150"/>
                        </a:spcBef>
                        <a:buNone/>
                      </a:pPr>
                      <a:r>
                        <a:rPr lang="es-CL" sz="750" dirty="0">
                          <a:solidFill>
                            <a:srgbClr val="6B655C"/>
                          </a:solidFill>
                          <a:latin typeface="+mn-lt"/>
                          <a:cs typeface="+mn-lt"/>
                        </a:rPr>
                        <a:t>Área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7.2.4.1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Contratación y carta oferta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7"/>
                  </a:ext>
                </a:extLst>
              </a:tr>
              <a:tr h="309474">
                <a:tc>
                  <a:txBody>
                    <a:bodyPr/>
                    <a:lstStyle/>
                    <a:p>
                      <a:pPr algn="ctr">
                        <a:lnSpc>
                          <a:spcPct val="90000"/>
                        </a:lnSpc>
                        <a:buNone/>
                      </a:pPr>
                      <a:r>
                        <a:rPr lang="es-CL" sz="850" b="1" dirty="0">
                          <a:solidFill>
                            <a:srgbClr val="3F3A33"/>
                          </a:solidFill>
                          <a:latin typeface="+mn-lt"/>
                          <a:cs typeface="+mn-lt"/>
                        </a:rPr>
                        <a:t>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Generar la carta oferta</a:t>
                      </a:r>
                    </a:p>
                    <a:p>
                      <a:pPr algn="l">
                        <a:lnSpc>
                          <a:spcPct val="90000"/>
                        </a:lnSpc>
                        <a:spcBef>
                          <a:spcPts val="150"/>
                        </a:spcBef>
                        <a:buNone/>
                      </a:pPr>
                      <a:r>
                        <a:rPr lang="es-CL" sz="750" dirty="0">
                          <a:solidFill>
                            <a:srgbClr val="6B655C"/>
                          </a:solidFill>
                          <a:latin typeface="+mn-lt"/>
                          <a:cs typeface="+mn-lt"/>
                        </a:rPr>
                        <a:t>Generalista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7.2.4.1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Contratación y carta oferta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8"/>
                  </a:ext>
                </a:extLst>
              </a:tr>
              <a:tr h="204889">
                <a:tc>
                  <a:txBody>
                    <a:bodyPr/>
                    <a:lstStyle/>
                    <a:p>
                      <a:pPr algn="ctr">
                        <a:lnSpc>
                          <a:spcPct val="90000"/>
                        </a:lnSpc>
                        <a:buNone/>
                      </a:pPr>
                      <a:r>
                        <a:rPr lang="es-CL" sz="850" b="1" dirty="0">
                          <a:solidFill>
                            <a:srgbClr val="6F5800"/>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¿Individual o masivo?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b="1" dirty="0">
                          <a:solidFill>
                            <a:srgbClr val="6F5800"/>
                          </a:solidFill>
                          <a:latin typeface="+mn-lt"/>
                          <a:cs typeface="+mn-lt"/>
                        </a:rPr>
                        <a:t>Decisión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No entra en la numeración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extLst>
                  <a:ext uri="{0D108BD9-81ED-4DB2-BD59-A6C34878D82A}">
                    <a16:rowId xmlns:a16="http://schemas.microsoft.com/office/drawing/2014/main" val="10009"/>
                  </a:ext>
                </a:extLst>
              </a:tr>
              <a:tr h="323418">
                <a:tc>
                  <a:txBody>
                    <a:bodyPr/>
                    <a:lstStyle/>
                    <a:p>
                      <a:pPr algn="ctr">
                        <a:lnSpc>
                          <a:spcPct val="90000"/>
                        </a:lnSpc>
                        <a:buNone/>
                      </a:pPr>
                      <a:r>
                        <a:rPr lang="es-CL" sz="850" b="1" dirty="0">
                          <a:solidFill>
                            <a:srgbClr val="3F3A33"/>
                          </a:solidFill>
                          <a:latin typeface="+mn-lt"/>
                          <a:cs typeface="+mn-lt"/>
                        </a:rPr>
                        <a:t>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Entregar la carta oferta</a:t>
                      </a:r>
                    </a:p>
                    <a:p>
                      <a:pPr algn="l">
                        <a:lnSpc>
                          <a:spcPct val="90000"/>
                        </a:lnSpc>
                        <a:spcBef>
                          <a:spcPts val="150"/>
                        </a:spcBef>
                        <a:buNone/>
                      </a:pPr>
                      <a:r>
                        <a:rPr lang="es-CL" sz="750" dirty="0">
                          <a:solidFill>
                            <a:srgbClr val="6B655C"/>
                          </a:solidFill>
                          <a:latin typeface="+mn-lt"/>
                          <a:cs typeface="+mn-lt"/>
                        </a:rPr>
                        <a:t>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7.2.4.1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Contratación y carta oferta — Tareas sujetas a revisión de nivel de detalle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P3 · F9 · Cajas del flujo| </a:t>
            </a:r>
            <a:r>
              <a:rPr lang="es-CL" sz="2000" dirty="0">
                <a:solidFill>
                  <a:srgbClr val="A34100"/>
                </a:solidFill>
                <a:latin typeface="+mn-lt"/>
                <a:cs typeface="+mn-lt"/>
              </a:rPr>
              <a:t>Flujo de contratación y carta oferta · continuación</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6B655C"/>
                </a:solidFill>
                <a:latin typeface="+mn-lt"/>
                <a:cs typeface="+mn-lt"/>
              </a:rPr>
              <a:t>Continuación de la tabla anterior  ·  página 2 de 2</a:t>
            </a:r>
          </a:p>
        </p:txBody>
      </p:sp>
      <p:graphicFrame>
        <p:nvGraphicFramePr>
          <p:cNvPr id="11" name="Tabla 11"/>
          <p:cNvGraphicFramePr>
            <a:graphicFrameLocks noGrp="1"/>
          </p:cNvGraphicFramePr>
          <p:nvPr/>
        </p:nvGraphicFramePr>
        <p:xfrm>
          <a:off x="630000" y="1475274"/>
          <a:ext cx="10933350" cy="2655150"/>
        </p:xfrm>
        <a:graphic>
          <a:graphicData uri="http://schemas.openxmlformats.org/drawingml/2006/table">
            <a:tbl>
              <a:tblPr firstRow="1"/>
              <a:tblGrid>
                <a:gridCol w="430000">
                  <a:extLst>
                    <a:ext uri="{9D8B030D-6E8A-4147-A177-3AD203B41FA5}">
                      <a16:colId xmlns:a16="http://schemas.microsoft.com/office/drawing/2014/main" val="20000"/>
                    </a:ext>
                  </a:extLst>
                </a:gridCol>
                <a:gridCol w="4320000">
                  <a:extLst>
                    <a:ext uri="{9D8B030D-6E8A-4147-A177-3AD203B41FA5}">
                      <a16:colId xmlns:a16="http://schemas.microsoft.com/office/drawing/2014/main" val="20001"/>
                    </a:ext>
                  </a:extLst>
                </a:gridCol>
                <a:gridCol w="780000">
                  <a:extLst>
                    <a:ext uri="{9D8B030D-6E8A-4147-A177-3AD203B41FA5}">
                      <a16:colId xmlns:a16="http://schemas.microsoft.com/office/drawing/2014/main" val="20002"/>
                    </a:ext>
                  </a:extLst>
                </a:gridCol>
                <a:gridCol w="1320000">
                  <a:extLst>
                    <a:ext uri="{9D8B030D-6E8A-4147-A177-3AD203B41FA5}">
                      <a16:colId xmlns:a16="http://schemas.microsoft.com/office/drawing/2014/main" val="20003"/>
                    </a:ext>
                  </a:extLst>
                </a:gridCol>
                <a:gridCol w="4083350">
                  <a:extLst>
                    <a:ext uri="{9D8B030D-6E8A-4147-A177-3AD203B41FA5}">
                      <a16:colId xmlns:a16="http://schemas.microsoft.com/office/drawing/2014/main" val="20004"/>
                    </a:ext>
                  </a:extLst>
                </a:gridCol>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extLst>
                  <a:ext uri="{0D108BD9-81ED-4DB2-BD59-A6C34878D82A}">
                    <a16:rowId xmlns:a16="http://schemas.microsoft.com/office/drawing/2014/main" val="10000"/>
                  </a:ext>
                </a:extLst>
              </a:tr>
              <a:tr h="309474">
                <a:tc>
                  <a:txBody>
                    <a:bodyPr/>
                    <a:lstStyle/>
                    <a:p>
                      <a:pPr algn="ctr">
                        <a:lnSpc>
                          <a:spcPct val="90000"/>
                        </a:lnSpc>
                        <a:buNone/>
                      </a:pPr>
                      <a:r>
                        <a:rPr lang="es-CL" sz="850" b="1" dirty="0">
                          <a:solidFill>
                            <a:srgbClr val="3F3A33"/>
                          </a:solidFill>
                          <a:latin typeface="+mn-lt"/>
                          <a:cs typeface="+mn-lt"/>
                        </a:rPr>
                        <a:t>10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Generar y entregar la carta oferta</a:t>
                      </a:r>
                    </a:p>
                    <a:p>
                      <a:pPr algn="l">
                        <a:lnSpc>
                          <a:spcPct val="90000"/>
                        </a:lnSpc>
                        <a:spcBef>
                          <a:spcPts val="150"/>
                        </a:spcBef>
                        <a:buNone/>
                      </a:pPr>
                      <a:r>
                        <a:rPr lang="es-CL" sz="750" dirty="0">
                          <a:solidFill>
                            <a:srgbClr val="6B655C"/>
                          </a:solidFill>
                          <a:latin typeface="+mn-lt"/>
                          <a:cs typeface="+mn-lt"/>
                        </a:rPr>
                        <a:t>Área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7.2.4.1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Contratación y carta oferta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1"/>
                  </a:ext>
                </a:extLst>
              </a:tr>
              <a:tr h="204889">
                <a:tc>
                  <a:txBody>
                    <a:bodyPr/>
                    <a:lstStyle/>
                    <a:p>
                      <a:pPr algn="ctr">
                        <a:lnSpc>
                          <a:spcPct val="90000"/>
                        </a:lnSpc>
                        <a:buNone/>
                      </a:pPr>
                      <a:r>
                        <a:rPr lang="es-CL" sz="850" b="1" dirty="0">
                          <a:solidFill>
                            <a:srgbClr val="6F5800"/>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¿Acepta la carta oferta?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b="1" dirty="0">
                          <a:solidFill>
                            <a:srgbClr val="6F5800"/>
                          </a:solidFill>
                          <a:latin typeface="+mn-lt"/>
                          <a:cs typeface="+mn-lt"/>
                        </a:rPr>
                        <a:t>Decisión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No entra en la numeración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extLst>
                  <a:ext uri="{0D108BD9-81ED-4DB2-BD59-A6C34878D82A}">
                    <a16:rowId xmlns:a16="http://schemas.microsoft.com/office/drawing/2014/main" val="10002"/>
                  </a:ext>
                </a:extLst>
              </a:tr>
              <a:tr h="323418">
                <a:tc>
                  <a:txBody>
                    <a:bodyPr/>
                    <a:lstStyle/>
                    <a:p>
                      <a:pPr algn="ctr">
                        <a:lnSpc>
                          <a:spcPct val="90000"/>
                        </a:lnSpc>
                        <a:buNone/>
                      </a:pPr>
                      <a:r>
                        <a:rPr lang="es-CL" sz="850" b="1" dirty="0">
                          <a:solidFill>
                            <a:srgbClr val="3F3A33"/>
                          </a:solidFill>
                          <a:latin typeface="+mn-lt"/>
                          <a:cs typeface="+mn-lt"/>
                        </a:rPr>
                        <a:t>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Analizar si es factible una contraoferta</a:t>
                      </a:r>
                    </a:p>
                    <a:p>
                      <a:pPr algn="l">
                        <a:lnSpc>
                          <a:spcPct val="90000"/>
                        </a:lnSpc>
                        <a:spcBef>
                          <a:spcPts val="150"/>
                        </a:spcBef>
                        <a:buNone/>
                      </a:pPr>
                      <a:r>
                        <a:rPr lang="es-CL" sz="750" dirty="0">
                          <a:solidFill>
                            <a:srgbClr val="6B655C"/>
                          </a:solidFill>
                          <a:latin typeface="+mn-lt"/>
                          <a:cs typeface="+mn-lt"/>
                        </a:rPr>
                        <a:t>Generalista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7.2.4.2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Contratación y carta oferta — Tareas sujetas a revisión de nivel de detalle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3"/>
                  </a:ext>
                </a:extLst>
              </a:tr>
              <a:tr h="428003">
                <a:tc>
                  <a:txBody>
                    <a:bodyPr/>
                    <a:lstStyle/>
                    <a:p>
                      <a:pPr algn="ctr">
                        <a:lnSpc>
                          <a:spcPct val="90000"/>
                        </a:lnSpc>
                        <a:buNone/>
                      </a:pPr>
                      <a:r>
                        <a:rPr lang="es-CL" sz="850" b="1" dirty="0">
                          <a:solidFill>
                            <a:srgbClr val="3F3A33"/>
                          </a:solidFill>
                          <a:latin typeface="+mn-lt"/>
                          <a:cs typeface="+mn-lt"/>
                        </a:rPr>
                        <a:t>12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Rechazo reiterativo: informar al Área Solicitante y tomar decisiones para resguardar la continuidad operacional</a:t>
                      </a:r>
                    </a:p>
                    <a:p>
                      <a:pPr algn="l">
                        <a:lnSpc>
                          <a:spcPct val="90000"/>
                        </a:lnSpc>
                        <a:spcBef>
                          <a:spcPts val="150"/>
                        </a:spcBef>
                        <a:buNone/>
                      </a:pPr>
                      <a:r>
                        <a:rPr lang="es-CL" sz="750" dirty="0">
                          <a:solidFill>
                            <a:srgbClr val="6B655C"/>
                          </a:solidFill>
                          <a:latin typeface="+mn-lt"/>
                          <a:cs typeface="+mn-lt"/>
                        </a:rPr>
                        <a:t>Personas + A&amp;S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Contratación y carta oferta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4"/>
                  </a:ext>
                </a:extLst>
              </a:tr>
              <a:tr h="204889">
                <a:tc>
                  <a:txBody>
                    <a:bodyPr/>
                    <a:lstStyle/>
                    <a:p>
                      <a:pPr algn="ctr">
                        <a:lnSpc>
                          <a:spcPct val="90000"/>
                        </a:lnSpc>
                        <a:buNone/>
                      </a:pPr>
                      <a:r>
                        <a:rPr lang="es-CL" sz="850" b="1" dirty="0">
                          <a:solidFill>
                            <a:srgbClr val="3F3A33"/>
                          </a:solidFill>
                          <a:latin typeface="+mn-lt"/>
                          <a:cs typeface="+mn-lt"/>
                        </a:rPr>
                        <a:t>13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Registrar al trabajador en los sistemas internos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7.2.4.3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Contratación y carta oferta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5"/>
                  </a:ext>
                </a:extLst>
              </a:tr>
              <a:tr h="309474">
                <a:tc>
                  <a:txBody>
                    <a:bodyPr/>
                    <a:lstStyle/>
                    <a:p>
                      <a:pPr algn="ctr">
                        <a:lnSpc>
                          <a:spcPct val="90000"/>
                        </a:lnSpc>
                        <a:buNone/>
                      </a:pPr>
                      <a:r>
                        <a:rPr lang="es-CL" sz="850" b="1" dirty="0">
                          <a:solidFill>
                            <a:srgbClr val="3F3A33"/>
                          </a:solidFill>
                          <a:latin typeface="+mn-lt"/>
                          <a:cs typeface="+mn-lt"/>
                        </a:rPr>
                        <a:t>14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Firmar el contrato de trabajo</a:t>
                      </a:r>
                    </a:p>
                    <a:p>
                      <a:pPr algn="l">
                        <a:lnSpc>
                          <a:spcPct val="90000"/>
                        </a:lnSpc>
                        <a:spcBef>
                          <a:spcPts val="150"/>
                        </a:spcBef>
                        <a:buNone/>
                      </a:pPr>
                      <a:r>
                        <a:rPr lang="es-CL" sz="750" dirty="0">
                          <a:solidFill>
                            <a:srgbClr val="6B655C"/>
                          </a:solidFill>
                          <a:latin typeface="+mn-lt"/>
                          <a:cs typeface="+mn-lt"/>
                        </a:rPr>
                        <a:t>Generalista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7.2.4.3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Contratación y carta oferta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6"/>
                  </a:ext>
                </a:extLst>
              </a:tr>
              <a:tr h="204889">
                <a:tc>
                  <a:txBody>
                    <a:bodyPr/>
                    <a:lstStyle/>
                    <a:p>
                      <a:pPr algn="ctr">
                        <a:lnSpc>
                          <a:spcPct val="90000"/>
                        </a:lnSpc>
                        <a:buNone/>
                      </a:pPr>
                      <a:r>
                        <a:rPr lang="es-CL" sz="850" b="1" dirty="0">
                          <a:solidFill>
                            <a:srgbClr val="3F3A33"/>
                          </a:solidFill>
                          <a:latin typeface="+mn-lt"/>
                          <a:cs typeface="+mn-lt"/>
                        </a:rPr>
                        <a:t>15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Generar credenciales y accesos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7.2.4.3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Contratación y carta oferta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7"/>
                  </a:ext>
                </a:extLst>
              </a:tr>
              <a:tr h="428003">
                <a:tc>
                  <a:txBody>
                    <a:bodyPr/>
                    <a:lstStyle/>
                    <a:p>
                      <a:pPr algn="ctr">
                        <a:lnSpc>
                          <a:spcPct val="90000"/>
                        </a:lnSpc>
                        <a:buNone/>
                      </a:pPr>
                      <a:r>
                        <a:rPr lang="es-CL" sz="850" b="1" dirty="0">
                          <a:solidFill>
                            <a:srgbClr val="3F3A33"/>
                          </a:solidFill>
                          <a:latin typeface="+mn-lt"/>
                          <a:cs typeface="+mn-lt"/>
                        </a:rPr>
                        <a:t>16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Generar el cierre del proceso de selección en SSFF, módulo Reclutamiento e Incorporación de Personal</a:t>
                      </a:r>
                    </a:p>
                    <a:p>
                      <a:pPr algn="l">
                        <a:lnSpc>
                          <a:spcPct val="90000"/>
                        </a:lnSpc>
                        <a:spcBef>
                          <a:spcPts val="150"/>
                        </a:spcBef>
                        <a:buNone/>
                      </a:pPr>
                      <a:r>
                        <a:rPr lang="es-CL" sz="750" dirty="0">
                          <a:solidFill>
                            <a:srgbClr val="6B655C"/>
                          </a:solidFill>
                          <a:latin typeface="+mn-lt"/>
                          <a:cs typeface="+mn-lt"/>
                        </a:rPr>
                        <a:t>Generalista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7.2.5.3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Contratación y carta oferta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P3 · F10 · Cajas del flujo| </a:t>
            </a:r>
            <a:r>
              <a:rPr lang="es-CL" sz="2000" dirty="0">
                <a:solidFill>
                  <a:srgbClr val="A34100"/>
                </a:solidFill>
                <a:latin typeface="+mn-lt"/>
                <a:cs typeface="+mn-lt"/>
              </a:rPr>
              <a:t>Onboarding e incorporación</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8 cajas numeradas  ·  sin decisiones  ·  proceso P3 · Atracción y selección de personas</a:t>
            </a:r>
          </a:p>
        </p:txBody>
      </p:sp>
      <p:graphicFrame>
        <p:nvGraphicFramePr>
          <p:cNvPr id="11" name="Tabla 11"/>
          <p:cNvGraphicFramePr>
            <a:graphicFrameLocks noGrp="1"/>
          </p:cNvGraphicFramePr>
          <p:nvPr/>
        </p:nvGraphicFramePr>
        <p:xfrm>
          <a:off x="630000" y="1475274"/>
          <a:ext cx="10933350" cy="2422321"/>
        </p:xfrm>
        <a:graphic>
          <a:graphicData uri="http://schemas.openxmlformats.org/drawingml/2006/table">
            <a:tbl>
              <a:tblPr firstRow="1"/>
              <a:tblGrid>
                <a:gridCol w="430000">
                  <a:extLst>
                    <a:ext uri="{9D8B030D-6E8A-4147-A177-3AD203B41FA5}">
                      <a16:colId xmlns:a16="http://schemas.microsoft.com/office/drawing/2014/main" val="20000"/>
                    </a:ext>
                  </a:extLst>
                </a:gridCol>
                <a:gridCol w="4320000">
                  <a:extLst>
                    <a:ext uri="{9D8B030D-6E8A-4147-A177-3AD203B41FA5}">
                      <a16:colId xmlns:a16="http://schemas.microsoft.com/office/drawing/2014/main" val="20001"/>
                    </a:ext>
                  </a:extLst>
                </a:gridCol>
                <a:gridCol w="780000">
                  <a:extLst>
                    <a:ext uri="{9D8B030D-6E8A-4147-A177-3AD203B41FA5}">
                      <a16:colId xmlns:a16="http://schemas.microsoft.com/office/drawing/2014/main" val="20002"/>
                    </a:ext>
                  </a:extLst>
                </a:gridCol>
                <a:gridCol w="1320000">
                  <a:extLst>
                    <a:ext uri="{9D8B030D-6E8A-4147-A177-3AD203B41FA5}">
                      <a16:colId xmlns:a16="http://schemas.microsoft.com/office/drawing/2014/main" val="20003"/>
                    </a:ext>
                  </a:extLst>
                </a:gridCol>
                <a:gridCol w="4083350">
                  <a:extLst>
                    <a:ext uri="{9D8B030D-6E8A-4147-A177-3AD203B41FA5}">
                      <a16:colId xmlns:a16="http://schemas.microsoft.com/office/drawing/2014/main" val="20004"/>
                    </a:ext>
                  </a:extLst>
                </a:gridCol>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extLst>
                  <a:ext uri="{0D108BD9-81ED-4DB2-BD59-A6C34878D82A}">
                    <a16:rowId xmlns:a16="http://schemas.microsoft.com/office/drawing/2014/main" val="10000"/>
                  </a:ext>
                </a:extLst>
              </a:tr>
              <a:tr h="323418">
                <a:tc>
                  <a:txBody>
                    <a:bodyPr/>
                    <a:lstStyle/>
                    <a:p>
                      <a:pPr algn="ctr">
                        <a:lnSpc>
                          <a:spcPct val="90000"/>
                        </a:lnSpc>
                        <a:buNone/>
                      </a:pPr>
                      <a:r>
                        <a:rPr lang="es-CL" sz="850" b="1" dirty="0">
                          <a:solidFill>
                            <a:srgbClr val="3F3A33"/>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Ejecutar la bienvenida institucional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7.3.1.2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Onboarding e incorporación — Tareas sujetas a revisión de nivel de detalle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1"/>
                  </a:ext>
                </a:extLst>
              </a:tr>
              <a:tr h="428003">
                <a:tc>
                  <a:txBody>
                    <a:bodyPr/>
                    <a:lstStyle/>
                    <a:p>
                      <a:pPr algn="ctr">
                        <a:lnSpc>
                          <a:spcPct val="90000"/>
                        </a:lnSpc>
                        <a:buNone/>
                      </a:pPr>
                      <a:r>
                        <a:rPr lang="es-CL" sz="850" b="1" dirty="0">
                          <a:solidFill>
                            <a:srgbClr val="3F3A33"/>
                          </a:solidFill>
                          <a:latin typeface="+mn-lt"/>
                          <a:cs typeface="+mn-lt"/>
                        </a:rPr>
                        <a:t>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Ejecutar la inducción inicial Sello Arauco en compañía, negocio, cultura, seguridad y forma de trabajar</a:t>
                      </a:r>
                    </a:p>
                    <a:p>
                      <a:pPr algn="l">
                        <a:lnSpc>
                          <a:spcPct val="90000"/>
                        </a:lnSpc>
                        <a:spcBef>
                          <a:spcPts val="150"/>
                        </a:spcBef>
                        <a:buNone/>
                      </a:pPr>
                      <a:r>
                        <a:rPr lang="es-CL" sz="750" dirty="0">
                          <a:solidFill>
                            <a:srgbClr val="6F5800"/>
                          </a:solidFill>
                          <a:latin typeface="+mn-lt"/>
                          <a:cs typeface="+mn-lt"/>
                        </a:rPr>
                        <a:t>Específico de Arauco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7.3.1.2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Onboarding e incorporación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2"/>
                  </a:ext>
                </a:extLst>
              </a:tr>
              <a:tr h="204889">
                <a:tc>
                  <a:txBody>
                    <a:bodyPr/>
                    <a:lstStyle/>
                    <a:p>
                      <a:pPr algn="ctr">
                        <a:lnSpc>
                          <a:spcPct val="90000"/>
                        </a:lnSpc>
                        <a:buNone/>
                      </a:pPr>
                      <a:r>
                        <a:rPr lang="es-CL" sz="850" b="1" dirty="0">
                          <a:solidFill>
                            <a:srgbClr val="3F3A33"/>
                          </a:solidFill>
                          <a:latin typeface="+mn-lt"/>
                          <a:cs typeface="+mn-lt"/>
                        </a:rPr>
                        <a:t>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Explicar normativa interna, beneficios y reglamento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7.3.1.2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Onboarding e incorporación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3"/>
                  </a:ext>
                </a:extLst>
              </a:tr>
              <a:tr h="204889">
                <a:tc>
                  <a:txBody>
                    <a:bodyPr/>
                    <a:lstStyle/>
                    <a:p>
                      <a:pPr algn="ctr">
                        <a:lnSpc>
                          <a:spcPct val="90000"/>
                        </a:lnSpc>
                        <a:buNone/>
                      </a:pPr>
                      <a:r>
                        <a:rPr lang="es-CL" sz="850" b="1" dirty="0">
                          <a:solidFill>
                            <a:srgbClr val="3F3A33"/>
                          </a:solidFill>
                          <a:latin typeface="+mn-lt"/>
                          <a:cs typeface="+mn-lt"/>
                        </a:rPr>
                        <a:t>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Realizar la charla inicial de Seguridad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7.3.1.2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Onboarding e incorporación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4"/>
                  </a:ext>
                </a:extLst>
              </a:tr>
              <a:tr h="204889">
                <a:tc>
                  <a:txBody>
                    <a:bodyPr/>
                    <a:lstStyle/>
                    <a:p>
                      <a:pPr algn="ctr">
                        <a:lnSpc>
                          <a:spcPct val="90000"/>
                        </a:lnSpc>
                        <a:buNone/>
                      </a:pPr>
                      <a:r>
                        <a:rPr lang="es-CL" sz="850" b="1" dirty="0">
                          <a:solidFill>
                            <a:srgbClr val="3F3A33"/>
                          </a:solidFill>
                          <a:latin typeface="+mn-lt"/>
                          <a:cs typeface="+mn-lt"/>
                        </a:rPr>
                        <a:t>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Entregar EPP y ropa corporativa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7.3.1.2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Onboarding e incorporación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5"/>
                  </a:ext>
                </a:extLst>
              </a:tr>
              <a:tr h="204889">
                <a:tc>
                  <a:txBody>
                    <a:bodyPr/>
                    <a:lstStyle/>
                    <a:p>
                      <a:pPr algn="ctr">
                        <a:lnSpc>
                          <a:spcPct val="90000"/>
                        </a:lnSpc>
                        <a:buNone/>
                      </a:pPr>
                      <a:r>
                        <a:rPr lang="es-CL" sz="850" b="1" dirty="0">
                          <a:solidFill>
                            <a:srgbClr val="3F3A33"/>
                          </a:solidFill>
                          <a:latin typeface="+mn-lt"/>
                          <a:cs typeface="+mn-lt"/>
                        </a:rPr>
                        <a:t>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Asignar herramientas, equipos y accesos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7.3.1.2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Onboarding e incorporación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6"/>
                  </a:ext>
                </a:extLst>
              </a:tr>
              <a:tr h="204889">
                <a:tc>
                  <a:txBody>
                    <a:bodyPr/>
                    <a:lstStyle/>
                    <a:p>
                      <a:pPr algn="ctr">
                        <a:lnSpc>
                          <a:spcPct val="90000"/>
                        </a:lnSpc>
                        <a:buNone/>
                      </a:pPr>
                      <a:r>
                        <a:rPr lang="es-CL" sz="850" b="1" dirty="0">
                          <a:solidFill>
                            <a:srgbClr val="3F3A33"/>
                          </a:solidFill>
                          <a:latin typeface="+mn-lt"/>
                          <a:cs typeface="+mn-lt"/>
                        </a:rPr>
                        <a:t>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Coordinar y derivar al nuevo trabajador con el Área Solicitante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7.3.1.2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Actividad · Onboarding e incorporación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7"/>
                  </a:ext>
                </a:extLst>
              </a:tr>
              <a:tr h="428003">
                <a:tc>
                  <a:txBody>
                    <a:bodyPr/>
                    <a:lstStyle/>
                    <a:p>
                      <a:pPr algn="ctr">
                        <a:lnSpc>
                          <a:spcPct val="90000"/>
                        </a:lnSpc>
                        <a:buNone/>
                      </a:pPr>
                      <a:r>
                        <a:rPr lang="es-CL" sz="850" b="1" dirty="0">
                          <a:solidFill>
                            <a:srgbClr val="3F3A33"/>
                          </a:solidFill>
                          <a:latin typeface="+mn-lt"/>
                          <a:cs typeface="+mn-lt"/>
                        </a:rPr>
                        <a:t>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Velar por el adecuado proceso de incorporación, último hito de la experiencia del postulante</a:t>
                      </a:r>
                    </a:p>
                    <a:p>
                      <a:pPr algn="l">
                        <a:lnSpc>
                          <a:spcPct val="90000"/>
                        </a:lnSpc>
                        <a:spcBef>
                          <a:spcPts val="150"/>
                        </a:spcBef>
                        <a:buNone/>
                      </a:pPr>
                      <a:r>
                        <a:rPr lang="es-CL" sz="750" dirty="0">
                          <a:solidFill>
                            <a:srgbClr val="6B655C"/>
                          </a:solidFill>
                          <a:latin typeface="+mn-lt"/>
                          <a:cs typeface="+mn-lt"/>
                        </a:rPr>
                        <a:t>Generalista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7.3.1.3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Actividad · Onboarding e incorporación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P4 · Apertura del proceso| Desarrollo organizacional</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APQC 7.3 · 7.6.1    ·    proceso confirmado</a:t>
            </a:r>
          </a:p>
        </p:txBody>
      </p:sp>
      <p:sp>
        <p:nvSpPr>
          <p:cNvPr id="11" name="Subproceso 11"/>
          <p:cNvSpPr/>
          <p:nvPr/>
        </p:nvSpPr>
        <p:spPr>
          <a:xfrm>
            <a:off x="630000" y="1475274"/>
            <a:ext cx="3577783" cy="364058"/>
          </a:xfrm>
          <a:prstGeom prst="roundRect">
            <a:avLst>
              <a:gd name="adj" fmla="val 4000"/>
            </a:avLst>
          </a:prstGeom>
          <a:solidFill>
            <a:srgbClr val="A34100"/>
          </a:solidFill>
          <a:ln>
            <a:noFill/>
          </a:ln>
        </p:spPr>
        <p:txBody>
          <a:bodyPr wrap="square" lIns="63500" tIns="63500" rIns="63500" bIns="63500" anchor="ctr">
            <a:noAutofit/>
          </a:bodyPr>
          <a:lstStyle/>
          <a:p>
            <a:pPr algn="l">
              <a:lnSpc>
                <a:spcPct val="90000"/>
              </a:lnSpc>
              <a:buNone/>
            </a:pPr>
            <a:r>
              <a:rPr lang="es-CL" sz="750" b="1" dirty="0">
                <a:solidFill>
                  <a:srgbClr val="F7E2D2"/>
                </a:solidFill>
                <a:latin typeface="+mn-lt"/>
                <a:cs typeface="+mn-lt"/>
              </a:rPr>
              <a:t>Subproceso 1  ·  F11</a:t>
            </a:r>
          </a:p>
          <a:p>
            <a:pPr algn="l">
              <a:lnSpc>
                <a:spcPct val="90000"/>
              </a:lnSpc>
              <a:spcBef>
                <a:spcPts val="200"/>
              </a:spcBef>
              <a:buNone/>
            </a:pPr>
            <a:r>
              <a:rPr lang="es-CL" sz="950" b="1" dirty="0">
                <a:solidFill>
                  <a:srgbClr val="FFFFFF"/>
                </a:solidFill>
                <a:latin typeface="+mn-lt"/>
                <a:cs typeface="+mn-lt"/>
              </a:rPr>
              <a:t>Formación</a:t>
            </a:r>
          </a:p>
        </p:txBody>
      </p:sp>
      <p:sp>
        <p:nvSpPr>
          <p:cNvPr id="12" name="Chip 12"/>
          <p:cNvSpPr/>
          <p:nvPr/>
        </p:nvSpPr>
        <p:spPr>
          <a:xfrm>
            <a:off x="630000" y="1939332"/>
            <a:ext cx="3577783" cy="382893"/>
          </a:xfrm>
          <a:prstGeom prst="roundRect">
            <a:avLst>
              <a:gd name="adj" fmla="val 4000"/>
            </a:avLst>
          </a:prstGeom>
          <a:solidFill>
            <a:srgbClr val="FBF8F1"/>
          </a:solidFill>
          <a:ln w="9525" cap="flat">
            <a:solidFill>
              <a:srgbClr val="A34100"/>
            </a:solidFill>
            <a:prstDash val="dash"/>
          </a:ln>
        </p:spPr>
        <p:txBody>
          <a:bodyPr wrap="square" lIns="57150" tIns="57150" rIns="57150" bIns="57150" anchor="ctr">
            <a:noAutofit/>
          </a:bodyPr>
          <a:lstStyle/>
          <a:p>
            <a:pPr algn="l">
              <a:lnSpc>
                <a:spcPct val="90000"/>
              </a:lnSpc>
              <a:buNone/>
            </a:pPr>
            <a:r>
              <a:rPr lang="es-CL" sz="750" dirty="0">
                <a:solidFill>
                  <a:srgbClr val="A34100"/>
                </a:solidFill>
                <a:latin typeface="+mn-lt"/>
                <a:cs typeface="+mn-lt"/>
              </a:rPr>
              <a:t>A1 · Definir lineamientos y estándares</a:t>
            </a:r>
          </a:p>
          <a:p>
            <a:pPr algn="l">
              <a:lnSpc>
                <a:spcPct val="90000"/>
              </a:lnSpc>
              <a:spcBef>
                <a:spcPts val="200"/>
              </a:spcBef>
              <a:buNone/>
            </a:pPr>
            <a:r>
              <a:rPr lang="es-CL" sz="650" dirty="0">
                <a:solidFill>
                  <a:srgbClr val="6B655C"/>
                </a:solidFill>
                <a:latin typeface="+mn-lt"/>
                <a:cs typeface="+mn-lt"/>
              </a:rPr>
              <a:t>cajas 1–2</a:t>
            </a:r>
          </a:p>
        </p:txBody>
      </p:sp>
      <p:sp>
        <p:nvSpPr>
          <p:cNvPr id="13" name="Chip 13"/>
          <p:cNvSpPr/>
          <p:nvPr/>
        </p:nvSpPr>
        <p:spPr>
          <a:xfrm>
            <a:off x="630000" y="2372225"/>
            <a:ext cx="3577783" cy="382893"/>
          </a:xfrm>
          <a:prstGeom prst="roundRect">
            <a:avLst>
              <a:gd name="adj" fmla="val 4000"/>
            </a:avLst>
          </a:prstGeom>
          <a:solidFill>
            <a:srgbClr val="FBF8F1"/>
          </a:solidFill>
          <a:ln w="9525" cap="flat">
            <a:solidFill>
              <a:srgbClr val="A34100"/>
            </a:solidFill>
            <a:prstDash val="dash"/>
          </a:ln>
        </p:spPr>
        <p:txBody>
          <a:bodyPr wrap="square" lIns="57150" tIns="57150" rIns="57150" bIns="57150" anchor="ctr">
            <a:noAutofit/>
          </a:bodyPr>
          <a:lstStyle/>
          <a:p>
            <a:pPr algn="l">
              <a:lnSpc>
                <a:spcPct val="90000"/>
              </a:lnSpc>
              <a:buNone/>
            </a:pPr>
            <a:r>
              <a:rPr lang="es-CL" sz="750" dirty="0">
                <a:solidFill>
                  <a:srgbClr val="A34100"/>
                </a:solidFill>
                <a:latin typeface="+mn-lt"/>
                <a:cs typeface="+mn-lt"/>
              </a:rPr>
              <a:t>A2 · Diagnóstico de brechas y diseño</a:t>
            </a:r>
          </a:p>
          <a:p>
            <a:pPr algn="l">
              <a:lnSpc>
                <a:spcPct val="90000"/>
              </a:lnSpc>
              <a:spcBef>
                <a:spcPts val="200"/>
              </a:spcBef>
              <a:buNone/>
            </a:pPr>
            <a:r>
              <a:rPr lang="es-CL" sz="650" dirty="0">
                <a:solidFill>
                  <a:srgbClr val="6B655C"/>
                </a:solidFill>
                <a:latin typeface="+mn-lt"/>
                <a:cs typeface="+mn-lt"/>
              </a:rPr>
              <a:t>cajas 3–5</a:t>
            </a:r>
          </a:p>
        </p:txBody>
      </p:sp>
      <p:sp>
        <p:nvSpPr>
          <p:cNvPr id="14" name="Chip 14"/>
          <p:cNvSpPr/>
          <p:nvPr/>
        </p:nvSpPr>
        <p:spPr>
          <a:xfrm>
            <a:off x="630000" y="2805118"/>
            <a:ext cx="3577783" cy="382893"/>
          </a:xfrm>
          <a:prstGeom prst="roundRect">
            <a:avLst>
              <a:gd name="adj" fmla="val 4000"/>
            </a:avLst>
          </a:prstGeom>
          <a:solidFill>
            <a:srgbClr val="FBF8F1"/>
          </a:solidFill>
          <a:ln w="9525" cap="flat">
            <a:solidFill>
              <a:srgbClr val="A34100"/>
            </a:solidFill>
            <a:prstDash val="dash"/>
          </a:ln>
        </p:spPr>
        <p:txBody>
          <a:bodyPr wrap="square" lIns="57150" tIns="57150" rIns="57150" bIns="57150" anchor="ctr">
            <a:noAutofit/>
          </a:bodyPr>
          <a:lstStyle/>
          <a:p>
            <a:pPr algn="l">
              <a:lnSpc>
                <a:spcPct val="90000"/>
              </a:lnSpc>
              <a:buNone/>
            </a:pPr>
            <a:r>
              <a:rPr lang="es-CL" sz="750" dirty="0">
                <a:solidFill>
                  <a:srgbClr val="A34100"/>
                </a:solidFill>
                <a:latin typeface="+mn-lt"/>
                <a:cs typeface="+mn-lt"/>
              </a:rPr>
              <a:t>A3 · Planificación y coordinación</a:t>
            </a:r>
          </a:p>
          <a:p>
            <a:pPr algn="l">
              <a:lnSpc>
                <a:spcPct val="90000"/>
              </a:lnSpc>
              <a:spcBef>
                <a:spcPts val="200"/>
              </a:spcBef>
              <a:buNone/>
            </a:pPr>
            <a:r>
              <a:rPr lang="es-CL" sz="650" dirty="0">
                <a:solidFill>
                  <a:srgbClr val="6B655C"/>
                </a:solidFill>
                <a:latin typeface="+mn-lt"/>
                <a:cs typeface="+mn-lt"/>
              </a:rPr>
              <a:t>cajas 6–7</a:t>
            </a:r>
          </a:p>
        </p:txBody>
      </p:sp>
      <p:sp>
        <p:nvSpPr>
          <p:cNvPr id="15" name="Chip 15"/>
          <p:cNvSpPr/>
          <p:nvPr/>
        </p:nvSpPr>
        <p:spPr>
          <a:xfrm>
            <a:off x="630000" y="3238011"/>
            <a:ext cx="3577783" cy="382893"/>
          </a:xfrm>
          <a:prstGeom prst="roundRect">
            <a:avLst>
              <a:gd name="adj" fmla="val 4000"/>
            </a:avLst>
          </a:prstGeom>
          <a:solidFill>
            <a:srgbClr val="FBF8F1"/>
          </a:solidFill>
          <a:ln w="9525" cap="flat">
            <a:solidFill>
              <a:srgbClr val="A34100"/>
            </a:solidFill>
            <a:prstDash val="dash"/>
          </a:ln>
        </p:spPr>
        <p:txBody>
          <a:bodyPr wrap="square" lIns="57150" tIns="57150" rIns="57150" bIns="57150" anchor="ctr">
            <a:noAutofit/>
          </a:bodyPr>
          <a:lstStyle/>
          <a:p>
            <a:pPr algn="l">
              <a:lnSpc>
                <a:spcPct val="90000"/>
              </a:lnSpc>
              <a:buNone/>
            </a:pPr>
            <a:r>
              <a:rPr lang="es-CL" sz="750" dirty="0">
                <a:solidFill>
                  <a:srgbClr val="A34100"/>
                </a:solidFill>
                <a:latin typeface="+mn-lt"/>
                <a:cs typeface="+mn-lt"/>
              </a:rPr>
              <a:t>A4 · Ejecución de la formación</a:t>
            </a:r>
          </a:p>
          <a:p>
            <a:pPr algn="l">
              <a:lnSpc>
                <a:spcPct val="90000"/>
              </a:lnSpc>
              <a:spcBef>
                <a:spcPts val="200"/>
              </a:spcBef>
              <a:buNone/>
            </a:pPr>
            <a:r>
              <a:rPr lang="es-CL" sz="650" dirty="0">
                <a:solidFill>
                  <a:srgbClr val="6B655C"/>
                </a:solidFill>
                <a:latin typeface="+mn-lt"/>
                <a:cs typeface="+mn-lt"/>
              </a:rPr>
              <a:t>cajas 8–12</a:t>
            </a:r>
          </a:p>
        </p:txBody>
      </p:sp>
      <p:sp>
        <p:nvSpPr>
          <p:cNvPr id="16" name="Chip 16"/>
          <p:cNvSpPr/>
          <p:nvPr/>
        </p:nvSpPr>
        <p:spPr>
          <a:xfrm>
            <a:off x="630000" y="3670904"/>
            <a:ext cx="3577783" cy="382893"/>
          </a:xfrm>
          <a:prstGeom prst="roundRect">
            <a:avLst>
              <a:gd name="adj" fmla="val 4000"/>
            </a:avLst>
          </a:prstGeom>
          <a:solidFill>
            <a:srgbClr val="FBF8F1"/>
          </a:solidFill>
          <a:ln w="9525" cap="flat">
            <a:solidFill>
              <a:srgbClr val="A34100"/>
            </a:solidFill>
            <a:prstDash val="dash"/>
          </a:ln>
        </p:spPr>
        <p:txBody>
          <a:bodyPr wrap="square" lIns="57150" tIns="57150" rIns="57150" bIns="57150" anchor="ctr">
            <a:noAutofit/>
          </a:bodyPr>
          <a:lstStyle/>
          <a:p>
            <a:pPr algn="l">
              <a:lnSpc>
                <a:spcPct val="90000"/>
              </a:lnSpc>
              <a:buNone/>
            </a:pPr>
            <a:r>
              <a:rPr lang="es-CL" sz="750" dirty="0">
                <a:solidFill>
                  <a:srgbClr val="A34100"/>
                </a:solidFill>
                <a:latin typeface="+mn-lt"/>
                <a:cs typeface="+mn-lt"/>
              </a:rPr>
              <a:t>A5 · Evaluación y habilitación</a:t>
            </a:r>
          </a:p>
          <a:p>
            <a:pPr algn="l">
              <a:lnSpc>
                <a:spcPct val="90000"/>
              </a:lnSpc>
              <a:spcBef>
                <a:spcPts val="200"/>
              </a:spcBef>
              <a:buNone/>
            </a:pPr>
            <a:r>
              <a:rPr lang="es-CL" sz="650" dirty="0">
                <a:solidFill>
                  <a:srgbClr val="6B655C"/>
                </a:solidFill>
                <a:latin typeface="+mn-lt"/>
                <a:cs typeface="+mn-lt"/>
              </a:rPr>
              <a:t>cajas 13–17</a:t>
            </a:r>
          </a:p>
        </p:txBody>
      </p:sp>
      <p:sp>
        <p:nvSpPr>
          <p:cNvPr id="17" name="Chip 17"/>
          <p:cNvSpPr/>
          <p:nvPr/>
        </p:nvSpPr>
        <p:spPr>
          <a:xfrm>
            <a:off x="630000" y="4103797"/>
            <a:ext cx="3577783" cy="382893"/>
          </a:xfrm>
          <a:prstGeom prst="roundRect">
            <a:avLst>
              <a:gd name="adj" fmla="val 4000"/>
            </a:avLst>
          </a:prstGeom>
          <a:solidFill>
            <a:srgbClr val="FBF8F1"/>
          </a:solidFill>
          <a:ln w="9525" cap="flat">
            <a:solidFill>
              <a:srgbClr val="A34100"/>
            </a:solidFill>
            <a:prstDash val="dash"/>
          </a:ln>
        </p:spPr>
        <p:txBody>
          <a:bodyPr wrap="square" lIns="57150" tIns="57150" rIns="57150" bIns="57150" anchor="ctr">
            <a:noAutofit/>
          </a:bodyPr>
          <a:lstStyle/>
          <a:p>
            <a:pPr algn="l">
              <a:lnSpc>
                <a:spcPct val="90000"/>
              </a:lnSpc>
              <a:buNone/>
            </a:pPr>
            <a:r>
              <a:rPr lang="es-CL" sz="750" dirty="0">
                <a:solidFill>
                  <a:srgbClr val="A34100"/>
                </a:solidFill>
                <a:latin typeface="+mn-lt"/>
                <a:cs typeface="+mn-lt"/>
              </a:rPr>
              <a:t>A6 · Medición de eficacia y KPI</a:t>
            </a:r>
          </a:p>
          <a:p>
            <a:pPr algn="l">
              <a:lnSpc>
                <a:spcPct val="90000"/>
              </a:lnSpc>
              <a:spcBef>
                <a:spcPts val="200"/>
              </a:spcBef>
              <a:buNone/>
            </a:pPr>
            <a:r>
              <a:rPr lang="es-CL" sz="650" dirty="0">
                <a:solidFill>
                  <a:srgbClr val="6B655C"/>
                </a:solidFill>
                <a:latin typeface="+mn-lt"/>
                <a:cs typeface="+mn-lt"/>
              </a:rPr>
              <a:t>cajas 18–19</a:t>
            </a:r>
          </a:p>
        </p:txBody>
      </p:sp>
      <p:sp>
        <p:nvSpPr>
          <p:cNvPr id="18" name="Subproceso 18"/>
          <p:cNvSpPr/>
          <p:nvPr/>
        </p:nvSpPr>
        <p:spPr>
          <a:xfrm>
            <a:off x="4307783" y="1475274"/>
            <a:ext cx="3577783" cy="364058"/>
          </a:xfrm>
          <a:prstGeom prst="roundRect">
            <a:avLst>
              <a:gd name="adj" fmla="val 4000"/>
            </a:avLst>
          </a:prstGeom>
          <a:solidFill>
            <a:srgbClr val="A34100"/>
          </a:solidFill>
          <a:ln>
            <a:noFill/>
          </a:ln>
        </p:spPr>
        <p:txBody>
          <a:bodyPr wrap="square" lIns="63500" tIns="63500" rIns="63500" bIns="63500" anchor="ctr">
            <a:noAutofit/>
          </a:bodyPr>
          <a:lstStyle/>
          <a:p>
            <a:pPr algn="l">
              <a:lnSpc>
                <a:spcPct val="90000"/>
              </a:lnSpc>
              <a:buNone/>
            </a:pPr>
            <a:r>
              <a:rPr lang="es-CL" sz="750" b="1" dirty="0">
                <a:solidFill>
                  <a:srgbClr val="F7E2D2"/>
                </a:solidFill>
                <a:latin typeface="+mn-lt"/>
                <a:cs typeface="+mn-lt"/>
              </a:rPr>
              <a:t>Subproceso 2  ·  F12</a:t>
            </a:r>
          </a:p>
          <a:p>
            <a:pPr algn="l">
              <a:lnSpc>
                <a:spcPct val="90000"/>
              </a:lnSpc>
              <a:spcBef>
                <a:spcPts val="200"/>
              </a:spcBef>
              <a:buNone/>
            </a:pPr>
            <a:r>
              <a:rPr lang="es-CL" sz="950" b="1" dirty="0">
                <a:solidFill>
                  <a:srgbClr val="FFFFFF"/>
                </a:solidFill>
                <a:latin typeface="+mn-lt"/>
                <a:cs typeface="+mn-lt"/>
              </a:rPr>
              <a:t>Gestión del desempeño</a:t>
            </a:r>
          </a:p>
        </p:txBody>
      </p:sp>
      <p:sp>
        <p:nvSpPr>
          <p:cNvPr id="19" name="Chip 19"/>
          <p:cNvSpPr/>
          <p:nvPr/>
        </p:nvSpPr>
        <p:spPr>
          <a:xfrm>
            <a:off x="4307783" y="1939332"/>
            <a:ext cx="3577783" cy="382893"/>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A1 · Definir objetivos de roles</a:t>
            </a:r>
          </a:p>
          <a:p>
            <a:pPr algn="l">
              <a:lnSpc>
                <a:spcPct val="90000"/>
              </a:lnSpc>
              <a:spcBef>
                <a:spcPts val="200"/>
              </a:spcBef>
              <a:buNone/>
            </a:pPr>
            <a:r>
              <a:rPr lang="es-CL" sz="650" dirty="0">
                <a:solidFill>
                  <a:srgbClr val="6B655C"/>
                </a:solidFill>
                <a:latin typeface="+mn-lt"/>
                <a:cs typeface="+mn-lt"/>
              </a:rPr>
              <a:t>cajas 2–4</a:t>
            </a:r>
          </a:p>
        </p:txBody>
      </p:sp>
      <p:sp>
        <p:nvSpPr>
          <p:cNvPr id="20" name="Chip 20"/>
          <p:cNvSpPr/>
          <p:nvPr/>
        </p:nvSpPr>
        <p:spPr>
          <a:xfrm>
            <a:off x="4307783" y="2372225"/>
            <a:ext cx="3577783" cy="382893"/>
          </a:xfrm>
          <a:prstGeom prst="roundRect">
            <a:avLst>
              <a:gd name="adj" fmla="val 4000"/>
            </a:avLst>
          </a:prstGeom>
          <a:solidFill>
            <a:srgbClr val="F1F1F2"/>
          </a:solidFill>
          <a:ln w="9525" cap="flat">
            <a:solidFill>
              <a:srgbClr val="9A9B9F"/>
            </a:solidFill>
            <a:prstDash val="dash"/>
          </a:ln>
        </p:spPr>
        <p:txBody>
          <a:bodyPr wrap="square" lIns="57150" tIns="57150" rIns="57150" bIns="57150" anchor="ctr">
            <a:noAutofit/>
          </a:bodyPr>
          <a:lstStyle/>
          <a:p>
            <a:pPr algn="l">
              <a:lnSpc>
                <a:spcPct val="90000"/>
              </a:lnSpc>
              <a:buNone/>
            </a:pPr>
            <a:r>
              <a:rPr lang="es-CL" sz="750" dirty="0">
                <a:solidFill>
                  <a:srgbClr val="55565A"/>
                </a:solidFill>
                <a:latin typeface="+mn-lt"/>
                <a:cs typeface="+mn-lt"/>
              </a:rPr>
              <a:t>Sin asignación</a:t>
            </a:r>
          </a:p>
          <a:p>
            <a:pPr algn="l">
              <a:lnSpc>
                <a:spcPct val="90000"/>
              </a:lnSpc>
              <a:spcBef>
                <a:spcPts val="200"/>
              </a:spcBef>
              <a:buNone/>
            </a:pPr>
            <a:r>
              <a:rPr lang="es-CL" sz="650" dirty="0">
                <a:solidFill>
                  <a:srgbClr val="6B655C"/>
                </a:solidFill>
                <a:latin typeface="+mn-lt"/>
                <a:cs typeface="+mn-lt"/>
              </a:rPr>
              <a:t>cajas 5–30</a:t>
            </a:r>
          </a:p>
        </p:txBody>
      </p:sp>
      <p:sp>
        <p:nvSpPr>
          <p:cNvPr id="21" name="Chip 21"/>
          <p:cNvSpPr/>
          <p:nvPr/>
        </p:nvSpPr>
        <p:spPr>
          <a:xfrm>
            <a:off x="4307783" y="2805118"/>
            <a:ext cx="3577783" cy="382893"/>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A2 · Preparación herramienta de evaluación</a:t>
            </a:r>
          </a:p>
          <a:p>
            <a:pPr algn="l">
              <a:lnSpc>
                <a:spcPct val="90000"/>
              </a:lnSpc>
              <a:spcBef>
                <a:spcPts val="200"/>
              </a:spcBef>
              <a:buNone/>
            </a:pPr>
            <a:r>
              <a:rPr lang="es-CL" sz="650" dirty="0">
                <a:solidFill>
                  <a:srgbClr val="6B655C"/>
                </a:solidFill>
                <a:latin typeface="+mn-lt"/>
                <a:cs typeface="+mn-lt"/>
              </a:rPr>
              <a:t>cajas 6–13</a:t>
            </a:r>
          </a:p>
        </p:txBody>
      </p:sp>
      <p:sp>
        <p:nvSpPr>
          <p:cNvPr id="22" name="Chip 22"/>
          <p:cNvSpPr/>
          <p:nvPr/>
        </p:nvSpPr>
        <p:spPr>
          <a:xfrm>
            <a:off x="4307783" y="3238011"/>
            <a:ext cx="3577783" cy="382893"/>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A3 · Ejecución y calibración</a:t>
            </a:r>
          </a:p>
          <a:p>
            <a:pPr algn="l">
              <a:lnSpc>
                <a:spcPct val="90000"/>
              </a:lnSpc>
              <a:spcBef>
                <a:spcPts val="200"/>
              </a:spcBef>
              <a:buNone/>
            </a:pPr>
            <a:r>
              <a:rPr lang="es-CL" sz="650" dirty="0">
                <a:solidFill>
                  <a:srgbClr val="6B655C"/>
                </a:solidFill>
                <a:latin typeface="+mn-lt"/>
                <a:cs typeface="+mn-lt"/>
              </a:rPr>
              <a:t>cajas 14–26</a:t>
            </a:r>
          </a:p>
        </p:txBody>
      </p:sp>
      <p:sp>
        <p:nvSpPr>
          <p:cNvPr id="23" name="Chip 23"/>
          <p:cNvSpPr/>
          <p:nvPr/>
        </p:nvSpPr>
        <p:spPr>
          <a:xfrm>
            <a:off x="4307783" y="3670904"/>
            <a:ext cx="3577783" cy="382893"/>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A4 · Análisis de resultados y compromiso</a:t>
            </a:r>
          </a:p>
          <a:p>
            <a:pPr algn="l">
              <a:lnSpc>
                <a:spcPct val="90000"/>
              </a:lnSpc>
              <a:spcBef>
                <a:spcPts val="200"/>
              </a:spcBef>
              <a:buNone/>
            </a:pPr>
            <a:r>
              <a:rPr lang="es-CL" sz="650" dirty="0">
                <a:solidFill>
                  <a:srgbClr val="6B655C"/>
                </a:solidFill>
                <a:latin typeface="+mn-lt"/>
                <a:cs typeface="+mn-lt"/>
              </a:rPr>
              <a:t>cajas 27–29</a:t>
            </a:r>
          </a:p>
        </p:txBody>
      </p:sp>
      <p:sp>
        <p:nvSpPr>
          <p:cNvPr id="24" name="Subproceso 24"/>
          <p:cNvSpPr/>
          <p:nvPr/>
        </p:nvSpPr>
        <p:spPr>
          <a:xfrm>
            <a:off x="7985566" y="1475274"/>
            <a:ext cx="3577783" cy="364058"/>
          </a:xfrm>
          <a:prstGeom prst="roundRect">
            <a:avLst>
              <a:gd name="adj" fmla="val 4000"/>
            </a:avLst>
          </a:prstGeom>
          <a:solidFill>
            <a:srgbClr val="A34100"/>
          </a:solidFill>
          <a:ln>
            <a:noFill/>
          </a:ln>
        </p:spPr>
        <p:txBody>
          <a:bodyPr wrap="square" lIns="63500" tIns="63500" rIns="63500" bIns="63500" anchor="ctr">
            <a:noAutofit/>
          </a:bodyPr>
          <a:lstStyle/>
          <a:p>
            <a:pPr algn="l">
              <a:lnSpc>
                <a:spcPct val="90000"/>
              </a:lnSpc>
              <a:buNone/>
            </a:pPr>
            <a:r>
              <a:rPr lang="es-CL" sz="750" b="1" dirty="0">
                <a:solidFill>
                  <a:srgbClr val="F7E2D2"/>
                </a:solidFill>
                <a:latin typeface="+mn-lt"/>
                <a:cs typeface="+mn-lt"/>
              </a:rPr>
              <a:t>Subproceso 3  ·  F13</a:t>
            </a:r>
          </a:p>
          <a:p>
            <a:pPr algn="l">
              <a:lnSpc>
                <a:spcPct val="90000"/>
              </a:lnSpc>
              <a:spcBef>
                <a:spcPts val="200"/>
              </a:spcBef>
              <a:buNone/>
            </a:pPr>
            <a:r>
              <a:rPr lang="es-CL" sz="950" b="1" dirty="0">
                <a:solidFill>
                  <a:srgbClr val="FFFFFF"/>
                </a:solidFill>
                <a:latin typeface="+mn-lt"/>
                <a:cs typeface="+mn-lt"/>
              </a:rPr>
              <a:t>Carrera, sucesión y movilidad</a:t>
            </a:r>
          </a:p>
        </p:txBody>
      </p:sp>
      <p:sp>
        <p:nvSpPr>
          <p:cNvPr id="25" name="Chip 25"/>
          <p:cNvSpPr/>
          <p:nvPr/>
        </p:nvSpPr>
        <p:spPr>
          <a:xfrm>
            <a:off x="7985566" y="1939332"/>
            <a:ext cx="3577783" cy="382893"/>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A1 · Definir roles clave y riesgo de vacancia</a:t>
            </a:r>
          </a:p>
          <a:p>
            <a:pPr algn="l">
              <a:lnSpc>
                <a:spcPct val="90000"/>
              </a:lnSpc>
              <a:spcBef>
                <a:spcPts val="200"/>
              </a:spcBef>
              <a:buNone/>
            </a:pPr>
            <a:r>
              <a:rPr lang="es-CL" sz="650" dirty="0">
                <a:solidFill>
                  <a:srgbClr val="6B655C"/>
                </a:solidFill>
                <a:latin typeface="+mn-lt"/>
                <a:cs typeface="+mn-lt"/>
              </a:rPr>
              <a:t>caja 1</a:t>
            </a:r>
          </a:p>
        </p:txBody>
      </p:sp>
      <p:sp>
        <p:nvSpPr>
          <p:cNvPr id="26" name="Chip 26"/>
          <p:cNvSpPr/>
          <p:nvPr/>
        </p:nvSpPr>
        <p:spPr>
          <a:xfrm>
            <a:off x="7985566" y="2372225"/>
            <a:ext cx="3577783" cy="382893"/>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A2 · Validar posiciones del rol supervisor</a:t>
            </a:r>
          </a:p>
          <a:p>
            <a:pPr algn="l">
              <a:lnSpc>
                <a:spcPct val="90000"/>
              </a:lnSpc>
              <a:spcBef>
                <a:spcPts val="200"/>
              </a:spcBef>
              <a:buNone/>
            </a:pPr>
            <a:r>
              <a:rPr lang="es-CL" sz="650" dirty="0">
                <a:solidFill>
                  <a:srgbClr val="6B655C"/>
                </a:solidFill>
                <a:latin typeface="+mn-lt"/>
                <a:cs typeface="+mn-lt"/>
              </a:rPr>
              <a:t>caja 2</a:t>
            </a:r>
          </a:p>
        </p:txBody>
      </p:sp>
      <p:sp>
        <p:nvSpPr>
          <p:cNvPr id="27" name="Chip 27"/>
          <p:cNvSpPr/>
          <p:nvPr/>
        </p:nvSpPr>
        <p:spPr>
          <a:xfrm>
            <a:off x="7985566" y="2805118"/>
            <a:ext cx="3577783" cy="382893"/>
          </a:xfrm>
          <a:prstGeom prst="roundRect">
            <a:avLst>
              <a:gd name="adj" fmla="val 4000"/>
            </a:avLst>
          </a:prstGeom>
          <a:solidFill>
            <a:srgbClr val="FBF8F1"/>
          </a:solidFill>
          <a:ln w="9525" cap="flat">
            <a:solidFill>
              <a:srgbClr val="A34100"/>
            </a:solidFill>
            <a:prstDash val="dash"/>
          </a:ln>
        </p:spPr>
        <p:txBody>
          <a:bodyPr wrap="square" lIns="57150" tIns="57150" rIns="57150" bIns="57150" anchor="ctr">
            <a:noAutofit/>
          </a:bodyPr>
          <a:lstStyle/>
          <a:p>
            <a:pPr algn="l">
              <a:lnSpc>
                <a:spcPct val="90000"/>
              </a:lnSpc>
              <a:buNone/>
            </a:pPr>
            <a:r>
              <a:rPr lang="es-CL" sz="750" dirty="0">
                <a:solidFill>
                  <a:srgbClr val="55565A"/>
                </a:solidFill>
                <a:latin typeface="+mn-lt"/>
                <a:cs typeface="+mn-lt"/>
              </a:rPr>
              <a:t>A3 · Sin nombre definido</a:t>
            </a:r>
          </a:p>
          <a:p>
            <a:pPr algn="l">
              <a:lnSpc>
                <a:spcPct val="90000"/>
              </a:lnSpc>
              <a:spcBef>
                <a:spcPts val="200"/>
              </a:spcBef>
              <a:buNone/>
            </a:pPr>
            <a:r>
              <a:rPr lang="es-CL" sz="650" dirty="0">
                <a:solidFill>
                  <a:srgbClr val="6B655C"/>
                </a:solidFill>
                <a:latin typeface="+mn-lt"/>
                <a:cs typeface="+mn-lt"/>
              </a:rPr>
              <a:t>cajas 3–4</a:t>
            </a:r>
          </a:p>
        </p:txBody>
      </p:sp>
      <p:sp>
        <p:nvSpPr>
          <p:cNvPr id="28" name="Chip 28"/>
          <p:cNvSpPr/>
          <p:nvPr/>
        </p:nvSpPr>
        <p:spPr>
          <a:xfrm>
            <a:off x="7985566" y="3238011"/>
            <a:ext cx="3577783" cy="382893"/>
          </a:xfrm>
          <a:prstGeom prst="roundRect">
            <a:avLst>
              <a:gd name="adj" fmla="val 4000"/>
            </a:avLst>
          </a:prstGeom>
          <a:solidFill>
            <a:srgbClr val="E6EFF5"/>
          </a:solidFill>
          <a:ln w="9525" cap="flat">
            <a:solidFill>
              <a:srgbClr val="14567A"/>
            </a:solidFill>
          </a:ln>
        </p:spPr>
        <p:txBody>
          <a:bodyPr wrap="square" lIns="57150" tIns="57150" rIns="57150" bIns="57150" anchor="ctr">
            <a:noAutofit/>
          </a:bodyPr>
          <a:lstStyle/>
          <a:p>
            <a:pPr algn="l">
              <a:lnSpc>
                <a:spcPct val="90000"/>
              </a:lnSpc>
              <a:buNone/>
            </a:pPr>
            <a:r>
              <a:rPr lang="es-CL" sz="750" b="1" dirty="0">
                <a:solidFill>
                  <a:srgbClr val="14567A"/>
                </a:solidFill>
                <a:latin typeface="+mn-lt"/>
                <a:cs typeface="+mn-lt"/>
              </a:rPr>
              <a:t>Control · Riesgo de cobertura</a:t>
            </a:r>
          </a:p>
          <a:p>
            <a:pPr algn="l">
              <a:lnSpc>
                <a:spcPct val="90000"/>
              </a:lnSpc>
              <a:spcBef>
                <a:spcPts val="200"/>
              </a:spcBef>
              <a:buNone/>
            </a:pPr>
            <a:r>
              <a:rPr lang="es-CL" sz="650" dirty="0">
                <a:solidFill>
                  <a:srgbClr val="6B655C"/>
                </a:solidFill>
                <a:latin typeface="+mn-lt"/>
                <a:cs typeface="+mn-lt"/>
              </a:rPr>
              <a:t>caja 5</a:t>
            </a:r>
          </a:p>
        </p:txBody>
      </p:sp>
      <p:sp>
        <p:nvSpPr>
          <p:cNvPr id="29" name="Chip 29"/>
          <p:cNvSpPr/>
          <p:nvPr/>
        </p:nvSpPr>
        <p:spPr>
          <a:xfrm>
            <a:off x="7985566" y="3670904"/>
            <a:ext cx="3577783" cy="382893"/>
          </a:xfrm>
          <a:prstGeom prst="roundRect">
            <a:avLst>
              <a:gd name="adj" fmla="val 4000"/>
            </a:avLst>
          </a:prstGeom>
          <a:solidFill>
            <a:srgbClr val="F1F1F2"/>
          </a:solidFill>
          <a:ln w="9525" cap="flat">
            <a:solidFill>
              <a:srgbClr val="9A9B9F"/>
            </a:solidFill>
            <a:prstDash val="dash"/>
          </a:ln>
        </p:spPr>
        <p:txBody>
          <a:bodyPr wrap="square" lIns="57150" tIns="57150" rIns="57150" bIns="57150" anchor="ctr">
            <a:noAutofit/>
          </a:bodyPr>
          <a:lstStyle/>
          <a:p>
            <a:pPr algn="l">
              <a:lnSpc>
                <a:spcPct val="90000"/>
              </a:lnSpc>
              <a:buNone/>
            </a:pPr>
            <a:r>
              <a:rPr lang="es-CL" sz="750" dirty="0">
                <a:solidFill>
                  <a:srgbClr val="55565A"/>
                </a:solidFill>
                <a:latin typeface="+mn-lt"/>
                <a:cs typeface="+mn-lt"/>
              </a:rPr>
              <a:t>Control o tarea</a:t>
            </a:r>
          </a:p>
          <a:p>
            <a:pPr algn="l">
              <a:lnSpc>
                <a:spcPct val="90000"/>
              </a:lnSpc>
              <a:spcBef>
                <a:spcPts val="200"/>
              </a:spcBef>
              <a:buNone/>
            </a:pPr>
            <a:r>
              <a:rPr lang="es-CL" sz="650" dirty="0">
                <a:solidFill>
                  <a:srgbClr val="6B655C"/>
                </a:solidFill>
                <a:latin typeface="+mn-lt"/>
                <a:cs typeface="+mn-lt"/>
              </a:rPr>
              <a:t>caja 6</a:t>
            </a:r>
          </a:p>
        </p:txBody>
      </p:sp>
      <p:sp>
        <p:nvSpPr>
          <p:cNvPr id="30" name="Chip 30"/>
          <p:cNvSpPr/>
          <p:nvPr/>
        </p:nvSpPr>
        <p:spPr>
          <a:xfrm>
            <a:off x="7985566" y="4103797"/>
            <a:ext cx="3577783" cy="382893"/>
          </a:xfrm>
          <a:prstGeom prst="roundRect">
            <a:avLst>
              <a:gd name="adj" fmla="val 4000"/>
            </a:avLst>
          </a:prstGeom>
          <a:solidFill>
            <a:srgbClr val="EFE6D0"/>
          </a:solidFill>
          <a:ln w="9525" cap="flat">
            <a:solidFill>
              <a:srgbClr val="C9B98F"/>
            </a:solidFill>
          </a:ln>
        </p:spPr>
        <p:txBody>
          <a:bodyPr wrap="square" lIns="57150" tIns="57150" rIns="57150" bIns="57150" anchor="ctr">
            <a:noAutofit/>
          </a:bodyPr>
          <a:lstStyle/>
          <a:p>
            <a:pPr algn="l">
              <a:lnSpc>
                <a:spcPct val="90000"/>
              </a:lnSpc>
              <a:buNone/>
            </a:pPr>
            <a:r>
              <a:rPr lang="es-CL" sz="750" b="1" dirty="0">
                <a:solidFill>
                  <a:srgbClr val="3F3A33"/>
                </a:solidFill>
                <a:latin typeface="+mn-lt"/>
                <a:cs typeface="+mn-lt"/>
              </a:rPr>
              <a:t>Subproceso · Formación para el desarrollo</a:t>
            </a:r>
          </a:p>
          <a:p>
            <a:pPr algn="l">
              <a:lnSpc>
                <a:spcPct val="90000"/>
              </a:lnSpc>
              <a:spcBef>
                <a:spcPts val="200"/>
              </a:spcBef>
              <a:buNone/>
            </a:pPr>
            <a:r>
              <a:rPr lang="es-CL" sz="650" dirty="0">
                <a:solidFill>
                  <a:srgbClr val="6B655C"/>
                </a:solidFill>
                <a:latin typeface="+mn-lt"/>
                <a:cs typeface="+mn-lt"/>
              </a:rPr>
              <a:t>caja 7</a:t>
            </a:r>
          </a:p>
        </p:txBody>
      </p:sp>
      <p:sp>
        <p:nvSpPr>
          <p:cNvPr id="31" name="Chip 31"/>
          <p:cNvSpPr/>
          <p:nvPr/>
        </p:nvSpPr>
        <p:spPr>
          <a:xfrm>
            <a:off x="7985566" y="4536690"/>
            <a:ext cx="3577783" cy="382893"/>
          </a:xfrm>
          <a:prstGeom prst="roundRect">
            <a:avLst>
              <a:gd name="adj" fmla="val 4000"/>
            </a:avLst>
          </a:prstGeom>
          <a:solidFill>
            <a:srgbClr val="FBF8F1"/>
          </a:solidFill>
          <a:ln w="9525" cap="flat">
            <a:solidFill>
              <a:srgbClr val="C9B98F"/>
            </a:solidFill>
          </a:ln>
        </p:spPr>
        <p:txBody>
          <a:bodyPr wrap="square" lIns="57150" tIns="57150" rIns="57150" bIns="57150" anchor="ctr">
            <a:noAutofit/>
          </a:bodyPr>
          <a:lstStyle/>
          <a:p>
            <a:pPr algn="l">
              <a:lnSpc>
                <a:spcPct val="90000"/>
              </a:lnSpc>
              <a:buNone/>
            </a:pPr>
            <a:r>
              <a:rPr lang="es-CL" sz="750" dirty="0">
                <a:solidFill>
                  <a:srgbClr val="3F3A33"/>
                </a:solidFill>
                <a:latin typeface="+mn-lt"/>
                <a:cs typeface="+mn-lt"/>
              </a:rPr>
              <a:t>A4 · Validar carrera y alinear con estrategia</a:t>
            </a:r>
          </a:p>
          <a:p>
            <a:pPr algn="l">
              <a:lnSpc>
                <a:spcPct val="90000"/>
              </a:lnSpc>
              <a:spcBef>
                <a:spcPts val="200"/>
              </a:spcBef>
              <a:buNone/>
            </a:pPr>
            <a:r>
              <a:rPr lang="es-CL" sz="650" dirty="0">
                <a:solidFill>
                  <a:srgbClr val="6B655C"/>
                </a:solidFill>
                <a:latin typeface="+mn-lt"/>
                <a:cs typeface="+mn-lt"/>
              </a:rPr>
              <a:t>caja 8</a:t>
            </a:r>
          </a:p>
        </p:txBody>
      </p:sp>
      <p:sp>
        <p:nvSpPr>
          <p:cNvPr id="32" name="Chip 32"/>
          <p:cNvSpPr/>
          <p:nvPr/>
        </p:nvSpPr>
        <p:spPr>
          <a:xfrm>
            <a:off x="7985566" y="4969583"/>
            <a:ext cx="3577783" cy="382893"/>
          </a:xfrm>
          <a:prstGeom prst="roundRect">
            <a:avLst>
              <a:gd name="adj" fmla="val 4000"/>
            </a:avLst>
          </a:prstGeom>
          <a:solidFill>
            <a:srgbClr val="FBF8F1"/>
          </a:solidFill>
          <a:ln w="9525" cap="flat">
            <a:solidFill>
              <a:srgbClr val="A34100"/>
            </a:solidFill>
            <a:prstDash val="dash"/>
          </a:ln>
        </p:spPr>
        <p:txBody>
          <a:bodyPr wrap="square" lIns="57150" tIns="57150" rIns="57150" bIns="57150" anchor="ctr">
            <a:noAutofit/>
          </a:bodyPr>
          <a:lstStyle/>
          <a:p>
            <a:pPr algn="l">
              <a:lnSpc>
                <a:spcPct val="90000"/>
              </a:lnSpc>
              <a:buNone/>
            </a:pPr>
            <a:r>
              <a:rPr lang="es-CL" sz="750" dirty="0">
                <a:solidFill>
                  <a:srgbClr val="55565A"/>
                </a:solidFill>
                <a:latin typeface="+mn-lt"/>
                <a:cs typeface="+mn-lt"/>
              </a:rPr>
              <a:t>A5 · Sin nombre definido</a:t>
            </a:r>
          </a:p>
          <a:p>
            <a:pPr algn="l">
              <a:lnSpc>
                <a:spcPct val="90000"/>
              </a:lnSpc>
              <a:spcBef>
                <a:spcPts val="200"/>
              </a:spcBef>
              <a:buNone/>
            </a:pPr>
            <a:r>
              <a:rPr lang="es-CL" sz="650" dirty="0">
                <a:solidFill>
                  <a:srgbClr val="6B655C"/>
                </a:solidFill>
                <a:latin typeface="+mn-lt"/>
                <a:cs typeface="+mn-lt"/>
              </a:rPr>
              <a:t>cajas 9–10</a:t>
            </a:r>
          </a:p>
        </p:txBody>
      </p:sp>
      <p:sp>
        <p:nvSpPr>
          <p:cNvPr id="33" name="Pendientes 33"/>
          <p:cNvSpPr/>
          <p:nvPr/>
        </p:nvSpPr>
        <p:spPr>
          <a:xfrm>
            <a:off x="630000" y="5442476"/>
            <a:ext cx="10933350" cy="877519"/>
          </a:xfrm>
          <a:prstGeom prst="roundRect">
            <a:avLst>
              <a:gd name="adj" fmla="val 2500"/>
            </a:avLst>
          </a:prstGeom>
          <a:solidFill>
            <a:srgbClr val="F6EDE4"/>
          </a:solidFill>
          <a:ln>
            <a:noFill/>
          </a:ln>
        </p:spPr>
        <p:txBody>
          <a:bodyPr wrap="square" lIns="76200" tIns="76200" rIns="76200" bIns="76200" anchor="ctr">
            <a:noAutofit/>
          </a:bodyPr>
          <a:lstStyle/>
          <a:p>
            <a:pPr algn="l">
              <a:lnSpc>
                <a:spcPct val="90000"/>
              </a:lnSpc>
              <a:buNone/>
            </a:pPr>
            <a:r>
              <a:rPr lang="es-CL" sz="950" b="1" dirty="0">
                <a:solidFill>
                  <a:srgbClr val="A34100"/>
                </a:solidFill>
                <a:latin typeface="+mn-lt"/>
                <a:cs typeface="+mn-lt"/>
              </a:rPr>
              <a:t>Qué falta definir en este proceso</a:t>
            </a:r>
          </a:p>
          <a:p>
            <a:pPr algn="l">
              <a:lnSpc>
                <a:spcPct val="90000"/>
              </a:lnSpc>
              <a:spcBef>
                <a:spcPts val="200"/>
              </a:spcBef>
              <a:buNone/>
            </a:pPr>
            <a:r>
              <a:rPr lang="es-CL" sz="850" dirty="0">
                <a:solidFill>
                  <a:srgbClr val="A34100"/>
                </a:solidFill>
                <a:latin typeface="+mn-lt"/>
                <a:cs typeface="+mn-lt"/>
              </a:rPr>
              <a:t>·  F11 · cajas 1–2: Agrupación de las 19 cajas propuesta con base en APQC 7.3.4; pendiente de validar</a:t>
            </a:r>
          </a:p>
          <a:p>
            <a:pPr algn="l">
              <a:lnSpc>
                <a:spcPct val="90000"/>
              </a:lnSpc>
              <a:spcBef>
                <a:spcPts val="200"/>
              </a:spcBef>
              <a:buNone/>
            </a:pPr>
            <a:r>
              <a:rPr lang="es-CL" sz="850" dirty="0">
                <a:solidFill>
                  <a:srgbClr val="55565A"/>
                </a:solidFill>
                <a:latin typeface="+mn-lt"/>
                <a:cs typeface="+mn-lt"/>
              </a:rPr>
              <a:t>·  F12 · caja 5: Marcador temporal de ola; definir si se conserva como caja</a:t>
            </a:r>
          </a:p>
          <a:p>
            <a:pPr algn="l">
              <a:lnSpc>
                <a:spcPct val="90000"/>
              </a:lnSpc>
              <a:spcBef>
                <a:spcPts val="200"/>
              </a:spcBef>
              <a:buNone/>
            </a:pPr>
            <a:r>
              <a:rPr lang="es-CL" sz="850" dirty="0">
                <a:solidFill>
                  <a:srgbClr val="55565A"/>
                </a:solidFill>
                <a:latin typeface="+mn-lt"/>
                <a:cs typeface="+mn-lt"/>
              </a:rPr>
              <a:t>·  F13 · cajas 3–4: Denominar la actividad que agrupa las cajas 3 y 4</a:t>
            </a:r>
          </a:p>
          <a:p>
            <a:pPr algn="l">
              <a:lnSpc>
                <a:spcPct val="90000"/>
              </a:lnSpc>
              <a:spcBef>
                <a:spcPts val="200"/>
              </a:spcBef>
              <a:buNone/>
            </a:pPr>
            <a:r>
              <a:rPr lang="es-CL" sz="850" dirty="0">
                <a:solidFill>
                  <a:srgbClr val="55565A"/>
                </a:solidFill>
                <a:latin typeface="+mn-lt"/>
                <a:cs typeface="+mn-lt"/>
              </a:rPr>
              <a:t>·  F13 · caja 6: Definir si es control o tarea</a:t>
            </a:r>
          </a:p>
          <a:p>
            <a:pPr algn="l">
              <a:lnSpc>
                <a:spcPct val="90000"/>
              </a:lnSpc>
              <a:spcBef>
                <a:spcPts val="200"/>
              </a:spcBef>
              <a:buNone/>
            </a:pPr>
            <a:r>
              <a:rPr lang="es-CL" sz="850" dirty="0">
                <a:solidFill>
                  <a:srgbClr val="55565A"/>
                </a:solidFill>
                <a:latin typeface="+mn-lt"/>
                <a:cs typeface="+mn-lt"/>
              </a:rPr>
              <a:t>·  F13 · caja 9: Gestiona lo resuelto en A4: promoción, descenso o movilidad interna</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P4 · F11 · Cajas del flujo| </a:t>
            </a:r>
            <a:r>
              <a:rPr lang="es-CL" sz="2000" dirty="0">
                <a:solidFill>
                  <a:srgbClr val="A34100"/>
                </a:solidFill>
                <a:latin typeface="+mn-lt"/>
                <a:cs typeface="+mn-lt"/>
              </a:rPr>
              <a:t>Formación y habilitación</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19 cajas numeradas  ·  1 decisión sin numerar  ·  proceso P4 · Desarrollo organizacional</a:t>
            </a:r>
          </a:p>
        </p:txBody>
      </p:sp>
      <p:graphicFrame>
        <p:nvGraphicFramePr>
          <p:cNvPr id="11" name="Tabla 11"/>
          <p:cNvGraphicFramePr>
            <a:graphicFrameLocks noGrp="1"/>
          </p:cNvGraphicFramePr>
          <p:nvPr/>
        </p:nvGraphicFramePr>
        <p:xfrm>
          <a:off x="630000" y="1475274"/>
          <a:ext cx="10933350" cy="3629342"/>
        </p:xfrm>
        <a:graphic>
          <a:graphicData uri="http://schemas.openxmlformats.org/drawingml/2006/table">
            <a:tbl>
              <a:tblPr firstRow="1"/>
              <a:tblGrid>
                <a:gridCol w="430000">
                  <a:extLst>
                    <a:ext uri="{9D8B030D-6E8A-4147-A177-3AD203B41FA5}">
                      <a16:colId xmlns:a16="http://schemas.microsoft.com/office/drawing/2014/main" val="20000"/>
                    </a:ext>
                  </a:extLst>
                </a:gridCol>
                <a:gridCol w="4320000">
                  <a:extLst>
                    <a:ext uri="{9D8B030D-6E8A-4147-A177-3AD203B41FA5}">
                      <a16:colId xmlns:a16="http://schemas.microsoft.com/office/drawing/2014/main" val="20001"/>
                    </a:ext>
                  </a:extLst>
                </a:gridCol>
                <a:gridCol w="780000">
                  <a:extLst>
                    <a:ext uri="{9D8B030D-6E8A-4147-A177-3AD203B41FA5}">
                      <a16:colId xmlns:a16="http://schemas.microsoft.com/office/drawing/2014/main" val="20002"/>
                    </a:ext>
                  </a:extLst>
                </a:gridCol>
                <a:gridCol w="1320000">
                  <a:extLst>
                    <a:ext uri="{9D8B030D-6E8A-4147-A177-3AD203B41FA5}">
                      <a16:colId xmlns:a16="http://schemas.microsoft.com/office/drawing/2014/main" val="20003"/>
                    </a:ext>
                  </a:extLst>
                </a:gridCol>
                <a:gridCol w="4083350">
                  <a:extLst>
                    <a:ext uri="{9D8B030D-6E8A-4147-A177-3AD203B41FA5}">
                      <a16:colId xmlns:a16="http://schemas.microsoft.com/office/drawing/2014/main" val="20004"/>
                    </a:ext>
                  </a:extLst>
                </a:gridCol>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extLst>
                  <a:ext uri="{0D108BD9-81ED-4DB2-BD59-A6C34878D82A}">
                    <a16:rowId xmlns:a16="http://schemas.microsoft.com/office/drawing/2014/main" val="10000"/>
                  </a:ext>
                </a:extLst>
              </a:tr>
              <a:tr h="323418">
                <a:tc>
                  <a:txBody>
                    <a:bodyPr/>
                    <a:lstStyle/>
                    <a:p>
                      <a:pPr algn="ctr">
                        <a:lnSpc>
                          <a:spcPct val="90000"/>
                        </a:lnSpc>
                        <a:buNone/>
                      </a:pPr>
                      <a:r>
                        <a:rPr lang="es-CL" sz="850" b="1" dirty="0">
                          <a:solidFill>
                            <a:srgbClr val="3F3A33"/>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Definir lineamientos del procedimiento de Formación Técnica</a:t>
                      </a:r>
                    </a:p>
                    <a:p>
                      <a:pPr algn="l">
                        <a:lnSpc>
                          <a:spcPct val="90000"/>
                        </a:lnSpc>
                        <a:spcBef>
                          <a:spcPts val="150"/>
                        </a:spcBef>
                        <a:buNone/>
                      </a:pPr>
                      <a:r>
                        <a:rPr lang="es-CL" sz="750" dirty="0">
                          <a:solidFill>
                            <a:srgbClr val="6B655C"/>
                          </a:solidFill>
                          <a:latin typeface="+mn-lt"/>
                          <a:cs typeface="+mn-lt"/>
                        </a:rPr>
                        <a:t>Subgerencia de Formación / Jefe de Formación · A: Gerencia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A1 · Definir lineamientos y estándares — Agrupación de las 19 cajas propuesta con base en APQC 7.3.4; pendiente de validar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1"/>
                  </a:ext>
                </a:extLst>
              </a:tr>
              <a:tr h="309474">
                <a:tc>
                  <a:txBody>
                    <a:bodyPr/>
                    <a:lstStyle/>
                    <a:p>
                      <a:pPr algn="ctr">
                        <a:lnSpc>
                          <a:spcPct val="90000"/>
                        </a:lnSpc>
                        <a:buNone/>
                      </a:pPr>
                      <a:r>
                        <a:rPr lang="es-CL" sz="850" b="1" dirty="0">
                          <a:solidFill>
                            <a:srgbClr val="3F3A33"/>
                          </a:solidFill>
                          <a:latin typeface="+mn-lt"/>
                          <a:cs typeface="+mn-lt"/>
                        </a:rPr>
                        <a:t>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Definir y validar procedimientos, controles y tareas críticas</a:t>
                      </a:r>
                    </a:p>
                    <a:p>
                      <a:pPr algn="l">
                        <a:lnSpc>
                          <a:spcPct val="90000"/>
                        </a:lnSpc>
                        <a:spcBef>
                          <a:spcPts val="150"/>
                        </a:spcBef>
                        <a:buNone/>
                      </a:pPr>
                      <a:r>
                        <a:rPr lang="es-CL" sz="750" dirty="0">
                          <a:solidFill>
                            <a:srgbClr val="6B655C"/>
                          </a:solidFill>
                          <a:latin typeface="+mn-lt"/>
                          <a:cs typeface="+mn-lt"/>
                        </a:rPr>
                        <a:t>Superintendentes e Ingenieros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A1 · Definir lineamientos y estándares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2"/>
                  </a:ext>
                </a:extLst>
              </a:tr>
              <a:tr h="309474">
                <a:tc>
                  <a:txBody>
                    <a:bodyPr/>
                    <a:lstStyle/>
                    <a:p>
                      <a:pPr algn="ctr">
                        <a:lnSpc>
                          <a:spcPct val="90000"/>
                        </a:lnSpc>
                        <a:buNone/>
                      </a:pPr>
                      <a:r>
                        <a:rPr lang="es-CL" sz="850" b="1" dirty="0">
                          <a:solidFill>
                            <a:srgbClr val="3F3A33"/>
                          </a:solidFill>
                          <a:latin typeface="+mn-lt"/>
                          <a:cs typeface="+mn-lt"/>
                        </a:rPr>
                        <a:t>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Ejecutar el diagnóstico de brechas</a:t>
                      </a:r>
                    </a:p>
                    <a:p>
                      <a:pPr algn="l">
                        <a:lnSpc>
                          <a:spcPct val="90000"/>
                        </a:lnSpc>
                        <a:spcBef>
                          <a:spcPts val="150"/>
                        </a:spcBef>
                        <a:buNone/>
                      </a:pPr>
                      <a:r>
                        <a:rPr lang="es-CL" sz="750" dirty="0">
                          <a:solidFill>
                            <a:srgbClr val="6B655C"/>
                          </a:solidFill>
                          <a:latin typeface="+mn-lt"/>
                          <a:cs typeface="+mn-lt"/>
                        </a:rPr>
                        <a:t>Especialista de Formación · A: Jefatura Directa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7.3.4.4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A2 · Diagnóstico de brechas y diseño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3"/>
                  </a:ext>
                </a:extLst>
              </a:tr>
              <a:tr h="309474">
                <a:tc>
                  <a:txBody>
                    <a:bodyPr/>
                    <a:lstStyle/>
                    <a:p>
                      <a:pPr algn="ctr">
                        <a:lnSpc>
                          <a:spcPct val="90000"/>
                        </a:lnSpc>
                        <a:buNone/>
                      </a:pPr>
                      <a:r>
                        <a:rPr lang="es-CL" sz="850" b="1" dirty="0">
                          <a:solidFill>
                            <a:srgbClr val="3F3A33"/>
                          </a:solidFill>
                          <a:latin typeface="+mn-lt"/>
                          <a:cs typeface="+mn-lt"/>
                        </a:rPr>
                        <a:t>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Diseñar programas formativos transversales y específicos</a:t>
                      </a:r>
                    </a:p>
                    <a:p>
                      <a:pPr algn="l">
                        <a:lnSpc>
                          <a:spcPct val="90000"/>
                        </a:lnSpc>
                        <a:spcBef>
                          <a:spcPts val="150"/>
                        </a:spcBef>
                        <a:buNone/>
                      </a:pPr>
                      <a:r>
                        <a:rPr lang="es-CL" sz="750" dirty="0">
                          <a:solidFill>
                            <a:srgbClr val="6B655C"/>
                          </a:solidFill>
                          <a:latin typeface="+mn-lt"/>
                          <a:cs typeface="+mn-lt"/>
                        </a:rPr>
                        <a:t>Especialista de Formación · A: Subgerencia de Formación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7.3.4.3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A2 · Diagnóstico de brechas y diseño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4"/>
                  </a:ext>
                </a:extLst>
              </a:tr>
              <a:tr h="309474">
                <a:tc>
                  <a:txBody>
                    <a:bodyPr/>
                    <a:lstStyle/>
                    <a:p>
                      <a:pPr algn="ctr">
                        <a:lnSpc>
                          <a:spcPct val="90000"/>
                        </a:lnSpc>
                        <a:buNone/>
                      </a:pPr>
                      <a:r>
                        <a:rPr lang="es-CL" sz="850" b="1" dirty="0">
                          <a:solidFill>
                            <a:srgbClr val="3F3A33"/>
                          </a:solidFill>
                          <a:latin typeface="+mn-lt"/>
                          <a:cs typeface="+mn-lt"/>
                        </a:rPr>
                        <a:t>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Diseñar y desarrollar las Guías de Entrenamiento en Terreno</a:t>
                      </a:r>
                    </a:p>
                    <a:p>
                      <a:pPr algn="l">
                        <a:lnSpc>
                          <a:spcPct val="90000"/>
                        </a:lnSpc>
                        <a:spcBef>
                          <a:spcPts val="150"/>
                        </a:spcBef>
                        <a:buNone/>
                      </a:pPr>
                      <a:r>
                        <a:rPr lang="es-CL" sz="750" dirty="0">
                          <a:solidFill>
                            <a:srgbClr val="6B655C"/>
                          </a:solidFill>
                          <a:latin typeface="+mn-lt"/>
                          <a:cs typeface="+mn-lt"/>
                        </a:rPr>
                        <a:t>Especialista de Formación · A: Jefe de Formación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7.3.4.3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A2 · Diagnóstico de brechas y diseño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5"/>
                  </a:ext>
                </a:extLst>
              </a:tr>
              <a:tr h="309474">
                <a:tc>
                  <a:txBody>
                    <a:bodyPr/>
                    <a:lstStyle/>
                    <a:p>
                      <a:pPr algn="ctr">
                        <a:lnSpc>
                          <a:spcPct val="90000"/>
                        </a:lnSpc>
                        <a:buNone/>
                      </a:pPr>
                      <a:r>
                        <a:rPr lang="es-CL" sz="850" b="1" dirty="0">
                          <a:solidFill>
                            <a:srgbClr val="3F3A33"/>
                          </a:solidFill>
                          <a:latin typeface="+mn-lt"/>
                          <a:cs typeface="+mn-lt"/>
                        </a:rPr>
                        <a:t>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Planificar y coordinar el proceso formativo en planta</a:t>
                      </a:r>
                    </a:p>
                    <a:p>
                      <a:pPr algn="l">
                        <a:lnSpc>
                          <a:spcPct val="90000"/>
                        </a:lnSpc>
                        <a:spcBef>
                          <a:spcPts val="150"/>
                        </a:spcBef>
                        <a:buNone/>
                      </a:pPr>
                      <a:r>
                        <a:rPr lang="es-CL" sz="750" dirty="0">
                          <a:solidFill>
                            <a:srgbClr val="6B655C"/>
                          </a:solidFill>
                          <a:latin typeface="+mn-lt"/>
                          <a:cs typeface="+mn-lt"/>
                        </a:rPr>
                        <a:t>Generalista de Personas · A: Superintendente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7.3.4.5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A3 · Planificación y coordinación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6"/>
                  </a:ext>
                </a:extLst>
              </a:tr>
              <a:tr h="309474">
                <a:tc>
                  <a:txBody>
                    <a:bodyPr/>
                    <a:lstStyle/>
                    <a:p>
                      <a:pPr algn="ctr">
                        <a:lnSpc>
                          <a:spcPct val="90000"/>
                        </a:lnSpc>
                        <a:buNone/>
                      </a:pPr>
                      <a:r>
                        <a:rPr lang="es-CL" sz="850" b="1" dirty="0">
                          <a:solidFill>
                            <a:srgbClr val="3F3A33"/>
                          </a:solidFill>
                          <a:latin typeface="+mn-lt"/>
                          <a:cs typeface="+mn-lt"/>
                        </a:rPr>
                        <a:t>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Gestionar participación y disponibilidad de trabajadores</a:t>
                      </a:r>
                    </a:p>
                    <a:p>
                      <a:pPr algn="l">
                        <a:lnSpc>
                          <a:spcPct val="90000"/>
                        </a:lnSpc>
                        <a:spcBef>
                          <a:spcPts val="150"/>
                        </a:spcBef>
                        <a:buNone/>
                      </a:pPr>
                      <a:r>
                        <a:rPr lang="es-CL" sz="750" dirty="0">
                          <a:solidFill>
                            <a:srgbClr val="6B655C"/>
                          </a:solidFill>
                          <a:latin typeface="+mn-lt"/>
                          <a:cs typeface="+mn-lt"/>
                        </a:rPr>
                        <a:t>Generalista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7.3.4.5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A3 · Planificación y coordinación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7"/>
                  </a:ext>
                </a:extLst>
              </a:tr>
              <a:tr h="323418">
                <a:tc>
                  <a:txBody>
                    <a:bodyPr/>
                    <a:lstStyle/>
                    <a:p>
                      <a:pPr algn="ctr">
                        <a:lnSpc>
                          <a:spcPct val="90000"/>
                        </a:lnSpc>
                        <a:buNone/>
                      </a:pPr>
                      <a:r>
                        <a:rPr lang="es-CL" sz="850" b="1" dirty="0">
                          <a:solidFill>
                            <a:srgbClr val="3F3A33"/>
                          </a:solidFill>
                          <a:latin typeface="+mn-lt"/>
                          <a:cs typeface="+mn-lt"/>
                        </a:rPr>
                        <a:t>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Formación E-learning: nivelación teórica de fundamentos técnicos, procedimientos, riesgos y controles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7.3.4.5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A4 · Ejecución de la formación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8"/>
                  </a:ext>
                </a:extLst>
              </a:tr>
              <a:tr h="428003">
                <a:tc>
                  <a:txBody>
                    <a:bodyPr/>
                    <a:lstStyle/>
                    <a:p>
                      <a:pPr algn="ctr">
                        <a:lnSpc>
                          <a:spcPct val="90000"/>
                        </a:lnSpc>
                        <a:buNone/>
                      </a:pPr>
                      <a:r>
                        <a:rPr lang="es-CL" sz="850" b="1" dirty="0">
                          <a:solidFill>
                            <a:srgbClr val="3F3A33"/>
                          </a:solidFill>
                          <a:latin typeface="+mn-lt"/>
                          <a:cs typeface="+mn-lt"/>
                        </a:rPr>
                        <a:t>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Entrenamiento en Terreno: revisión teórica en sala y aplicación práctica acompañada</a:t>
                      </a:r>
                    </a:p>
                    <a:p>
                      <a:pPr algn="l">
                        <a:lnSpc>
                          <a:spcPct val="90000"/>
                        </a:lnSpc>
                        <a:spcBef>
                          <a:spcPts val="150"/>
                        </a:spcBef>
                        <a:buNone/>
                      </a:pPr>
                      <a:r>
                        <a:rPr lang="es-CL" sz="750" dirty="0">
                          <a:solidFill>
                            <a:srgbClr val="6B655C"/>
                          </a:solidFill>
                          <a:latin typeface="+mn-lt"/>
                          <a:cs typeface="+mn-lt"/>
                        </a:rPr>
                        <a:t>Tutores Internos · A: Jefatura Directa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7.3.4.5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A4 · Ejecución de la formación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9"/>
                  </a:ext>
                </a:extLst>
              </a:tr>
              <a:tr h="428003">
                <a:tc>
                  <a:txBody>
                    <a:bodyPr/>
                    <a:lstStyle/>
                    <a:p>
                      <a:pPr algn="ctr">
                        <a:lnSpc>
                          <a:spcPct val="90000"/>
                        </a:lnSpc>
                        <a:buNone/>
                      </a:pPr>
                      <a:r>
                        <a:rPr lang="es-CL" sz="850" b="1" dirty="0">
                          <a:solidFill>
                            <a:srgbClr val="3F3A33"/>
                          </a:solidFill>
                          <a:latin typeface="+mn-lt"/>
                          <a:cs typeface="+mn-lt"/>
                        </a:rPr>
                        <a:t>10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Análisis de Casos Operacionales en operación normal, detenciones y partidas, y condiciones anómalas o de emergencia</a:t>
                      </a:r>
                    </a:p>
                    <a:p>
                      <a:pPr algn="l">
                        <a:lnSpc>
                          <a:spcPct val="90000"/>
                        </a:lnSpc>
                        <a:spcBef>
                          <a:spcPts val="150"/>
                        </a:spcBef>
                        <a:buNone/>
                      </a:pPr>
                      <a:r>
                        <a:rPr lang="es-CL" sz="750" dirty="0">
                          <a:solidFill>
                            <a:srgbClr val="6B655C"/>
                          </a:solidFill>
                          <a:latin typeface="+mn-lt"/>
                          <a:cs typeface="+mn-lt"/>
                        </a:rPr>
                        <a:t>Ingenieros / Superintendentes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7.3.4.5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A4 · Ejecución de la formación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P4 · F11 · Cajas del flujo| </a:t>
            </a:r>
            <a:r>
              <a:rPr lang="es-CL" sz="2000" dirty="0">
                <a:solidFill>
                  <a:srgbClr val="A34100"/>
                </a:solidFill>
                <a:latin typeface="+mn-lt"/>
                <a:cs typeface="+mn-lt"/>
              </a:rPr>
              <a:t>Formación y habilitación · continuación</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6B655C"/>
                </a:solidFill>
                <a:latin typeface="+mn-lt"/>
                <a:cs typeface="+mn-lt"/>
              </a:rPr>
              <a:t>Continuación de la tabla anterior  ·  página 2 de 2</a:t>
            </a:r>
          </a:p>
        </p:txBody>
      </p:sp>
      <p:graphicFrame>
        <p:nvGraphicFramePr>
          <p:cNvPr id="11" name="Tabla 11"/>
          <p:cNvGraphicFramePr>
            <a:graphicFrameLocks noGrp="1"/>
          </p:cNvGraphicFramePr>
          <p:nvPr/>
        </p:nvGraphicFramePr>
        <p:xfrm>
          <a:off x="630000" y="1475274"/>
          <a:ext cx="10933350" cy="3617683"/>
        </p:xfrm>
        <a:graphic>
          <a:graphicData uri="http://schemas.openxmlformats.org/drawingml/2006/table">
            <a:tbl>
              <a:tblPr firstRow="1"/>
              <a:tblGrid>
                <a:gridCol w="430000">
                  <a:extLst>
                    <a:ext uri="{9D8B030D-6E8A-4147-A177-3AD203B41FA5}">
                      <a16:colId xmlns:a16="http://schemas.microsoft.com/office/drawing/2014/main" val="20000"/>
                    </a:ext>
                  </a:extLst>
                </a:gridCol>
                <a:gridCol w="4320000">
                  <a:extLst>
                    <a:ext uri="{9D8B030D-6E8A-4147-A177-3AD203B41FA5}">
                      <a16:colId xmlns:a16="http://schemas.microsoft.com/office/drawing/2014/main" val="20001"/>
                    </a:ext>
                  </a:extLst>
                </a:gridCol>
                <a:gridCol w="780000">
                  <a:extLst>
                    <a:ext uri="{9D8B030D-6E8A-4147-A177-3AD203B41FA5}">
                      <a16:colId xmlns:a16="http://schemas.microsoft.com/office/drawing/2014/main" val="20002"/>
                    </a:ext>
                  </a:extLst>
                </a:gridCol>
                <a:gridCol w="1320000">
                  <a:extLst>
                    <a:ext uri="{9D8B030D-6E8A-4147-A177-3AD203B41FA5}">
                      <a16:colId xmlns:a16="http://schemas.microsoft.com/office/drawing/2014/main" val="20003"/>
                    </a:ext>
                  </a:extLst>
                </a:gridCol>
                <a:gridCol w="4083350">
                  <a:extLst>
                    <a:ext uri="{9D8B030D-6E8A-4147-A177-3AD203B41FA5}">
                      <a16:colId xmlns:a16="http://schemas.microsoft.com/office/drawing/2014/main" val="20004"/>
                    </a:ext>
                  </a:extLst>
                </a:gridCol>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extLst>
                  <a:ext uri="{0D108BD9-81ED-4DB2-BD59-A6C34878D82A}">
                    <a16:rowId xmlns:a16="http://schemas.microsoft.com/office/drawing/2014/main" val="10000"/>
                  </a:ext>
                </a:extLst>
              </a:tr>
              <a:tr h="323418">
                <a:tc>
                  <a:txBody>
                    <a:bodyPr/>
                    <a:lstStyle/>
                    <a:p>
                      <a:pPr algn="ctr">
                        <a:lnSpc>
                          <a:spcPct val="90000"/>
                        </a:lnSpc>
                        <a:buNone/>
                      </a:pPr>
                      <a:r>
                        <a:rPr lang="es-CL" sz="850" b="1" dirty="0">
                          <a:solidFill>
                            <a:srgbClr val="3F3A33"/>
                          </a:solidFill>
                          <a:latin typeface="+mn-lt"/>
                          <a:cs typeface="+mn-lt"/>
                        </a:rPr>
                        <a:t>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Formación Normativa: matrices de formación obligatoria, certificaciones, licencias habilitantes y renovaciones periódicas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7.3.4.6.4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A4 · Ejecución de la formación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1"/>
                  </a:ext>
                </a:extLst>
              </a:tr>
              <a:tr h="309474">
                <a:tc>
                  <a:txBody>
                    <a:bodyPr/>
                    <a:lstStyle/>
                    <a:p>
                      <a:pPr algn="ctr">
                        <a:lnSpc>
                          <a:spcPct val="90000"/>
                        </a:lnSpc>
                        <a:buNone/>
                      </a:pPr>
                      <a:r>
                        <a:rPr lang="es-CL" sz="850" b="1" dirty="0">
                          <a:solidFill>
                            <a:srgbClr val="3F3A33"/>
                          </a:solidFill>
                          <a:latin typeface="+mn-lt"/>
                          <a:cs typeface="+mn-lt"/>
                        </a:rPr>
                        <a:t>12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Cumplir las horas de vuelo: tiempo mínimo de práctica efectiva</a:t>
                      </a:r>
                    </a:p>
                    <a:p>
                      <a:pPr algn="l">
                        <a:lnSpc>
                          <a:spcPct val="90000"/>
                        </a:lnSpc>
                        <a:spcBef>
                          <a:spcPts val="150"/>
                        </a:spcBef>
                        <a:buNone/>
                      </a:pPr>
                      <a:r>
                        <a:rPr lang="es-CL" sz="750" dirty="0">
                          <a:solidFill>
                            <a:srgbClr val="6F5800"/>
                          </a:solidFill>
                          <a:latin typeface="+mn-lt"/>
                          <a:cs typeface="+mn-lt"/>
                        </a:rPr>
                        <a:t>Específico de Arauco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7.3.4.5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A4 · Ejecución de la formación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2"/>
                  </a:ext>
                </a:extLst>
              </a:tr>
              <a:tr h="428003">
                <a:tc>
                  <a:txBody>
                    <a:bodyPr/>
                    <a:lstStyle/>
                    <a:p>
                      <a:pPr algn="ctr">
                        <a:lnSpc>
                          <a:spcPct val="90000"/>
                        </a:lnSpc>
                        <a:buNone/>
                      </a:pPr>
                      <a:r>
                        <a:rPr lang="es-CL" sz="850" b="1" dirty="0">
                          <a:solidFill>
                            <a:srgbClr val="3F3A33"/>
                          </a:solidFill>
                          <a:latin typeface="+mn-lt"/>
                          <a:cs typeface="+mn-lt"/>
                        </a:rPr>
                        <a:t>13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Evaluar al trabajador en ejecución de procedimientos, aplicación de controles, comprensión del proceso, riesgos y toma de decisiones</a:t>
                      </a:r>
                    </a:p>
                    <a:p>
                      <a:pPr algn="l">
                        <a:lnSpc>
                          <a:spcPct val="90000"/>
                        </a:lnSpc>
                        <a:spcBef>
                          <a:spcPts val="150"/>
                        </a:spcBef>
                        <a:buNone/>
                      </a:pPr>
                      <a:r>
                        <a:rPr lang="es-CL" sz="750" dirty="0">
                          <a:solidFill>
                            <a:srgbClr val="6B655C"/>
                          </a:solidFill>
                          <a:latin typeface="+mn-lt"/>
                          <a:cs typeface="+mn-lt"/>
                        </a:rPr>
                        <a:t>Tutor / Jefatura Directa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7.3.4.6.2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A5 · Evaluación y habilitación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3"/>
                  </a:ext>
                </a:extLst>
              </a:tr>
              <a:tr h="414058">
                <a:tc>
                  <a:txBody>
                    <a:bodyPr/>
                    <a:lstStyle/>
                    <a:p>
                      <a:pPr algn="ctr">
                        <a:lnSpc>
                          <a:spcPct val="90000"/>
                        </a:lnSpc>
                        <a:buNone/>
                      </a:pPr>
                      <a:r>
                        <a:rPr lang="es-CL" sz="850" b="1" dirty="0">
                          <a:solidFill>
                            <a:srgbClr val="3F3A33"/>
                          </a:solidFill>
                          <a:latin typeface="+mn-lt"/>
                          <a:cs typeface="+mn-lt"/>
                        </a:rPr>
                        <a:t>14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Comité de calibración</a:t>
                      </a:r>
                    </a:p>
                    <a:p>
                      <a:pPr algn="l">
                        <a:lnSpc>
                          <a:spcPct val="90000"/>
                        </a:lnSpc>
                        <a:spcBef>
                          <a:spcPts val="150"/>
                        </a:spcBef>
                        <a:buNone/>
                      </a:pPr>
                      <a:r>
                        <a:rPr lang="es-CL" sz="750" dirty="0">
                          <a:solidFill>
                            <a:srgbClr val="6F5800"/>
                          </a:solidFill>
                          <a:latin typeface="+mn-lt"/>
                          <a:cs typeface="+mn-lt"/>
                        </a:rPr>
                        <a:t>Específico de Arauco · Generalista de Personas · A: Superintendente de Personas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7.3.4.6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A5 · Evaluación y habilitación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4"/>
                  </a:ext>
                </a:extLst>
              </a:tr>
              <a:tr h="309474">
                <a:tc>
                  <a:txBody>
                    <a:bodyPr/>
                    <a:lstStyle/>
                    <a:p>
                      <a:pPr algn="ctr">
                        <a:lnSpc>
                          <a:spcPct val="90000"/>
                        </a:lnSpc>
                        <a:buNone/>
                      </a:pPr>
                      <a:r>
                        <a:rPr lang="es-CL" sz="850" b="1" dirty="0">
                          <a:solidFill>
                            <a:srgbClr val="3F3A33"/>
                          </a:solidFill>
                          <a:latin typeface="+mn-lt"/>
                          <a:cs typeface="+mn-lt"/>
                        </a:rPr>
                        <a:t>15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Comité de evaluación y habilitación</a:t>
                      </a:r>
                    </a:p>
                    <a:p>
                      <a:pPr algn="l">
                        <a:lnSpc>
                          <a:spcPct val="90000"/>
                        </a:lnSpc>
                        <a:spcBef>
                          <a:spcPts val="150"/>
                        </a:spcBef>
                        <a:buNone/>
                      </a:pPr>
                      <a:r>
                        <a:rPr lang="es-CL" sz="750" dirty="0">
                          <a:solidFill>
                            <a:srgbClr val="6F5800"/>
                          </a:solidFill>
                          <a:latin typeface="+mn-lt"/>
                          <a:cs typeface="+mn-lt"/>
                        </a:rPr>
                        <a:t>Específico de Arauco · Superintendentes / Jefaturas · A: Gerente de Planta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7.3.4.6.3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A5 · Evaluación y habilitación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5"/>
                  </a:ext>
                </a:extLst>
              </a:tr>
              <a:tr h="204889">
                <a:tc>
                  <a:txBody>
                    <a:bodyPr/>
                    <a:lstStyle/>
                    <a:p>
                      <a:pPr algn="ctr">
                        <a:lnSpc>
                          <a:spcPct val="90000"/>
                        </a:lnSpc>
                        <a:buNone/>
                      </a:pPr>
                      <a:r>
                        <a:rPr lang="es-CL" sz="850" b="1" dirty="0">
                          <a:solidFill>
                            <a:srgbClr val="6F5800"/>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¿Habilitado?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b="1" dirty="0">
                          <a:solidFill>
                            <a:srgbClr val="6F5800"/>
                          </a:solidFill>
                          <a:latin typeface="+mn-lt"/>
                          <a:cs typeface="+mn-lt"/>
                        </a:rPr>
                        <a:t>Decisión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No entra en la numeración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extLst>
                  <a:ext uri="{0D108BD9-81ED-4DB2-BD59-A6C34878D82A}">
                    <a16:rowId xmlns:a16="http://schemas.microsoft.com/office/drawing/2014/main" val="10006"/>
                  </a:ext>
                </a:extLst>
              </a:tr>
              <a:tr h="323418">
                <a:tc>
                  <a:txBody>
                    <a:bodyPr/>
                    <a:lstStyle/>
                    <a:p>
                      <a:pPr algn="ctr">
                        <a:lnSpc>
                          <a:spcPct val="90000"/>
                        </a:lnSpc>
                        <a:buNone/>
                      </a:pPr>
                      <a:r>
                        <a:rPr lang="es-CL" sz="850" b="1" dirty="0">
                          <a:solidFill>
                            <a:srgbClr val="3F3A33"/>
                          </a:solidFill>
                          <a:latin typeface="+mn-lt"/>
                          <a:cs typeface="+mn-lt"/>
                        </a:rPr>
                        <a:t>16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Definir plan de reforzamiento sobre las brechas detectadas: reentrenamiento en procedimientos y controles críticos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7.3.4.7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A5 · Evaluación y habilitación — Agrupación de las 19 cajas propuesta con base en APQC 7.3.4; pendiente de validar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7"/>
                  </a:ext>
                </a:extLst>
              </a:tr>
              <a:tr h="428003">
                <a:tc>
                  <a:txBody>
                    <a:bodyPr/>
                    <a:lstStyle/>
                    <a:p>
                      <a:pPr algn="ctr">
                        <a:lnSpc>
                          <a:spcPct val="90000"/>
                        </a:lnSpc>
                        <a:buNone/>
                      </a:pPr>
                      <a:r>
                        <a:rPr lang="es-CL" sz="850" b="1" dirty="0">
                          <a:solidFill>
                            <a:srgbClr val="3F3A33"/>
                          </a:solidFill>
                          <a:latin typeface="+mn-lt"/>
                          <a:cs typeface="+mn-lt"/>
                        </a:rPr>
                        <a:t>17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Formalizar la habilitación con jefaturas, Personas y Gerencia Técnica</a:t>
                      </a:r>
                    </a:p>
                    <a:p>
                      <a:pPr algn="l">
                        <a:lnSpc>
                          <a:spcPct val="90000"/>
                        </a:lnSpc>
                        <a:spcBef>
                          <a:spcPts val="150"/>
                        </a:spcBef>
                        <a:buNone/>
                      </a:pPr>
                      <a:r>
                        <a:rPr lang="es-CL" sz="750" dirty="0">
                          <a:solidFill>
                            <a:srgbClr val="6F5800"/>
                          </a:solidFill>
                          <a:latin typeface="+mn-lt"/>
                          <a:cs typeface="+mn-lt"/>
                        </a:rPr>
                        <a:t>Específico de Arauco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7.3.4.6.4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A5 · Evaluación y habilitación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8"/>
                  </a:ext>
                </a:extLst>
              </a:tr>
              <a:tr h="309474">
                <a:tc>
                  <a:txBody>
                    <a:bodyPr/>
                    <a:lstStyle/>
                    <a:p>
                      <a:pPr algn="ctr">
                        <a:lnSpc>
                          <a:spcPct val="90000"/>
                        </a:lnSpc>
                        <a:buNone/>
                      </a:pPr>
                      <a:r>
                        <a:rPr lang="es-CL" sz="850" b="1" dirty="0">
                          <a:solidFill>
                            <a:srgbClr val="3F3A33"/>
                          </a:solidFill>
                          <a:latin typeface="+mn-lt"/>
                          <a:cs typeface="+mn-lt"/>
                        </a:rPr>
                        <a:t>18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Medir eficacia con rúbricas y nota mínima de aprobación</a:t>
                      </a:r>
                    </a:p>
                    <a:p>
                      <a:pPr algn="l">
                        <a:lnSpc>
                          <a:spcPct val="90000"/>
                        </a:lnSpc>
                        <a:spcBef>
                          <a:spcPts val="150"/>
                        </a:spcBef>
                        <a:buNone/>
                      </a:pPr>
                      <a:r>
                        <a:rPr lang="es-CL" sz="750" dirty="0">
                          <a:solidFill>
                            <a:srgbClr val="6B655C"/>
                          </a:solidFill>
                          <a:latin typeface="+mn-lt"/>
                          <a:cs typeface="+mn-lt"/>
                        </a:rPr>
                        <a:t>Área de Formación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7.3.4.7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A6 · Medición de eficacia y KPI</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9"/>
                  </a:ext>
                </a:extLst>
              </a:tr>
              <a:tr h="323418">
                <a:tc>
                  <a:txBody>
                    <a:bodyPr/>
                    <a:lstStyle/>
                    <a:p>
                      <a:pPr algn="ctr">
                        <a:lnSpc>
                          <a:spcPct val="90000"/>
                        </a:lnSpc>
                        <a:buNone/>
                      </a:pPr>
                      <a:r>
                        <a:rPr lang="es-CL" sz="850" b="1" dirty="0">
                          <a:solidFill>
                            <a:srgbClr val="3F3A33"/>
                          </a:solidFill>
                          <a:latin typeface="+mn-lt"/>
                          <a:cs typeface="+mn-lt"/>
                        </a:rPr>
                        <a:t>19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Seguir los KPI: porcentaje habilitados en cargo de ingreso, con dominio técnico avanzado y habilitados como back-up</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7.3.4.7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A6 · Medición de eficacia y KPI</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P4 · F12 · Cajas del flujo| </a:t>
            </a:r>
            <a:r>
              <a:rPr lang="es-CL" sz="2000" dirty="0">
                <a:solidFill>
                  <a:srgbClr val="A34100"/>
                </a:solidFill>
                <a:latin typeface="+mn-lt"/>
                <a:cs typeface="+mn-lt"/>
              </a:rPr>
              <a:t>Gestión del desempeño · ciclo anual</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30 cajas numeradas  ·  1 decisión sin numerar  ·  proceso P4 · Desarrollo organizacional</a:t>
            </a:r>
          </a:p>
        </p:txBody>
      </p:sp>
      <p:graphicFrame>
        <p:nvGraphicFramePr>
          <p:cNvPr id="11" name="Tabla 11"/>
          <p:cNvGraphicFramePr>
            <a:graphicFrameLocks noGrp="1"/>
          </p:cNvGraphicFramePr>
          <p:nvPr/>
        </p:nvGraphicFramePr>
        <p:xfrm>
          <a:off x="630000" y="1475274"/>
          <a:ext cx="10933350" cy="4724184"/>
        </p:xfrm>
        <a:graphic>
          <a:graphicData uri="http://schemas.openxmlformats.org/drawingml/2006/table">
            <a:tbl>
              <a:tblPr firstRow="1"/>
              <a:tblGrid>
                <a:gridCol w="430000">
                  <a:extLst>
                    <a:ext uri="{9D8B030D-6E8A-4147-A177-3AD203B41FA5}">
                      <a16:colId xmlns:a16="http://schemas.microsoft.com/office/drawing/2014/main" val="20000"/>
                    </a:ext>
                  </a:extLst>
                </a:gridCol>
                <a:gridCol w="4320000">
                  <a:extLst>
                    <a:ext uri="{9D8B030D-6E8A-4147-A177-3AD203B41FA5}">
                      <a16:colId xmlns:a16="http://schemas.microsoft.com/office/drawing/2014/main" val="20001"/>
                    </a:ext>
                  </a:extLst>
                </a:gridCol>
                <a:gridCol w="780000">
                  <a:extLst>
                    <a:ext uri="{9D8B030D-6E8A-4147-A177-3AD203B41FA5}">
                      <a16:colId xmlns:a16="http://schemas.microsoft.com/office/drawing/2014/main" val="20002"/>
                    </a:ext>
                  </a:extLst>
                </a:gridCol>
                <a:gridCol w="1320000">
                  <a:extLst>
                    <a:ext uri="{9D8B030D-6E8A-4147-A177-3AD203B41FA5}">
                      <a16:colId xmlns:a16="http://schemas.microsoft.com/office/drawing/2014/main" val="20003"/>
                    </a:ext>
                  </a:extLst>
                </a:gridCol>
                <a:gridCol w="4083350">
                  <a:extLst>
                    <a:ext uri="{9D8B030D-6E8A-4147-A177-3AD203B41FA5}">
                      <a16:colId xmlns:a16="http://schemas.microsoft.com/office/drawing/2014/main" val="20004"/>
                    </a:ext>
                  </a:extLst>
                </a:gridCol>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extLst>
                  <a:ext uri="{0D108BD9-81ED-4DB2-BD59-A6C34878D82A}">
                    <a16:rowId xmlns:a16="http://schemas.microsoft.com/office/drawing/2014/main" val="10000"/>
                  </a:ext>
                </a:extLst>
              </a:tr>
              <a:tr h="323418">
                <a:tc>
                  <a:txBody>
                    <a:bodyPr/>
                    <a:lstStyle/>
                    <a:p>
                      <a:pPr algn="ctr">
                        <a:lnSpc>
                          <a:spcPct val="90000"/>
                        </a:lnSpc>
                        <a:buNone/>
                      </a:pPr>
                      <a:r>
                        <a:rPr lang="es-CL" sz="850" b="1" dirty="0">
                          <a:solidFill>
                            <a:srgbClr val="3F3A33"/>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Establecer el calendario del proceso de evaluación</a:t>
                      </a:r>
                    </a:p>
                    <a:p>
                      <a:pPr algn="l">
                        <a:lnSpc>
                          <a:spcPct val="90000"/>
                        </a:lnSpc>
                        <a:spcBef>
                          <a:spcPts val="150"/>
                        </a:spcBef>
                        <a:buNone/>
                      </a:pPr>
                      <a:r>
                        <a:rPr lang="es-CL" sz="750" dirty="0">
                          <a:solidFill>
                            <a:srgbClr val="6B655C"/>
                          </a:solidFill>
                          <a:latin typeface="+mn-lt"/>
                          <a:cs typeface="+mn-lt"/>
                        </a:rPr>
                        <a:t>SG Formación y Cultura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7.3.2.4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Fuera del subproceso · nivel estratégico — Trasladar a un proceso transversal de programación anual, aún no definido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extLst>
                  <a:ext uri="{0D108BD9-81ED-4DB2-BD59-A6C34878D82A}">
                    <a16:rowId xmlns:a16="http://schemas.microsoft.com/office/drawing/2014/main" val="10001"/>
                  </a:ext>
                </a:extLst>
              </a:tr>
              <a:tr h="204889">
                <a:tc>
                  <a:txBody>
                    <a:bodyPr/>
                    <a:lstStyle/>
                    <a:p>
                      <a:pPr algn="ctr">
                        <a:lnSpc>
                          <a:spcPct val="90000"/>
                        </a:lnSpc>
                        <a:buNone/>
                      </a:pPr>
                      <a:r>
                        <a:rPr lang="es-CL" sz="850" b="1" dirty="0">
                          <a:solidFill>
                            <a:srgbClr val="3F3A33"/>
                          </a:solidFill>
                          <a:latin typeface="+mn-lt"/>
                          <a:cs typeface="+mn-lt"/>
                        </a:rPr>
                        <a:t>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Ola 1 · febrero a abril: fijar objetivos del rol ejecutivo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A1 · Definir objetivos de roles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2"/>
                  </a:ext>
                </a:extLst>
              </a:tr>
              <a:tr h="428003">
                <a:tc>
                  <a:txBody>
                    <a:bodyPr/>
                    <a:lstStyle/>
                    <a:p>
                      <a:pPr algn="ctr">
                        <a:lnSpc>
                          <a:spcPct val="90000"/>
                        </a:lnSpc>
                        <a:buNone/>
                      </a:pPr>
                      <a:r>
                        <a:rPr lang="es-CL" sz="850" b="1" dirty="0">
                          <a:solidFill>
                            <a:srgbClr val="3F3A33"/>
                          </a:solidFill>
                          <a:latin typeface="+mn-lt"/>
                          <a:cs typeface="+mn-lt"/>
                        </a:rPr>
                        <a:t>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Definir objetivos individuales: trabajador y jefatura acuerdan actividades y proyectos clave</a:t>
                      </a:r>
                    </a:p>
                    <a:p>
                      <a:pPr algn="l">
                        <a:lnSpc>
                          <a:spcPct val="90000"/>
                        </a:lnSpc>
                        <a:spcBef>
                          <a:spcPts val="150"/>
                        </a:spcBef>
                        <a:buNone/>
                      </a:pPr>
                      <a:r>
                        <a:rPr lang="es-CL" sz="750" dirty="0">
                          <a:solidFill>
                            <a:srgbClr val="6B655C"/>
                          </a:solidFill>
                          <a:latin typeface="+mn-lt"/>
                          <a:cs typeface="+mn-lt"/>
                        </a:rPr>
                        <a:t>solo rol supervisor y ejecutivo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7.3.2.1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A1 · Definir objetivos de roles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3"/>
                  </a:ext>
                </a:extLst>
              </a:tr>
              <a:tr h="204889">
                <a:tc>
                  <a:txBody>
                    <a:bodyPr/>
                    <a:lstStyle/>
                    <a:p>
                      <a:pPr algn="ctr">
                        <a:lnSpc>
                          <a:spcPct val="90000"/>
                        </a:lnSpc>
                        <a:buNone/>
                      </a:pPr>
                      <a:r>
                        <a:rPr lang="es-CL" sz="850" b="1" dirty="0">
                          <a:solidFill>
                            <a:srgbClr val="3F3A33"/>
                          </a:solidFill>
                          <a:latin typeface="+mn-lt"/>
                          <a:cs typeface="+mn-lt"/>
                        </a:rPr>
                        <a:t>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Establecer competencias clave a evaluar por rol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7.3.2.1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A1 · Definir objetivos de roles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4"/>
                  </a:ext>
                </a:extLst>
              </a:tr>
              <a:tr h="323418">
                <a:tc>
                  <a:txBody>
                    <a:bodyPr/>
                    <a:lstStyle/>
                    <a:p>
                      <a:pPr algn="ctr">
                        <a:lnSpc>
                          <a:spcPct val="90000"/>
                        </a:lnSpc>
                        <a:buNone/>
                      </a:pPr>
                      <a:r>
                        <a:rPr lang="es-CL" sz="850" b="1" dirty="0">
                          <a:solidFill>
                            <a:srgbClr val="3F3A33"/>
                          </a:solidFill>
                          <a:latin typeface="+mn-lt"/>
                          <a:cs typeface="+mn-lt"/>
                        </a:rPr>
                        <a:t>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Ola 2 · mayo: preparación del rol general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Sin asignación — Marcador temporal de ola; definir si se conserva como caja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extLst>
                  <a:ext uri="{0D108BD9-81ED-4DB2-BD59-A6C34878D82A}">
                    <a16:rowId xmlns:a16="http://schemas.microsoft.com/office/drawing/2014/main" val="10005"/>
                  </a:ext>
                </a:extLst>
              </a:tr>
              <a:tr h="323418">
                <a:tc>
                  <a:txBody>
                    <a:bodyPr/>
                    <a:lstStyle/>
                    <a:p>
                      <a:pPr algn="ctr">
                        <a:lnSpc>
                          <a:spcPct val="90000"/>
                        </a:lnSpc>
                        <a:buNone/>
                      </a:pPr>
                      <a:r>
                        <a:rPr lang="es-CL" sz="850" b="1" dirty="0">
                          <a:solidFill>
                            <a:srgbClr val="3F3A33"/>
                          </a:solidFill>
                          <a:latin typeface="+mn-lt"/>
                          <a:cs typeface="+mn-lt"/>
                        </a:rPr>
                        <a:t>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Planificar: calendario, verificación de novedades de plataforma y validación con las localidades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7.3.2.4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A2 · Preparación herramienta de evaluación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6"/>
                  </a:ext>
                </a:extLst>
              </a:tr>
              <a:tr h="204889">
                <a:tc>
                  <a:txBody>
                    <a:bodyPr/>
                    <a:lstStyle/>
                    <a:p>
                      <a:pPr algn="ctr">
                        <a:lnSpc>
                          <a:spcPct val="90000"/>
                        </a:lnSpc>
                        <a:buNone/>
                      </a:pPr>
                      <a:r>
                        <a:rPr lang="es-CL" sz="850" b="1" dirty="0">
                          <a:solidFill>
                            <a:srgbClr val="3F3A33"/>
                          </a:solidFill>
                          <a:latin typeface="+mn-lt"/>
                          <a:cs typeface="+mn-lt"/>
                        </a:rPr>
                        <a:t>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Probar las plantillas de desempeño y rellenar el formulario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A2 · Preparación herramienta de evaluación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7"/>
                  </a:ext>
                </a:extLst>
              </a:tr>
              <a:tr h="309474">
                <a:tc>
                  <a:txBody>
                    <a:bodyPr/>
                    <a:lstStyle/>
                    <a:p>
                      <a:pPr algn="ctr">
                        <a:lnSpc>
                          <a:spcPct val="90000"/>
                        </a:lnSpc>
                        <a:buNone/>
                      </a:pPr>
                      <a:r>
                        <a:rPr lang="es-CL" sz="850" b="1" dirty="0">
                          <a:solidFill>
                            <a:srgbClr val="3F3A33"/>
                          </a:solidFill>
                          <a:latin typeface="+mn-lt"/>
                          <a:cs typeface="+mn-lt"/>
                        </a:rPr>
                        <a:t>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Configurar la plataforma SuccessFactors módulo Desempeño</a:t>
                      </a:r>
                    </a:p>
                    <a:p>
                      <a:pPr algn="l">
                        <a:lnSpc>
                          <a:spcPct val="90000"/>
                        </a:lnSpc>
                        <a:spcBef>
                          <a:spcPts val="150"/>
                        </a:spcBef>
                        <a:buNone/>
                      </a:pPr>
                      <a:r>
                        <a:rPr lang="es-CL" sz="750" dirty="0">
                          <a:solidFill>
                            <a:srgbClr val="6B655C"/>
                          </a:solidFill>
                          <a:latin typeface="+mn-lt"/>
                          <a:cs typeface="+mn-lt"/>
                        </a:rPr>
                        <a:t>SG Formación y Cultura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7.3.2.4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A2 · Preparación herramienta de evaluación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8"/>
                  </a:ext>
                </a:extLst>
              </a:tr>
              <a:tr h="323418">
                <a:tc>
                  <a:txBody>
                    <a:bodyPr/>
                    <a:lstStyle/>
                    <a:p>
                      <a:pPr algn="ctr">
                        <a:lnSpc>
                          <a:spcPct val="90000"/>
                        </a:lnSpc>
                        <a:buNone/>
                      </a:pPr>
                      <a:r>
                        <a:rPr lang="es-CL" sz="850" b="1" dirty="0">
                          <a:solidFill>
                            <a:srgbClr val="3F3A33"/>
                          </a:solidFill>
                          <a:latin typeface="+mn-lt"/>
                          <a:cs typeface="+mn-lt"/>
                        </a:rPr>
                        <a:t>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Preparar el material comunicacional: correo, pantallas, comunicados, diarios murales y folletos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7.3.2.4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A2 · Preparación herramienta de evaluación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9"/>
                  </a:ext>
                </a:extLst>
              </a:tr>
              <a:tr h="204889">
                <a:tc>
                  <a:txBody>
                    <a:bodyPr/>
                    <a:lstStyle/>
                    <a:p>
                      <a:pPr algn="ctr">
                        <a:lnSpc>
                          <a:spcPct val="90000"/>
                        </a:lnSpc>
                        <a:buNone/>
                      </a:pPr>
                      <a:r>
                        <a:rPr lang="es-CL" sz="850" b="1" dirty="0">
                          <a:solidFill>
                            <a:srgbClr val="3F3A33"/>
                          </a:solidFill>
                          <a:latin typeface="+mn-lt"/>
                          <a:cs typeface="+mn-lt"/>
                        </a:rPr>
                        <a:t>10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Diseñar el material de acompañamiento: guías, videos y paso a paso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7.3.2.4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A2 · Preparación herramienta de evaluación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10"/>
                  </a:ext>
                </a:extLst>
              </a:tr>
              <a:tr h="309474">
                <a:tc>
                  <a:txBody>
                    <a:bodyPr/>
                    <a:lstStyle/>
                    <a:p>
                      <a:pPr algn="ctr">
                        <a:lnSpc>
                          <a:spcPct val="90000"/>
                        </a:lnSpc>
                        <a:buNone/>
                      </a:pPr>
                      <a:r>
                        <a:rPr lang="es-CL" sz="850" b="1" dirty="0">
                          <a:solidFill>
                            <a:srgbClr val="3F3A33"/>
                          </a:solidFill>
                          <a:latin typeface="+mn-lt"/>
                          <a:cs typeface="+mn-lt"/>
                        </a:rPr>
                        <a:t>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Revisar localmente por planta</a:t>
                      </a:r>
                    </a:p>
                    <a:p>
                      <a:pPr algn="l">
                        <a:lnSpc>
                          <a:spcPct val="90000"/>
                        </a:lnSpc>
                        <a:spcBef>
                          <a:spcPts val="150"/>
                        </a:spcBef>
                        <a:buNone/>
                      </a:pPr>
                      <a:r>
                        <a:rPr lang="es-CL" sz="750" dirty="0">
                          <a:solidFill>
                            <a:srgbClr val="6B655C"/>
                          </a:solidFill>
                          <a:latin typeface="+mn-lt"/>
                          <a:cs typeface="+mn-lt"/>
                        </a:rPr>
                        <a:t>Recursos Humanos Local / Generalistas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7.3.2.4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A2 · Preparación herramienta de evaluación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11"/>
                  </a:ext>
                </a:extLst>
              </a:tr>
              <a:tr h="204889">
                <a:tc>
                  <a:txBody>
                    <a:bodyPr/>
                    <a:lstStyle/>
                    <a:p>
                      <a:pPr algn="ctr">
                        <a:lnSpc>
                          <a:spcPct val="90000"/>
                        </a:lnSpc>
                        <a:buNone/>
                      </a:pPr>
                      <a:r>
                        <a:rPr lang="es-CL" sz="850" b="1" dirty="0">
                          <a:solidFill>
                            <a:srgbClr val="3F3A33"/>
                          </a:solidFill>
                          <a:latin typeface="+mn-lt"/>
                          <a:cs typeface="+mn-lt"/>
                        </a:rPr>
                        <a:t>12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Coordinar la validación de los trabajadores participantes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7.3.2.4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A2 · Preparación herramienta de evaluación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12"/>
                  </a:ext>
                </a:extLst>
              </a:tr>
              <a:tr h="204889">
                <a:tc>
                  <a:txBody>
                    <a:bodyPr/>
                    <a:lstStyle/>
                    <a:p>
                      <a:pPr algn="ctr">
                        <a:lnSpc>
                          <a:spcPct val="90000"/>
                        </a:lnSpc>
                        <a:buNone/>
                      </a:pPr>
                      <a:r>
                        <a:rPr lang="es-CL" sz="850" b="1" dirty="0">
                          <a:solidFill>
                            <a:srgbClr val="3F3A33"/>
                          </a:solidFill>
                          <a:latin typeface="+mn-lt"/>
                          <a:cs typeface="+mn-lt"/>
                        </a:rPr>
                        <a:t>13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Consolidar el universo de trabajadores a evaluar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A2 · Preparación herramienta de evaluación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13"/>
                  </a:ext>
                </a:extLst>
              </a:tr>
              <a:tr h="204889">
                <a:tc>
                  <a:txBody>
                    <a:bodyPr/>
                    <a:lstStyle/>
                    <a:p>
                      <a:pPr algn="ctr">
                        <a:lnSpc>
                          <a:spcPct val="90000"/>
                        </a:lnSpc>
                        <a:buNone/>
                      </a:pPr>
                      <a:r>
                        <a:rPr lang="es-CL" sz="850" b="1" dirty="0">
                          <a:solidFill>
                            <a:srgbClr val="3F3A33"/>
                          </a:solidFill>
                          <a:latin typeface="+mn-lt"/>
                          <a:cs typeface="+mn-lt"/>
                        </a:rPr>
                        <a:t>14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Ola 2 · junio: comienza el proceso propiamente tal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A3 · Ejecución y calibración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14"/>
                  </a:ext>
                </a:extLst>
              </a:tr>
              <a:tr h="309474">
                <a:tc>
                  <a:txBody>
                    <a:bodyPr/>
                    <a:lstStyle/>
                    <a:p>
                      <a:pPr algn="ctr">
                        <a:lnSpc>
                          <a:spcPct val="90000"/>
                        </a:lnSpc>
                        <a:buNone/>
                      </a:pPr>
                      <a:r>
                        <a:rPr lang="es-CL" sz="850" b="1" dirty="0">
                          <a:solidFill>
                            <a:srgbClr val="3F3A33"/>
                          </a:solidFill>
                          <a:latin typeface="+mn-lt"/>
                          <a:cs typeface="+mn-lt"/>
                        </a:rPr>
                        <a:t>15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Lanzar los formularios a los trabajadores</a:t>
                      </a:r>
                    </a:p>
                    <a:p>
                      <a:pPr algn="l">
                        <a:lnSpc>
                          <a:spcPct val="90000"/>
                        </a:lnSpc>
                        <a:spcBef>
                          <a:spcPts val="150"/>
                        </a:spcBef>
                        <a:buNone/>
                      </a:pPr>
                      <a:r>
                        <a:rPr lang="es-CL" sz="750" dirty="0">
                          <a:solidFill>
                            <a:srgbClr val="6B655C"/>
                          </a:solidFill>
                          <a:latin typeface="+mn-lt"/>
                          <a:cs typeface="+mn-lt"/>
                        </a:rPr>
                        <a:t>SG Formación y Cultura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7.3.2.2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A3 · Ejecución y calibración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15"/>
                  </a:ext>
                </a:extLst>
              </a:tr>
              <a:tr h="428003">
                <a:tc>
                  <a:txBody>
                    <a:bodyPr/>
                    <a:lstStyle/>
                    <a:p>
                      <a:pPr algn="ctr">
                        <a:lnSpc>
                          <a:spcPct val="90000"/>
                        </a:lnSpc>
                        <a:buNone/>
                      </a:pPr>
                      <a:r>
                        <a:rPr lang="es-CL" sz="850" b="1" dirty="0">
                          <a:solidFill>
                            <a:srgbClr val="3F3A33"/>
                          </a:solidFill>
                          <a:latin typeface="+mn-lt"/>
                          <a:cs typeface="+mn-lt"/>
                        </a:rPr>
                        <a:t>16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Autoevaluación: el trabajador califica competencias y objetivos. Es referencial y no entra en el cálculo de la nota final</a:t>
                      </a:r>
                    </a:p>
                    <a:p>
                      <a:pPr algn="l">
                        <a:lnSpc>
                          <a:spcPct val="90000"/>
                        </a:lnSpc>
                        <a:spcBef>
                          <a:spcPts val="150"/>
                        </a:spcBef>
                        <a:buNone/>
                      </a:pPr>
                      <a:r>
                        <a:rPr lang="es-CL" sz="750" dirty="0">
                          <a:solidFill>
                            <a:srgbClr val="6B655C"/>
                          </a:solidFill>
                          <a:latin typeface="+mn-lt"/>
                          <a:cs typeface="+mn-lt"/>
                        </a:rPr>
                        <a:t>Trabajador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7.3.2.2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A3 · Ejecución y calibración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16"/>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P4 · F12 · Cajas del flujo| </a:t>
            </a:r>
            <a:r>
              <a:rPr lang="es-CL" sz="2000" dirty="0">
                <a:solidFill>
                  <a:srgbClr val="A34100"/>
                </a:solidFill>
                <a:latin typeface="+mn-lt"/>
                <a:cs typeface="+mn-lt"/>
              </a:rPr>
              <a:t>Gestión del desempeño · ciclo anual · continuación</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6B655C"/>
                </a:solidFill>
                <a:latin typeface="+mn-lt"/>
                <a:cs typeface="+mn-lt"/>
              </a:rPr>
              <a:t>Continuación de la tabla anterior  ·  página 2 de 2</a:t>
            </a:r>
          </a:p>
        </p:txBody>
      </p:sp>
      <p:graphicFrame>
        <p:nvGraphicFramePr>
          <p:cNvPr id="11" name="Tabla 11"/>
          <p:cNvGraphicFramePr>
            <a:graphicFrameLocks noGrp="1"/>
          </p:cNvGraphicFramePr>
          <p:nvPr/>
        </p:nvGraphicFramePr>
        <p:xfrm>
          <a:off x="630000" y="1475274"/>
          <a:ext cx="10933350" cy="4519295"/>
        </p:xfrm>
        <a:graphic>
          <a:graphicData uri="http://schemas.openxmlformats.org/drawingml/2006/table">
            <a:tbl>
              <a:tblPr firstRow="1"/>
              <a:tblGrid>
                <a:gridCol w="430000">
                  <a:extLst>
                    <a:ext uri="{9D8B030D-6E8A-4147-A177-3AD203B41FA5}">
                      <a16:colId xmlns:a16="http://schemas.microsoft.com/office/drawing/2014/main" val="20000"/>
                    </a:ext>
                  </a:extLst>
                </a:gridCol>
                <a:gridCol w="4320000">
                  <a:extLst>
                    <a:ext uri="{9D8B030D-6E8A-4147-A177-3AD203B41FA5}">
                      <a16:colId xmlns:a16="http://schemas.microsoft.com/office/drawing/2014/main" val="20001"/>
                    </a:ext>
                  </a:extLst>
                </a:gridCol>
                <a:gridCol w="780000">
                  <a:extLst>
                    <a:ext uri="{9D8B030D-6E8A-4147-A177-3AD203B41FA5}">
                      <a16:colId xmlns:a16="http://schemas.microsoft.com/office/drawing/2014/main" val="20002"/>
                    </a:ext>
                  </a:extLst>
                </a:gridCol>
                <a:gridCol w="1320000">
                  <a:extLst>
                    <a:ext uri="{9D8B030D-6E8A-4147-A177-3AD203B41FA5}">
                      <a16:colId xmlns:a16="http://schemas.microsoft.com/office/drawing/2014/main" val="20003"/>
                    </a:ext>
                  </a:extLst>
                </a:gridCol>
                <a:gridCol w="4083350">
                  <a:extLst>
                    <a:ext uri="{9D8B030D-6E8A-4147-A177-3AD203B41FA5}">
                      <a16:colId xmlns:a16="http://schemas.microsoft.com/office/drawing/2014/main" val="20004"/>
                    </a:ext>
                  </a:extLst>
                </a:gridCol>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extLst>
                  <a:ext uri="{0D108BD9-81ED-4DB2-BD59-A6C34878D82A}">
                    <a16:rowId xmlns:a16="http://schemas.microsoft.com/office/drawing/2014/main" val="10000"/>
                  </a:ext>
                </a:extLst>
              </a:tr>
              <a:tr h="309474">
                <a:tc>
                  <a:txBody>
                    <a:bodyPr/>
                    <a:lstStyle/>
                    <a:p>
                      <a:pPr algn="ctr">
                        <a:lnSpc>
                          <a:spcPct val="90000"/>
                        </a:lnSpc>
                        <a:buNone/>
                      </a:pPr>
                      <a:r>
                        <a:rPr lang="es-CL" sz="850" b="1" dirty="0">
                          <a:solidFill>
                            <a:srgbClr val="3F3A33"/>
                          </a:solidFill>
                          <a:latin typeface="+mn-lt"/>
                          <a:cs typeface="+mn-lt"/>
                        </a:rPr>
                        <a:t>17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Evaluación: la jefatura directa califica competencias y objetivos</a:t>
                      </a:r>
                    </a:p>
                    <a:p>
                      <a:pPr algn="l">
                        <a:lnSpc>
                          <a:spcPct val="90000"/>
                        </a:lnSpc>
                        <a:spcBef>
                          <a:spcPts val="150"/>
                        </a:spcBef>
                        <a:buNone/>
                      </a:pPr>
                      <a:r>
                        <a:rPr lang="es-CL" sz="750" dirty="0">
                          <a:solidFill>
                            <a:srgbClr val="6B655C"/>
                          </a:solidFill>
                          <a:latin typeface="+mn-lt"/>
                          <a:cs typeface="+mn-lt"/>
                        </a:rPr>
                        <a:t>Jefatura Directa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7.3.2.2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A3 · Ejecución y calibración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1"/>
                  </a:ext>
                </a:extLst>
              </a:tr>
              <a:tr h="204889">
                <a:tc>
                  <a:txBody>
                    <a:bodyPr/>
                    <a:lstStyle/>
                    <a:p>
                      <a:pPr algn="ctr">
                        <a:lnSpc>
                          <a:spcPct val="90000"/>
                        </a:lnSpc>
                        <a:buNone/>
                      </a:pPr>
                      <a:r>
                        <a:rPr lang="es-CL" sz="850" b="1" dirty="0">
                          <a:solidFill>
                            <a:srgbClr val="3F3A33"/>
                          </a:solidFill>
                          <a:latin typeface="+mn-lt"/>
                          <a:cs typeface="+mn-lt"/>
                        </a:rPr>
                        <a:t>18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Organizar los comités de calibración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A3 · Ejecución y calibración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2"/>
                  </a:ext>
                </a:extLst>
              </a:tr>
              <a:tr h="323418">
                <a:tc>
                  <a:txBody>
                    <a:bodyPr/>
                    <a:lstStyle/>
                    <a:p>
                      <a:pPr algn="ctr">
                        <a:lnSpc>
                          <a:spcPct val="90000"/>
                        </a:lnSpc>
                        <a:buNone/>
                      </a:pPr>
                      <a:r>
                        <a:rPr lang="es-CL" sz="850" b="1" dirty="0">
                          <a:solidFill>
                            <a:srgbClr val="3F3A33"/>
                          </a:solidFill>
                          <a:latin typeface="+mn-lt"/>
                          <a:cs typeface="+mn-lt"/>
                        </a:rPr>
                        <a:t>19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Calibración: RRHH, jefaturas directas y relacionadas revisan la distribución, balancean, generan consenso y acuerdan el esperable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7.3.2.2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A3 · Ejecución y calibración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3"/>
                  </a:ext>
                </a:extLst>
              </a:tr>
              <a:tr h="204889">
                <a:tc>
                  <a:txBody>
                    <a:bodyPr/>
                    <a:lstStyle/>
                    <a:p>
                      <a:pPr algn="ctr">
                        <a:lnSpc>
                          <a:spcPct val="90000"/>
                        </a:lnSpc>
                        <a:buNone/>
                      </a:pPr>
                      <a:r>
                        <a:rPr lang="es-CL" sz="850" b="1" dirty="0">
                          <a:solidFill>
                            <a:srgbClr val="3F3A33"/>
                          </a:solidFill>
                          <a:latin typeface="+mn-lt"/>
                          <a:cs typeface="+mn-lt"/>
                        </a:rPr>
                        <a:t>20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Facilitar la instancia de calibración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A3 · Ejecución y calibración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4"/>
                  </a:ext>
                </a:extLst>
              </a:tr>
              <a:tr h="428003">
                <a:tc>
                  <a:txBody>
                    <a:bodyPr/>
                    <a:lstStyle/>
                    <a:p>
                      <a:pPr algn="ctr">
                        <a:lnSpc>
                          <a:spcPct val="90000"/>
                        </a:lnSpc>
                        <a:buNone/>
                      </a:pPr>
                      <a:r>
                        <a:rPr lang="es-CL" sz="850" b="1" dirty="0">
                          <a:solidFill>
                            <a:srgbClr val="3F3A33"/>
                          </a:solidFill>
                          <a:latin typeface="+mn-lt"/>
                          <a:cs typeface="+mn-lt"/>
                        </a:rPr>
                        <a:t>21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Retroalimentación estructurada jefatura-trabajador: fortalezas y áreas de mejora</a:t>
                      </a:r>
                    </a:p>
                    <a:p>
                      <a:pPr algn="l">
                        <a:lnSpc>
                          <a:spcPct val="90000"/>
                        </a:lnSpc>
                        <a:spcBef>
                          <a:spcPts val="150"/>
                        </a:spcBef>
                        <a:buNone/>
                      </a:pPr>
                      <a:r>
                        <a:rPr lang="es-CL" sz="750" dirty="0">
                          <a:solidFill>
                            <a:srgbClr val="6B655C"/>
                          </a:solidFill>
                          <a:latin typeface="+mn-lt"/>
                          <a:cs typeface="+mn-lt"/>
                        </a:rPr>
                        <a:t>Jefatura Directa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7.3.2.3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A3 · Ejecución y calibración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5"/>
                  </a:ext>
                </a:extLst>
              </a:tr>
              <a:tr h="204889">
                <a:tc>
                  <a:txBody>
                    <a:bodyPr/>
                    <a:lstStyle/>
                    <a:p>
                      <a:pPr algn="ctr">
                        <a:lnSpc>
                          <a:spcPct val="90000"/>
                        </a:lnSpc>
                        <a:buNone/>
                      </a:pPr>
                      <a:r>
                        <a:rPr lang="es-CL" sz="850" b="1" dirty="0">
                          <a:solidFill>
                            <a:srgbClr val="3F3A33"/>
                          </a:solidFill>
                          <a:latin typeface="+mn-lt"/>
                          <a:cs typeface="+mn-lt"/>
                        </a:rPr>
                        <a:t>22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El trabajador confirma y envía su feedback</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A3 · Ejecución y calibración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6"/>
                  </a:ext>
                </a:extLst>
              </a:tr>
              <a:tr h="204889">
                <a:tc>
                  <a:txBody>
                    <a:bodyPr/>
                    <a:lstStyle/>
                    <a:p>
                      <a:pPr algn="ctr">
                        <a:lnSpc>
                          <a:spcPct val="90000"/>
                        </a:lnSpc>
                        <a:buNone/>
                      </a:pPr>
                      <a:r>
                        <a:rPr lang="es-CL" sz="850" b="1" dirty="0">
                          <a:solidFill>
                            <a:srgbClr val="3F3A33"/>
                          </a:solidFill>
                          <a:latin typeface="+mn-lt"/>
                          <a:cs typeface="+mn-lt"/>
                        </a:rPr>
                        <a:t>23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Cierre masivo de formularios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A3 · Ejecución y calibración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7"/>
                  </a:ext>
                </a:extLst>
              </a:tr>
              <a:tr h="204889">
                <a:tc>
                  <a:txBody>
                    <a:bodyPr/>
                    <a:lstStyle/>
                    <a:p>
                      <a:pPr algn="ctr">
                        <a:lnSpc>
                          <a:spcPct val="90000"/>
                        </a:lnSpc>
                        <a:buNone/>
                      </a:pPr>
                      <a:r>
                        <a:rPr lang="es-CL" sz="850" b="1" dirty="0">
                          <a:solidFill>
                            <a:srgbClr val="3F3A33"/>
                          </a:solidFill>
                          <a:latin typeface="+mn-lt"/>
                          <a:cs typeface="+mn-lt"/>
                        </a:rPr>
                        <a:t>24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Cerrar y cargar las calificaciones al perfil del trabajador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7.3.2.3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A3 · Ejecución y calibración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8"/>
                  </a:ext>
                </a:extLst>
              </a:tr>
              <a:tr h="428003">
                <a:tc>
                  <a:txBody>
                    <a:bodyPr/>
                    <a:lstStyle/>
                    <a:p>
                      <a:pPr algn="ctr">
                        <a:lnSpc>
                          <a:spcPct val="90000"/>
                        </a:lnSpc>
                        <a:buNone/>
                      </a:pPr>
                      <a:r>
                        <a:rPr lang="es-CL" sz="850" b="1" dirty="0">
                          <a:solidFill>
                            <a:srgbClr val="3F3A33"/>
                          </a:solidFill>
                          <a:latin typeface="+mn-lt"/>
                          <a:cs typeface="+mn-lt"/>
                        </a:rPr>
                        <a:t>25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Calcular escala de 5 puntos, rango de desempeño bajo/esperado/alto y rango de potencial</a:t>
                      </a:r>
                    </a:p>
                    <a:p>
                      <a:pPr algn="l">
                        <a:lnSpc>
                          <a:spcPct val="90000"/>
                        </a:lnSpc>
                        <a:spcBef>
                          <a:spcPts val="150"/>
                        </a:spcBef>
                        <a:buNone/>
                      </a:pPr>
                      <a:r>
                        <a:rPr lang="es-CL" sz="750" dirty="0">
                          <a:solidFill>
                            <a:srgbClr val="6B655C"/>
                          </a:solidFill>
                          <a:latin typeface="+mn-lt"/>
                          <a:cs typeface="+mn-lt"/>
                        </a:rPr>
                        <a:t>potencial solo supervisor y ejecutivo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7.3.2.3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A3 · Ejecución y calibración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9"/>
                  </a:ext>
                </a:extLst>
              </a:tr>
              <a:tr h="204889">
                <a:tc>
                  <a:txBody>
                    <a:bodyPr/>
                    <a:lstStyle/>
                    <a:p>
                      <a:pPr algn="ctr">
                        <a:lnSpc>
                          <a:spcPct val="90000"/>
                        </a:lnSpc>
                        <a:buNone/>
                      </a:pPr>
                      <a:r>
                        <a:rPr lang="es-CL" sz="850" b="1" dirty="0">
                          <a:solidFill>
                            <a:srgbClr val="3F3A33"/>
                          </a:solidFill>
                          <a:latin typeface="+mn-lt"/>
                          <a:cs typeface="+mn-lt"/>
                        </a:rPr>
                        <a:t>26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Mostrar los resultados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A3 · Ejecución y calibración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10"/>
                  </a:ext>
                </a:extLst>
              </a:tr>
              <a:tr h="309474">
                <a:tc>
                  <a:txBody>
                    <a:bodyPr/>
                    <a:lstStyle/>
                    <a:p>
                      <a:pPr algn="ctr">
                        <a:lnSpc>
                          <a:spcPct val="90000"/>
                        </a:lnSpc>
                        <a:buNone/>
                      </a:pPr>
                      <a:r>
                        <a:rPr lang="es-CL" sz="850" b="1" dirty="0">
                          <a:solidFill>
                            <a:srgbClr val="3F3A33"/>
                          </a:solidFill>
                          <a:latin typeface="+mn-lt"/>
                          <a:cs typeface="+mn-lt"/>
                        </a:rPr>
                        <a:t>27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Analizar hallazgos y entregar resultados</a:t>
                      </a:r>
                    </a:p>
                    <a:p>
                      <a:pPr algn="l">
                        <a:lnSpc>
                          <a:spcPct val="90000"/>
                        </a:lnSpc>
                        <a:spcBef>
                          <a:spcPts val="150"/>
                        </a:spcBef>
                        <a:buNone/>
                      </a:pPr>
                      <a:r>
                        <a:rPr lang="es-CL" sz="750" dirty="0">
                          <a:solidFill>
                            <a:srgbClr val="6B655C"/>
                          </a:solidFill>
                          <a:latin typeface="+mn-lt"/>
                          <a:cs typeface="+mn-lt"/>
                        </a:rPr>
                        <a:t>SG Formación y Cultura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7.3.2.3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A4 · Análisis de resultados y compromiso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11"/>
                  </a:ext>
                </a:extLst>
              </a:tr>
              <a:tr h="204889">
                <a:tc>
                  <a:txBody>
                    <a:bodyPr/>
                    <a:lstStyle/>
                    <a:p>
                      <a:pPr algn="ctr">
                        <a:lnSpc>
                          <a:spcPct val="90000"/>
                        </a:lnSpc>
                        <a:buNone/>
                      </a:pPr>
                      <a:r>
                        <a:rPr lang="es-CL" sz="850" b="1" dirty="0">
                          <a:solidFill>
                            <a:srgbClr val="6F5800"/>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¿Bajo desempeño?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b="1" dirty="0">
                          <a:solidFill>
                            <a:srgbClr val="6F5800"/>
                          </a:solidFill>
                          <a:latin typeface="+mn-lt"/>
                          <a:cs typeface="+mn-lt"/>
                        </a:rPr>
                        <a:t>Decisión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No entra en la numeración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extLst>
                  <a:ext uri="{0D108BD9-81ED-4DB2-BD59-A6C34878D82A}">
                    <a16:rowId xmlns:a16="http://schemas.microsoft.com/office/drawing/2014/main" val="10012"/>
                  </a:ext>
                </a:extLst>
              </a:tr>
              <a:tr h="323418">
                <a:tc>
                  <a:txBody>
                    <a:bodyPr/>
                    <a:lstStyle/>
                    <a:p>
                      <a:pPr algn="ctr">
                        <a:lnSpc>
                          <a:spcPct val="90000"/>
                        </a:lnSpc>
                        <a:buNone/>
                      </a:pPr>
                      <a:r>
                        <a:rPr lang="es-CL" sz="850" b="1" dirty="0">
                          <a:solidFill>
                            <a:srgbClr val="3F3A33"/>
                          </a:solidFill>
                          <a:latin typeface="+mn-lt"/>
                          <a:cs typeface="+mn-lt"/>
                        </a:rPr>
                        <a:t>28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Aplicar compromiso de desarrollo y registrar en Compromisos / Bitácora de Desarrollo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7.3.2.4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A4 · Análisis de resultados y compromiso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13"/>
                  </a:ext>
                </a:extLst>
              </a:tr>
              <a:tr h="428003">
                <a:tc>
                  <a:txBody>
                    <a:bodyPr/>
                    <a:lstStyle/>
                    <a:p>
                      <a:pPr algn="ctr">
                        <a:lnSpc>
                          <a:spcPct val="90000"/>
                        </a:lnSpc>
                        <a:buNone/>
                      </a:pPr>
                      <a:r>
                        <a:rPr lang="es-CL" sz="850" b="1" dirty="0">
                          <a:solidFill>
                            <a:srgbClr val="3F3A33"/>
                          </a:solidFill>
                          <a:latin typeface="+mn-lt"/>
                          <a:cs typeface="+mn-lt"/>
                        </a:rPr>
                        <a:t>29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Implementar planes de desarrollo y registrar en módulos complementarios de SuccessFactors</a:t>
                      </a:r>
                    </a:p>
                    <a:p>
                      <a:pPr algn="l">
                        <a:lnSpc>
                          <a:spcPct val="90000"/>
                        </a:lnSpc>
                        <a:spcBef>
                          <a:spcPts val="150"/>
                        </a:spcBef>
                        <a:buNone/>
                      </a:pPr>
                      <a:r>
                        <a:rPr lang="es-CL" sz="750" dirty="0">
                          <a:solidFill>
                            <a:srgbClr val="6B655C"/>
                          </a:solidFill>
                          <a:latin typeface="+mn-lt"/>
                          <a:cs typeface="+mn-lt"/>
                        </a:rPr>
                        <a:t>Recursos Humanos Local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7.3.2.4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A4 · Análisis de resultados y compromiso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14"/>
                  </a:ext>
                </a:extLst>
              </a:tr>
              <a:tr h="323418">
                <a:tc>
                  <a:txBody>
                    <a:bodyPr/>
                    <a:lstStyle/>
                    <a:p>
                      <a:pPr algn="ctr">
                        <a:lnSpc>
                          <a:spcPct val="90000"/>
                        </a:lnSpc>
                        <a:buNone/>
                      </a:pPr>
                      <a:r>
                        <a:rPr lang="es-CL" sz="850" b="1" dirty="0">
                          <a:solidFill>
                            <a:srgbClr val="3F3A33"/>
                          </a:solidFill>
                          <a:latin typeface="+mn-lt"/>
                          <a:cs typeface="+mn-lt"/>
                        </a:rPr>
                        <a:t>30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Ola 3 · octubre a diciembre: repetir el ciclo para el rol supervisor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Sin asignación — Marcador temporal de ola; definir si se conserva como caja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extLst>
                  <a:ext uri="{0D108BD9-81ED-4DB2-BD59-A6C34878D82A}">
                    <a16:rowId xmlns:a16="http://schemas.microsoft.com/office/drawing/2014/main" val="10015"/>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P4 · F13 · Cajas del flujo| </a:t>
            </a:r>
            <a:r>
              <a:rPr lang="es-CL" sz="2000" dirty="0">
                <a:solidFill>
                  <a:srgbClr val="A34100"/>
                </a:solidFill>
                <a:latin typeface="+mn-lt"/>
                <a:cs typeface="+mn-lt"/>
              </a:rPr>
              <a:t>Carrera, sucesión y movilidad</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10 cajas numeradas  ·  sin decisiones  ·  proceso P4 · Desarrollo organizacional</a:t>
            </a:r>
          </a:p>
        </p:txBody>
      </p:sp>
      <p:graphicFrame>
        <p:nvGraphicFramePr>
          <p:cNvPr id="11" name="Tabla 11"/>
          <p:cNvGraphicFramePr>
            <a:graphicFrameLocks noGrp="1"/>
          </p:cNvGraphicFramePr>
          <p:nvPr/>
        </p:nvGraphicFramePr>
        <p:xfrm>
          <a:off x="630000" y="1475274"/>
          <a:ext cx="10933350" cy="2616338"/>
        </p:xfrm>
        <a:graphic>
          <a:graphicData uri="http://schemas.openxmlformats.org/drawingml/2006/table">
            <a:tbl>
              <a:tblPr firstRow="1"/>
              <a:tblGrid>
                <a:gridCol w="430000">
                  <a:extLst>
                    <a:ext uri="{9D8B030D-6E8A-4147-A177-3AD203B41FA5}">
                      <a16:colId xmlns:a16="http://schemas.microsoft.com/office/drawing/2014/main" val="20000"/>
                    </a:ext>
                  </a:extLst>
                </a:gridCol>
                <a:gridCol w="4320000">
                  <a:extLst>
                    <a:ext uri="{9D8B030D-6E8A-4147-A177-3AD203B41FA5}">
                      <a16:colId xmlns:a16="http://schemas.microsoft.com/office/drawing/2014/main" val="20001"/>
                    </a:ext>
                  </a:extLst>
                </a:gridCol>
                <a:gridCol w="780000">
                  <a:extLst>
                    <a:ext uri="{9D8B030D-6E8A-4147-A177-3AD203B41FA5}">
                      <a16:colId xmlns:a16="http://schemas.microsoft.com/office/drawing/2014/main" val="20002"/>
                    </a:ext>
                  </a:extLst>
                </a:gridCol>
                <a:gridCol w="1320000">
                  <a:extLst>
                    <a:ext uri="{9D8B030D-6E8A-4147-A177-3AD203B41FA5}">
                      <a16:colId xmlns:a16="http://schemas.microsoft.com/office/drawing/2014/main" val="20003"/>
                    </a:ext>
                  </a:extLst>
                </a:gridCol>
                <a:gridCol w="4083350">
                  <a:extLst>
                    <a:ext uri="{9D8B030D-6E8A-4147-A177-3AD203B41FA5}">
                      <a16:colId xmlns:a16="http://schemas.microsoft.com/office/drawing/2014/main" val="20004"/>
                    </a:ext>
                  </a:extLst>
                </a:gridCol>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extLst>
                  <a:ext uri="{0D108BD9-81ED-4DB2-BD59-A6C34878D82A}">
                    <a16:rowId xmlns:a16="http://schemas.microsoft.com/office/drawing/2014/main" val="10000"/>
                  </a:ext>
                </a:extLst>
              </a:tr>
              <a:tr h="204889">
                <a:tc>
                  <a:txBody>
                    <a:bodyPr/>
                    <a:lstStyle/>
                    <a:p>
                      <a:pPr algn="ctr">
                        <a:lnSpc>
                          <a:spcPct val="90000"/>
                        </a:lnSpc>
                        <a:buNone/>
                      </a:pPr>
                      <a:r>
                        <a:rPr lang="es-CL" sz="850" b="1" dirty="0">
                          <a:solidFill>
                            <a:srgbClr val="3F3A33"/>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Definir roles clave y posiciones con riesgo de vacancia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7.3.3.4.1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A1 · Definir roles clave y riesgo de vacancia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1"/>
                  </a:ext>
                </a:extLst>
              </a:tr>
              <a:tr h="204889">
                <a:tc>
                  <a:txBody>
                    <a:bodyPr/>
                    <a:lstStyle/>
                    <a:p>
                      <a:pPr algn="ctr">
                        <a:lnSpc>
                          <a:spcPct val="90000"/>
                        </a:lnSpc>
                        <a:buNone/>
                      </a:pPr>
                      <a:r>
                        <a:rPr lang="es-CL" sz="850" b="1" dirty="0">
                          <a:solidFill>
                            <a:srgbClr val="3F3A33"/>
                          </a:solidFill>
                          <a:latin typeface="+mn-lt"/>
                          <a:cs typeface="+mn-lt"/>
                        </a:rPr>
                        <a:t>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Validar con el equipo ejecutivo las posiciones de rol supervisor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7.3.3.4.1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A2 · Validar posiciones del rol supervisor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2"/>
                  </a:ext>
                </a:extLst>
              </a:tr>
              <a:tr h="323418">
                <a:tc>
                  <a:txBody>
                    <a:bodyPr/>
                    <a:lstStyle/>
                    <a:p>
                      <a:pPr algn="ctr">
                        <a:lnSpc>
                          <a:spcPct val="90000"/>
                        </a:lnSpc>
                        <a:buNone/>
                      </a:pPr>
                      <a:r>
                        <a:rPr lang="es-CL" sz="850" b="1" dirty="0">
                          <a:solidFill>
                            <a:srgbClr val="3F3A33"/>
                          </a:solidFill>
                          <a:latin typeface="+mn-lt"/>
                          <a:cs typeface="+mn-lt"/>
                        </a:rPr>
                        <a:t>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Mapear el talento: desempeño, competencias y proyección de desarrollo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7.3.3.2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55565A"/>
                          </a:solidFill>
                          <a:latin typeface="+mn-lt"/>
                          <a:cs typeface="+mn-lt"/>
                        </a:rPr>
                        <a:t>A3 · Sin nombre definido — Denominar la actividad que agrupa las cajas 3 y 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3"/>
                  </a:ext>
                </a:extLst>
              </a:tr>
              <a:tr h="204889">
                <a:tc>
                  <a:txBody>
                    <a:bodyPr/>
                    <a:lstStyle/>
                    <a:p>
                      <a:pPr algn="ctr">
                        <a:lnSpc>
                          <a:spcPct val="90000"/>
                        </a:lnSpc>
                        <a:buNone/>
                      </a:pPr>
                      <a:r>
                        <a:rPr lang="es-CL" sz="850" b="1" dirty="0">
                          <a:solidFill>
                            <a:srgbClr val="3F3A33"/>
                          </a:solidFill>
                          <a:latin typeface="+mn-lt"/>
                          <a:cs typeface="+mn-lt"/>
                        </a:rPr>
                        <a:t>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Identificar sucesores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7.3.3.4.2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55565A"/>
                          </a:solidFill>
                          <a:latin typeface="+mn-lt"/>
                          <a:cs typeface="+mn-lt"/>
                        </a:rPr>
                        <a:t>A3 · Sin nombre definido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4"/>
                  </a:ext>
                </a:extLst>
              </a:tr>
              <a:tr h="204889">
                <a:tc>
                  <a:txBody>
                    <a:bodyPr/>
                    <a:lstStyle/>
                    <a:p>
                      <a:pPr algn="ctr">
                        <a:lnSpc>
                          <a:spcPct val="90000"/>
                        </a:lnSpc>
                        <a:buNone/>
                      </a:pPr>
                      <a:r>
                        <a:rPr lang="es-CL" sz="850" b="1" dirty="0">
                          <a:solidFill>
                            <a:srgbClr val="3F3A33"/>
                          </a:solidFill>
                          <a:latin typeface="+mn-lt"/>
                          <a:cs typeface="+mn-lt"/>
                        </a:rPr>
                        <a:t>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l">
                        <a:lnSpc>
                          <a:spcPct val="90000"/>
                        </a:lnSpc>
                        <a:buNone/>
                      </a:pPr>
                      <a:r>
                        <a:rPr lang="es-CL" sz="850" dirty="0">
                          <a:solidFill>
                            <a:srgbClr val="3F3A33"/>
                          </a:solidFill>
                          <a:latin typeface="+mn-lt"/>
                          <a:cs typeface="+mn-lt"/>
                        </a:rPr>
                        <a:t>Analizar riesgo de posiciones con y sin cobertura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ctr">
                        <a:lnSpc>
                          <a:spcPct val="90000"/>
                        </a:lnSpc>
                        <a:buNone/>
                      </a:pPr>
                      <a:r>
                        <a:rPr lang="es-CL" sz="800" dirty="0">
                          <a:solidFill>
                            <a:srgbClr val="6B655C"/>
                          </a:solidFill>
                          <a:latin typeface="+mn-lt"/>
                          <a:cs typeface="+mn-lt"/>
                        </a:rPr>
                        <a:t>7.3.3.4.2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l">
                        <a:lnSpc>
                          <a:spcPct val="90000"/>
                        </a:lnSpc>
                        <a:buNone/>
                      </a:pPr>
                      <a:r>
                        <a:rPr lang="es-CL" sz="850" b="1" dirty="0">
                          <a:solidFill>
                            <a:srgbClr val="14567A"/>
                          </a:solidFill>
                          <a:latin typeface="+mn-lt"/>
                          <a:cs typeface="+mn-lt"/>
                        </a:rPr>
                        <a:t>Control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l">
                        <a:lnSpc>
                          <a:spcPct val="90000"/>
                        </a:lnSpc>
                        <a:buNone/>
                      </a:pPr>
                      <a:r>
                        <a:rPr lang="es-CL" sz="850" dirty="0">
                          <a:solidFill>
                            <a:srgbClr val="3F3A33"/>
                          </a:solidFill>
                          <a:latin typeface="+mn-lt"/>
                          <a:cs typeface="+mn-lt"/>
                        </a:rPr>
                        <a:t>Control · Riesgo de cobertura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extLst>
                  <a:ext uri="{0D108BD9-81ED-4DB2-BD59-A6C34878D82A}">
                    <a16:rowId xmlns:a16="http://schemas.microsoft.com/office/drawing/2014/main" val="10005"/>
                  </a:ext>
                </a:extLst>
              </a:tr>
              <a:tr h="204889">
                <a:tc>
                  <a:txBody>
                    <a:bodyPr/>
                    <a:lstStyle/>
                    <a:p>
                      <a:pPr algn="ctr">
                        <a:lnSpc>
                          <a:spcPct val="90000"/>
                        </a:lnSpc>
                        <a:buNone/>
                      </a:pPr>
                      <a:r>
                        <a:rPr lang="es-CL" sz="850" b="1" dirty="0">
                          <a:solidFill>
                            <a:srgbClr val="3F3A33"/>
                          </a:solidFill>
                          <a:latin typeface="+mn-lt"/>
                          <a:cs typeface="+mn-lt"/>
                        </a:rPr>
                        <a:t>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3F3A33"/>
                          </a:solidFill>
                          <a:latin typeface="+mn-lt"/>
                          <a:cs typeface="+mn-lt"/>
                        </a:rPr>
                        <a:t>Elaborar planes de formación individual para sucesores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ctr">
                        <a:lnSpc>
                          <a:spcPct val="90000"/>
                        </a:lnSpc>
                        <a:buNone/>
                      </a:pPr>
                      <a:r>
                        <a:rPr lang="es-CL" sz="800" dirty="0">
                          <a:solidFill>
                            <a:srgbClr val="6B655C"/>
                          </a:solidFill>
                          <a:latin typeface="+mn-lt"/>
                          <a:cs typeface="+mn-lt"/>
                        </a:rPr>
                        <a:t>7.3.3.4.3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b="1" dirty="0">
                          <a:solidFill>
                            <a:srgbClr val="55565A"/>
                          </a:solidFill>
                          <a:latin typeface="+mn-lt"/>
                          <a:cs typeface="+mn-lt"/>
                        </a:rPr>
                        <a:t>Por definir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tc>
                  <a:txBody>
                    <a:bodyPr/>
                    <a:lstStyle/>
                    <a:p>
                      <a:pPr algn="l">
                        <a:lnSpc>
                          <a:spcPct val="90000"/>
                        </a:lnSpc>
                        <a:buNone/>
                      </a:pPr>
                      <a:r>
                        <a:rPr lang="es-CL" sz="850" dirty="0">
                          <a:solidFill>
                            <a:srgbClr val="55565A"/>
                          </a:solidFill>
                          <a:latin typeface="+mn-lt"/>
                          <a:cs typeface="+mn-lt"/>
                        </a:rPr>
                        <a:t>Control o tarea — Definir si es control o 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1F1F2"/>
                    </a:solidFill>
                  </a:tcPr>
                </a:tc>
                <a:extLst>
                  <a:ext uri="{0D108BD9-81ED-4DB2-BD59-A6C34878D82A}">
                    <a16:rowId xmlns:a16="http://schemas.microsoft.com/office/drawing/2014/main" val="10006"/>
                  </a:ext>
                </a:extLst>
              </a:tr>
              <a:tr h="204889">
                <a:tc>
                  <a:txBody>
                    <a:bodyPr/>
                    <a:lstStyle/>
                    <a:p>
                      <a:pPr algn="ctr">
                        <a:lnSpc>
                          <a:spcPct val="90000"/>
                        </a:lnSpc>
                        <a:buNone/>
                      </a:pPr>
                      <a:r>
                        <a:rPr lang="es-CL" sz="850" b="1" dirty="0">
                          <a:solidFill>
                            <a:srgbClr val="3F3A33"/>
                          </a:solidFill>
                          <a:latin typeface="+mn-lt"/>
                          <a:cs typeface="+mn-lt"/>
                        </a:rPr>
                        <a:t>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Formación para el desarrollo y preparación de back-up operacional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7.3.4.5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A34100"/>
                          </a:solidFill>
                          <a:latin typeface="+mn-lt"/>
                          <a:cs typeface="+mn-lt"/>
                        </a:rPr>
                        <a:t>Subproceso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Subproceso · Formación para el desarrollo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7"/>
                  </a:ext>
                </a:extLst>
              </a:tr>
              <a:tr h="323418">
                <a:tc>
                  <a:txBody>
                    <a:bodyPr/>
                    <a:lstStyle/>
                    <a:p>
                      <a:pPr algn="ctr">
                        <a:lnSpc>
                          <a:spcPct val="90000"/>
                        </a:lnSpc>
                        <a:buNone/>
                      </a:pPr>
                      <a:r>
                        <a:rPr lang="es-CL" sz="850" b="1" dirty="0">
                          <a:solidFill>
                            <a:srgbClr val="3F3A33"/>
                          </a:solidFill>
                          <a:latin typeface="+mn-lt"/>
                          <a:cs typeface="+mn-lt"/>
                        </a:rPr>
                        <a:t>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Comité de sucesión: validar sucesores y alinear con la estrategia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7.3.3.4.3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A4 · Validar carrera y alinear con estrategia — Evaluar si corresponde separarla en dos actividades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8"/>
                  </a:ext>
                </a:extLst>
              </a:tr>
              <a:tr h="323418">
                <a:tc>
                  <a:txBody>
                    <a:bodyPr/>
                    <a:lstStyle/>
                    <a:p>
                      <a:pPr algn="ctr">
                        <a:lnSpc>
                          <a:spcPct val="90000"/>
                        </a:lnSpc>
                        <a:buNone/>
                      </a:pPr>
                      <a:r>
                        <a:rPr lang="es-CL" sz="850" b="1" dirty="0">
                          <a:solidFill>
                            <a:srgbClr val="3F3A33"/>
                          </a:solidFill>
                          <a:latin typeface="+mn-lt"/>
                          <a:cs typeface="+mn-lt"/>
                        </a:rPr>
                        <a:t>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Gestionar promoción, descenso y movilidad interna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7.6.1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55565A"/>
                          </a:solidFill>
                          <a:latin typeface="+mn-lt"/>
                          <a:cs typeface="+mn-lt"/>
                        </a:rPr>
                        <a:t>A5 · Sin nombre definido — Gestiona lo resuelto en A4: promoción, descenso o movilidad interna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9"/>
                  </a:ext>
                </a:extLst>
              </a:tr>
              <a:tr h="204889">
                <a:tc>
                  <a:txBody>
                    <a:bodyPr/>
                    <a:lstStyle/>
                    <a:p>
                      <a:pPr algn="ctr">
                        <a:lnSpc>
                          <a:spcPct val="90000"/>
                        </a:lnSpc>
                        <a:buNone/>
                      </a:pPr>
                      <a:r>
                        <a:rPr lang="es-CL" sz="850" b="1" dirty="0">
                          <a:solidFill>
                            <a:srgbClr val="3F3A33"/>
                          </a:solidFill>
                          <a:latin typeface="+mn-lt"/>
                          <a:cs typeface="+mn-lt"/>
                        </a:rPr>
                        <a:t>10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Revisar y actualizar la matriz de sucesión y reportar avances a SG</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7.3.3.4.4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6B655C"/>
                          </a:solidFill>
                          <a:latin typeface="+mn-lt"/>
                          <a:cs typeface="+mn-lt"/>
                        </a:rPr>
                        <a:t>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A5 · Sin nombre definido — Tarea de la actividad A5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P5 · Apertura del proceso| </a:t>
            </a:r>
            <a:r>
              <a:rPr lang="es-CL" sz="2000" dirty="0">
                <a:solidFill>
                  <a:srgbClr val="A34100"/>
                </a:solidFill>
                <a:latin typeface="+mn-lt"/>
                <a:cs typeface="+mn-lt"/>
              </a:rPr>
              <a:t>Compensaciones y beneficios</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APQC 7.5.1 · 7.5.2    ·    proceso propuesta    ·    Se propone que ambos bloques sean subprocesos de un mismo proceso.</a:t>
            </a:r>
          </a:p>
        </p:txBody>
      </p:sp>
      <p:sp>
        <p:nvSpPr>
          <p:cNvPr id="11" name="Subproceso 11"/>
          <p:cNvSpPr/>
          <p:nvPr/>
        </p:nvSpPr>
        <p:spPr>
          <a:xfrm>
            <a:off x="630000" y="1475274"/>
            <a:ext cx="5416675" cy="364058"/>
          </a:xfrm>
          <a:prstGeom prst="roundRect">
            <a:avLst>
              <a:gd name="adj" fmla="val 4000"/>
            </a:avLst>
          </a:prstGeom>
          <a:solidFill>
            <a:srgbClr val="A34100"/>
          </a:solidFill>
          <a:ln>
            <a:noFill/>
          </a:ln>
        </p:spPr>
        <p:txBody>
          <a:bodyPr wrap="square" lIns="63500" tIns="63500" rIns="63500" bIns="63500" anchor="ctr">
            <a:noAutofit/>
          </a:bodyPr>
          <a:lstStyle/>
          <a:p>
            <a:pPr algn="l">
              <a:lnSpc>
                <a:spcPct val="90000"/>
              </a:lnSpc>
              <a:buNone/>
            </a:pPr>
            <a:r>
              <a:rPr lang="es-CL" sz="750" b="1" dirty="0">
                <a:solidFill>
                  <a:srgbClr val="F7E2D2"/>
                </a:solidFill>
                <a:latin typeface="+mn-lt"/>
                <a:cs typeface="+mn-lt"/>
              </a:rPr>
              <a:t>Subproceso 1  ·  F14</a:t>
            </a:r>
          </a:p>
          <a:p>
            <a:pPr algn="l">
              <a:lnSpc>
                <a:spcPct val="90000"/>
              </a:lnSpc>
              <a:spcBef>
                <a:spcPts val="200"/>
              </a:spcBef>
              <a:buNone/>
            </a:pPr>
            <a:r>
              <a:rPr lang="es-CL" sz="950" b="1" dirty="0">
                <a:solidFill>
                  <a:srgbClr val="FFFFFF"/>
                </a:solidFill>
                <a:latin typeface="+mn-lt"/>
                <a:cs typeface="+mn-lt"/>
              </a:rPr>
              <a:t>Remuneración y compensación</a:t>
            </a:r>
          </a:p>
        </p:txBody>
      </p:sp>
      <p:sp>
        <p:nvSpPr>
          <p:cNvPr id="12" name="Chip 12"/>
          <p:cNvSpPr/>
          <p:nvPr/>
        </p:nvSpPr>
        <p:spPr>
          <a:xfrm>
            <a:off x="630000" y="1939332"/>
            <a:ext cx="5416675" cy="508000"/>
          </a:xfrm>
          <a:prstGeom prst="roundRect">
            <a:avLst>
              <a:gd name="adj" fmla="val 4000"/>
            </a:avLst>
          </a:prstGeom>
          <a:solidFill>
            <a:srgbClr val="FBF8F1"/>
          </a:solidFill>
          <a:ln w="9525" cap="flat">
            <a:solidFill>
              <a:srgbClr val="A34100"/>
            </a:solidFill>
            <a:prstDash val="dash"/>
          </a:ln>
        </p:spPr>
        <p:txBody>
          <a:bodyPr wrap="square" lIns="57150" tIns="57150" rIns="57150" bIns="57150" anchor="ctr">
            <a:noAutofit/>
          </a:bodyPr>
          <a:lstStyle/>
          <a:p>
            <a:pPr algn="l">
              <a:lnSpc>
                <a:spcPct val="90000"/>
              </a:lnSpc>
              <a:buNone/>
            </a:pPr>
            <a:r>
              <a:rPr lang="es-CL" sz="750" dirty="0">
                <a:solidFill>
                  <a:srgbClr val="A34100"/>
                </a:solidFill>
                <a:latin typeface="+mn-lt"/>
                <a:cs typeface="+mn-lt"/>
              </a:rPr>
              <a:t>A1 · Recopilación de antecedentes</a:t>
            </a:r>
          </a:p>
          <a:p>
            <a:pPr algn="l">
              <a:lnSpc>
                <a:spcPct val="90000"/>
              </a:lnSpc>
              <a:spcBef>
                <a:spcPts val="200"/>
              </a:spcBef>
              <a:buNone/>
            </a:pPr>
            <a:r>
              <a:rPr lang="es-CL" sz="650" dirty="0">
                <a:solidFill>
                  <a:srgbClr val="6B655C"/>
                </a:solidFill>
                <a:latin typeface="+mn-lt"/>
                <a:cs typeface="+mn-lt"/>
              </a:rPr>
              <a:t>cajas 1–3</a:t>
            </a:r>
          </a:p>
        </p:txBody>
      </p:sp>
      <p:sp>
        <p:nvSpPr>
          <p:cNvPr id="13" name="Chip 13"/>
          <p:cNvSpPr/>
          <p:nvPr/>
        </p:nvSpPr>
        <p:spPr>
          <a:xfrm>
            <a:off x="630000" y="2497332"/>
            <a:ext cx="5416675" cy="508000"/>
          </a:xfrm>
          <a:prstGeom prst="roundRect">
            <a:avLst>
              <a:gd name="adj" fmla="val 4000"/>
            </a:avLst>
          </a:prstGeom>
          <a:solidFill>
            <a:srgbClr val="FBF8F1"/>
          </a:solidFill>
          <a:ln w="9525" cap="flat">
            <a:solidFill>
              <a:srgbClr val="A34100"/>
            </a:solidFill>
            <a:prstDash val="dash"/>
          </a:ln>
        </p:spPr>
        <p:txBody>
          <a:bodyPr wrap="square" lIns="57150" tIns="57150" rIns="57150" bIns="57150" anchor="ctr">
            <a:noAutofit/>
          </a:bodyPr>
          <a:lstStyle/>
          <a:p>
            <a:pPr algn="l">
              <a:lnSpc>
                <a:spcPct val="90000"/>
              </a:lnSpc>
              <a:buNone/>
            </a:pPr>
            <a:r>
              <a:rPr lang="es-CL" sz="750" dirty="0">
                <a:solidFill>
                  <a:srgbClr val="A34100"/>
                </a:solidFill>
                <a:latin typeface="+mn-lt"/>
                <a:cs typeface="+mn-lt"/>
              </a:rPr>
              <a:t>A2 · Diagnóstico de equidad y competitividad</a:t>
            </a:r>
          </a:p>
          <a:p>
            <a:pPr algn="l">
              <a:lnSpc>
                <a:spcPct val="90000"/>
              </a:lnSpc>
              <a:spcBef>
                <a:spcPts val="200"/>
              </a:spcBef>
              <a:buNone/>
            </a:pPr>
            <a:r>
              <a:rPr lang="es-CL" sz="650" dirty="0">
                <a:solidFill>
                  <a:srgbClr val="6B655C"/>
                </a:solidFill>
                <a:latin typeface="+mn-lt"/>
                <a:cs typeface="+mn-lt"/>
              </a:rPr>
              <a:t>cajas 4–8</a:t>
            </a:r>
          </a:p>
        </p:txBody>
      </p:sp>
      <p:sp>
        <p:nvSpPr>
          <p:cNvPr id="14" name="Chip 14"/>
          <p:cNvSpPr/>
          <p:nvPr/>
        </p:nvSpPr>
        <p:spPr>
          <a:xfrm>
            <a:off x="630000" y="3055332"/>
            <a:ext cx="5416675" cy="508000"/>
          </a:xfrm>
          <a:prstGeom prst="roundRect">
            <a:avLst>
              <a:gd name="adj" fmla="val 4000"/>
            </a:avLst>
          </a:prstGeom>
          <a:solidFill>
            <a:srgbClr val="E6EFF5"/>
          </a:solidFill>
          <a:ln w="9525" cap="flat">
            <a:solidFill>
              <a:srgbClr val="14567A"/>
            </a:solidFill>
          </a:ln>
        </p:spPr>
        <p:txBody>
          <a:bodyPr wrap="square" lIns="57150" tIns="57150" rIns="57150" bIns="57150" anchor="ctr">
            <a:noAutofit/>
          </a:bodyPr>
          <a:lstStyle/>
          <a:p>
            <a:pPr algn="l">
              <a:lnSpc>
                <a:spcPct val="90000"/>
              </a:lnSpc>
              <a:buNone/>
            </a:pPr>
            <a:r>
              <a:rPr lang="es-CL" sz="750" b="1" dirty="0">
                <a:solidFill>
                  <a:srgbClr val="14567A"/>
                </a:solidFill>
                <a:latin typeface="+mn-lt"/>
                <a:cs typeface="+mn-lt"/>
              </a:rPr>
              <a:t>Controles · Mecanismos de ajuste</a:t>
            </a:r>
          </a:p>
          <a:p>
            <a:pPr algn="l">
              <a:lnSpc>
                <a:spcPct val="90000"/>
              </a:lnSpc>
              <a:spcBef>
                <a:spcPts val="200"/>
              </a:spcBef>
              <a:buNone/>
            </a:pPr>
            <a:r>
              <a:rPr lang="es-CL" sz="650" dirty="0">
                <a:solidFill>
                  <a:srgbClr val="6B655C"/>
                </a:solidFill>
                <a:latin typeface="+mn-lt"/>
                <a:cs typeface="+mn-lt"/>
              </a:rPr>
              <a:t>cajas 9–13</a:t>
            </a:r>
          </a:p>
        </p:txBody>
      </p:sp>
      <p:sp>
        <p:nvSpPr>
          <p:cNvPr id="15" name="Chip 15"/>
          <p:cNvSpPr/>
          <p:nvPr/>
        </p:nvSpPr>
        <p:spPr>
          <a:xfrm>
            <a:off x="630000" y="3613332"/>
            <a:ext cx="5416675" cy="508000"/>
          </a:xfrm>
          <a:prstGeom prst="roundRect">
            <a:avLst>
              <a:gd name="adj" fmla="val 4000"/>
            </a:avLst>
          </a:prstGeom>
          <a:solidFill>
            <a:srgbClr val="FBF8F1"/>
          </a:solidFill>
          <a:ln w="9525" cap="flat">
            <a:solidFill>
              <a:srgbClr val="A34100"/>
            </a:solidFill>
            <a:prstDash val="dash"/>
          </a:ln>
        </p:spPr>
        <p:txBody>
          <a:bodyPr wrap="square" lIns="57150" tIns="57150" rIns="57150" bIns="57150" anchor="ctr">
            <a:noAutofit/>
          </a:bodyPr>
          <a:lstStyle/>
          <a:p>
            <a:pPr algn="l">
              <a:lnSpc>
                <a:spcPct val="90000"/>
              </a:lnSpc>
              <a:buNone/>
            </a:pPr>
            <a:r>
              <a:rPr lang="es-CL" sz="750" dirty="0">
                <a:solidFill>
                  <a:srgbClr val="A34100"/>
                </a:solidFill>
                <a:latin typeface="+mn-lt"/>
                <a:cs typeface="+mn-lt"/>
              </a:rPr>
              <a:t>A3 · Diseño y aprobación de la propuesta</a:t>
            </a:r>
          </a:p>
          <a:p>
            <a:pPr algn="l">
              <a:lnSpc>
                <a:spcPct val="90000"/>
              </a:lnSpc>
              <a:spcBef>
                <a:spcPts val="200"/>
              </a:spcBef>
              <a:buNone/>
            </a:pPr>
            <a:r>
              <a:rPr lang="es-CL" sz="650" dirty="0">
                <a:solidFill>
                  <a:srgbClr val="6B655C"/>
                </a:solidFill>
                <a:latin typeface="+mn-lt"/>
                <a:cs typeface="+mn-lt"/>
              </a:rPr>
              <a:t>cajas 14–17</a:t>
            </a:r>
          </a:p>
        </p:txBody>
      </p:sp>
      <p:sp>
        <p:nvSpPr>
          <p:cNvPr id="16" name="Chip 16"/>
          <p:cNvSpPr/>
          <p:nvPr/>
        </p:nvSpPr>
        <p:spPr>
          <a:xfrm>
            <a:off x="630000" y="4171332"/>
            <a:ext cx="5416675" cy="508000"/>
          </a:xfrm>
          <a:prstGeom prst="roundRect">
            <a:avLst>
              <a:gd name="adj" fmla="val 4000"/>
            </a:avLst>
          </a:prstGeom>
          <a:solidFill>
            <a:srgbClr val="FBF8F1"/>
          </a:solidFill>
          <a:ln w="9525" cap="flat">
            <a:solidFill>
              <a:srgbClr val="A34100"/>
            </a:solidFill>
            <a:prstDash val="dash"/>
          </a:ln>
        </p:spPr>
        <p:txBody>
          <a:bodyPr wrap="square" lIns="57150" tIns="57150" rIns="57150" bIns="57150" anchor="ctr">
            <a:noAutofit/>
          </a:bodyPr>
          <a:lstStyle/>
          <a:p>
            <a:pPr algn="l">
              <a:lnSpc>
                <a:spcPct val="90000"/>
              </a:lnSpc>
              <a:buNone/>
            </a:pPr>
            <a:r>
              <a:rPr lang="es-CL" sz="750" dirty="0">
                <a:solidFill>
                  <a:srgbClr val="A34100"/>
                </a:solidFill>
                <a:latin typeface="+mn-lt"/>
                <a:cs typeface="+mn-lt"/>
              </a:rPr>
              <a:t>A4 · Implementación en remuneraciones</a:t>
            </a:r>
          </a:p>
          <a:p>
            <a:pPr algn="l">
              <a:lnSpc>
                <a:spcPct val="90000"/>
              </a:lnSpc>
              <a:spcBef>
                <a:spcPts val="200"/>
              </a:spcBef>
              <a:buNone/>
            </a:pPr>
            <a:r>
              <a:rPr lang="es-CL" sz="650" dirty="0">
                <a:solidFill>
                  <a:srgbClr val="6B655C"/>
                </a:solidFill>
                <a:latin typeface="+mn-lt"/>
                <a:cs typeface="+mn-lt"/>
              </a:rPr>
              <a:t>caja 18</a:t>
            </a:r>
          </a:p>
        </p:txBody>
      </p:sp>
      <p:sp>
        <p:nvSpPr>
          <p:cNvPr id="17" name="Chip 17"/>
          <p:cNvSpPr/>
          <p:nvPr/>
        </p:nvSpPr>
        <p:spPr>
          <a:xfrm>
            <a:off x="630000" y="4729332"/>
            <a:ext cx="5416675" cy="508000"/>
          </a:xfrm>
          <a:prstGeom prst="roundRect">
            <a:avLst>
              <a:gd name="adj" fmla="val 4000"/>
            </a:avLst>
          </a:prstGeom>
          <a:solidFill>
            <a:srgbClr val="FBF8F1"/>
          </a:solidFill>
          <a:ln w="9525" cap="flat">
            <a:solidFill>
              <a:srgbClr val="A34100"/>
            </a:solidFill>
            <a:prstDash val="dash"/>
          </a:ln>
        </p:spPr>
        <p:txBody>
          <a:bodyPr wrap="square" lIns="57150" tIns="57150" rIns="57150" bIns="57150" anchor="ctr">
            <a:noAutofit/>
          </a:bodyPr>
          <a:lstStyle/>
          <a:p>
            <a:pPr algn="l">
              <a:lnSpc>
                <a:spcPct val="90000"/>
              </a:lnSpc>
              <a:buNone/>
            </a:pPr>
            <a:r>
              <a:rPr lang="es-CL" sz="750" dirty="0">
                <a:solidFill>
                  <a:srgbClr val="A34100"/>
                </a:solidFill>
                <a:latin typeface="+mn-lt"/>
                <a:cs typeface="+mn-lt"/>
              </a:rPr>
              <a:t>A5 · Ajuste de procedimientos</a:t>
            </a:r>
          </a:p>
          <a:p>
            <a:pPr algn="l">
              <a:lnSpc>
                <a:spcPct val="90000"/>
              </a:lnSpc>
              <a:spcBef>
                <a:spcPts val="200"/>
              </a:spcBef>
              <a:buNone/>
            </a:pPr>
            <a:r>
              <a:rPr lang="es-CL" sz="650" dirty="0">
                <a:solidFill>
                  <a:srgbClr val="6B655C"/>
                </a:solidFill>
                <a:latin typeface="+mn-lt"/>
                <a:cs typeface="+mn-lt"/>
              </a:rPr>
              <a:t>caja 22</a:t>
            </a:r>
          </a:p>
        </p:txBody>
      </p:sp>
      <p:sp>
        <p:nvSpPr>
          <p:cNvPr id="18" name="Subproceso 18"/>
          <p:cNvSpPr/>
          <p:nvPr/>
        </p:nvSpPr>
        <p:spPr>
          <a:xfrm>
            <a:off x="6146675" y="1475274"/>
            <a:ext cx="5416675" cy="364058"/>
          </a:xfrm>
          <a:prstGeom prst="roundRect">
            <a:avLst>
              <a:gd name="adj" fmla="val 4000"/>
            </a:avLst>
          </a:prstGeom>
          <a:solidFill>
            <a:srgbClr val="A34100"/>
          </a:solidFill>
          <a:ln>
            <a:noFill/>
          </a:ln>
        </p:spPr>
        <p:txBody>
          <a:bodyPr wrap="square" lIns="63500" tIns="63500" rIns="63500" bIns="63500" anchor="ctr">
            <a:noAutofit/>
          </a:bodyPr>
          <a:lstStyle/>
          <a:p>
            <a:pPr algn="l">
              <a:lnSpc>
                <a:spcPct val="90000"/>
              </a:lnSpc>
              <a:buNone/>
            </a:pPr>
            <a:r>
              <a:rPr lang="es-CL" sz="750" b="1" dirty="0">
                <a:solidFill>
                  <a:srgbClr val="F7E2D2"/>
                </a:solidFill>
                <a:latin typeface="+mn-lt"/>
                <a:cs typeface="+mn-lt"/>
              </a:rPr>
              <a:t>Subproceso 2  ·  F14</a:t>
            </a:r>
          </a:p>
          <a:p>
            <a:pPr algn="l">
              <a:lnSpc>
                <a:spcPct val="90000"/>
              </a:lnSpc>
              <a:spcBef>
                <a:spcPts val="200"/>
              </a:spcBef>
              <a:buNone/>
            </a:pPr>
            <a:r>
              <a:rPr lang="es-CL" sz="950" b="1" dirty="0">
                <a:solidFill>
                  <a:srgbClr val="FFFFFF"/>
                </a:solidFill>
                <a:latin typeface="+mn-lt"/>
                <a:cs typeface="+mn-lt"/>
              </a:rPr>
              <a:t>Beneficios</a:t>
            </a:r>
          </a:p>
        </p:txBody>
      </p:sp>
      <p:sp>
        <p:nvSpPr>
          <p:cNvPr id="19" name="Chip 19"/>
          <p:cNvSpPr/>
          <p:nvPr/>
        </p:nvSpPr>
        <p:spPr>
          <a:xfrm>
            <a:off x="6146675" y="1939332"/>
            <a:ext cx="5416675" cy="508000"/>
          </a:xfrm>
          <a:prstGeom prst="roundRect">
            <a:avLst>
              <a:gd name="adj" fmla="val 4000"/>
            </a:avLst>
          </a:prstGeom>
          <a:solidFill>
            <a:srgbClr val="FBF8F1"/>
          </a:solidFill>
          <a:ln w="9525" cap="flat">
            <a:solidFill>
              <a:srgbClr val="A34100"/>
            </a:solidFill>
            <a:prstDash val="dash"/>
          </a:ln>
        </p:spPr>
        <p:txBody>
          <a:bodyPr wrap="square" lIns="57150" tIns="57150" rIns="57150" bIns="57150" anchor="ctr">
            <a:noAutofit/>
          </a:bodyPr>
          <a:lstStyle/>
          <a:p>
            <a:pPr algn="l">
              <a:lnSpc>
                <a:spcPct val="90000"/>
              </a:lnSpc>
              <a:buNone/>
            </a:pPr>
            <a:r>
              <a:rPr lang="es-CL" sz="750" dirty="0">
                <a:solidFill>
                  <a:srgbClr val="A34100"/>
                </a:solidFill>
                <a:latin typeface="+mn-lt"/>
                <a:cs typeface="+mn-lt"/>
              </a:rPr>
              <a:t>A1 · Aplicación de beneficios</a:t>
            </a:r>
          </a:p>
          <a:p>
            <a:pPr algn="l">
              <a:lnSpc>
                <a:spcPct val="90000"/>
              </a:lnSpc>
              <a:spcBef>
                <a:spcPts val="200"/>
              </a:spcBef>
              <a:buNone/>
            </a:pPr>
            <a:r>
              <a:rPr lang="es-CL" sz="650" dirty="0">
                <a:solidFill>
                  <a:srgbClr val="6B655C"/>
                </a:solidFill>
                <a:latin typeface="+mn-lt"/>
                <a:cs typeface="+mn-lt"/>
              </a:rPr>
              <a:t>cajas 19–21</a:t>
            </a:r>
          </a:p>
        </p:txBody>
      </p:sp>
      <p:sp>
        <p:nvSpPr>
          <p:cNvPr id="20" name="Pendientes 20"/>
          <p:cNvSpPr/>
          <p:nvPr/>
        </p:nvSpPr>
        <p:spPr>
          <a:xfrm>
            <a:off x="630000" y="5327332"/>
            <a:ext cx="10933350" cy="640461"/>
          </a:xfrm>
          <a:prstGeom prst="roundRect">
            <a:avLst>
              <a:gd name="adj" fmla="val 2500"/>
            </a:avLst>
          </a:prstGeom>
          <a:solidFill>
            <a:srgbClr val="F6EDE4"/>
          </a:solidFill>
          <a:ln>
            <a:noFill/>
          </a:ln>
        </p:spPr>
        <p:txBody>
          <a:bodyPr wrap="square" lIns="76200" tIns="76200" rIns="76200" bIns="76200" anchor="ctr">
            <a:noAutofit/>
          </a:bodyPr>
          <a:lstStyle/>
          <a:p>
            <a:pPr algn="l">
              <a:lnSpc>
                <a:spcPct val="90000"/>
              </a:lnSpc>
              <a:buNone/>
            </a:pPr>
            <a:r>
              <a:rPr lang="es-CL" sz="950" b="1" dirty="0">
                <a:solidFill>
                  <a:srgbClr val="A34100"/>
                </a:solidFill>
                <a:latin typeface="+mn-lt"/>
                <a:cs typeface="+mn-lt"/>
              </a:rPr>
              <a:t>Qué falta definir en este proceso</a:t>
            </a:r>
          </a:p>
          <a:p>
            <a:pPr algn="l">
              <a:lnSpc>
                <a:spcPct val="90000"/>
              </a:lnSpc>
              <a:spcBef>
                <a:spcPts val="200"/>
              </a:spcBef>
              <a:buNone/>
            </a:pPr>
            <a:r>
              <a:rPr lang="es-CL" sz="850" dirty="0">
                <a:solidFill>
                  <a:srgbClr val="A34100"/>
                </a:solidFill>
                <a:latin typeface="+mn-lt"/>
                <a:cs typeface="+mn-lt"/>
              </a:rPr>
              <a:t>·  El proceso «Compensaciones y beneficios» es una propuesta: APQC 7.5.1 · 7.5.2</a:t>
            </a:r>
          </a:p>
          <a:p>
            <a:pPr algn="l">
              <a:lnSpc>
                <a:spcPct val="90000"/>
              </a:lnSpc>
              <a:spcBef>
                <a:spcPts val="200"/>
              </a:spcBef>
              <a:buNone/>
            </a:pPr>
            <a:r>
              <a:rPr lang="es-CL" sz="850" dirty="0">
                <a:solidFill>
                  <a:srgbClr val="A34100"/>
                </a:solidFill>
                <a:latin typeface="+mn-lt"/>
                <a:cs typeface="+mn-lt"/>
              </a:rPr>
              <a:t>·  F14 · cajas 1–3: Agrupación interna propuesta con base en APQC 7.5.1</a:t>
            </a:r>
          </a:p>
          <a:p>
            <a:pPr algn="l">
              <a:lnSpc>
                <a:spcPct val="90000"/>
              </a:lnSpc>
              <a:spcBef>
                <a:spcPts val="200"/>
              </a:spcBef>
              <a:buNone/>
            </a:pPr>
            <a:r>
              <a:rPr lang="es-CL" sz="850" dirty="0">
                <a:solidFill>
                  <a:srgbClr val="A34100"/>
                </a:solidFill>
                <a:latin typeface="+mn-lt"/>
                <a:cs typeface="+mn-lt"/>
              </a:rPr>
              <a:t>·  F14 · cajas 19–21: Agrupación interna propuesta con base en APQC 7.5.2</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P5 · F14 · Cajas del flujo| </a:t>
            </a:r>
            <a:r>
              <a:rPr lang="es-CL" sz="2000" dirty="0">
                <a:solidFill>
                  <a:srgbClr val="A34100"/>
                </a:solidFill>
                <a:latin typeface="+mn-lt"/>
                <a:cs typeface="+mn-lt"/>
              </a:rPr>
              <a:t>Revisión de renta y beneficios</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3F3A33"/>
                </a:solidFill>
                <a:latin typeface="+mn-lt"/>
                <a:cs typeface="+mn-lt"/>
              </a:rPr>
              <a:t>22 cajas numeradas  ·  2 decisiones sin numerar  ·  proceso P5 · Compensaciones y beneficios</a:t>
            </a:r>
          </a:p>
        </p:txBody>
      </p:sp>
      <p:graphicFrame>
        <p:nvGraphicFramePr>
          <p:cNvPr id="11" name="Tabla 11"/>
          <p:cNvGraphicFramePr>
            <a:graphicFrameLocks noGrp="1"/>
          </p:cNvGraphicFramePr>
          <p:nvPr/>
        </p:nvGraphicFramePr>
        <p:xfrm>
          <a:off x="630000" y="1475274"/>
          <a:ext cx="10933350" cy="3478935"/>
        </p:xfrm>
        <a:graphic>
          <a:graphicData uri="http://schemas.openxmlformats.org/drawingml/2006/table">
            <a:tbl>
              <a:tblPr firstRow="1"/>
              <a:tblGrid>
                <a:gridCol w="430000">
                  <a:extLst>
                    <a:ext uri="{9D8B030D-6E8A-4147-A177-3AD203B41FA5}">
                      <a16:colId xmlns:a16="http://schemas.microsoft.com/office/drawing/2014/main" val="20000"/>
                    </a:ext>
                  </a:extLst>
                </a:gridCol>
                <a:gridCol w="4320000">
                  <a:extLst>
                    <a:ext uri="{9D8B030D-6E8A-4147-A177-3AD203B41FA5}">
                      <a16:colId xmlns:a16="http://schemas.microsoft.com/office/drawing/2014/main" val="20001"/>
                    </a:ext>
                  </a:extLst>
                </a:gridCol>
                <a:gridCol w="780000">
                  <a:extLst>
                    <a:ext uri="{9D8B030D-6E8A-4147-A177-3AD203B41FA5}">
                      <a16:colId xmlns:a16="http://schemas.microsoft.com/office/drawing/2014/main" val="20002"/>
                    </a:ext>
                  </a:extLst>
                </a:gridCol>
                <a:gridCol w="1320000">
                  <a:extLst>
                    <a:ext uri="{9D8B030D-6E8A-4147-A177-3AD203B41FA5}">
                      <a16:colId xmlns:a16="http://schemas.microsoft.com/office/drawing/2014/main" val="20003"/>
                    </a:ext>
                  </a:extLst>
                </a:gridCol>
                <a:gridCol w="4083350">
                  <a:extLst>
                    <a:ext uri="{9D8B030D-6E8A-4147-A177-3AD203B41FA5}">
                      <a16:colId xmlns:a16="http://schemas.microsoft.com/office/drawing/2014/main" val="20004"/>
                    </a:ext>
                  </a:extLst>
                </a:gridCol>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extLst>
                  <a:ext uri="{0D108BD9-81ED-4DB2-BD59-A6C34878D82A}">
                    <a16:rowId xmlns:a16="http://schemas.microsoft.com/office/drawing/2014/main" val="10000"/>
                  </a:ext>
                </a:extLst>
              </a:tr>
              <a:tr h="323418">
                <a:tc>
                  <a:txBody>
                    <a:bodyPr/>
                    <a:lstStyle/>
                    <a:p>
                      <a:pPr algn="ctr">
                        <a:lnSpc>
                          <a:spcPct val="90000"/>
                        </a:lnSpc>
                        <a:buNone/>
                      </a:pPr>
                      <a:r>
                        <a:rPr lang="es-CL" sz="850" b="1" dirty="0">
                          <a:solidFill>
                            <a:srgbClr val="3F3A33"/>
                          </a:solidFill>
                          <a:latin typeface="+mn-lt"/>
                          <a:cs typeface="+mn-lt"/>
                        </a:rPr>
                        <a:t>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Recopilar datos internos de rentas actuales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7.5.1.1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A1 · Recopilación de antecedentes — Agrupación interna propuesta con base en APQC 7.5.1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1"/>
                  </a:ext>
                </a:extLst>
              </a:tr>
              <a:tr h="204889">
                <a:tc>
                  <a:txBody>
                    <a:bodyPr/>
                    <a:lstStyle/>
                    <a:p>
                      <a:pPr algn="ctr">
                        <a:lnSpc>
                          <a:spcPct val="90000"/>
                        </a:lnSpc>
                        <a:buNone/>
                      </a:pPr>
                      <a:r>
                        <a:rPr lang="es-CL" sz="850" b="1" dirty="0">
                          <a:solidFill>
                            <a:srgbClr val="3F3A33"/>
                          </a:solidFill>
                          <a:latin typeface="+mn-lt"/>
                          <a:cs typeface="+mn-lt"/>
                        </a:rPr>
                        <a:t>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Incorporar datos de evaluaciones de desempeño y antigüedad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7.5.1.1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A1 · Recopilación de antecedentes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2"/>
                  </a:ext>
                </a:extLst>
              </a:tr>
              <a:tr h="204889">
                <a:tc>
                  <a:txBody>
                    <a:bodyPr/>
                    <a:lstStyle/>
                    <a:p>
                      <a:pPr algn="ctr">
                        <a:lnSpc>
                          <a:spcPct val="90000"/>
                        </a:lnSpc>
                        <a:buNone/>
                      </a:pPr>
                      <a:r>
                        <a:rPr lang="es-CL" sz="850" b="1" dirty="0">
                          <a:solidFill>
                            <a:srgbClr val="3F3A33"/>
                          </a:solidFill>
                          <a:latin typeface="+mn-lt"/>
                          <a:cs typeface="+mn-lt"/>
                        </a:rPr>
                        <a:t>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Analizar el presupuesto disponible para el ajuste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7.5.1.1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A1 · Recopilación de antecedentes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3"/>
                  </a:ext>
                </a:extLst>
              </a:tr>
              <a:tr h="204889">
                <a:tc>
                  <a:txBody>
                    <a:bodyPr/>
                    <a:lstStyle/>
                    <a:p>
                      <a:pPr algn="ctr">
                        <a:lnSpc>
                          <a:spcPct val="90000"/>
                        </a:lnSpc>
                        <a:buNone/>
                      </a:pPr>
                      <a:r>
                        <a:rPr lang="es-CL" sz="850" b="1" dirty="0">
                          <a:solidFill>
                            <a:srgbClr val="3F3A33"/>
                          </a:solidFill>
                          <a:latin typeface="+mn-lt"/>
                          <a:cs typeface="+mn-lt"/>
                        </a:rPr>
                        <a:t>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Comparar sueldos actuales con la estructura definida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7.5.1.8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A2 · Diagnóstico de equidad y competitividad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4"/>
                  </a:ext>
                </a:extLst>
              </a:tr>
              <a:tr h="323418">
                <a:tc>
                  <a:txBody>
                    <a:bodyPr/>
                    <a:lstStyle/>
                    <a:p>
                      <a:pPr algn="ctr">
                        <a:lnSpc>
                          <a:spcPct val="90000"/>
                        </a:lnSpc>
                        <a:buNone/>
                      </a:pPr>
                      <a:r>
                        <a:rPr lang="es-CL" sz="850" b="1" dirty="0">
                          <a:solidFill>
                            <a:srgbClr val="3F3A33"/>
                          </a:solidFill>
                          <a:latin typeface="+mn-lt"/>
                          <a:cs typeface="+mn-lt"/>
                        </a:rPr>
                        <a:t>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Calcular el compa-ratio de cada persona: sueldo dividido por el punto medio de su banda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7.5.1.8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A2 · Diagnóstico de equidad y competitividad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5"/>
                  </a:ext>
                </a:extLst>
              </a:tr>
              <a:tr h="204889">
                <a:tc>
                  <a:txBody>
                    <a:bodyPr/>
                    <a:lstStyle/>
                    <a:p>
                      <a:pPr algn="ctr">
                        <a:lnSpc>
                          <a:spcPct val="90000"/>
                        </a:lnSpc>
                        <a:buNone/>
                      </a:pPr>
                      <a:r>
                        <a:rPr lang="es-CL" sz="850" b="1" dirty="0">
                          <a:solidFill>
                            <a:srgbClr val="3F3A33"/>
                          </a:solidFill>
                          <a:latin typeface="+mn-lt"/>
                          <a:cs typeface="+mn-lt"/>
                        </a:rPr>
                        <a:t>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Revisar diferencias internas y frente al mercado laboral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7.5.1.3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A2 · Diagnóstico de equidad y competitividad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6"/>
                  </a:ext>
                </a:extLst>
              </a:tr>
              <a:tr h="204889">
                <a:tc>
                  <a:txBody>
                    <a:bodyPr/>
                    <a:lstStyle/>
                    <a:p>
                      <a:pPr algn="ctr">
                        <a:lnSpc>
                          <a:spcPct val="90000"/>
                        </a:lnSpc>
                        <a:buNone/>
                      </a:pPr>
                      <a:r>
                        <a:rPr lang="es-CL" sz="850" b="1" dirty="0">
                          <a:solidFill>
                            <a:srgbClr val="3F3A33"/>
                          </a:solidFill>
                          <a:latin typeface="+mn-lt"/>
                          <a:cs typeface="+mn-lt"/>
                        </a:rPr>
                        <a:t>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Identificar riesgos de rotación o pérdida de personal clave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7.5.1.7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A2 · Diagnóstico de equidad y competitividad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7"/>
                  </a:ext>
                </a:extLst>
              </a:tr>
              <a:tr h="204889">
                <a:tc>
                  <a:txBody>
                    <a:bodyPr/>
                    <a:lstStyle/>
                    <a:p>
                      <a:pPr algn="ctr">
                        <a:lnSpc>
                          <a:spcPct val="90000"/>
                        </a:lnSpc>
                        <a:buNone/>
                      </a:pPr>
                      <a:r>
                        <a:rPr lang="es-CL" sz="850" b="1" dirty="0">
                          <a:solidFill>
                            <a:srgbClr val="3F3A33"/>
                          </a:solidFill>
                          <a:latin typeface="+mn-lt"/>
                          <a:cs typeface="+mn-lt"/>
                        </a:rPr>
                        <a:t>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Priorizar cargos y áreas críticas que requieren ajuste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7.5.1.8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A2 · Diagnóstico de equidad y competitividad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8"/>
                  </a:ext>
                </a:extLst>
              </a:tr>
              <a:tr h="204889">
                <a:tc>
                  <a:txBody>
                    <a:bodyPr/>
                    <a:lstStyle/>
                    <a:p>
                      <a:pPr algn="ctr">
                        <a:lnSpc>
                          <a:spcPct val="90000"/>
                        </a:lnSpc>
                        <a:buNone/>
                      </a:pPr>
                      <a:r>
                        <a:rPr lang="es-CL" sz="850" b="1" dirty="0">
                          <a:solidFill>
                            <a:srgbClr val="6F5800"/>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¿Qué mecanismo de ajuste aplica?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b="1" dirty="0">
                          <a:solidFill>
                            <a:srgbClr val="6F5800"/>
                          </a:solidFill>
                          <a:latin typeface="+mn-lt"/>
                          <a:cs typeface="+mn-lt"/>
                        </a:rPr>
                        <a:t>Decisión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No entra en la numeración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extLst>
                  <a:ext uri="{0D108BD9-81ED-4DB2-BD59-A6C34878D82A}">
                    <a16:rowId xmlns:a16="http://schemas.microsoft.com/office/drawing/2014/main" val="10009"/>
                  </a:ext>
                </a:extLst>
              </a:tr>
              <a:tr h="428003">
                <a:tc>
                  <a:txBody>
                    <a:bodyPr/>
                    <a:lstStyle/>
                    <a:p>
                      <a:pPr algn="ctr">
                        <a:lnSpc>
                          <a:spcPct val="90000"/>
                        </a:lnSpc>
                        <a:buNone/>
                      </a:pPr>
                      <a:r>
                        <a:rPr lang="es-CL" sz="850" b="1" dirty="0">
                          <a:solidFill>
                            <a:srgbClr val="3F3A33"/>
                          </a:solidFill>
                          <a:latin typeface="+mn-lt"/>
                          <a:cs typeface="+mn-lt"/>
                        </a:rPr>
                        <a:t>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l">
                        <a:lnSpc>
                          <a:spcPct val="90000"/>
                        </a:lnSpc>
                        <a:buNone/>
                      </a:pPr>
                      <a:r>
                        <a:rPr lang="es-CL" sz="850" dirty="0">
                          <a:solidFill>
                            <a:srgbClr val="3F3A33"/>
                          </a:solidFill>
                          <a:latin typeface="+mn-lt"/>
                          <a:cs typeface="+mn-lt"/>
                        </a:rPr>
                        <a:t>Mecanismo 1 — Movimiento de la estructura: desplazar el valor en pesos de todas las bandas por IPC y mercado</a:t>
                      </a:r>
                    </a:p>
                    <a:p>
                      <a:pPr algn="l">
                        <a:lnSpc>
                          <a:spcPct val="90000"/>
                        </a:lnSpc>
                        <a:spcBef>
                          <a:spcPts val="150"/>
                        </a:spcBef>
                        <a:buNone/>
                      </a:pPr>
                      <a:r>
                        <a:rPr lang="es-CL" sz="750" dirty="0">
                          <a:solidFill>
                            <a:srgbClr val="6B655C"/>
                          </a:solidFill>
                          <a:latin typeface="+mn-lt"/>
                          <a:cs typeface="+mn-lt"/>
                        </a:rPr>
                        <a:t>anual y para todos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ctr">
                        <a:lnSpc>
                          <a:spcPct val="90000"/>
                        </a:lnSpc>
                        <a:buNone/>
                      </a:pPr>
                      <a:r>
                        <a:rPr lang="es-CL" sz="800" dirty="0">
                          <a:solidFill>
                            <a:srgbClr val="6B655C"/>
                          </a:solidFill>
                          <a:latin typeface="+mn-lt"/>
                          <a:cs typeface="+mn-lt"/>
                        </a:rPr>
                        <a:t>7.5.1.1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l">
                        <a:lnSpc>
                          <a:spcPct val="90000"/>
                        </a:lnSpc>
                        <a:buNone/>
                      </a:pPr>
                      <a:r>
                        <a:rPr lang="es-CL" sz="850" b="1" dirty="0">
                          <a:solidFill>
                            <a:srgbClr val="14567A"/>
                          </a:solidFill>
                          <a:latin typeface="+mn-lt"/>
                          <a:cs typeface="+mn-lt"/>
                        </a:rPr>
                        <a:t>Control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l">
                        <a:lnSpc>
                          <a:spcPct val="90000"/>
                        </a:lnSpc>
                        <a:buNone/>
                      </a:pPr>
                      <a:r>
                        <a:rPr lang="es-CL" sz="850" dirty="0">
                          <a:solidFill>
                            <a:srgbClr val="3F3A33"/>
                          </a:solidFill>
                          <a:latin typeface="+mn-lt"/>
                          <a:cs typeface="+mn-lt"/>
                        </a:rPr>
                        <a:t>Controles · Mecanismos de ajuste — Toda caja rotulada «Mecanismo» es un control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extLst>
                  <a:ext uri="{0D108BD9-81ED-4DB2-BD59-A6C34878D82A}">
                    <a16:rowId xmlns:a16="http://schemas.microsoft.com/office/drawing/2014/main" val="10010"/>
                  </a:ext>
                </a:extLst>
              </a:tr>
              <a:tr h="428003">
                <a:tc>
                  <a:txBody>
                    <a:bodyPr/>
                    <a:lstStyle/>
                    <a:p>
                      <a:pPr algn="ctr">
                        <a:lnSpc>
                          <a:spcPct val="90000"/>
                        </a:lnSpc>
                        <a:buNone/>
                      </a:pPr>
                      <a:r>
                        <a:rPr lang="es-CL" sz="850" b="1" dirty="0">
                          <a:solidFill>
                            <a:srgbClr val="3F3A33"/>
                          </a:solidFill>
                          <a:latin typeface="+mn-lt"/>
                          <a:cs typeface="+mn-lt"/>
                        </a:rPr>
                        <a:t>10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l">
                        <a:lnSpc>
                          <a:spcPct val="90000"/>
                        </a:lnSpc>
                        <a:buNone/>
                      </a:pPr>
                      <a:r>
                        <a:rPr lang="es-CL" sz="850" dirty="0">
                          <a:solidFill>
                            <a:srgbClr val="3F3A33"/>
                          </a:solidFill>
                          <a:latin typeface="+mn-lt"/>
                          <a:cs typeface="+mn-lt"/>
                        </a:rPr>
                        <a:t>Mecanismo 2 — Aumento por mérito: mover a la persona dentro de su propia banda</a:t>
                      </a:r>
                    </a:p>
                    <a:p>
                      <a:pPr algn="l">
                        <a:lnSpc>
                          <a:spcPct val="90000"/>
                        </a:lnSpc>
                        <a:spcBef>
                          <a:spcPts val="150"/>
                        </a:spcBef>
                        <a:buNone/>
                      </a:pPr>
                      <a:r>
                        <a:rPr lang="es-CL" sz="750" dirty="0">
                          <a:solidFill>
                            <a:srgbClr val="6B655C"/>
                          </a:solidFill>
                          <a:latin typeface="+mn-lt"/>
                          <a:cs typeface="+mn-lt"/>
                        </a:rPr>
                        <a:t>anual y según nota de desempeño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ctr">
                        <a:lnSpc>
                          <a:spcPct val="90000"/>
                        </a:lnSpc>
                        <a:buNone/>
                      </a:pPr>
                      <a:r>
                        <a:rPr lang="es-CL" sz="800" dirty="0">
                          <a:solidFill>
                            <a:srgbClr val="6B655C"/>
                          </a:solidFill>
                          <a:latin typeface="+mn-lt"/>
                          <a:cs typeface="+mn-lt"/>
                        </a:rPr>
                        <a:t>7.5.1.5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l">
                        <a:lnSpc>
                          <a:spcPct val="90000"/>
                        </a:lnSpc>
                        <a:buNone/>
                      </a:pPr>
                      <a:r>
                        <a:rPr lang="es-CL" sz="850" b="1" dirty="0">
                          <a:solidFill>
                            <a:srgbClr val="14567A"/>
                          </a:solidFill>
                          <a:latin typeface="+mn-lt"/>
                          <a:cs typeface="+mn-lt"/>
                        </a:rPr>
                        <a:t>Control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l">
                        <a:lnSpc>
                          <a:spcPct val="90000"/>
                        </a:lnSpc>
                        <a:buNone/>
                      </a:pPr>
                      <a:r>
                        <a:rPr lang="es-CL" sz="850" dirty="0">
                          <a:solidFill>
                            <a:srgbClr val="3F3A33"/>
                          </a:solidFill>
                          <a:latin typeface="+mn-lt"/>
                          <a:cs typeface="+mn-lt"/>
                        </a:rPr>
                        <a:t>Controles · Mecanismos de ajuste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extLst>
                  <a:ext uri="{0D108BD9-81ED-4DB2-BD59-A6C34878D82A}">
                    <a16:rowId xmlns:a16="http://schemas.microsoft.com/office/drawing/2014/main" val="10011"/>
                  </a:ext>
                </a:extLst>
              </a:tr>
              <a:tr h="323418">
                <a:tc>
                  <a:txBody>
                    <a:bodyPr/>
                    <a:lstStyle/>
                    <a:p>
                      <a:pPr algn="ctr">
                        <a:lnSpc>
                          <a:spcPct val="90000"/>
                        </a:lnSpc>
                        <a:buNone/>
                      </a:pPr>
                      <a:r>
                        <a:rPr lang="es-CL" sz="850" b="1" dirty="0">
                          <a:solidFill>
                            <a:srgbClr val="3F3A33"/>
                          </a:solidFill>
                          <a:latin typeface="+mn-lt"/>
                          <a:cs typeface="+mn-lt"/>
                        </a:rPr>
                        <a:t>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l">
                        <a:lnSpc>
                          <a:spcPct val="90000"/>
                        </a:lnSpc>
                        <a:buNone/>
                      </a:pPr>
                      <a:r>
                        <a:rPr lang="es-CL" sz="850" dirty="0">
                          <a:solidFill>
                            <a:srgbClr val="3F3A33"/>
                          </a:solidFill>
                          <a:latin typeface="+mn-lt"/>
                          <a:cs typeface="+mn-lt"/>
                        </a:rPr>
                        <a:t>Mecanismo 2 — Aplicar la matriz de mérito: cruce de nota de desempeño por cuartil de compa-ratio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ctr">
                        <a:lnSpc>
                          <a:spcPct val="90000"/>
                        </a:lnSpc>
                        <a:buNone/>
                      </a:pPr>
                      <a:r>
                        <a:rPr lang="es-CL" sz="800" dirty="0">
                          <a:solidFill>
                            <a:srgbClr val="6B655C"/>
                          </a:solidFill>
                          <a:latin typeface="+mn-lt"/>
                          <a:cs typeface="+mn-lt"/>
                        </a:rPr>
                        <a:t>7.5.1.5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l">
                        <a:lnSpc>
                          <a:spcPct val="90000"/>
                        </a:lnSpc>
                        <a:buNone/>
                      </a:pPr>
                      <a:r>
                        <a:rPr lang="es-CL" sz="850" b="1" dirty="0">
                          <a:solidFill>
                            <a:srgbClr val="14567A"/>
                          </a:solidFill>
                          <a:latin typeface="+mn-lt"/>
                          <a:cs typeface="+mn-lt"/>
                        </a:rPr>
                        <a:t>Control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l">
                        <a:lnSpc>
                          <a:spcPct val="90000"/>
                        </a:lnSpc>
                        <a:buNone/>
                      </a:pPr>
                      <a:r>
                        <a:rPr lang="es-CL" sz="850" dirty="0">
                          <a:solidFill>
                            <a:srgbClr val="3F3A33"/>
                          </a:solidFill>
                          <a:latin typeface="+mn-lt"/>
                          <a:cs typeface="+mn-lt"/>
                        </a:rPr>
                        <a:t>Controles · Mecanismos de ajuste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P5 · F14 · Cajas del flujo| </a:t>
            </a:r>
            <a:r>
              <a:rPr lang="es-CL" sz="2000" dirty="0">
                <a:solidFill>
                  <a:srgbClr val="A34100"/>
                </a:solidFill>
                <a:latin typeface="+mn-lt"/>
                <a:cs typeface="+mn-lt"/>
              </a:rPr>
              <a:t>Revisión de renta y beneficios · continuación</a:t>
            </a:r>
            <a:endParaRPr lang="es-CL"/>
          </a:p>
        </p:txBody>
      </p:sp>
      <p:sp>
        <p:nvSpPr>
          <p:cNvPr id="10" name="Banda 10"/>
          <p:cNvSpPr/>
          <p:nvPr/>
        </p:nvSpPr>
        <p:spPr>
          <a:xfrm>
            <a:off x="630000" y="1075000"/>
            <a:ext cx="10933350" cy="310274"/>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950" dirty="0">
                <a:solidFill>
                  <a:srgbClr val="6B655C"/>
                </a:solidFill>
                <a:latin typeface="+mn-lt"/>
                <a:cs typeface="+mn-lt"/>
              </a:rPr>
              <a:t>Continuación de la tabla anterior  ·  página 2 de 2</a:t>
            </a:r>
          </a:p>
        </p:txBody>
      </p:sp>
      <p:graphicFrame>
        <p:nvGraphicFramePr>
          <p:cNvPr id="11" name="Tabla 11"/>
          <p:cNvGraphicFramePr>
            <a:graphicFrameLocks noGrp="1"/>
          </p:cNvGraphicFramePr>
          <p:nvPr/>
        </p:nvGraphicFramePr>
        <p:xfrm>
          <a:off x="630000" y="1475274"/>
          <a:ext cx="10933350" cy="3478935"/>
        </p:xfrm>
        <a:graphic>
          <a:graphicData uri="http://schemas.openxmlformats.org/drawingml/2006/table">
            <a:tbl>
              <a:tblPr firstRow="1"/>
              <a:tblGrid>
                <a:gridCol w="430000">
                  <a:extLst>
                    <a:ext uri="{9D8B030D-6E8A-4147-A177-3AD203B41FA5}">
                      <a16:colId xmlns:a16="http://schemas.microsoft.com/office/drawing/2014/main" val="20000"/>
                    </a:ext>
                  </a:extLst>
                </a:gridCol>
                <a:gridCol w="4320000">
                  <a:extLst>
                    <a:ext uri="{9D8B030D-6E8A-4147-A177-3AD203B41FA5}">
                      <a16:colId xmlns:a16="http://schemas.microsoft.com/office/drawing/2014/main" val="20001"/>
                    </a:ext>
                  </a:extLst>
                </a:gridCol>
                <a:gridCol w="780000">
                  <a:extLst>
                    <a:ext uri="{9D8B030D-6E8A-4147-A177-3AD203B41FA5}">
                      <a16:colId xmlns:a16="http://schemas.microsoft.com/office/drawing/2014/main" val="20002"/>
                    </a:ext>
                  </a:extLst>
                </a:gridCol>
                <a:gridCol w="1320000">
                  <a:extLst>
                    <a:ext uri="{9D8B030D-6E8A-4147-A177-3AD203B41FA5}">
                      <a16:colId xmlns:a16="http://schemas.microsoft.com/office/drawing/2014/main" val="20003"/>
                    </a:ext>
                  </a:extLst>
                </a:gridCol>
                <a:gridCol w="4083350">
                  <a:extLst>
                    <a:ext uri="{9D8B030D-6E8A-4147-A177-3AD203B41FA5}">
                      <a16:colId xmlns:a16="http://schemas.microsoft.com/office/drawing/2014/main" val="20004"/>
                    </a:ext>
                  </a:extLst>
                </a:gridCol>
              </a:tblGrid>
              <a:tr h="211861">
                <a:tc>
                  <a:txBody>
                    <a:bodyPr/>
                    <a:lstStyle/>
                    <a:p>
                      <a:pPr algn="ctr">
                        <a:lnSpc>
                          <a:spcPct val="90000"/>
                        </a:lnSpc>
                        <a:buNone/>
                      </a:pPr>
                      <a:r>
                        <a:rPr lang="es-CL" sz="900" b="1" dirty="0">
                          <a:solidFill>
                            <a:srgbClr val="FFFFFF"/>
                          </a:solidFill>
                          <a:latin typeface="+mn-lt"/>
                          <a:cs typeface="+mn-lt"/>
                        </a:rPr>
                        <a:t>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Caja del diagrama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ctr">
                        <a:lnSpc>
                          <a:spcPct val="90000"/>
                        </a:lnSpc>
                        <a:buNone/>
                      </a:pPr>
                      <a:r>
                        <a:rPr lang="es-CL" sz="900" b="1" dirty="0">
                          <a:solidFill>
                            <a:srgbClr val="FFFFFF"/>
                          </a:solidFill>
                          <a:latin typeface="+mn-lt"/>
                          <a:cs typeface="+mn-lt"/>
                        </a:rPr>
                        <a:t>APQC</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Jerarquía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Agrupación y observaciones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extLst>
                  <a:ext uri="{0D108BD9-81ED-4DB2-BD59-A6C34878D82A}">
                    <a16:rowId xmlns:a16="http://schemas.microsoft.com/office/drawing/2014/main" val="10000"/>
                  </a:ext>
                </a:extLst>
              </a:tr>
              <a:tr h="428003">
                <a:tc>
                  <a:txBody>
                    <a:bodyPr/>
                    <a:lstStyle/>
                    <a:p>
                      <a:pPr algn="ctr">
                        <a:lnSpc>
                          <a:spcPct val="90000"/>
                        </a:lnSpc>
                        <a:buNone/>
                      </a:pPr>
                      <a:r>
                        <a:rPr lang="es-CL" sz="850" b="1" dirty="0">
                          <a:solidFill>
                            <a:srgbClr val="3F3A33"/>
                          </a:solidFill>
                          <a:latin typeface="+mn-lt"/>
                          <a:cs typeface="+mn-lt"/>
                        </a:rPr>
                        <a:t>12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l">
                        <a:lnSpc>
                          <a:spcPct val="90000"/>
                        </a:lnSpc>
                        <a:buNone/>
                      </a:pPr>
                      <a:r>
                        <a:rPr lang="es-CL" sz="850" dirty="0">
                          <a:solidFill>
                            <a:srgbClr val="3F3A33"/>
                          </a:solidFill>
                          <a:latin typeface="+mn-lt"/>
                          <a:cs typeface="+mn-lt"/>
                        </a:rPr>
                        <a:t>Mecanismo 3 — Ajuste por equidad o mercado: corregir a quien está bajo banda o en inequidad interna</a:t>
                      </a:r>
                    </a:p>
                    <a:p>
                      <a:pPr algn="l">
                        <a:lnSpc>
                          <a:spcPct val="90000"/>
                        </a:lnSpc>
                        <a:spcBef>
                          <a:spcPts val="150"/>
                        </a:spcBef>
                        <a:buNone/>
                      </a:pPr>
                      <a:r>
                        <a:rPr lang="es-CL" sz="750" dirty="0">
                          <a:solidFill>
                            <a:srgbClr val="6B655C"/>
                          </a:solidFill>
                          <a:latin typeface="+mn-lt"/>
                          <a:cs typeface="+mn-lt"/>
                        </a:rPr>
                        <a:t>fuera de ciclo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ctr">
                        <a:lnSpc>
                          <a:spcPct val="90000"/>
                        </a:lnSpc>
                        <a:buNone/>
                      </a:pPr>
                      <a:r>
                        <a:rPr lang="es-CL" sz="800" dirty="0">
                          <a:solidFill>
                            <a:srgbClr val="6B655C"/>
                          </a:solidFill>
                          <a:latin typeface="+mn-lt"/>
                          <a:cs typeface="+mn-lt"/>
                        </a:rPr>
                        <a:t>7.5.1.5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l">
                        <a:lnSpc>
                          <a:spcPct val="90000"/>
                        </a:lnSpc>
                        <a:buNone/>
                      </a:pPr>
                      <a:r>
                        <a:rPr lang="es-CL" sz="850" b="1" dirty="0">
                          <a:solidFill>
                            <a:srgbClr val="14567A"/>
                          </a:solidFill>
                          <a:latin typeface="+mn-lt"/>
                          <a:cs typeface="+mn-lt"/>
                        </a:rPr>
                        <a:t>Control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l">
                        <a:lnSpc>
                          <a:spcPct val="90000"/>
                        </a:lnSpc>
                        <a:buNone/>
                      </a:pPr>
                      <a:r>
                        <a:rPr lang="es-CL" sz="850" dirty="0">
                          <a:solidFill>
                            <a:srgbClr val="3F3A33"/>
                          </a:solidFill>
                          <a:latin typeface="+mn-lt"/>
                          <a:cs typeface="+mn-lt"/>
                        </a:rPr>
                        <a:t>Controles · Mecanismos de ajuste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extLst>
                  <a:ext uri="{0D108BD9-81ED-4DB2-BD59-A6C34878D82A}">
                    <a16:rowId xmlns:a16="http://schemas.microsoft.com/office/drawing/2014/main" val="10001"/>
                  </a:ext>
                </a:extLst>
              </a:tr>
              <a:tr h="428003">
                <a:tc>
                  <a:txBody>
                    <a:bodyPr/>
                    <a:lstStyle/>
                    <a:p>
                      <a:pPr algn="ctr">
                        <a:lnSpc>
                          <a:spcPct val="90000"/>
                        </a:lnSpc>
                        <a:buNone/>
                      </a:pPr>
                      <a:r>
                        <a:rPr lang="es-CL" sz="850" b="1" dirty="0">
                          <a:solidFill>
                            <a:srgbClr val="3F3A33"/>
                          </a:solidFill>
                          <a:latin typeface="+mn-lt"/>
                          <a:cs typeface="+mn-lt"/>
                        </a:rPr>
                        <a:t>13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l">
                        <a:lnSpc>
                          <a:spcPct val="90000"/>
                        </a:lnSpc>
                        <a:buNone/>
                      </a:pPr>
                      <a:r>
                        <a:rPr lang="es-CL" sz="850" dirty="0">
                          <a:solidFill>
                            <a:srgbClr val="3F3A33"/>
                          </a:solidFill>
                          <a:latin typeface="+mn-lt"/>
                          <a:cs typeface="+mn-lt"/>
                        </a:rPr>
                        <a:t>Mecanismo 4 — Aumento por promoción: reasignar a la persona a un grado superior</a:t>
                      </a:r>
                    </a:p>
                    <a:p>
                      <a:pPr algn="l">
                        <a:lnSpc>
                          <a:spcPct val="90000"/>
                        </a:lnSpc>
                        <a:spcBef>
                          <a:spcPts val="150"/>
                        </a:spcBef>
                        <a:buNone/>
                      </a:pPr>
                      <a:r>
                        <a:rPr lang="es-CL" sz="750" dirty="0">
                          <a:solidFill>
                            <a:srgbClr val="6B655C"/>
                          </a:solidFill>
                          <a:latin typeface="+mn-lt"/>
                          <a:cs typeface="+mn-lt"/>
                        </a:rPr>
                        <a:t>fuera de ciclo y gatillado por la promoción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ctr">
                        <a:lnSpc>
                          <a:spcPct val="90000"/>
                        </a:lnSpc>
                        <a:buNone/>
                      </a:pPr>
                      <a:r>
                        <a:rPr lang="es-CL" sz="800" dirty="0">
                          <a:solidFill>
                            <a:srgbClr val="6B655C"/>
                          </a:solidFill>
                          <a:latin typeface="+mn-lt"/>
                          <a:cs typeface="+mn-lt"/>
                        </a:rPr>
                        <a:t>7.6.1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l">
                        <a:lnSpc>
                          <a:spcPct val="90000"/>
                        </a:lnSpc>
                        <a:buNone/>
                      </a:pPr>
                      <a:r>
                        <a:rPr lang="es-CL" sz="850" b="1" dirty="0">
                          <a:solidFill>
                            <a:srgbClr val="14567A"/>
                          </a:solidFill>
                          <a:latin typeface="+mn-lt"/>
                          <a:cs typeface="+mn-lt"/>
                        </a:rPr>
                        <a:t>Control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tc>
                  <a:txBody>
                    <a:bodyPr/>
                    <a:lstStyle/>
                    <a:p>
                      <a:pPr algn="l">
                        <a:lnSpc>
                          <a:spcPct val="90000"/>
                        </a:lnSpc>
                        <a:buNone/>
                      </a:pPr>
                      <a:r>
                        <a:rPr lang="es-CL" sz="850" dirty="0">
                          <a:solidFill>
                            <a:srgbClr val="3F3A33"/>
                          </a:solidFill>
                          <a:latin typeface="+mn-lt"/>
                          <a:cs typeface="+mn-lt"/>
                        </a:rPr>
                        <a:t>Controles · Mecanismos de ajuste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E6EFF5"/>
                    </a:solidFill>
                  </a:tcPr>
                </a:tc>
                <a:extLst>
                  <a:ext uri="{0D108BD9-81ED-4DB2-BD59-A6C34878D82A}">
                    <a16:rowId xmlns:a16="http://schemas.microsoft.com/office/drawing/2014/main" val="10002"/>
                  </a:ext>
                </a:extLst>
              </a:tr>
              <a:tr h="323418">
                <a:tc>
                  <a:txBody>
                    <a:bodyPr/>
                    <a:lstStyle/>
                    <a:p>
                      <a:pPr algn="ctr">
                        <a:lnSpc>
                          <a:spcPct val="90000"/>
                        </a:lnSpc>
                        <a:buNone/>
                      </a:pPr>
                      <a:r>
                        <a:rPr lang="es-CL" sz="850" b="1" dirty="0">
                          <a:solidFill>
                            <a:srgbClr val="3F3A33"/>
                          </a:solidFill>
                          <a:latin typeface="+mn-lt"/>
                          <a:cs typeface="+mn-lt"/>
                        </a:rPr>
                        <a:t>14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Diseñar alternativas de ajuste salarial y de beneficios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7.5.1.1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A3 · Diseño y aprobación de la propuesta — Agrupación interna propuesta con base en APQC 7.5.1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3"/>
                  </a:ext>
                </a:extLst>
              </a:tr>
              <a:tr h="204889">
                <a:tc>
                  <a:txBody>
                    <a:bodyPr/>
                    <a:lstStyle/>
                    <a:p>
                      <a:pPr algn="ctr">
                        <a:lnSpc>
                          <a:spcPct val="90000"/>
                        </a:lnSpc>
                        <a:buNone/>
                      </a:pPr>
                      <a:r>
                        <a:rPr lang="es-CL" sz="850" b="1" dirty="0">
                          <a:solidFill>
                            <a:srgbClr val="3F3A33"/>
                          </a:solidFill>
                          <a:latin typeface="+mn-lt"/>
                          <a:cs typeface="+mn-lt"/>
                        </a:rPr>
                        <a:t>15</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Revisar el costo de la propuesta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7.5.1.4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A3 · Diseño y aprobación de la propuesta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4"/>
                  </a:ext>
                </a:extLst>
              </a:tr>
              <a:tr h="204889">
                <a:tc>
                  <a:txBody>
                    <a:bodyPr/>
                    <a:lstStyle/>
                    <a:p>
                      <a:pPr algn="ctr">
                        <a:lnSpc>
                          <a:spcPct val="90000"/>
                        </a:lnSpc>
                        <a:buNone/>
                      </a:pPr>
                      <a:r>
                        <a:rPr lang="es-CL" sz="850" b="1" dirty="0">
                          <a:solidFill>
                            <a:srgbClr val="3F3A33"/>
                          </a:solidFill>
                          <a:latin typeface="+mn-lt"/>
                          <a:cs typeface="+mn-lt"/>
                        </a:rPr>
                        <a:t>16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Presentar la propuesta a Gerencia de Personas y negocios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7.5.1.4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A3 · Diseño y aprobación de la propuesta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5"/>
                  </a:ext>
                </a:extLst>
              </a:tr>
              <a:tr h="204889">
                <a:tc>
                  <a:txBody>
                    <a:bodyPr/>
                    <a:lstStyle/>
                    <a:p>
                      <a:pPr algn="ctr">
                        <a:lnSpc>
                          <a:spcPct val="90000"/>
                        </a:lnSpc>
                        <a:buNone/>
                      </a:pPr>
                      <a:r>
                        <a:rPr lang="es-CL" sz="850" b="1" dirty="0">
                          <a:solidFill>
                            <a:srgbClr val="3F3A33"/>
                          </a:solidFill>
                          <a:latin typeface="+mn-lt"/>
                          <a:cs typeface="+mn-lt"/>
                        </a:rPr>
                        <a:t>17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Ajustar, definir versión final y realizar el flujo de aprobación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7.5.1.4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A3 · Diseño y aprobación de la propuesta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6"/>
                  </a:ext>
                </a:extLst>
              </a:tr>
              <a:tr h="204889">
                <a:tc>
                  <a:txBody>
                    <a:bodyPr/>
                    <a:lstStyle/>
                    <a:p>
                      <a:pPr algn="ctr">
                        <a:lnSpc>
                          <a:spcPct val="90000"/>
                        </a:lnSpc>
                        <a:buNone/>
                      </a:pPr>
                      <a:r>
                        <a:rPr lang="es-CL" sz="850" b="1" dirty="0">
                          <a:solidFill>
                            <a:srgbClr val="3F3A33"/>
                          </a:solidFill>
                          <a:latin typeface="+mn-lt"/>
                          <a:cs typeface="+mn-lt"/>
                        </a:rPr>
                        <a:t>18</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Ingresar los ajustes en el sistema de remuneraciones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7.5.4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A4 · Implementación en remuneraciones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7"/>
                  </a:ext>
                </a:extLst>
              </a:tr>
              <a:tr h="323418">
                <a:tc>
                  <a:txBody>
                    <a:bodyPr/>
                    <a:lstStyle/>
                    <a:p>
                      <a:pPr algn="ctr">
                        <a:lnSpc>
                          <a:spcPct val="90000"/>
                        </a:lnSpc>
                        <a:buNone/>
                      </a:pPr>
                      <a:r>
                        <a:rPr lang="es-CL" sz="850" b="1" dirty="0">
                          <a:solidFill>
                            <a:srgbClr val="3F3A33"/>
                          </a:solidFill>
                          <a:latin typeface="+mn-lt"/>
                          <a:cs typeface="+mn-lt"/>
                        </a:rPr>
                        <a:t>19</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Incorporar los beneficios en las plataformas correspondientes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7.5.2.2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A1 · Aplicación de beneficios — Agrupación interna propuesta con base en APQC 7.5.2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8"/>
                  </a:ext>
                </a:extLst>
              </a:tr>
              <a:tr h="204889">
                <a:tc>
                  <a:txBody>
                    <a:bodyPr/>
                    <a:lstStyle/>
                    <a:p>
                      <a:pPr algn="ctr">
                        <a:lnSpc>
                          <a:spcPct val="90000"/>
                        </a:lnSpc>
                        <a:buNone/>
                      </a:pPr>
                      <a:r>
                        <a:rPr lang="es-CL" sz="850" b="1" dirty="0">
                          <a:solidFill>
                            <a:srgbClr val="3F3A33"/>
                          </a:solidFill>
                          <a:latin typeface="+mn-lt"/>
                          <a:cs typeface="+mn-lt"/>
                        </a:rPr>
                        <a:t>20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Aplicar los beneficios según lo establecido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ctr">
                        <a:lnSpc>
                          <a:spcPct val="90000"/>
                        </a:lnSpc>
                        <a:buNone/>
                      </a:pPr>
                      <a:r>
                        <a:rPr lang="es-CL" sz="800" dirty="0">
                          <a:solidFill>
                            <a:srgbClr val="6B655C"/>
                          </a:solidFill>
                          <a:latin typeface="+mn-lt"/>
                          <a:cs typeface="+mn-lt"/>
                        </a:rPr>
                        <a:t>7.5.2.1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A1 · Aplicación de beneficios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9"/>
                  </a:ext>
                </a:extLst>
              </a:tr>
              <a:tr h="204889">
                <a:tc>
                  <a:txBody>
                    <a:bodyPr/>
                    <a:lstStyle/>
                    <a:p>
                      <a:pPr algn="ctr">
                        <a:lnSpc>
                          <a:spcPct val="90000"/>
                        </a:lnSpc>
                        <a:buNone/>
                      </a:pPr>
                      <a:r>
                        <a:rPr lang="es-CL" sz="850" b="1" dirty="0">
                          <a:solidFill>
                            <a:srgbClr val="3F3A33"/>
                          </a:solidFill>
                          <a:latin typeface="+mn-lt"/>
                          <a:cs typeface="+mn-lt"/>
                        </a:rPr>
                        <a:t>21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Verificar que los ajustes se reflejen en la nómina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7.5.2.4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A1 · Aplicación de beneficios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10"/>
                  </a:ext>
                </a:extLst>
              </a:tr>
              <a:tr h="204889">
                <a:tc>
                  <a:txBody>
                    <a:bodyPr/>
                    <a:lstStyle/>
                    <a:p>
                      <a:pPr algn="ctr">
                        <a:lnSpc>
                          <a:spcPct val="90000"/>
                        </a:lnSpc>
                        <a:buNone/>
                      </a:pPr>
                      <a:r>
                        <a:rPr lang="es-CL" sz="850" b="1" dirty="0">
                          <a:solidFill>
                            <a:srgbClr val="6F5800"/>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¿Existe alguna desviación?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ctr">
                        <a:lnSpc>
                          <a:spcPct val="90000"/>
                        </a:lnSpc>
                        <a:buNone/>
                      </a:pPr>
                      <a:r>
                        <a:rPr lang="es-CL" sz="800" dirty="0">
                          <a:solidFill>
                            <a:srgbClr val="6B655C"/>
                          </a:solidFill>
                          <a:latin typeface="+mn-lt"/>
                          <a:cs typeface="+mn-lt"/>
                        </a:rPr>
                        <a:t>—</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b="1" dirty="0">
                          <a:solidFill>
                            <a:srgbClr val="6F5800"/>
                          </a:solidFill>
                          <a:latin typeface="+mn-lt"/>
                          <a:cs typeface="+mn-lt"/>
                        </a:rPr>
                        <a:t>Decisión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tc>
                  <a:txBody>
                    <a:bodyPr/>
                    <a:lstStyle/>
                    <a:p>
                      <a:pPr algn="l">
                        <a:lnSpc>
                          <a:spcPct val="90000"/>
                        </a:lnSpc>
                        <a:buNone/>
                      </a:pPr>
                      <a:r>
                        <a:rPr lang="es-CL" sz="850" dirty="0">
                          <a:solidFill>
                            <a:srgbClr val="3F3A33"/>
                          </a:solidFill>
                          <a:latin typeface="+mn-lt"/>
                          <a:cs typeface="+mn-lt"/>
                        </a:rPr>
                        <a:t>No entra en la numeración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BF4DF"/>
                    </a:solidFill>
                  </a:tcPr>
                </a:tc>
                <a:extLst>
                  <a:ext uri="{0D108BD9-81ED-4DB2-BD59-A6C34878D82A}">
                    <a16:rowId xmlns:a16="http://schemas.microsoft.com/office/drawing/2014/main" val="10011"/>
                  </a:ext>
                </a:extLst>
              </a:tr>
              <a:tr h="323418">
                <a:tc>
                  <a:txBody>
                    <a:bodyPr/>
                    <a:lstStyle/>
                    <a:p>
                      <a:pPr algn="ctr">
                        <a:lnSpc>
                          <a:spcPct val="90000"/>
                        </a:lnSpc>
                        <a:buNone/>
                      </a:pPr>
                      <a:r>
                        <a:rPr lang="es-CL" sz="850" b="1" dirty="0">
                          <a:solidFill>
                            <a:srgbClr val="3F3A33"/>
                          </a:solidFill>
                          <a:latin typeface="+mn-lt"/>
                          <a:cs typeface="+mn-lt"/>
                        </a:rPr>
                        <a:t>22</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Ajustar los procedimientos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ctr">
                        <a:lnSpc>
                          <a:spcPct val="90000"/>
                        </a:lnSpc>
                        <a:buNone/>
                      </a:pPr>
                      <a:r>
                        <a:rPr lang="es-CL" sz="800" dirty="0">
                          <a:solidFill>
                            <a:srgbClr val="6B655C"/>
                          </a:solidFill>
                          <a:latin typeface="+mn-lt"/>
                          <a:cs typeface="+mn-lt"/>
                        </a:rPr>
                        <a:t>7.1.2.11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b="1" dirty="0">
                          <a:solidFill>
                            <a:srgbClr val="3F3A33"/>
                          </a:solidFill>
                          <a:latin typeface="+mn-lt"/>
                          <a:cs typeface="+mn-lt"/>
                        </a:rPr>
                        <a:t>Actividad</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A5 · Ajuste de procedimientos — Agrupación interna propuesta con base en APQC 7.5.1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Cierre| </a:t>
            </a:r>
            <a:r>
              <a:rPr lang="es-CL" sz="2000" dirty="0">
                <a:solidFill>
                  <a:srgbClr val="A34100"/>
                </a:solidFill>
                <a:latin typeface="+mn-lt"/>
                <a:cs typeface="+mn-lt"/>
              </a:rPr>
              <a:t>Observaciones y tensiones detectadas</a:t>
            </a:r>
            <a:endParaRPr lang="es-CL"/>
          </a:p>
        </p:txBody>
      </p:sp>
      <p:sp>
        <p:nvSpPr>
          <p:cNvPr id="10" name="Banda 10"/>
          <p:cNvSpPr/>
          <p:nvPr/>
        </p:nvSpPr>
        <p:spPr>
          <a:xfrm>
            <a:off x="630000" y="1075000"/>
            <a:ext cx="10933350" cy="324218"/>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1050" dirty="0">
                <a:solidFill>
                  <a:srgbClr val="3F3A33"/>
                </a:solidFill>
                <a:latin typeface="+mn-lt"/>
                <a:cs typeface="+mn-lt"/>
              </a:rPr>
              <a:t>Puntos donde la clasificación quedó abierta o donde el contenido tensiona la agrupación.</a:t>
            </a:r>
          </a:p>
        </p:txBody>
      </p:sp>
      <p:graphicFrame>
        <p:nvGraphicFramePr>
          <p:cNvPr id="11" name="Tabla 11"/>
          <p:cNvGraphicFramePr>
            <a:graphicFrameLocks noGrp="1"/>
          </p:cNvGraphicFramePr>
          <p:nvPr/>
        </p:nvGraphicFramePr>
        <p:xfrm>
          <a:off x="630000" y="1489218"/>
          <a:ext cx="10933350" cy="2648507"/>
        </p:xfrm>
        <a:graphic>
          <a:graphicData uri="http://schemas.openxmlformats.org/drawingml/2006/table">
            <a:tbl>
              <a:tblPr firstRow="1"/>
              <a:tblGrid>
                <a:gridCol w="1800000">
                  <a:extLst>
                    <a:ext uri="{9D8B030D-6E8A-4147-A177-3AD203B41FA5}">
                      <a16:colId xmlns:a16="http://schemas.microsoft.com/office/drawing/2014/main" val="20000"/>
                    </a:ext>
                  </a:extLst>
                </a:gridCol>
                <a:gridCol w="4600000">
                  <a:extLst>
                    <a:ext uri="{9D8B030D-6E8A-4147-A177-3AD203B41FA5}">
                      <a16:colId xmlns:a16="http://schemas.microsoft.com/office/drawing/2014/main" val="20001"/>
                    </a:ext>
                  </a:extLst>
                </a:gridCol>
                <a:gridCol w="4533350">
                  <a:extLst>
                    <a:ext uri="{9D8B030D-6E8A-4147-A177-3AD203B41FA5}">
                      <a16:colId xmlns:a16="http://schemas.microsoft.com/office/drawing/2014/main" val="20002"/>
                    </a:ext>
                  </a:extLst>
                </a:gridCol>
              </a:tblGrid>
              <a:tr h="211861">
                <a:tc>
                  <a:txBody>
                    <a:bodyPr/>
                    <a:lstStyle/>
                    <a:p>
                      <a:pPr algn="l">
                        <a:lnSpc>
                          <a:spcPct val="90000"/>
                        </a:lnSpc>
                        <a:buNone/>
                      </a:pPr>
                      <a:r>
                        <a:rPr lang="es-CL" sz="900" b="1" dirty="0">
                          <a:solidFill>
                            <a:srgbClr val="FFFFFF"/>
                          </a:solidFill>
                          <a:latin typeface="+mn-lt"/>
                          <a:cs typeface="+mn-lt"/>
                        </a:rPr>
                        <a:t>Dónde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Qué se observó</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Qué hay que resolver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extLst>
                  <a:ext uri="{0D108BD9-81ED-4DB2-BD59-A6C34878D82A}">
                    <a16:rowId xmlns:a16="http://schemas.microsoft.com/office/drawing/2014/main" val="10000"/>
                  </a:ext>
                </a:extLst>
              </a:tr>
              <a:tr h="323418">
                <a:tc>
                  <a:txBody>
                    <a:bodyPr/>
                    <a:lstStyle/>
                    <a:p>
                      <a:pPr algn="l">
                        <a:lnSpc>
                          <a:spcPct val="90000"/>
                        </a:lnSpc>
                        <a:buNone/>
                      </a:pPr>
                      <a:r>
                        <a:rPr lang="es-CL" sz="850" b="1" dirty="0">
                          <a:solidFill>
                            <a:srgbClr val="3F3A33"/>
                          </a:solidFill>
                          <a:latin typeface="+mn-lt"/>
                          <a:cs typeface="+mn-lt"/>
                        </a:rPr>
                        <a:t>F1 · caja 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«Estimar dotación futura según proyecciones» rotula el subproceso 2, pero no quedó dentro de las actividades 2–6.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Confirmar si es actividad de cierre o solo el rótulo.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1"/>
                  </a:ext>
                </a:extLst>
              </a:tr>
              <a:tr h="323418">
                <a:tc>
                  <a:txBody>
                    <a:bodyPr/>
                    <a:lstStyle/>
                    <a:p>
                      <a:pPr algn="l">
                        <a:lnSpc>
                          <a:spcPct val="90000"/>
                        </a:lnSpc>
                        <a:buNone/>
                      </a:pPr>
                      <a:r>
                        <a:rPr lang="es-CL" sz="850" b="1" dirty="0">
                          <a:solidFill>
                            <a:srgbClr val="3F3A33"/>
                          </a:solidFill>
                          <a:latin typeface="+mn-lt"/>
                          <a:cs typeface="+mn-lt"/>
                        </a:rPr>
                        <a:t>F2 · cajas 12–13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Revalorización anual del grado y administración transversal del marco quedaron en el subproceso 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Por contenido podrían pertenecer al subproceso 3, que es justamente la administración periódica.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2"/>
                  </a:ext>
                </a:extLst>
              </a:tr>
              <a:tr h="323418">
                <a:tc>
                  <a:txBody>
                    <a:bodyPr/>
                    <a:lstStyle/>
                    <a:p>
                      <a:pPr algn="l">
                        <a:lnSpc>
                          <a:spcPct val="90000"/>
                        </a:lnSpc>
                        <a:buNone/>
                      </a:pPr>
                      <a:r>
                        <a:rPr lang="es-CL" sz="850" b="1" dirty="0">
                          <a:solidFill>
                            <a:srgbClr val="3F3A33"/>
                          </a:solidFill>
                          <a:latin typeface="+mn-lt"/>
                          <a:cs typeface="+mn-lt"/>
                        </a:rPr>
                        <a:t>F3</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El subproceso está definido, pero no la jerarquía interna de sus 15 cajas.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Definir qué cajas son actividades y qué cajas son tareas.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3"/>
                  </a:ext>
                </a:extLst>
              </a:tr>
              <a:tr h="204889">
                <a:tc>
                  <a:txBody>
                    <a:bodyPr/>
                    <a:lstStyle/>
                    <a:p>
                      <a:pPr algn="l">
                        <a:lnSpc>
                          <a:spcPct val="90000"/>
                        </a:lnSpc>
                        <a:buNone/>
                      </a:pPr>
                      <a:r>
                        <a:rPr lang="es-CL" sz="850" b="1" dirty="0">
                          <a:solidFill>
                            <a:srgbClr val="3F3A33"/>
                          </a:solidFill>
                          <a:latin typeface="+mn-lt"/>
                          <a:cs typeface="+mn-lt"/>
                        </a:rPr>
                        <a:t>F4 a F10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Cada fase es una actividad y sus cajas son tareas.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Depurar las tareas demasiado operativas para el manual.</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4"/>
                  </a:ext>
                </a:extLst>
              </a:tr>
              <a:tr h="204889">
                <a:tc>
                  <a:txBody>
                    <a:bodyPr/>
                    <a:lstStyle/>
                    <a:p>
                      <a:pPr algn="l">
                        <a:lnSpc>
                          <a:spcPct val="90000"/>
                        </a:lnSpc>
                        <a:buNone/>
                      </a:pPr>
                      <a:r>
                        <a:rPr lang="es-CL" sz="850" b="1" dirty="0">
                          <a:solidFill>
                            <a:srgbClr val="3F3A33"/>
                          </a:solidFill>
                          <a:latin typeface="+mn-lt"/>
                          <a:cs typeface="+mn-lt"/>
                        </a:rPr>
                        <a:t>F11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19 cajas sin agrupar.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Se propone una agrupación en 6 actividades según APQC 7.3.4.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5"/>
                  </a:ext>
                </a:extLst>
              </a:tr>
              <a:tr h="323418">
                <a:tc>
                  <a:txBody>
                    <a:bodyPr/>
                    <a:lstStyle/>
                    <a:p>
                      <a:pPr algn="l">
                        <a:lnSpc>
                          <a:spcPct val="90000"/>
                        </a:lnSpc>
                        <a:buNone/>
                      </a:pPr>
                      <a:r>
                        <a:rPr lang="es-CL" sz="850" b="1" dirty="0">
                          <a:solidFill>
                            <a:srgbClr val="3F3A33"/>
                          </a:solidFill>
                          <a:latin typeface="+mn-lt"/>
                          <a:cs typeface="+mn-lt"/>
                        </a:rPr>
                        <a:t>F12 · caja 1</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«Establecer el calendario del proceso de evaluación» es de nivel estratégico.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Requiere un proceso transversal de programación anual que hoy no existe.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6"/>
                  </a:ext>
                </a:extLst>
              </a:tr>
              <a:tr h="323418">
                <a:tc>
                  <a:txBody>
                    <a:bodyPr/>
                    <a:lstStyle/>
                    <a:p>
                      <a:pPr algn="l">
                        <a:lnSpc>
                          <a:spcPct val="90000"/>
                        </a:lnSpc>
                        <a:buNone/>
                      </a:pPr>
                      <a:r>
                        <a:rPr lang="es-CL" sz="850" b="1" dirty="0">
                          <a:solidFill>
                            <a:srgbClr val="3F3A33"/>
                          </a:solidFill>
                          <a:latin typeface="+mn-lt"/>
                          <a:cs typeface="+mn-lt"/>
                        </a:rPr>
                        <a:t>F12 · cajas 5 y 30</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Los marcadores «Ola 2 · mayo» y «Ola 3 · octubre a diciembre» no quedaron asignados.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Definir si son cajas del flujo o solo hitos de calendario.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7"/>
                  </a:ext>
                </a:extLst>
              </a:tr>
              <a:tr h="204889">
                <a:tc>
                  <a:txBody>
                    <a:bodyPr/>
                    <a:lstStyle/>
                    <a:p>
                      <a:pPr algn="l">
                        <a:lnSpc>
                          <a:spcPct val="90000"/>
                        </a:lnSpc>
                        <a:buNone/>
                      </a:pPr>
                      <a:r>
                        <a:rPr lang="es-CL" sz="850" b="1" dirty="0">
                          <a:solidFill>
                            <a:srgbClr val="3F3A33"/>
                          </a:solidFill>
                          <a:latin typeface="+mn-lt"/>
                          <a:cs typeface="+mn-lt"/>
                        </a:rPr>
                        <a:t>F13 · cajas 5 y 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3F3A33"/>
                          </a:solidFill>
                          <a:latin typeface="+mn-lt"/>
                          <a:cs typeface="+mn-lt"/>
                        </a:rPr>
                        <a:t>La caja 5 es control; la caja 6 quedó sin definir entre control y tarea.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850" dirty="0">
                          <a:solidFill>
                            <a:srgbClr val="A34100"/>
                          </a:solidFill>
                          <a:latin typeface="+mn-lt"/>
                          <a:cs typeface="+mn-lt"/>
                        </a:rPr>
                        <a:t>Cerrar la definición de la caja 6.</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8"/>
                  </a:ext>
                </a:extLst>
              </a:tr>
              <a:tr h="204889">
                <a:tc>
                  <a:txBody>
                    <a:bodyPr/>
                    <a:lstStyle/>
                    <a:p>
                      <a:pPr algn="l">
                        <a:lnSpc>
                          <a:spcPct val="90000"/>
                        </a:lnSpc>
                        <a:buNone/>
                      </a:pPr>
                      <a:r>
                        <a:rPr lang="es-CL" sz="850" b="1" dirty="0">
                          <a:solidFill>
                            <a:srgbClr val="3F3A33"/>
                          </a:solidFill>
                          <a:latin typeface="+mn-lt"/>
                          <a:cs typeface="+mn-lt"/>
                        </a:rPr>
                        <a:t>F14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3F3A33"/>
                          </a:solidFill>
                          <a:latin typeface="+mn-lt"/>
                          <a:cs typeface="+mn-lt"/>
                        </a:rPr>
                        <a:t>Dos bloques: remuneración y beneficios.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850" dirty="0">
                          <a:solidFill>
                            <a:srgbClr val="A34100"/>
                          </a:solidFill>
                          <a:latin typeface="+mn-lt"/>
                          <a:cs typeface="+mn-lt"/>
                        </a:rPr>
                        <a:t>Se propone que sean subprocesos de un mismo proceso.</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Cierre| </a:t>
            </a:r>
            <a:r>
              <a:rPr lang="es-CL" sz="2000" dirty="0">
                <a:solidFill>
                  <a:srgbClr val="A34100"/>
                </a:solidFill>
                <a:latin typeface="+mn-lt"/>
                <a:cs typeface="+mn-lt"/>
              </a:rPr>
              <a:t>Preguntas para validar</a:t>
            </a:r>
            <a:endParaRPr lang="es-CL"/>
          </a:p>
        </p:txBody>
      </p:sp>
      <p:sp>
        <p:nvSpPr>
          <p:cNvPr id="10" name="Banda 10"/>
          <p:cNvSpPr/>
          <p:nvPr/>
        </p:nvSpPr>
        <p:spPr>
          <a:xfrm>
            <a:off x="630000" y="1075000"/>
            <a:ext cx="10933350" cy="324218"/>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1050" dirty="0">
                <a:solidFill>
                  <a:srgbClr val="3F3A33"/>
                </a:solidFill>
                <a:latin typeface="+mn-lt"/>
                <a:cs typeface="+mn-lt"/>
              </a:rPr>
              <a:t>Definiciones que requieren confirmación antes de completar el manual.</a:t>
            </a:r>
          </a:p>
        </p:txBody>
      </p:sp>
      <p:sp>
        <p:nvSpPr>
          <p:cNvPr id="11" name="Tarjeta 11"/>
          <p:cNvSpPr/>
          <p:nvPr/>
        </p:nvSpPr>
        <p:spPr>
          <a:xfrm>
            <a:off x="2136071" y="1801189"/>
            <a:ext cx="3564450" cy="598627"/>
          </a:xfrm>
          <a:prstGeom prst="roundRect">
            <a:avLst>
              <a:gd name="adj" fmla="val 5000"/>
            </a:avLst>
          </a:prstGeom>
          <a:solidFill>
            <a:srgbClr val="F6EDE4"/>
          </a:solidFill>
          <a:ln w="9525" cap="flat">
            <a:solidFill>
              <a:srgbClr val="A34100"/>
            </a:solidFill>
          </a:ln>
        </p:spPr>
        <p:txBody>
          <a:bodyPr wrap="square" lIns="76200" tIns="76200" rIns="76200" bIns="76200" anchor="t">
            <a:noAutofit/>
          </a:bodyPr>
          <a:lstStyle/>
          <a:p>
            <a:pPr algn="l">
              <a:lnSpc>
                <a:spcPct val="90000"/>
              </a:lnSpc>
              <a:buNone/>
            </a:pPr>
            <a:r>
              <a:rPr lang="es-CL" sz="1300" b="1" dirty="0">
                <a:solidFill>
                  <a:srgbClr val="A34100"/>
                </a:solidFill>
                <a:latin typeface="+mn-lt"/>
                <a:cs typeface="+mn-lt"/>
              </a:rPr>
              <a:t>01</a:t>
            </a:r>
          </a:p>
          <a:p>
            <a:pPr algn="l">
              <a:lnSpc>
                <a:spcPct val="90000"/>
              </a:lnSpc>
              <a:spcBef>
                <a:spcPts val="200"/>
              </a:spcBef>
              <a:buNone/>
            </a:pPr>
            <a:r>
              <a:rPr lang="es-CL" sz="950" dirty="0">
                <a:solidFill>
                  <a:srgbClr val="3F3A33"/>
                </a:solidFill>
                <a:latin typeface="+mn-lt"/>
                <a:cs typeface="+mn-lt"/>
              </a:rPr>
              <a:t>¿El proceso padre de la fase 3 es «Atracción y selección de personas» o se define otro nombre?</a:t>
            </a:r>
          </a:p>
        </p:txBody>
      </p:sp>
      <p:sp>
        <p:nvSpPr>
          <p:cNvPr id="12" name="Tarjeta 12"/>
          <p:cNvSpPr/>
          <p:nvPr/>
        </p:nvSpPr>
        <p:spPr>
          <a:xfrm>
            <a:off x="2136071" y="2564815"/>
            <a:ext cx="3564450" cy="598627"/>
          </a:xfrm>
          <a:prstGeom prst="roundRect">
            <a:avLst>
              <a:gd name="adj" fmla="val 5000"/>
            </a:avLst>
          </a:prstGeom>
          <a:solidFill>
            <a:srgbClr val="F6EDE4"/>
          </a:solidFill>
          <a:ln w="9525" cap="flat">
            <a:solidFill>
              <a:srgbClr val="A34100"/>
            </a:solidFill>
          </a:ln>
        </p:spPr>
        <p:txBody>
          <a:bodyPr wrap="square" lIns="76200" tIns="76200" rIns="76200" bIns="76200" anchor="t">
            <a:noAutofit/>
          </a:bodyPr>
          <a:lstStyle/>
          <a:p>
            <a:pPr algn="l">
              <a:lnSpc>
                <a:spcPct val="90000"/>
              </a:lnSpc>
              <a:buNone/>
            </a:pPr>
            <a:r>
              <a:rPr lang="es-CL" sz="1300" b="1" dirty="0">
                <a:solidFill>
                  <a:srgbClr val="A34100"/>
                </a:solidFill>
                <a:latin typeface="+mn-lt"/>
                <a:cs typeface="+mn-lt"/>
              </a:rPr>
              <a:t>02</a:t>
            </a:r>
          </a:p>
          <a:p>
            <a:pPr algn="l">
              <a:lnSpc>
                <a:spcPct val="90000"/>
              </a:lnSpc>
              <a:spcBef>
                <a:spcPts val="200"/>
              </a:spcBef>
              <a:buNone/>
            </a:pPr>
            <a:r>
              <a:rPr lang="es-CL" sz="950" dirty="0">
                <a:solidFill>
                  <a:srgbClr val="3F3A33"/>
                </a:solidFill>
                <a:latin typeface="+mn-lt"/>
                <a:cs typeface="+mn-lt"/>
              </a:rPr>
              <a:t>¿Las fases 4 a 10 se agrupan en los cuatro subprocesos propuestos o en otra estructura?</a:t>
            </a:r>
          </a:p>
        </p:txBody>
      </p:sp>
      <p:sp>
        <p:nvSpPr>
          <p:cNvPr id="13" name="Tarjeta 13"/>
          <p:cNvSpPr/>
          <p:nvPr/>
        </p:nvSpPr>
        <p:spPr>
          <a:xfrm>
            <a:off x="2136071" y="3283442"/>
            <a:ext cx="3564450" cy="598627"/>
          </a:xfrm>
          <a:prstGeom prst="roundRect">
            <a:avLst>
              <a:gd name="adj" fmla="val 5000"/>
            </a:avLst>
          </a:prstGeom>
          <a:solidFill>
            <a:srgbClr val="F6EDE4"/>
          </a:solidFill>
          <a:ln w="9525" cap="flat">
            <a:solidFill>
              <a:srgbClr val="A34100"/>
            </a:solidFill>
          </a:ln>
        </p:spPr>
        <p:txBody>
          <a:bodyPr wrap="square" lIns="76200" tIns="76200" rIns="76200" bIns="76200" anchor="t">
            <a:noAutofit/>
          </a:bodyPr>
          <a:lstStyle/>
          <a:p>
            <a:pPr algn="l">
              <a:lnSpc>
                <a:spcPct val="90000"/>
              </a:lnSpc>
              <a:buNone/>
            </a:pPr>
            <a:r>
              <a:rPr lang="es-CL" sz="1300" b="1" dirty="0">
                <a:solidFill>
                  <a:srgbClr val="A34100"/>
                </a:solidFill>
                <a:latin typeface="+mn-lt"/>
                <a:cs typeface="+mn-lt"/>
              </a:rPr>
              <a:t>03</a:t>
            </a:r>
          </a:p>
          <a:p>
            <a:pPr algn="l">
              <a:lnSpc>
                <a:spcPct val="90000"/>
              </a:lnSpc>
              <a:spcBef>
                <a:spcPts val="200"/>
              </a:spcBef>
              <a:buNone/>
            </a:pPr>
            <a:r>
              <a:rPr lang="es-CL" sz="950" dirty="0">
                <a:solidFill>
                  <a:srgbClr val="3F3A33"/>
                </a:solidFill>
                <a:latin typeface="+mn-lt"/>
                <a:cs typeface="+mn-lt"/>
              </a:rPr>
              <a:t>¿«Carrera, sucesión y movilidad» queda bajo «Desarrollo organizacional»?</a:t>
            </a:r>
          </a:p>
        </p:txBody>
      </p:sp>
      <p:sp>
        <p:nvSpPr>
          <p:cNvPr id="14" name="Tarjeta 14"/>
          <p:cNvSpPr/>
          <p:nvPr/>
        </p:nvSpPr>
        <p:spPr>
          <a:xfrm>
            <a:off x="2136071" y="4068444"/>
            <a:ext cx="3564450" cy="598627"/>
          </a:xfrm>
          <a:prstGeom prst="roundRect">
            <a:avLst>
              <a:gd name="adj" fmla="val 5000"/>
            </a:avLst>
          </a:prstGeom>
          <a:solidFill>
            <a:srgbClr val="F6EDE4"/>
          </a:solidFill>
          <a:ln w="9525" cap="flat">
            <a:solidFill>
              <a:srgbClr val="A34100"/>
            </a:solidFill>
          </a:ln>
        </p:spPr>
        <p:txBody>
          <a:bodyPr wrap="square" lIns="76200" tIns="76200" rIns="76200" bIns="76200" anchor="t">
            <a:noAutofit/>
          </a:bodyPr>
          <a:lstStyle/>
          <a:p>
            <a:pPr algn="l">
              <a:lnSpc>
                <a:spcPct val="90000"/>
              </a:lnSpc>
              <a:buNone/>
            </a:pPr>
            <a:r>
              <a:rPr lang="es-CL" sz="1300" b="1" dirty="0">
                <a:solidFill>
                  <a:srgbClr val="A34100"/>
                </a:solidFill>
                <a:latin typeface="+mn-lt"/>
                <a:cs typeface="+mn-lt"/>
              </a:rPr>
              <a:t>04</a:t>
            </a:r>
          </a:p>
          <a:p>
            <a:pPr algn="l">
              <a:lnSpc>
                <a:spcPct val="90000"/>
              </a:lnSpc>
              <a:spcBef>
                <a:spcPts val="200"/>
              </a:spcBef>
              <a:buNone/>
            </a:pPr>
            <a:r>
              <a:rPr lang="es-CL" sz="950" dirty="0">
                <a:solidFill>
                  <a:srgbClr val="3F3A33"/>
                </a:solidFill>
                <a:latin typeface="+mn-lt"/>
                <a:cs typeface="+mn-lt"/>
              </a:rPr>
              <a:t>¿«Remuneración y compensación» y «Beneficios» son subprocesos de un proceso mayor?</a:t>
            </a:r>
          </a:p>
        </p:txBody>
      </p:sp>
      <p:sp>
        <p:nvSpPr>
          <p:cNvPr id="15" name="Tarjeta 15"/>
          <p:cNvSpPr/>
          <p:nvPr/>
        </p:nvSpPr>
        <p:spPr>
          <a:xfrm>
            <a:off x="2136071" y="4853446"/>
            <a:ext cx="3564450" cy="598627"/>
          </a:xfrm>
          <a:prstGeom prst="roundRect">
            <a:avLst>
              <a:gd name="adj" fmla="val 5000"/>
            </a:avLst>
          </a:prstGeom>
          <a:solidFill>
            <a:srgbClr val="F6EDE4"/>
          </a:solidFill>
          <a:ln w="9525" cap="flat">
            <a:solidFill>
              <a:srgbClr val="A34100"/>
            </a:solidFill>
          </a:ln>
        </p:spPr>
        <p:txBody>
          <a:bodyPr wrap="square" lIns="76200" tIns="76200" rIns="76200" bIns="76200" anchor="t">
            <a:noAutofit/>
          </a:bodyPr>
          <a:lstStyle/>
          <a:p>
            <a:pPr algn="l">
              <a:lnSpc>
                <a:spcPct val="90000"/>
              </a:lnSpc>
              <a:buNone/>
            </a:pPr>
            <a:r>
              <a:rPr lang="es-CL" sz="1300" b="1" dirty="0">
                <a:solidFill>
                  <a:srgbClr val="A34100"/>
                </a:solidFill>
                <a:latin typeface="+mn-lt"/>
                <a:cs typeface="+mn-lt"/>
              </a:rPr>
              <a:t>05</a:t>
            </a:r>
          </a:p>
          <a:p>
            <a:pPr algn="l">
              <a:lnSpc>
                <a:spcPct val="90000"/>
              </a:lnSpc>
              <a:spcBef>
                <a:spcPts val="200"/>
              </a:spcBef>
              <a:buNone/>
            </a:pPr>
            <a:r>
              <a:rPr lang="es-CL" sz="950" dirty="0">
                <a:solidFill>
                  <a:srgbClr val="3F3A33"/>
                </a:solidFill>
                <a:latin typeface="+mn-lt"/>
                <a:cs typeface="+mn-lt"/>
              </a:rPr>
              <a:t>¿Ese proceso mayor absorbe también la fase 2 o la fase 2 se mantiene como proceso propio?</a:t>
            </a:r>
          </a:p>
        </p:txBody>
      </p:sp>
      <p:sp>
        <p:nvSpPr>
          <p:cNvPr id="16" name="Tarjeta 16"/>
          <p:cNvSpPr/>
          <p:nvPr/>
        </p:nvSpPr>
        <p:spPr>
          <a:xfrm>
            <a:off x="5819846" y="1801189"/>
            <a:ext cx="3564450" cy="598627"/>
          </a:xfrm>
          <a:prstGeom prst="roundRect">
            <a:avLst>
              <a:gd name="adj" fmla="val 5000"/>
            </a:avLst>
          </a:prstGeom>
          <a:solidFill>
            <a:srgbClr val="F6EDE4"/>
          </a:solidFill>
          <a:ln w="9525" cap="flat">
            <a:solidFill>
              <a:srgbClr val="A34100"/>
            </a:solidFill>
          </a:ln>
        </p:spPr>
        <p:txBody>
          <a:bodyPr wrap="square" lIns="76200" tIns="76200" rIns="76200" bIns="76200" anchor="t">
            <a:noAutofit/>
          </a:bodyPr>
          <a:lstStyle/>
          <a:p>
            <a:pPr algn="l">
              <a:lnSpc>
                <a:spcPct val="90000"/>
              </a:lnSpc>
              <a:buNone/>
            </a:pPr>
            <a:r>
              <a:rPr lang="es-CL" sz="1300" b="1" dirty="0">
                <a:solidFill>
                  <a:srgbClr val="A34100"/>
                </a:solidFill>
                <a:latin typeface="+mn-lt"/>
                <a:cs typeface="+mn-lt"/>
              </a:rPr>
              <a:t>06</a:t>
            </a:r>
          </a:p>
          <a:p>
            <a:pPr algn="l">
              <a:lnSpc>
                <a:spcPct val="90000"/>
              </a:lnSpc>
              <a:spcBef>
                <a:spcPts val="200"/>
              </a:spcBef>
              <a:buNone/>
            </a:pPr>
            <a:r>
              <a:rPr lang="es-CL" sz="950" dirty="0">
                <a:solidFill>
                  <a:srgbClr val="3F3A33"/>
                </a:solidFill>
                <a:latin typeface="+mn-lt"/>
                <a:cs typeface="+mn-lt"/>
              </a:rPr>
              <a:t>¿Cómo se llama el subproceso 4 de la fase 2 y qué cajas lo componen finalmente?</a:t>
            </a:r>
          </a:p>
        </p:txBody>
      </p:sp>
      <p:sp>
        <p:nvSpPr>
          <p:cNvPr id="17" name="Tarjeta 17"/>
          <p:cNvSpPr/>
          <p:nvPr/>
        </p:nvSpPr>
        <p:spPr>
          <a:xfrm>
            <a:off x="5818496" y="2564815"/>
            <a:ext cx="3564450" cy="598627"/>
          </a:xfrm>
          <a:prstGeom prst="roundRect">
            <a:avLst>
              <a:gd name="adj" fmla="val 5000"/>
            </a:avLst>
          </a:prstGeom>
          <a:solidFill>
            <a:srgbClr val="F6EDE4"/>
          </a:solidFill>
          <a:ln w="9525" cap="flat">
            <a:solidFill>
              <a:srgbClr val="A34100"/>
            </a:solidFill>
          </a:ln>
        </p:spPr>
        <p:txBody>
          <a:bodyPr wrap="square" lIns="76200" tIns="76200" rIns="76200" bIns="76200" anchor="t">
            <a:noAutofit/>
          </a:bodyPr>
          <a:lstStyle/>
          <a:p>
            <a:pPr algn="l">
              <a:lnSpc>
                <a:spcPct val="90000"/>
              </a:lnSpc>
              <a:buNone/>
            </a:pPr>
            <a:r>
              <a:rPr lang="es-CL" sz="1300" b="1" dirty="0">
                <a:solidFill>
                  <a:srgbClr val="A34100"/>
                </a:solidFill>
                <a:latin typeface="+mn-lt"/>
                <a:cs typeface="+mn-lt"/>
              </a:rPr>
              <a:t>07</a:t>
            </a:r>
          </a:p>
          <a:p>
            <a:pPr algn="l">
              <a:lnSpc>
                <a:spcPct val="90000"/>
              </a:lnSpc>
              <a:spcBef>
                <a:spcPts val="200"/>
              </a:spcBef>
              <a:buNone/>
            </a:pPr>
            <a:r>
              <a:rPr lang="es-CL" sz="950" dirty="0">
                <a:solidFill>
                  <a:srgbClr val="3F3A33"/>
                </a:solidFill>
                <a:latin typeface="+mn-lt"/>
                <a:cs typeface="+mn-lt"/>
              </a:rPr>
              <a:t>¿Dónde se aloja el calendario anual de evaluación que salió de la fase 12?</a:t>
            </a:r>
          </a:p>
        </p:txBody>
      </p:sp>
      <p:sp>
        <p:nvSpPr>
          <p:cNvPr id="18" name="Tarjeta 18"/>
          <p:cNvSpPr/>
          <p:nvPr/>
        </p:nvSpPr>
        <p:spPr>
          <a:xfrm>
            <a:off x="5818496" y="3283442"/>
            <a:ext cx="3564450" cy="598627"/>
          </a:xfrm>
          <a:prstGeom prst="roundRect">
            <a:avLst>
              <a:gd name="adj" fmla="val 5000"/>
            </a:avLst>
          </a:prstGeom>
          <a:solidFill>
            <a:srgbClr val="F6EDE4"/>
          </a:solidFill>
          <a:ln w="9525" cap="flat">
            <a:solidFill>
              <a:srgbClr val="A34100"/>
            </a:solidFill>
          </a:ln>
        </p:spPr>
        <p:txBody>
          <a:bodyPr wrap="square" lIns="76200" tIns="76200" rIns="76200" bIns="76200" anchor="t">
            <a:noAutofit/>
          </a:bodyPr>
          <a:lstStyle/>
          <a:p>
            <a:pPr algn="l">
              <a:lnSpc>
                <a:spcPct val="90000"/>
              </a:lnSpc>
              <a:buNone/>
            </a:pPr>
            <a:r>
              <a:rPr lang="es-CL" sz="1300" b="1" dirty="0">
                <a:solidFill>
                  <a:srgbClr val="A34100"/>
                </a:solidFill>
                <a:latin typeface="+mn-lt"/>
                <a:cs typeface="+mn-lt"/>
              </a:rPr>
              <a:t>08</a:t>
            </a:r>
          </a:p>
          <a:p>
            <a:pPr algn="l">
              <a:lnSpc>
                <a:spcPct val="90000"/>
              </a:lnSpc>
              <a:spcBef>
                <a:spcPts val="200"/>
              </a:spcBef>
              <a:buNone/>
            </a:pPr>
            <a:r>
              <a:rPr lang="es-CL" sz="950" dirty="0">
                <a:solidFill>
                  <a:srgbClr val="3F3A33"/>
                </a:solidFill>
                <a:latin typeface="+mn-lt"/>
                <a:cs typeface="+mn-lt"/>
              </a:rPr>
              <a:t>¿Qué nombre reciben las actividades sin denominar de la fase 13?</a:t>
            </a:r>
          </a:p>
        </p:txBody>
      </p:sp>
      <p:sp>
        <p:nvSpPr>
          <p:cNvPr id="19" name="Tarjeta 19"/>
          <p:cNvSpPr/>
          <p:nvPr/>
        </p:nvSpPr>
        <p:spPr>
          <a:xfrm>
            <a:off x="5818496" y="4068443"/>
            <a:ext cx="3564450" cy="598627"/>
          </a:xfrm>
          <a:prstGeom prst="roundRect">
            <a:avLst>
              <a:gd name="adj" fmla="val 5000"/>
            </a:avLst>
          </a:prstGeom>
          <a:solidFill>
            <a:srgbClr val="F6EDE4"/>
          </a:solidFill>
          <a:ln w="9525" cap="flat">
            <a:solidFill>
              <a:srgbClr val="A34100"/>
            </a:solidFill>
          </a:ln>
        </p:spPr>
        <p:txBody>
          <a:bodyPr wrap="square" lIns="76200" tIns="76200" rIns="76200" bIns="76200" anchor="t">
            <a:noAutofit/>
          </a:bodyPr>
          <a:lstStyle/>
          <a:p>
            <a:pPr algn="l">
              <a:lnSpc>
                <a:spcPct val="90000"/>
              </a:lnSpc>
              <a:buNone/>
            </a:pPr>
            <a:r>
              <a:rPr lang="es-CL" sz="1300" b="1" dirty="0">
                <a:solidFill>
                  <a:srgbClr val="A34100"/>
                </a:solidFill>
                <a:latin typeface="+mn-lt"/>
                <a:cs typeface="+mn-lt"/>
              </a:rPr>
              <a:t>09</a:t>
            </a:r>
          </a:p>
          <a:p>
            <a:pPr algn="l">
              <a:lnSpc>
                <a:spcPct val="90000"/>
              </a:lnSpc>
              <a:spcBef>
                <a:spcPts val="200"/>
              </a:spcBef>
              <a:buNone/>
            </a:pPr>
            <a:r>
              <a:rPr lang="es-CL" sz="950" dirty="0">
                <a:solidFill>
                  <a:srgbClr val="3F3A33"/>
                </a:solidFill>
                <a:latin typeface="+mn-lt"/>
                <a:cs typeface="+mn-lt"/>
              </a:rPr>
              <a:t>¿Las cajas «Ola» de la fase 12 se conservan como cajas del flujo?</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normAutofit fontScale="92500"/>
          </a:bodyPr>
          <a:lstStyle/>
          <a:p>
            <a:pPr>
              <a:lnSpc>
                <a:spcPct val="90000"/>
              </a:lnSpc>
            </a:pPr>
            <a:r>
              <a:rPr lang="es-CL" sz="2000" dirty="0">
                <a:solidFill>
                  <a:srgbClr val="3F3A33"/>
                </a:solidFill>
                <a:latin typeface="+mn-lt"/>
                <a:cs typeface="+mn-lt"/>
              </a:rPr>
              <a:t>Cierre| </a:t>
            </a:r>
            <a:r>
              <a:rPr lang="es-CL" sz="2000" dirty="0">
                <a:solidFill>
                  <a:srgbClr val="A34100"/>
                </a:solidFill>
                <a:latin typeface="+mn-lt"/>
                <a:cs typeface="+mn-lt"/>
              </a:rPr>
              <a:t>Fundamento y trazabilidad</a:t>
            </a:r>
            <a:endParaRPr lang="es-CL"/>
          </a:p>
        </p:txBody>
      </p:sp>
      <p:sp>
        <p:nvSpPr>
          <p:cNvPr id="10" name="Banda 10"/>
          <p:cNvSpPr/>
          <p:nvPr/>
        </p:nvSpPr>
        <p:spPr>
          <a:xfrm>
            <a:off x="630000" y="1075000"/>
            <a:ext cx="10933350" cy="324218"/>
          </a:xfrm>
          <a:prstGeom prst="roundRect">
            <a:avLst>
              <a:gd name="adj" fmla="val 3000"/>
            </a:avLst>
          </a:prstGeom>
          <a:solidFill>
            <a:srgbClr val="F6EDE4"/>
          </a:solidFill>
          <a:ln>
            <a:noFill/>
          </a:ln>
        </p:spPr>
        <p:txBody>
          <a:bodyPr wrap="square" lIns="88900" tIns="88900" rIns="88900" bIns="88900" anchor="ctr">
            <a:noAutofit/>
          </a:bodyPr>
          <a:lstStyle/>
          <a:p>
            <a:pPr algn="l">
              <a:lnSpc>
                <a:spcPct val="90000"/>
              </a:lnSpc>
              <a:buNone/>
            </a:pPr>
            <a:r>
              <a:rPr lang="es-CL" sz="1050" dirty="0">
                <a:solidFill>
                  <a:srgbClr val="3F3A33"/>
                </a:solidFill>
                <a:latin typeface="+mn-lt"/>
                <a:cs typeface="+mn-lt"/>
              </a:rPr>
              <a:t>Ninguna propuesta de este borrador proviene de fuentes informales.</a:t>
            </a:r>
          </a:p>
        </p:txBody>
      </p:sp>
      <p:sp>
        <p:nvSpPr>
          <p:cNvPr id="11" name="Texto 11"/>
          <p:cNvSpPr/>
          <p:nvPr/>
        </p:nvSpPr>
        <p:spPr>
          <a:xfrm>
            <a:off x="630000" y="3062245"/>
            <a:ext cx="10933350" cy="218135"/>
          </a:xfrm>
          <a:prstGeom prst="rect">
            <a:avLst/>
          </a:prstGeom>
          <a:noFill/>
          <a:ln>
            <a:noFill/>
          </a:ln>
        </p:spPr>
        <p:txBody>
          <a:bodyPr wrap="square" lIns="25400" tIns="25400" rIns="25400" bIns="25400" anchor="t">
            <a:noAutofit/>
          </a:bodyPr>
          <a:lstStyle/>
          <a:p>
            <a:pPr algn="l">
              <a:lnSpc>
                <a:spcPct val="90000"/>
              </a:lnSpc>
              <a:buNone/>
            </a:pPr>
            <a:r>
              <a:rPr lang="es-CL" sz="1200" b="1" dirty="0">
                <a:solidFill>
                  <a:srgbClr val="A34100"/>
                </a:solidFill>
                <a:latin typeface="+mn-lt"/>
                <a:cs typeface="+mn-lt"/>
              </a:rPr>
              <a:t>Próximos pasos</a:t>
            </a:r>
          </a:p>
        </p:txBody>
      </p:sp>
      <p:sp>
        <p:nvSpPr>
          <p:cNvPr id="12" name="Tarjeta 12"/>
          <p:cNvSpPr/>
          <p:nvPr/>
        </p:nvSpPr>
        <p:spPr>
          <a:xfrm>
            <a:off x="630000" y="3370380"/>
            <a:ext cx="3564450" cy="765962"/>
          </a:xfrm>
          <a:prstGeom prst="roundRect">
            <a:avLst>
              <a:gd name="adj" fmla="val 5000"/>
            </a:avLst>
          </a:prstGeom>
          <a:solidFill>
            <a:srgbClr val="F6EDE4"/>
          </a:solidFill>
          <a:ln w="9525" cap="flat">
            <a:solidFill>
              <a:srgbClr val="A34100"/>
            </a:solidFill>
          </a:ln>
        </p:spPr>
        <p:txBody>
          <a:bodyPr wrap="square" lIns="76200" tIns="76200" rIns="76200" bIns="76200" anchor="t">
            <a:noAutofit/>
          </a:bodyPr>
          <a:lstStyle/>
          <a:p>
            <a:pPr algn="l">
              <a:lnSpc>
                <a:spcPct val="90000"/>
              </a:lnSpc>
              <a:buNone/>
            </a:pPr>
            <a:r>
              <a:rPr lang="es-CL" sz="1600" b="1" dirty="0">
                <a:solidFill>
                  <a:srgbClr val="A34100"/>
                </a:solidFill>
                <a:latin typeface="+mn-lt"/>
                <a:cs typeface="+mn-lt"/>
              </a:rPr>
              <a:t>1</a:t>
            </a:r>
          </a:p>
          <a:p>
            <a:pPr algn="l">
              <a:lnSpc>
                <a:spcPct val="90000"/>
              </a:lnSpc>
              <a:spcBef>
                <a:spcPts val="200"/>
              </a:spcBef>
              <a:buNone/>
            </a:pPr>
            <a:r>
              <a:rPr lang="es-CL" sz="1000" b="1" dirty="0">
                <a:solidFill>
                  <a:srgbClr val="3F3A33"/>
                </a:solidFill>
                <a:latin typeface="+mn-lt"/>
                <a:cs typeface="+mn-lt"/>
              </a:rPr>
              <a:t>Validar con </a:t>
            </a:r>
            <a:r>
              <a:rPr lang="es-CL" sz="1000" b="1" dirty="0" err="1">
                <a:solidFill>
                  <a:srgbClr val="3F3A33"/>
                </a:solidFill>
                <a:latin typeface="+mn-lt"/>
                <a:cs typeface="+mn-lt"/>
              </a:rPr>
              <a:t>Lider</a:t>
            </a:r>
            <a:r>
              <a:rPr lang="es-CL" sz="1000" b="1" dirty="0">
                <a:solidFill>
                  <a:srgbClr val="3F3A33"/>
                </a:solidFill>
                <a:latin typeface="+mn-lt"/>
                <a:cs typeface="+mn-lt"/>
              </a:rPr>
              <a:t> Mejora Continua</a:t>
            </a:r>
          </a:p>
          <a:p>
            <a:pPr algn="l">
              <a:lnSpc>
                <a:spcPct val="90000"/>
              </a:lnSpc>
              <a:spcBef>
                <a:spcPts val="200"/>
              </a:spcBef>
              <a:buNone/>
            </a:pPr>
            <a:r>
              <a:rPr lang="es-CL" sz="900" dirty="0">
                <a:solidFill>
                  <a:srgbClr val="3F3A33"/>
                </a:solidFill>
                <a:latin typeface="+mn-lt"/>
                <a:cs typeface="+mn-lt"/>
              </a:rPr>
              <a:t>Cerrar las nueve preguntas abiertas y fijar los nombres propuestos.</a:t>
            </a:r>
          </a:p>
        </p:txBody>
      </p:sp>
      <p:sp>
        <p:nvSpPr>
          <p:cNvPr id="13" name="Tarjeta 13"/>
          <p:cNvSpPr/>
          <p:nvPr/>
        </p:nvSpPr>
        <p:spPr>
          <a:xfrm>
            <a:off x="4314450" y="3370380"/>
            <a:ext cx="3564450" cy="765962"/>
          </a:xfrm>
          <a:prstGeom prst="roundRect">
            <a:avLst>
              <a:gd name="adj" fmla="val 5000"/>
            </a:avLst>
          </a:prstGeom>
          <a:solidFill>
            <a:srgbClr val="F6EDE4"/>
          </a:solidFill>
          <a:ln w="9525" cap="flat">
            <a:solidFill>
              <a:srgbClr val="A34100"/>
            </a:solidFill>
          </a:ln>
        </p:spPr>
        <p:txBody>
          <a:bodyPr wrap="square" lIns="76200" tIns="76200" rIns="76200" bIns="76200" anchor="t">
            <a:noAutofit/>
          </a:bodyPr>
          <a:lstStyle/>
          <a:p>
            <a:pPr algn="l">
              <a:lnSpc>
                <a:spcPct val="90000"/>
              </a:lnSpc>
              <a:buNone/>
            </a:pPr>
            <a:r>
              <a:rPr lang="es-CL" sz="1600" b="1" dirty="0">
                <a:solidFill>
                  <a:srgbClr val="A34100"/>
                </a:solidFill>
                <a:latin typeface="+mn-lt"/>
                <a:cs typeface="+mn-lt"/>
              </a:rPr>
              <a:t>2</a:t>
            </a:r>
          </a:p>
          <a:p>
            <a:pPr algn="l">
              <a:lnSpc>
                <a:spcPct val="90000"/>
              </a:lnSpc>
              <a:spcBef>
                <a:spcPts val="200"/>
              </a:spcBef>
              <a:buNone/>
            </a:pPr>
            <a:r>
              <a:rPr lang="es-CL" sz="1000" b="1" dirty="0">
                <a:solidFill>
                  <a:srgbClr val="3F3A33"/>
                </a:solidFill>
                <a:latin typeface="+mn-lt"/>
                <a:cs typeface="+mn-lt"/>
              </a:rPr>
              <a:t>Completar el alcance</a:t>
            </a:r>
          </a:p>
          <a:p>
            <a:pPr algn="l">
              <a:lnSpc>
                <a:spcPct val="90000"/>
              </a:lnSpc>
              <a:spcBef>
                <a:spcPts val="200"/>
              </a:spcBef>
              <a:buNone/>
            </a:pPr>
            <a:r>
              <a:rPr lang="es-CL" sz="900" dirty="0">
                <a:solidFill>
                  <a:srgbClr val="3F3A33"/>
                </a:solidFill>
                <a:latin typeface="+mn-lt"/>
                <a:cs typeface="+mn-lt"/>
              </a:rPr>
              <a:t>Revisar las fases 0 y 15 a 18 e incorporarlas a la arquitectura.</a:t>
            </a:r>
          </a:p>
        </p:txBody>
      </p:sp>
      <p:sp>
        <p:nvSpPr>
          <p:cNvPr id="14" name="Tarjeta 14"/>
          <p:cNvSpPr/>
          <p:nvPr/>
        </p:nvSpPr>
        <p:spPr>
          <a:xfrm>
            <a:off x="7998900" y="3370380"/>
            <a:ext cx="3564450" cy="765962"/>
          </a:xfrm>
          <a:prstGeom prst="roundRect">
            <a:avLst>
              <a:gd name="adj" fmla="val 5000"/>
            </a:avLst>
          </a:prstGeom>
          <a:solidFill>
            <a:srgbClr val="F6EDE4"/>
          </a:solidFill>
          <a:ln w="9525" cap="flat">
            <a:solidFill>
              <a:srgbClr val="A34100"/>
            </a:solidFill>
          </a:ln>
        </p:spPr>
        <p:txBody>
          <a:bodyPr wrap="square" lIns="76200" tIns="76200" rIns="76200" bIns="76200" anchor="t">
            <a:noAutofit/>
          </a:bodyPr>
          <a:lstStyle/>
          <a:p>
            <a:pPr algn="l">
              <a:lnSpc>
                <a:spcPct val="90000"/>
              </a:lnSpc>
              <a:buNone/>
            </a:pPr>
            <a:r>
              <a:rPr lang="es-CL" sz="1600" b="1" dirty="0">
                <a:solidFill>
                  <a:srgbClr val="A34100"/>
                </a:solidFill>
                <a:latin typeface="+mn-lt"/>
                <a:cs typeface="+mn-lt"/>
              </a:rPr>
              <a:t>3</a:t>
            </a:r>
          </a:p>
          <a:p>
            <a:pPr algn="l">
              <a:lnSpc>
                <a:spcPct val="90000"/>
              </a:lnSpc>
              <a:spcBef>
                <a:spcPts val="200"/>
              </a:spcBef>
              <a:buNone/>
            </a:pPr>
            <a:r>
              <a:rPr lang="es-CL" sz="1000" b="1" dirty="0">
                <a:solidFill>
                  <a:srgbClr val="3F3A33"/>
                </a:solidFill>
                <a:latin typeface="+mn-lt"/>
                <a:cs typeface="+mn-lt"/>
              </a:rPr>
              <a:t>Redactar el manual</a:t>
            </a:r>
          </a:p>
          <a:p>
            <a:pPr algn="l">
              <a:lnSpc>
                <a:spcPct val="90000"/>
              </a:lnSpc>
              <a:spcBef>
                <a:spcPts val="200"/>
              </a:spcBef>
              <a:buNone/>
            </a:pPr>
            <a:r>
              <a:rPr lang="es-CL" sz="900" dirty="0">
                <a:solidFill>
                  <a:srgbClr val="3F3A33"/>
                </a:solidFill>
                <a:latin typeface="+mn-lt"/>
                <a:cs typeface="+mn-lt"/>
              </a:rPr>
              <a:t>Recién entonces llenar fichas resumen, SIPOC y flujogramas por subproceso.</a:t>
            </a:r>
          </a:p>
        </p:txBody>
      </p:sp>
      <p:graphicFrame>
        <p:nvGraphicFramePr>
          <p:cNvPr id="15" name="Tabla 15"/>
          <p:cNvGraphicFramePr>
            <a:graphicFrameLocks noGrp="1"/>
          </p:cNvGraphicFramePr>
          <p:nvPr/>
        </p:nvGraphicFramePr>
        <p:xfrm>
          <a:off x="630000" y="1489218"/>
          <a:ext cx="10933350" cy="1483027"/>
        </p:xfrm>
        <a:graphic>
          <a:graphicData uri="http://schemas.openxmlformats.org/drawingml/2006/table">
            <a:tbl>
              <a:tblPr firstRow="1"/>
              <a:tblGrid>
                <a:gridCol w="3200000">
                  <a:extLst>
                    <a:ext uri="{9D8B030D-6E8A-4147-A177-3AD203B41FA5}">
                      <a16:colId xmlns:a16="http://schemas.microsoft.com/office/drawing/2014/main" val="20000"/>
                    </a:ext>
                  </a:extLst>
                </a:gridCol>
                <a:gridCol w="7733350">
                  <a:extLst>
                    <a:ext uri="{9D8B030D-6E8A-4147-A177-3AD203B41FA5}">
                      <a16:colId xmlns:a16="http://schemas.microsoft.com/office/drawing/2014/main" val="20001"/>
                    </a:ext>
                  </a:extLst>
                </a:gridCol>
              </a:tblGrid>
              <a:tr h="211861">
                <a:tc>
                  <a:txBody>
                    <a:bodyPr/>
                    <a:lstStyle/>
                    <a:p>
                      <a:pPr algn="l">
                        <a:lnSpc>
                          <a:spcPct val="90000"/>
                        </a:lnSpc>
                        <a:buNone/>
                      </a:pPr>
                      <a:r>
                        <a:rPr lang="es-CL" sz="900" b="1" dirty="0">
                          <a:solidFill>
                            <a:srgbClr val="FFFFFF"/>
                          </a:solidFill>
                          <a:latin typeface="+mn-lt"/>
                          <a:cs typeface="+mn-lt"/>
                        </a:rPr>
                        <a:t>Fuente</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tc>
                  <a:txBody>
                    <a:bodyPr/>
                    <a:lstStyle/>
                    <a:p>
                      <a:pPr algn="l">
                        <a:lnSpc>
                          <a:spcPct val="90000"/>
                        </a:lnSpc>
                        <a:buNone/>
                      </a:pPr>
                      <a:r>
                        <a:rPr lang="es-CL" sz="900" b="1" dirty="0">
                          <a:solidFill>
                            <a:srgbClr val="FFFFFF"/>
                          </a:solidFill>
                          <a:latin typeface="+mn-lt"/>
                          <a:cs typeface="+mn-lt"/>
                        </a:rPr>
                        <a:t>Qué aporta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A34100"/>
                    </a:solidFill>
                  </a:tcPr>
                </a:tc>
                <a:extLst>
                  <a:ext uri="{0D108BD9-81ED-4DB2-BD59-A6C34878D82A}">
                    <a16:rowId xmlns:a16="http://schemas.microsoft.com/office/drawing/2014/main" val="10000"/>
                  </a:ext>
                </a:extLst>
              </a:tr>
              <a:tr h="211861">
                <a:tc>
                  <a:txBody>
                    <a:bodyPr/>
                    <a:lstStyle/>
                    <a:p>
                      <a:pPr algn="l">
                        <a:lnSpc>
                          <a:spcPct val="90000"/>
                        </a:lnSpc>
                        <a:buNone/>
                      </a:pPr>
                      <a:r>
                        <a:rPr lang="es-CL" sz="900" b="1" dirty="0">
                          <a:solidFill>
                            <a:srgbClr val="3F3A33"/>
                          </a:solidFill>
                          <a:latin typeface="+mn-lt"/>
                          <a:cs typeface="+mn-lt"/>
                        </a:rPr>
                        <a:t>APQC PCF v8.0 · Categoría 7</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Orden y códigos de proceso; base de toda propuesta de agrupación.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1"/>
                  </a:ext>
                </a:extLst>
              </a:tr>
              <a:tr h="211861">
                <a:tc>
                  <a:txBody>
                    <a:bodyPr/>
                    <a:lstStyle/>
                    <a:p>
                      <a:pPr algn="l">
                        <a:lnSpc>
                          <a:spcPct val="90000"/>
                        </a:lnSpc>
                        <a:buNone/>
                      </a:pPr>
                      <a:r>
                        <a:rPr lang="es-CL" sz="900" b="1" dirty="0">
                          <a:solidFill>
                            <a:srgbClr val="3F3A33"/>
                          </a:solidFill>
                          <a:latin typeface="+mn-lt"/>
                          <a:cs typeface="+mn-lt"/>
                        </a:rPr>
                        <a:t>Procedimientos vigentes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Loreto (atracción y selección), Vanesa (desempeño), Rocío (formación).</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2"/>
                  </a:ext>
                </a:extLst>
              </a:tr>
              <a:tr h="211861">
                <a:tc>
                  <a:txBody>
                    <a:bodyPr/>
                    <a:lstStyle/>
                    <a:p>
                      <a:pPr algn="l">
                        <a:lnSpc>
                          <a:spcPct val="90000"/>
                        </a:lnSpc>
                        <a:buNone/>
                      </a:pPr>
                      <a:r>
                        <a:rPr lang="es-CL" sz="900" b="1" dirty="0">
                          <a:solidFill>
                            <a:srgbClr val="3F3A33"/>
                          </a:solidFill>
                          <a:latin typeface="+mn-lt"/>
                          <a:cs typeface="+mn-lt"/>
                        </a:rPr>
                        <a:t>Paula Silva A–H (2024)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Antecedentes de compensaciones y estructura de cargos.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3"/>
                  </a:ext>
                </a:extLst>
              </a:tr>
              <a:tr h="211861">
                <a:tc>
                  <a:txBody>
                    <a:bodyPr/>
                    <a:lstStyle/>
                    <a:p>
                      <a:pPr algn="l">
                        <a:lnSpc>
                          <a:spcPct val="90000"/>
                        </a:lnSpc>
                        <a:buNone/>
                      </a:pPr>
                      <a:r>
                        <a:rPr lang="es-CL" sz="900" b="1" dirty="0">
                          <a:solidFill>
                            <a:srgbClr val="3F3A33"/>
                          </a:solidFill>
                          <a:latin typeface="+mn-lt"/>
                          <a:cs typeface="+mn-lt"/>
                        </a:rPr>
                        <a:t>Jornada MGO (24-feb)</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Marco metodológico de modelamiento de procesos.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4"/>
                  </a:ext>
                </a:extLst>
              </a:tr>
              <a:tr h="211861">
                <a:tc>
                  <a:txBody>
                    <a:bodyPr/>
                    <a:lstStyle/>
                    <a:p>
                      <a:pPr algn="l">
                        <a:lnSpc>
                          <a:spcPct val="90000"/>
                        </a:lnSpc>
                        <a:buNone/>
                      </a:pPr>
                      <a:r>
                        <a:rPr lang="es-CL" sz="900" b="1" dirty="0">
                          <a:solidFill>
                            <a:srgbClr val="3F3A33"/>
                          </a:solidFill>
                          <a:latin typeface="+mn-lt"/>
                          <a:cs typeface="+mn-lt"/>
                        </a:rPr>
                        <a:t>Cuaderno de entrevistas</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tc>
                  <a:txBody>
                    <a:bodyPr/>
                    <a:lstStyle/>
                    <a:p>
                      <a:pPr algn="l">
                        <a:lnSpc>
                          <a:spcPct val="90000"/>
                        </a:lnSpc>
                        <a:buNone/>
                      </a:pPr>
                      <a:r>
                        <a:rPr lang="es-CL" sz="900" dirty="0">
                          <a:solidFill>
                            <a:srgbClr val="3F3A33"/>
                          </a:solidFill>
                          <a:latin typeface="+mn-lt"/>
                          <a:cs typeface="+mn-lt"/>
                        </a:rPr>
                        <a:t>Loreto, Vanesa y Ariel; levantado y aún por validar.</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FFFFF"/>
                    </a:solidFill>
                  </a:tcPr>
                </a:tc>
                <a:extLst>
                  <a:ext uri="{0D108BD9-81ED-4DB2-BD59-A6C34878D82A}">
                    <a16:rowId xmlns:a16="http://schemas.microsoft.com/office/drawing/2014/main" val="10005"/>
                  </a:ext>
                </a:extLst>
              </a:tr>
              <a:tr h="211861">
                <a:tc>
                  <a:txBody>
                    <a:bodyPr/>
                    <a:lstStyle/>
                    <a:p>
                      <a:pPr algn="l">
                        <a:lnSpc>
                          <a:spcPct val="90000"/>
                        </a:lnSpc>
                        <a:buNone/>
                      </a:pPr>
                      <a:r>
                        <a:rPr lang="es-CL" sz="900" b="1" dirty="0">
                          <a:solidFill>
                            <a:srgbClr val="3F3A33"/>
                          </a:solidFill>
                          <a:latin typeface="+mn-lt"/>
                          <a:cs typeface="+mn-lt"/>
                        </a:rPr>
                        <a:t>Revisión con </a:t>
                      </a:r>
                      <a:r>
                        <a:rPr lang="es-CL" sz="900" b="1" dirty="0" err="1">
                          <a:solidFill>
                            <a:srgbClr val="3F3A33"/>
                          </a:solidFill>
                          <a:latin typeface="+mn-lt"/>
                          <a:cs typeface="+mn-lt"/>
                        </a:rPr>
                        <a:t>Lider</a:t>
                      </a:r>
                      <a:r>
                        <a:rPr lang="es-CL" sz="900" b="1" dirty="0">
                          <a:solidFill>
                            <a:srgbClr val="3F3A33"/>
                          </a:solidFill>
                          <a:latin typeface="+mn-lt"/>
                          <a:cs typeface="+mn-lt"/>
                        </a:rPr>
                        <a:t> Mejora Continua</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tc>
                  <a:txBody>
                    <a:bodyPr/>
                    <a:lstStyle/>
                    <a:p>
                      <a:pPr algn="l">
                        <a:lnSpc>
                          <a:spcPct val="90000"/>
                        </a:lnSpc>
                        <a:buNone/>
                      </a:pPr>
                      <a:r>
                        <a:rPr lang="es-CL" sz="900" dirty="0">
                          <a:solidFill>
                            <a:srgbClr val="3F3A33"/>
                          </a:solidFill>
                          <a:latin typeface="+mn-lt"/>
                          <a:cs typeface="+mn-lt"/>
                        </a:rPr>
                        <a:t>Clasificación jerárquica de las fases 1 a 14.</a:t>
                      </a:r>
                    </a:p>
                  </a:txBody>
                  <a:tcPr marL="68580" marR="68580" marT="36576" marB="36576" anchor="ctr">
                    <a:lnL w="6350" cap="flat" cmpd="sng" algn="ctr">
                      <a:solidFill>
                        <a:srgbClr val="D6D1C8"/>
                      </a:solidFill>
                    </a:lnL>
                    <a:lnR w="6350" cap="flat" cmpd="sng" algn="ctr">
                      <a:solidFill>
                        <a:srgbClr val="D6D1C8"/>
                      </a:solidFill>
                    </a:lnR>
                    <a:lnT w="6350" cap="flat" cmpd="sng" algn="ctr">
                      <a:solidFill>
                        <a:srgbClr val="D6D1C8"/>
                      </a:solidFill>
                    </a:lnT>
                    <a:lnB w="6350" cap="flat" cmpd="sng" algn="ctr">
                      <a:solidFill>
                        <a:srgbClr val="D6D1C8"/>
                      </a:solidFill>
                    </a:lnB>
                    <a:solidFill>
                      <a:srgbClr val="FAF9F7"/>
                    </a:solidFill>
                  </a:tcPr>
                </a:tc>
                <a:extLst>
                  <a:ext uri="{0D108BD9-81ED-4DB2-BD59-A6C34878D82A}">
                    <a16:rowId xmlns:a16="http://schemas.microsoft.com/office/drawing/2014/main" val="10006"/>
                  </a:ext>
                </a:extLst>
              </a:tr>
            </a:tbl>
          </a:graphicData>
        </a:graphic>
      </p:graphicFrame>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zWCvKht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JW.k3Jz2RDmcVY3.qaJY4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FoRYeqOUREWwlVvDNpbI5w"/>
</p:tagLst>
</file>

<file path=ppt/tags/tag2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3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xml><?xml version="1.0" encoding="utf-8"?>
<p:tagLst xmlns:a="http://schemas.openxmlformats.org/drawingml/2006/main" xmlns:r="http://schemas.openxmlformats.org/officeDocument/2006/relationships" xmlns:p="http://schemas.openxmlformats.org/presentationml/2006/main">
  <p:tag name="EE4P_MASTERWIZARD" val="Draft"/>
</p:tagLst>
</file>

<file path=ppt/theme/theme1.xml><?xml version="1.0" encoding="utf-8"?>
<a:theme xmlns:a="http://schemas.openxmlformats.org/drawingml/2006/main" name="Arauco Grid 16:9">
  <a:themeElements>
    <a:clrScheme name="Custom 1">
      <a:dk1>
        <a:srgbClr val="696158"/>
      </a:dk1>
      <a:lt1>
        <a:sysClr val="window" lastClr="FFFFFF"/>
      </a:lt1>
      <a:dk2>
        <a:srgbClr val="EA7600"/>
      </a:dk2>
      <a:lt2>
        <a:srgbClr val="F2F2F2"/>
      </a:lt2>
      <a:accent1>
        <a:srgbClr val="C86400"/>
      </a:accent1>
      <a:accent2>
        <a:srgbClr val="964B00"/>
      </a:accent2>
      <a:accent3>
        <a:srgbClr val="FFF300"/>
      </a:accent3>
      <a:accent4>
        <a:srgbClr val="8D8377"/>
      </a:accent4>
      <a:accent5>
        <a:srgbClr val="6E6F73"/>
      </a:accent5>
      <a:accent6>
        <a:srgbClr val="DFD1A7"/>
      </a:accent6>
      <a:hlink>
        <a:srgbClr val="604A7B"/>
      </a:hlink>
      <a:folHlink>
        <a:srgbClr val="604A7B"/>
      </a:folHlink>
    </a:clrScheme>
    <a:fontScheme name="Custom 8">
      <a:majorFont>
        <a:latin typeface="Calibri"/>
        <a:ea typeface=""/>
        <a:cs typeface=""/>
      </a:majorFont>
      <a:minorFont>
        <a:latin typeface="Calibri"/>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w="9525" cap="rnd" cmpd="sng" algn="ctr">
          <a:solidFill>
            <a:schemeClr val="tx2"/>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accent5"/>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lank_16x9.potx" id="{F1417891-ADEE-4A5A-84BF-A61365689D8D}" vid="{7D249777-7FCF-437A-B862-D77B0EF45DB4}"/>
    </a:ext>
  </a:extLst>
</a:theme>
</file>

<file path=ppt/theme/theme2.xml><?xml version="1.0" encoding="utf-8"?>
<a:theme xmlns:a="http://schemas.openxmlformats.org/drawingml/2006/main" name="1_Arauco Grid 16:9">
  <a:themeElements>
    <a:clrScheme name="Arauco">
      <a:dk1>
        <a:srgbClr val="696158"/>
      </a:dk1>
      <a:lt1>
        <a:sysClr val="window" lastClr="FFFFFF"/>
      </a:lt1>
      <a:dk2>
        <a:srgbClr val="696158"/>
      </a:dk2>
      <a:lt2>
        <a:srgbClr val="F2F2F2"/>
      </a:lt2>
      <a:accent1>
        <a:srgbClr val="191715"/>
      </a:accent1>
      <a:accent2>
        <a:srgbClr val="2F2C29"/>
      </a:accent2>
      <a:accent3>
        <a:srgbClr val="BFB800"/>
      </a:accent3>
      <a:accent4>
        <a:srgbClr val="8D8377"/>
      </a:accent4>
      <a:accent5>
        <a:srgbClr val="6E6F73"/>
      </a:accent5>
      <a:accent6>
        <a:srgbClr val="DFD1A7"/>
      </a:accent6>
      <a:hlink>
        <a:srgbClr val="EA7600"/>
      </a:hlink>
      <a:folHlink>
        <a:srgbClr val="F4BA80"/>
      </a:folHlink>
    </a:clrScheme>
    <a:fontScheme name="Arauco">
      <a:majorFont>
        <a:latin typeface="Calibri"/>
        <a:ea typeface=""/>
        <a:cs typeface=""/>
      </a:majorFont>
      <a:minorFont>
        <a:latin typeface="Calibri"/>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w="9525" cap="rnd">
          <a:noFill/>
          <a:prstDash val="sysDot"/>
          <a:roun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spcAft>
            <a:spcPts val="1000"/>
          </a:spcAft>
          <a:defRPr sz="12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lank_16x9.potx" id="{F1417891-ADEE-4A5A-84BF-A61365689D8D}" vid="{7D249777-7FCF-437A-B862-D77B0EF45DB4}"/>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59E35590500FFD4BB6D05B34108B1210" ma:contentTypeVersion="15" ma:contentTypeDescription="Crear nuevo documento." ma:contentTypeScope="" ma:versionID="f8b0f18d71c294ff992b226ddac6f6ed">
  <xsd:schema xmlns:xsd="http://www.w3.org/2001/XMLSchema" xmlns:xs="http://www.w3.org/2001/XMLSchema" xmlns:p="http://schemas.microsoft.com/office/2006/metadata/properties" xmlns:ns2="0b73e489-f742-4c68-8bbe-441f4455f5a7" xmlns:ns3="ff080255-02de-4aea-8fdc-cd6a1f05e83f" targetNamespace="http://schemas.microsoft.com/office/2006/metadata/properties" ma:root="true" ma:fieldsID="1b27b58f6fb9090f24a0fdb4976ccc68" ns2:_="" ns3:_="">
    <xsd:import namespace="0b73e489-f742-4c68-8bbe-441f4455f5a7"/>
    <xsd:import namespace="ff080255-02de-4aea-8fdc-cd6a1f05e83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element ref="ns2:MediaServiceBillingMetadata"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b73e489-f742-4c68-8bbe-441f4455f5a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00a4a071-7ff2-4c61-8097-743783133767"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BillingMetadata" ma:index="21" nillable="true" ma:displayName="MediaServiceBillingMetadata" ma:hidden="true" ma:internalName="MediaServiceBillingMetadata" ma:readOnly="true">
      <xsd:simpleType>
        <xsd:restriction base="dms:Note"/>
      </xsd:simpleType>
    </xsd:element>
    <xsd:element name="Status" ma:index="22" nillable="true" ma:displayName="Status" ma:format="Dropdown" ma:internalName="Statu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f080255-02de-4aea-8fdc-cd6a1f05e83f"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8e862e-3d4c-48ae-9d5f-da6bf01ce447}" ma:internalName="TaxCatchAll" ma:showField="CatchAllData" ma:web="ff080255-02de-4aea-8fdc-cd6a1f05e83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b73e489-f742-4c68-8bbe-441f4455f5a7">
      <Terms xmlns="http://schemas.microsoft.com/office/infopath/2007/PartnerControls"/>
    </lcf76f155ced4ddcb4097134ff3c332f>
    <TaxCatchAll xmlns="ff080255-02de-4aea-8fdc-cd6a1f05e83f" xsi:nil="true"/>
    <Status xmlns="0b73e489-f742-4c68-8bbe-441f4455f5a7" xsi:nil="true"/>
  </documentManagement>
</p:properties>
</file>

<file path=customXml/itemProps1.xml><?xml version="1.0" encoding="utf-8"?>
<ds:datastoreItem xmlns:ds="http://schemas.openxmlformats.org/officeDocument/2006/customXml" ds:itemID="{44C212A3-0C5C-46A0-8A92-71D6ECB5F265}">
  <ds:schemaRefs>
    <ds:schemaRef ds:uri="0b73e489-f742-4c68-8bbe-441f4455f5a7"/>
    <ds:schemaRef ds:uri="ff080255-02de-4aea-8fdc-cd6a1f05e83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125A8A1-2F91-49F2-82AF-A0A0431DA748}">
  <ds:schemaRefs>
    <ds:schemaRef ds:uri="http://schemas.microsoft.com/sharepoint/v3/contenttype/forms"/>
  </ds:schemaRefs>
</ds:datastoreItem>
</file>

<file path=customXml/itemProps3.xml><?xml version="1.0" encoding="utf-8"?>
<ds:datastoreItem xmlns:ds="http://schemas.openxmlformats.org/officeDocument/2006/customXml" ds:itemID="{9AF1D1C3-3FA1-44BA-9E2A-B0C9A6026880}">
  <ds:schemaRefs>
    <ds:schemaRef ds:uri="http://www.w3.org/XML/1998/namespace"/>
    <ds:schemaRef ds:uri="http://schemas.microsoft.com/office/2006/documentManagement/types"/>
    <ds:schemaRef ds:uri="http://purl.org/dc/elements/1.1/"/>
    <ds:schemaRef ds:uri="http://schemas.microsoft.com/office/infopath/2007/PartnerControls"/>
    <ds:schemaRef ds:uri="http://schemas.microsoft.com/office/2006/metadata/properties"/>
    <ds:schemaRef ds:uri="http://purl.org/dc/terms/"/>
    <ds:schemaRef ds:uri="http://schemas.openxmlformats.org/package/2006/metadata/core-properties"/>
    <ds:schemaRef ds:uri="ff080255-02de-4aea-8fdc-cd6a1f05e83f"/>
    <ds:schemaRef ds:uri="0b73e489-f742-4c68-8bbe-441f4455f5a7"/>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128</TotalTime>
  <Words>8216</Words>
  <Application>Microsoft Macintosh PowerPoint</Application>
  <PresentationFormat>Panorámica</PresentationFormat>
  <Paragraphs>1825</Paragraphs>
  <Slides>33</Slides>
  <Notes>0</Notes>
  <HiddenSlides>20</HiddenSlides>
  <MMClips>0</MMClips>
  <ScaleCrop>false</ScaleCrop>
  <HeadingPairs>
    <vt:vector size="8" baseType="variant">
      <vt:variant>
        <vt:lpstr>Fuentes usadas</vt:lpstr>
      </vt:variant>
      <vt:variant>
        <vt:i4>5</vt:i4>
      </vt:variant>
      <vt:variant>
        <vt:lpstr>Tema</vt:lpstr>
      </vt:variant>
      <vt:variant>
        <vt:i4>2</vt:i4>
      </vt:variant>
      <vt:variant>
        <vt:lpstr>Servidores OLE incrustados</vt:lpstr>
      </vt:variant>
      <vt:variant>
        <vt:i4>1</vt:i4>
      </vt:variant>
      <vt:variant>
        <vt:lpstr>Títulos de diapositiva</vt:lpstr>
      </vt:variant>
      <vt:variant>
        <vt:i4>33</vt:i4>
      </vt:variant>
    </vt:vector>
  </HeadingPairs>
  <TitlesOfParts>
    <vt:vector size="41" baseType="lpstr">
      <vt:lpstr>Aptos</vt:lpstr>
      <vt:lpstr>Arial</vt:lpstr>
      <vt:lpstr>Calibri</vt:lpstr>
      <vt:lpstr>Lato Light</vt:lpstr>
      <vt:lpstr>Trebuchet MS</vt:lpstr>
      <vt:lpstr>Arauco Grid 16:9</vt:lpstr>
      <vt:lpstr>1_Arauco Grid 16:9</vt:lpstr>
      <vt:lpstr>Diapositiva de think-cell</vt:lpstr>
      <vt:lpstr>Borrador de trabajo| Manual de Procesos · Gestión de Personas</vt:lpstr>
      <vt:lpstr>Cómo leer| Convenciones de color y estado</vt:lpstr>
      <vt:lpstr>Cómo leer| Criterios de clasificación jerárquica</vt:lpstr>
      <vt:lpstr>Alcance| Cobertura del análisis</vt:lpstr>
      <vt:lpstr>Arquitectura preliminar| Mapa de procesos y subprocesos</vt:lpstr>
      <vt:lpstr>Arquitectura preliminar| De fase del flujo a estructura de procesos</vt:lpstr>
      <vt:lpstr>P1 · Apertura del proceso| Necesidad estratégica y plan de dotación</vt:lpstr>
      <vt:lpstr>P1 · F1 · Cajas del flujo| Necesidad estratégica y plan de dotación</vt:lpstr>
      <vt:lpstr>P2 · Apertura del proceso| Valoración de cargo y banda de renta</vt:lpstr>
      <vt:lpstr>P2 · F2 · Cajas del flujo| Valoración de cargo y banda de renta</vt:lpstr>
      <vt:lpstr>P3 · Apertura del proceso| Atracción y selección de personas</vt:lpstr>
      <vt:lpstr>P3 · F3 · Cajas del flujo| Requisición y apertura de vacante</vt:lpstr>
      <vt:lpstr>P3 · F3 · Cajas del flujo| Requisición y apertura de vacante · continuación</vt:lpstr>
      <vt:lpstr>P3 · F4 · Cajas del flujo| Reclutamiento y filtro curricular</vt:lpstr>
      <vt:lpstr>P3 · F5 · Cajas del flujo| Revisión del área solicitante</vt:lpstr>
      <vt:lpstr>P3 · F6 · Cajas del flujo| Evaluación área selección · psicolaboral</vt:lpstr>
      <vt:lpstr>P3 · F7 · Cajas del flujo| Evaluación área solicitante · entrevistas</vt:lpstr>
      <vt:lpstr>P3 · F8 · Cajas del flujo| Examen preocupacional</vt:lpstr>
      <vt:lpstr>P3 · F9 · Cajas del flujo| Flujo de contratación y carta oferta</vt:lpstr>
      <vt:lpstr>P3 · F9 · Cajas del flujo| Flujo de contratación y carta oferta · continuación</vt:lpstr>
      <vt:lpstr>P3 · F10 · Cajas del flujo| Onboarding e incorporación</vt:lpstr>
      <vt:lpstr>P4 · Apertura del proceso| Desarrollo organizacional</vt:lpstr>
      <vt:lpstr>P4 · F11 · Cajas del flujo| Formación y habilitación</vt:lpstr>
      <vt:lpstr>P4 · F11 · Cajas del flujo| Formación y habilitación · continuación</vt:lpstr>
      <vt:lpstr>P4 · F12 · Cajas del flujo| Gestión del desempeño · ciclo anual</vt:lpstr>
      <vt:lpstr>P4 · F12 · Cajas del flujo| Gestión del desempeño · ciclo anual · continuación</vt:lpstr>
      <vt:lpstr>P4 · F13 · Cajas del flujo| Carrera, sucesión y movilidad</vt:lpstr>
      <vt:lpstr>P5 · Apertura del proceso| Compensaciones y beneficios</vt:lpstr>
      <vt:lpstr>P5 · F14 · Cajas del flujo| Revisión de renta y beneficios</vt:lpstr>
      <vt:lpstr>P5 · F14 · Cajas del flujo| Revisión de renta y beneficios · continuación</vt:lpstr>
      <vt:lpstr>Cierre| Observaciones y tensiones detectadas</vt:lpstr>
      <vt:lpstr>Cierre| Preguntas para validar</vt:lpstr>
      <vt:lpstr>Cierre| Fundamento y trazabilidad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Analizamos la consistencia entre SIPOCs con 3 lentes</dc:title>
  <dc:creator>Isidora Patricia Correa Poblete</dc:creator>
  <cp:lastModifiedBy>Bastian Ignacio Vera Rivera</cp:lastModifiedBy>
  <cp:revision>4</cp:revision>
  <cp:lastPrinted>2025-10-06T16:27:58Z</cp:lastPrinted>
  <dcterms:created xsi:type="dcterms:W3CDTF">2025-07-31T18:19:11Z</dcterms:created>
  <dcterms:modified xsi:type="dcterms:W3CDTF">2026-09-23T18:38:24Z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0x01010059E35590500FFD4BB6D05B34108B1210</vt:lpwstr>
  </property>
  <property fmtid="{D5CDD505-2E9C-101B-9397-08002B2CF9AE}" pid="3" name="MediaServiceImageTags">
    <vt:lpwstr/>
  </property>
  <property fmtid="{D5CDD505-2E9C-101B-9397-08002B2CF9AE}" pid="4" name="MSIP_Label_b0d5c4f4-7a29-4385-b7a5-afbe2154ae6f_Name">
    <vt:lpwstr>Confidential</vt:lpwstr>
  </property>
  <property fmtid="{D5CDD505-2E9C-101B-9397-08002B2CF9AE}" pid="5" name="MSIP_Label_b0d5c4f4-7a29-4385-b7a5-afbe2154ae6f_ActionId">
    <vt:lpwstr>3eed8319-1780-4910-a948-03fcd97ad372</vt:lpwstr>
  </property>
  <property fmtid="{D5CDD505-2E9C-101B-9397-08002B2CF9AE}" pid="6" name="MSIP_Label_b0d5c4f4-7a29-4385-b7a5-afbe2154ae6f_SiteId">
    <vt:lpwstr>2dfb2f0b-4d21-4268-9559-72926144c918</vt:lpwstr>
  </property>
  <property fmtid="{D5CDD505-2E9C-101B-9397-08002B2CF9AE}" pid="7" name="MSIP_Label_b0d5c4f4-7a29-4385-b7a5-afbe2154ae6f_Tag">
    <vt:lpwstr>10, 3, 0, 1</vt:lpwstr>
  </property>
  <property fmtid="{D5CDD505-2E9C-101B-9397-08002B2CF9AE}" pid="8" name="MSIP_Label_b0d5c4f4-7a29-4385-b7a5-afbe2154ae6f_Method">
    <vt:lpwstr>Standard</vt:lpwstr>
  </property>
  <property fmtid="{D5CDD505-2E9C-101B-9397-08002B2CF9AE}" pid="9" name="MSIP_Label_b0d5c4f4-7a29-4385-b7a5-afbe2154ae6f_ContentBits">
    <vt:lpwstr>0</vt:lpwstr>
  </property>
  <property fmtid="{D5CDD505-2E9C-101B-9397-08002B2CF9AE}" pid="10" name="MSIP_Label_b0d5c4f4-7a29-4385-b7a5-afbe2154ae6f_Enabled">
    <vt:lpwstr>true</vt:lpwstr>
  </property>
  <property fmtid="{D5CDD505-2E9C-101B-9397-08002B2CF9AE}" pid="11" name="MSIP_Label_b0d5c4f4-7a29-4385-b7a5-afbe2154ae6f_SetDate">
    <vt:lpwstr>2025-08-04T16:41:55Z</vt:lpwstr>
  </property>
</Properties>
</file>