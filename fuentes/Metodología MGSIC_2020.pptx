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60" r:id="rId3"/>
    <p:sldId id="262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1" autoAdjust="0"/>
    <p:restoredTop sz="94654" autoAdjust="0"/>
  </p:normalViewPr>
  <p:slideViewPr>
    <p:cSldViewPr>
      <p:cViewPr varScale="1">
        <p:scale>
          <a:sx n="85" d="100"/>
          <a:sy n="85" d="100"/>
        </p:scale>
        <p:origin x="13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C9A14-849C-46EF-ABB1-C3C10D562B0F}" type="datetimeFigureOut">
              <a:rPr lang="es-CL" smtClean="0"/>
              <a:t>10-07-2020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A2482-D8FA-49E4-9676-072919BABE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88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DA2482-D8FA-49E4-9676-072919BABE98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421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493" y="-297"/>
            <a:ext cx="9156986" cy="6858594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DE9EA-D12E-4635-B043-42C3F595228B}" type="slidenum">
              <a:rPr lang="es-ES" altLang="es-CL" smtClean="0"/>
              <a:pPr>
                <a:defRPr/>
              </a:pPr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57648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49535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7E3F0-B5B1-4F68-AF79-A7583E288E5A}" type="slidenum">
              <a:rPr lang="es-ES" altLang="es-CL" smtClean="0"/>
              <a:pPr>
                <a:defRPr/>
              </a:pPr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81783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63687" y="116632"/>
            <a:ext cx="5544617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 dirty="0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 dirty="0" smtClean="0"/>
              <a:t>Haga clic para modificar el estilo de texto del patrón</a:t>
            </a:r>
          </a:p>
          <a:p>
            <a:pPr lvl="1"/>
            <a:r>
              <a:rPr lang="es-ES" altLang="es-CL" dirty="0" smtClean="0"/>
              <a:t>Segundo nivel</a:t>
            </a:r>
          </a:p>
          <a:p>
            <a:pPr lvl="2"/>
            <a:r>
              <a:rPr lang="es-ES" altLang="es-CL" dirty="0" smtClean="0"/>
              <a:t>Tercer nivel</a:t>
            </a:r>
          </a:p>
          <a:p>
            <a:pPr lvl="3"/>
            <a:r>
              <a:rPr lang="es-ES" altLang="es-CL" dirty="0" smtClean="0"/>
              <a:t>Cuarto nivel</a:t>
            </a:r>
          </a:p>
          <a:p>
            <a:pPr lvl="4"/>
            <a:r>
              <a:rPr lang="es-ES" altLang="es-CL" dirty="0" smtClean="0"/>
              <a:t>Quinto nivel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25279" y="6313447"/>
            <a:ext cx="621432" cy="283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3C9F0DF-9806-4633-B433-F2C42F0605F5}" type="slidenum">
              <a:rPr lang="es-ES" altLang="es-CL" smtClean="0"/>
              <a:pPr>
                <a:defRPr/>
              </a:pPr>
              <a:t>‹Nº›</a:t>
            </a:fld>
            <a:endParaRPr lang="es-ES" altLang="es-CL" dirty="0"/>
          </a:p>
        </p:txBody>
      </p:sp>
    </p:spTree>
    <p:extLst>
      <p:ext uri="{BB962C8B-B14F-4D97-AF65-F5344CB8AC3E}">
        <p14:creationId xmlns:p14="http://schemas.microsoft.com/office/powerpoint/2010/main" val="169445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questionpro.com/blog/es/como-hacer-una-investigacion-cualitativ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feder.com/estudio-cas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 descr="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715" y="15624"/>
            <a:ext cx="915638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9608" y="1412776"/>
            <a:ext cx="7772400" cy="2089795"/>
          </a:xfrm>
        </p:spPr>
        <p:txBody>
          <a:bodyPr/>
          <a:lstStyle/>
          <a:p>
            <a:r>
              <a:rPr lang="es-MX" altLang="es-CL" b="1" dirty="0" smtClean="0">
                <a:solidFill>
                  <a:schemeClr val="bg1"/>
                </a:solidFill>
              </a:rPr>
              <a:t>METODOLOGIA DE INVESTIGACIÓN</a:t>
            </a:r>
            <a:endParaRPr lang="es-CL" altLang="es-CL" sz="40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6" r="784"/>
          <a:stretch/>
        </p:blipFill>
        <p:spPr>
          <a:xfrm>
            <a:off x="-34230" y="19106"/>
            <a:ext cx="9144000" cy="6858000"/>
          </a:xfrm>
          <a:prstGeom prst="rect">
            <a:avLst/>
          </a:prstGeom>
        </p:spPr>
      </p:pic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492632" y="2034434"/>
            <a:ext cx="8086725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INTRODUCCIÓN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Contextualización del tema de estudio, Relevancia y antecedentes.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Respaldado con citas de Revistas científicas.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Último párrafo de esta sección debería decir: Por lo expuesto anteriormente esta investigación se plantea las siguientes preguntas ¿….?  </a:t>
            </a:r>
            <a:r>
              <a:rPr lang="es-US" altLang="es-CL" sz="2000" b="1" dirty="0" smtClean="0"/>
              <a:t>HIPÓTESIS</a:t>
            </a:r>
            <a:r>
              <a:rPr lang="es-US" altLang="es-CL" sz="2000" dirty="0" smtClean="0"/>
              <a:t> (cuando corresponda) y objetivos.</a:t>
            </a:r>
            <a:endParaRPr lang="es-CL" altLang="es-CL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63688" y="146863"/>
            <a:ext cx="5616624" cy="854968"/>
          </a:xfrm>
        </p:spPr>
        <p:txBody>
          <a:bodyPr/>
          <a:lstStyle/>
          <a:p>
            <a:r>
              <a:rPr lang="es-CL" dirty="0" smtClean="0">
                <a:solidFill>
                  <a:schemeClr val="bg1"/>
                </a:solidFill>
              </a:rPr>
              <a:t>CUERPO DOCUMENTO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2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59893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3</a:t>
            </a:fld>
            <a:endParaRPr lang="es-ES" altLang="es-CL"/>
          </a:p>
        </p:txBody>
      </p:sp>
      <p:sp>
        <p:nvSpPr>
          <p:cNvPr id="8" name="7 CuadroTexto"/>
          <p:cNvSpPr txBox="1">
            <a:spLocks noChangeArrowheads="1"/>
          </p:cNvSpPr>
          <p:nvPr/>
        </p:nvSpPr>
        <p:spPr bwMode="auto">
          <a:xfrm>
            <a:off x="179512" y="1556792"/>
            <a:ext cx="8759888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Objetivo general: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Debe estar alineado con el título de la investigación, debe incluir la o las variables importantes de análisis y contextualizado.</a:t>
            </a: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Recordar que</a:t>
            </a:r>
            <a:r>
              <a:rPr lang="es-US" altLang="es-CL" sz="2000" dirty="0" smtClean="0"/>
              <a:t>: Toda investigación se diseña para responder a un </a:t>
            </a:r>
            <a:r>
              <a:rPr lang="es-US" altLang="es-CL" sz="2000" dirty="0" err="1" smtClean="0"/>
              <a:t>Obj</a:t>
            </a:r>
            <a:r>
              <a:rPr lang="es-US" altLang="es-CL" sz="2000" dirty="0" smtClean="0"/>
              <a:t>. específico.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Objetivos específicos: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Entre 3 a 5 y deben dar cuenta del objetivo general.</a:t>
            </a:r>
            <a:endParaRPr lang="es-US" altLang="es-CL" sz="2000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METODOLOGÍA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618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4</a:t>
            </a:fld>
            <a:endParaRPr lang="es-ES" altLang="es-CL"/>
          </a:p>
        </p:txBody>
      </p:sp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143507" y="1196752"/>
            <a:ext cx="8784976" cy="692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METODO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En general se parte disiento el tipo de investigación</a:t>
            </a:r>
            <a:r>
              <a:rPr lang="es-US" altLang="es-CL" sz="2000" dirty="0" smtClean="0"/>
              <a:t>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Corresponde a una investigación cuantitativa, no experimental, </a:t>
            </a:r>
            <a:r>
              <a:rPr lang="es-US" altLang="es-CL" sz="2000" dirty="0" err="1" smtClean="0"/>
              <a:t>frecuentista</a:t>
            </a:r>
            <a:r>
              <a:rPr lang="es-US" altLang="es-CL" sz="2000" dirty="0" smtClean="0"/>
              <a:t> y de corte transversal.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8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Participantes</a:t>
            </a:r>
            <a:r>
              <a:rPr lang="es-US" altLang="es-CL" sz="2000" dirty="0" smtClean="0"/>
              <a:t>: Debe incluir una detallada descripción de los participantes. Población de estudio, selección de la muestra, estudio de caso. Se deben describir y contextualizar muy bien.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8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Procedimiento</a:t>
            </a:r>
            <a:r>
              <a:rPr lang="es-US" altLang="es-CL" sz="2000" dirty="0" smtClean="0"/>
              <a:t>: debe contener el procedimiento para lograr llegar a los participantes, principios éticos.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/>
          </a:p>
        </p:txBody>
      </p:sp>
      <p:sp>
        <p:nvSpPr>
          <p:cNvPr id="6" name="Rectángulo 5"/>
          <p:cNvSpPr/>
          <p:nvPr/>
        </p:nvSpPr>
        <p:spPr>
          <a:xfrm>
            <a:off x="3007576" y="260648"/>
            <a:ext cx="3441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altLang="es-CL" sz="2800" b="1" dirty="0">
                <a:solidFill>
                  <a:schemeClr val="bg1"/>
                </a:solidFill>
              </a:rPr>
              <a:t>Material y métodos</a:t>
            </a: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38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5</a:t>
            </a:fld>
            <a:endParaRPr lang="es-ES" altLang="es-CL"/>
          </a:p>
        </p:txBody>
      </p:sp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179512" y="980728"/>
            <a:ext cx="8784976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Instrumentos: </a:t>
            </a:r>
            <a:r>
              <a:rPr lang="es-US" altLang="es-CL" sz="2000" dirty="0" smtClean="0"/>
              <a:t>cuando corresponda, enunciaros, autores, principales características, indicadores de calidad.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Análisis de datos: </a:t>
            </a:r>
            <a:r>
              <a:rPr lang="es-US" altLang="es-CL" sz="2000" dirty="0" smtClean="0"/>
              <a:t>Estrategia de como se realizará, software, modelos, etc. En general y se sugiere abordar cada objetivo por separado de cómo se realizará el análisis y las actividades correspondientes.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/>
          </a:p>
        </p:txBody>
      </p:sp>
    </p:spTree>
    <p:extLst>
      <p:ext uri="{BB962C8B-B14F-4D97-AF65-F5344CB8AC3E}">
        <p14:creationId xmlns:p14="http://schemas.microsoft.com/office/powerpoint/2010/main" val="75507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6</a:t>
            </a:fld>
            <a:endParaRPr lang="es-ES" altLang="es-CL"/>
          </a:p>
        </p:txBody>
      </p:sp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143507" y="1340768"/>
            <a:ext cx="8784976" cy="5863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Resultados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Se orientan y ordenan en función de los objetivos específicos.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Discusión y conclusiones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Se discuten los resultados relevantes en función a la evidencia de la revisión bibliográfica.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Conclusiones: </a:t>
            </a:r>
            <a:r>
              <a:rPr lang="es-US" altLang="es-CL" sz="2000" dirty="0" smtClean="0"/>
              <a:t>Tantas como objetivos específicos. Se realiza una general para cerrar el </a:t>
            </a:r>
            <a:r>
              <a:rPr lang="es-US" altLang="es-CL" sz="2000" dirty="0" err="1" smtClean="0"/>
              <a:t>Obj</a:t>
            </a:r>
            <a:r>
              <a:rPr lang="es-US" altLang="es-CL" sz="2000" dirty="0" smtClean="0"/>
              <a:t>. General.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1000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dirty="0" smtClean="0"/>
              <a:t>Se termina con un párrafo referente a limitaciones del estudio y futuras líneas de investigación.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US" altLang="es-CL" sz="2000" b="1" dirty="0" smtClean="0"/>
              <a:t>Agradecimientos: </a:t>
            </a:r>
            <a:r>
              <a:rPr lang="es-US" altLang="es-CL" sz="2000" dirty="0" smtClean="0"/>
              <a:t>cuando corresponda.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/>
          </a:p>
        </p:txBody>
      </p:sp>
    </p:spTree>
    <p:extLst>
      <p:ext uri="{BB962C8B-B14F-4D97-AF65-F5344CB8AC3E}">
        <p14:creationId xmlns:p14="http://schemas.microsoft.com/office/powerpoint/2010/main" val="30391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7</a:t>
            </a:fld>
            <a:endParaRPr lang="es-ES" altLang="es-CL"/>
          </a:p>
        </p:txBody>
      </p:sp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143507" y="1196752"/>
            <a:ext cx="8784976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8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800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000" dirty="0"/>
              <a:t>El diseño de investigación se define como los métodos y técnicas elegidos por un investigador para combinarlos de una manera razonablemente lógica para que el problema de la investigación sea manejado de manera eficiente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sz="2000" b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000" b="1" dirty="0" smtClean="0"/>
              <a:t>Objetivo:</a:t>
            </a:r>
            <a:r>
              <a:rPr lang="es-ES" sz="2000" dirty="0" smtClean="0"/>
              <a:t> brindar </a:t>
            </a:r>
            <a:r>
              <a:rPr lang="es-ES" sz="2000" dirty="0"/>
              <a:t>información </a:t>
            </a:r>
            <a:r>
              <a:rPr lang="es-ES" sz="2000" dirty="0" smtClean="0"/>
              <a:t>y comprensión </a:t>
            </a:r>
            <a:r>
              <a:rPr lang="es-ES" sz="2000" dirty="0"/>
              <a:t>sobre la </a:t>
            </a:r>
            <a:r>
              <a:rPr lang="es-ES" sz="2000" dirty="0" smtClean="0"/>
              <a:t>situación del </a:t>
            </a:r>
            <a:r>
              <a:rPr lang="es-ES" sz="2000" dirty="0"/>
              <a:t>problema que enfrenta </a:t>
            </a:r>
            <a:r>
              <a:rPr lang="es-ES" sz="2000" dirty="0" smtClean="0"/>
              <a:t>el investigador.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US" altLang="es-CL" sz="2000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000" dirty="0"/>
              <a:t>El diseño de investigación es una guía sobre “cómo” llevar a cabo la investigación utilizando una metodología particular. Cada investigador tiene una lista de preguntas que necesitan ser evaluadas.</a:t>
            </a:r>
            <a:endParaRPr lang="es-US" altLang="es-CL" sz="20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619672" y="188640"/>
            <a:ext cx="6971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b="1" dirty="0" smtClean="0">
                <a:solidFill>
                  <a:schemeClr val="bg1"/>
                </a:solidFill>
              </a:rPr>
              <a:t>CLASIFICACIÓN DE LOS DISEÑOS DE INVESTIGACIÓN</a:t>
            </a:r>
            <a:endParaRPr lang="es-E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41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8</a:t>
            </a:fld>
            <a:endParaRPr lang="es-ES" altLang="es-CL"/>
          </a:p>
        </p:txBody>
      </p:sp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143507" y="2060848"/>
            <a:ext cx="8784976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000" b="1" dirty="0" smtClean="0"/>
              <a:t>¿</a:t>
            </a:r>
            <a:r>
              <a:rPr lang="es-ES" altLang="es-CL" sz="2000" b="1" dirty="0"/>
              <a:t>Para qué realizar un diseño de investigación?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000" dirty="0"/>
              <a:t>El diseño de un tema de investigación se utiliza para explicar el tipo de investigación (investigación experimental, encuestas, investigación correlacional, </a:t>
            </a:r>
            <a:r>
              <a:rPr lang="es-ES" altLang="es-CL" sz="2000" dirty="0" err="1"/>
              <a:t>semi</a:t>
            </a:r>
            <a:r>
              <a:rPr lang="es-ES" altLang="es-CL" sz="2000" dirty="0"/>
              <a:t>-experimental) y también su subtipo (diseño experimental, problema de investigación, estudio de caso descriptivo). </a:t>
            </a:r>
            <a:endParaRPr lang="es-US" altLang="es-CL" sz="20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619672" y="188640"/>
            <a:ext cx="6971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b="1" dirty="0" smtClean="0">
                <a:solidFill>
                  <a:schemeClr val="bg1"/>
                </a:solidFill>
              </a:rPr>
              <a:t>CLASIFICACIÓN DE LOS DISEÑOS DE INVESTIGACIÓN</a:t>
            </a:r>
            <a:endParaRPr lang="es-E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68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sz="2000" b="1" dirty="0"/>
              <a:t>Diseño de Investigación cualitativo</a:t>
            </a:r>
            <a:r>
              <a:rPr lang="es-ES" sz="2000" dirty="0" smtClean="0"/>
              <a:t>:</a:t>
            </a:r>
          </a:p>
          <a:p>
            <a:pPr marL="0" indent="0" algn="just">
              <a:buNone/>
            </a:pPr>
            <a:endParaRPr lang="es-ES" sz="2000" dirty="0" smtClean="0"/>
          </a:p>
          <a:p>
            <a:pPr marL="0" indent="0" algn="just">
              <a:buNone/>
            </a:pPr>
            <a:r>
              <a:rPr lang="es-ES" sz="2000" dirty="0" smtClean="0"/>
              <a:t>La</a:t>
            </a:r>
            <a:r>
              <a:rPr lang="es-ES" sz="2000" dirty="0"/>
              <a:t> </a:t>
            </a:r>
            <a:r>
              <a:rPr lang="es-ES" sz="2000" dirty="0">
                <a:solidFill>
                  <a:srgbClr val="FF0000"/>
                </a:solidFill>
                <a:hlinkClick r:id="rId2"/>
              </a:rPr>
              <a:t>investigación cualitativa</a:t>
            </a:r>
            <a:r>
              <a:rPr lang="es-ES" sz="2000" dirty="0">
                <a:solidFill>
                  <a:srgbClr val="FF0000"/>
                </a:solidFill>
              </a:rPr>
              <a:t> </a:t>
            </a:r>
            <a:r>
              <a:rPr lang="es-ES" sz="2000" dirty="0"/>
              <a:t>se lleva a cabo en los casos en que se establece una relación entre los datos recopilados y la observación sobre la base de cálculos matemáticos</a:t>
            </a:r>
            <a:r>
              <a:rPr lang="es-ES" sz="2000" dirty="0"/>
              <a:t>. </a:t>
            </a:r>
            <a:r>
              <a:rPr lang="es-ES" sz="2000" dirty="0" smtClean="0"/>
              <a:t>Se </a:t>
            </a:r>
            <a:r>
              <a:rPr lang="es-ES" sz="2000" dirty="0"/>
              <a:t>centra en estudiar un fenómeno en profundidad en lugar de usar la estadística para sacar conclusiones </a:t>
            </a:r>
            <a:r>
              <a:rPr lang="es-ES" sz="2000" dirty="0" smtClean="0"/>
              <a:t>generales.</a:t>
            </a:r>
          </a:p>
          <a:p>
            <a:pPr marL="0" indent="0">
              <a:buNone/>
            </a:pPr>
            <a:endParaRPr lang="es-U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9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9640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 smtClean="0"/>
              <a:t>Estudio </a:t>
            </a:r>
            <a:r>
              <a:rPr lang="es-ES" dirty="0"/>
              <a:t>de </a:t>
            </a:r>
            <a:r>
              <a:rPr lang="es-ES" dirty="0" smtClean="0"/>
              <a:t>caso, </a:t>
            </a:r>
            <a:r>
              <a:rPr lang="es-ES" dirty="0" err="1" smtClean="0"/>
              <a:t>Invest</a:t>
            </a:r>
            <a:r>
              <a:rPr lang="es-ES" dirty="0" smtClean="0"/>
              <a:t>. Cualitativa: </a:t>
            </a:r>
            <a:r>
              <a:rPr lang="es-ES" sz="2800" dirty="0" smtClean="0"/>
              <a:t>consiste </a:t>
            </a:r>
            <a:r>
              <a:rPr lang="es-ES" sz="2800" dirty="0"/>
              <a:t>en la observación detallada de un sujeto de estudio (también conocido como caso). </a:t>
            </a:r>
            <a:endParaRPr lang="es-ES" sz="2800" dirty="0" smtClean="0"/>
          </a:p>
          <a:p>
            <a:pPr marL="0" indent="0" algn="just">
              <a:buNone/>
            </a:pPr>
            <a:endParaRPr lang="es-US" sz="2800" dirty="0"/>
          </a:p>
          <a:p>
            <a:pPr marL="0" indent="0" algn="just">
              <a:buNone/>
            </a:pPr>
            <a:r>
              <a:rPr lang="es-ES" sz="2800" dirty="0"/>
              <a:t>Las técnicas más utilizadas en los </a:t>
            </a:r>
            <a:r>
              <a:rPr lang="es-ES" sz="2800" b="1" dirty="0">
                <a:solidFill>
                  <a:srgbClr val="FF0000"/>
                </a:solidFill>
              </a:rPr>
              <a:t>casos de estudio</a:t>
            </a:r>
            <a:r>
              <a:rPr lang="es-ES" sz="2800" dirty="0"/>
              <a:t> son la </a:t>
            </a:r>
            <a:r>
              <a:rPr lang="es-ES" sz="2800" b="1" dirty="0">
                <a:solidFill>
                  <a:srgbClr val="FF0000"/>
                </a:solidFill>
              </a:rPr>
              <a:t>observación</a:t>
            </a:r>
            <a:r>
              <a:rPr lang="es-ES" sz="2800" dirty="0"/>
              <a:t> y la </a:t>
            </a:r>
            <a:r>
              <a:rPr lang="es-ES" sz="2800" b="1" dirty="0">
                <a:solidFill>
                  <a:srgbClr val="FF0000"/>
                </a:solidFill>
              </a:rPr>
              <a:t>aplicación de </a:t>
            </a:r>
            <a:r>
              <a:rPr lang="es-ES" sz="2800" b="1" dirty="0" smtClean="0">
                <a:solidFill>
                  <a:srgbClr val="FF0000"/>
                </a:solidFill>
              </a:rPr>
              <a:t>cuestionarios</a:t>
            </a:r>
            <a:r>
              <a:rPr lang="es-ES" sz="2800" dirty="0" smtClean="0"/>
              <a:t>.</a:t>
            </a:r>
            <a:endParaRPr lang="es-ES" sz="2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10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47014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US" dirty="0" smtClean="0"/>
              <a:t>Característica:</a:t>
            </a:r>
          </a:p>
          <a:p>
            <a:pPr marL="0" indent="0" algn="just">
              <a:buNone/>
            </a:pPr>
            <a:r>
              <a:rPr lang="es-ES" sz="2800" dirty="0"/>
              <a:t>se trata del estudio en profundidad de una situación, evento o caso concreto, de tal forma que se toma en cuenta principalmente sus características internas pero también el contexto en el que se </a:t>
            </a:r>
            <a:r>
              <a:rPr lang="es-ES" sz="2800" dirty="0" smtClean="0"/>
              <a:t>produce.</a:t>
            </a:r>
            <a:endParaRPr lang="es-ES" sz="2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11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69361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Búsqueda de comprensión</a:t>
            </a:r>
            <a:endParaRPr lang="es-ES" dirty="0"/>
          </a:p>
          <a:p>
            <a:pPr marL="0" indent="0" algn="just">
              <a:buNone/>
            </a:pPr>
            <a:r>
              <a:rPr lang="es-ES" sz="2400" dirty="0"/>
              <a:t>La intención principal </a:t>
            </a:r>
            <a:r>
              <a:rPr lang="es-ES" sz="2400" dirty="0" smtClean="0"/>
              <a:t>es </a:t>
            </a:r>
            <a:r>
              <a:rPr lang="es-ES" sz="2400" dirty="0"/>
              <a:t>intentar comprender todas las variables que influyen en la situación concreta que se está estudiando y cómo interactúan entre </a:t>
            </a:r>
            <a:r>
              <a:rPr lang="es-ES" sz="2400" dirty="0" smtClean="0"/>
              <a:t>sí.</a:t>
            </a:r>
          </a:p>
          <a:p>
            <a:pPr marL="0" indent="0" algn="just">
              <a:buNone/>
            </a:pPr>
            <a:endParaRPr lang="es-ES" sz="2400" b="1" dirty="0" smtClean="0"/>
          </a:p>
          <a:p>
            <a:pPr marL="0" indent="0" algn="just">
              <a:buNone/>
            </a:pPr>
            <a:r>
              <a:rPr lang="es-ES" sz="2400" b="1" dirty="0" smtClean="0"/>
              <a:t>Ventajas:</a:t>
            </a:r>
          </a:p>
          <a:p>
            <a:pPr marL="0" indent="0" algn="just">
              <a:buNone/>
            </a:pPr>
            <a:r>
              <a:rPr lang="es-US" sz="2400" dirty="0" smtClean="0"/>
              <a:t>Barato y sencillo</a:t>
            </a:r>
          </a:p>
          <a:p>
            <a:pPr marL="0" indent="0" algn="just">
              <a:buNone/>
            </a:pPr>
            <a:r>
              <a:rPr lang="es-US" sz="2400" dirty="0" smtClean="0"/>
              <a:t>Permite observar eventos</a:t>
            </a:r>
          </a:p>
          <a:p>
            <a:pPr marL="0" indent="0" algn="just">
              <a:buNone/>
            </a:pPr>
            <a:r>
              <a:rPr lang="es-ES" sz="2400" dirty="0"/>
              <a:t>Permite estudiar un fenómeno en profundidad, de forma que se pueden extraer más conclusiones sobre el mismo.</a:t>
            </a:r>
            <a:endParaRPr lang="es-ES" sz="2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12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8455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b="1" dirty="0" smtClean="0"/>
              <a:t>Objetivos:</a:t>
            </a:r>
          </a:p>
          <a:p>
            <a:pPr>
              <a:lnSpc>
                <a:spcPct val="150000"/>
              </a:lnSpc>
            </a:pPr>
            <a:r>
              <a:rPr lang="es-ES" sz="2400" dirty="0" smtClean="0"/>
              <a:t>Explorar </a:t>
            </a:r>
            <a:r>
              <a:rPr lang="es-ES" sz="2400" dirty="0"/>
              <a:t>la realidad para formular más tarde una </a:t>
            </a:r>
            <a:r>
              <a:rPr lang="es-ES" sz="2400" dirty="0" smtClean="0"/>
              <a:t>teoría.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Describir lo que ocurre en el caso</a:t>
            </a:r>
            <a:r>
              <a:rPr lang="es-E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Explicar las causas que lo </a:t>
            </a:r>
            <a:r>
              <a:rPr lang="es-ES" sz="2400" dirty="0" smtClean="0"/>
              <a:t>provocan</a:t>
            </a:r>
          </a:p>
          <a:p>
            <a:pPr>
              <a:lnSpc>
                <a:spcPct val="150000"/>
              </a:lnSpc>
            </a:pPr>
            <a:r>
              <a:rPr lang="es-ES" sz="2400" dirty="0" smtClean="0"/>
              <a:t>Es </a:t>
            </a:r>
            <a:r>
              <a:rPr lang="es-ES" sz="2400" dirty="0"/>
              <a:t>inductivo; es decir, pasa de las situaciones concretas a una explicación </a:t>
            </a:r>
            <a:r>
              <a:rPr lang="es-ES" sz="2400" dirty="0" smtClean="0"/>
              <a:t>general.</a:t>
            </a:r>
            <a:endParaRPr lang="es-ES" sz="2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13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53132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sz="2400" b="1" dirty="0" smtClean="0"/>
              <a:t>Metodología</a:t>
            </a:r>
          </a:p>
          <a:p>
            <a:pPr marL="0" indent="0">
              <a:buNone/>
            </a:pPr>
            <a:endParaRPr lang="es-US" sz="2400" b="1" dirty="0" smtClean="0"/>
          </a:p>
          <a:p>
            <a:r>
              <a:rPr lang="es-ES" sz="2400" dirty="0" smtClean="0"/>
              <a:t>Selección </a:t>
            </a:r>
            <a:r>
              <a:rPr lang="es-ES" sz="2400" dirty="0"/>
              <a:t>del caso.</a:t>
            </a:r>
          </a:p>
          <a:p>
            <a:r>
              <a:rPr lang="es-ES" sz="2400" dirty="0" smtClean="0"/>
              <a:t>C </a:t>
            </a:r>
            <a:r>
              <a:rPr lang="es-ES" sz="2400" dirty="0"/>
              <a:t>de una serie de preguntas sobre el mismo.</a:t>
            </a:r>
          </a:p>
          <a:p>
            <a:r>
              <a:rPr lang="es-ES" sz="2400" dirty="0" smtClean="0"/>
              <a:t>Obtención </a:t>
            </a:r>
            <a:r>
              <a:rPr lang="es-ES" sz="2400" dirty="0"/>
              <a:t>de los datos.</a:t>
            </a:r>
          </a:p>
          <a:p>
            <a:r>
              <a:rPr lang="es-ES" sz="2400" dirty="0" smtClean="0"/>
              <a:t>Análisis </a:t>
            </a:r>
            <a:r>
              <a:rPr lang="es-ES" sz="2400" dirty="0"/>
              <a:t>de los datos recopilados.</a:t>
            </a:r>
          </a:p>
          <a:p>
            <a:r>
              <a:rPr lang="es-ES" sz="2400" dirty="0" smtClean="0"/>
              <a:t>Creación </a:t>
            </a:r>
            <a:r>
              <a:rPr lang="es-ES" sz="2400" dirty="0"/>
              <a:t>del informe.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14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42944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b="1" dirty="0" smtClean="0"/>
              <a:t>Selección </a:t>
            </a:r>
            <a:r>
              <a:rPr lang="es-ES" sz="2400" b="1" dirty="0"/>
              <a:t>del </a:t>
            </a:r>
            <a:r>
              <a:rPr lang="es-ES" sz="2400" b="1" dirty="0" smtClean="0"/>
              <a:t>caso</a:t>
            </a:r>
          </a:p>
          <a:p>
            <a:pPr marL="0" indent="0" algn="just">
              <a:buNone/>
            </a:pPr>
            <a:r>
              <a:rPr lang="es-ES" sz="2400" dirty="0" smtClean="0"/>
              <a:t>Encontrar </a:t>
            </a:r>
            <a:r>
              <a:rPr lang="es-ES" sz="2400" dirty="0"/>
              <a:t>un evento relevante para el investigador, así como los objetivos que se quieren cumplir al investigarlo y la fuente de información a la que se va a </a:t>
            </a:r>
            <a:r>
              <a:rPr lang="es-ES" sz="2400" dirty="0" smtClean="0"/>
              <a:t>acudir.</a:t>
            </a:r>
          </a:p>
          <a:p>
            <a:r>
              <a:rPr lang="es-US" sz="2400" b="1" dirty="0" smtClean="0"/>
              <a:t>Creación de preguntas</a:t>
            </a:r>
            <a:endParaRPr lang="es-ES" sz="2400" dirty="0" smtClean="0"/>
          </a:p>
          <a:p>
            <a:pPr marL="0" indent="0" algn="just">
              <a:buNone/>
            </a:pPr>
            <a:r>
              <a:rPr lang="es-ES" sz="2400" dirty="0"/>
              <a:t>¿Qué se quiere comprobar con el estudio de caso? </a:t>
            </a:r>
            <a:r>
              <a:rPr lang="es-ES" sz="2400" dirty="0" smtClean="0"/>
              <a:t>Hacer </a:t>
            </a:r>
            <a:r>
              <a:rPr lang="es-ES" sz="2400" dirty="0"/>
              <a:t>una lista de lo que quiere comprobar con esta </a:t>
            </a:r>
            <a:r>
              <a:rPr lang="es-ES" sz="2400" dirty="0" smtClean="0"/>
              <a:t>metodología.</a:t>
            </a:r>
          </a:p>
          <a:p>
            <a:r>
              <a:rPr lang="es-US" sz="2400" b="1" dirty="0" smtClean="0"/>
              <a:t>Obtención de los datos</a:t>
            </a:r>
            <a:endParaRPr lang="es-US" sz="2400" b="1" dirty="0"/>
          </a:p>
          <a:p>
            <a:pPr marL="0" indent="0" algn="just">
              <a:buNone/>
            </a:pPr>
            <a:r>
              <a:rPr lang="es-ES" sz="2400" dirty="0"/>
              <a:t>Mediante observación, cuestionarios o entrevistas, el investigador obtendrá toda la información posible sobre la situación que esté </a:t>
            </a:r>
            <a:r>
              <a:rPr lang="es-ES" sz="2400" dirty="0" smtClean="0"/>
              <a:t>estudiando.</a:t>
            </a:r>
            <a:endParaRPr lang="es-ES" sz="2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15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06359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r>
              <a:rPr lang="es-US" sz="2400" b="1" dirty="0" smtClean="0"/>
              <a:t>Análisis de los datos recopilados</a:t>
            </a:r>
            <a:endParaRPr lang="es-ES" sz="2400" b="1" dirty="0" smtClean="0"/>
          </a:p>
          <a:p>
            <a:pPr marL="0" indent="0" algn="just">
              <a:buNone/>
            </a:pPr>
            <a:r>
              <a:rPr lang="es-ES" sz="2400" dirty="0" smtClean="0"/>
              <a:t>Se </a:t>
            </a:r>
            <a:r>
              <a:rPr lang="es-ES" sz="2400" dirty="0"/>
              <a:t>centrará en comparar las preguntas e hipótesis iniciales con los datos recogidos</a:t>
            </a:r>
            <a:r>
              <a:rPr lang="es-ES" sz="2400" dirty="0" smtClean="0"/>
              <a:t>.</a:t>
            </a:r>
          </a:p>
          <a:p>
            <a:r>
              <a:rPr lang="es-US" sz="2400" b="1" dirty="0" smtClean="0"/>
              <a:t>Creación del informe</a:t>
            </a:r>
          </a:p>
          <a:p>
            <a:pPr marL="0" indent="0" algn="just">
              <a:buNone/>
            </a:pPr>
            <a:r>
              <a:rPr lang="es-ES" sz="2400" dirty="0" smtClean="0"/>
              <a:t>El </a:t>
            </a:r>
            <a:r>
              <a:rPr lang="es-ES" sz="2400" dirty="0"/>
              <a:t>investigador explicará el proceso de investigación de manera cronológica. Además de hablar de las situaciones más relevantes, también contará cómo ha recogido los </a:t>
            </a:r>
            <a:r>
              <a:rPr lang="es-ES" sz="2400" dirty="0" smtClean="0"/>
              <a:t>datos. Será </a:t>
            </a:r>
            <a:r>
              <a:rPr lang="es-ES" sz="2400" dirty="0"/>
              <a:t>capaz de comunicar a sus lectores lo que ha aprendido del caso, sus conclusiones y la validez de las </a:t>
            </a:r>
            <a:r>
              <a:rPr lang="es-ES" sz="2400" dirty="0" smtClean="0"/>
              <a:t>mismas.</a:t>
            </a:r>
          </a:p>
          <a:p>
            <a:pPr marL="0" indent="0" algn="just">
              <a:buNone/>
            </a:pPr>
            <a:r>
              <a:rPr lang="es-ES" sz="2400" dirty="0">
                <a:hlinkClick r:id="rId2"/>
              </a:rPr>
              <a:t>https://www.lifeder.com/estudio-caso/</a:t>
            </a:r>
            <a:endParaRPr lang="es-ES" sz="24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87CC4-513C-48A5-A0C8-B97E485CCC7E}" type="slidenum">
              <a:rPr lang="es-ES" altLang="es-CL" smtClean="0"/>
              <a:pPr>
                <a:defRPr/>
              </a:pPr>
              <a:t>16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55923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CSA-UFR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ICSA-UFRO" id="{641D4C36-88CD-4E6B-A2F9-207AFCDAB631}" vid="{12BD3B88-1FDC-4D3C-97DD-DEA09FD4FC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</TotalTime>
  <Words>808</Words>
  <Application>Microsoft Office PowerPoint</Application>
  <PresentationFormat>Presentación en pantalla (4:3)</PresentationFormat>
  <Paragraphs>104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LICSA-UFRO</vt:lpstr>
      <vt:lpstr>METODOLOGIA DE INVESTIGACIÓN</vt:lpstr>
      <vt:lpstr>CUERPO DOCUMENTO</vt:lpstr>
      <vt:lpstr>METODOLOGÍA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Cliente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Cliente</dc:creator>
  <cp:lastModifiedBy>PC01</cp:lastModifiedBy>
  <cp:revision>75</cp:revision>
  <dcterms:created xsi:type="dcterms:W3CDTF">2008-09-16T14:34:47Z</dcterms:created>
  <dcterms:modified xsi:type="dcterms:W3CDTF">2020-07-10T21:51:10Z</dcterms:modified>
</cp:coreProperties>
</file>