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56" r:id="rIdSld1"/>
    <p:sldId id="257" r:id="rIdSld2"/>
    <p:sldId id="258" r:id="rIdSld3"/>
    <p:sldId id="259" r:id="rIdSld4"/>
    <p:sldId id="260" r:id="rIdSld5"/>
    <p:sldId id="261" r:id="rIdSld6"/>
    <p:sldId id="262" r:id="rIdSld7"/>
    <p:sldId id="263" r:id="rIdSld8"/>
    <p:sldId id="264" r:id="rIdSld9"/>
    <p:sldId id="265" r:id="rIdSld10"/>
    <p:sldId id="266" r:id="rIdSld11"/>
    <p:sldId id="267" r:id="rIdSld12"/>
    <p:sldId id="268" r:id="rIdSld13"/>
    <p:sldId id="269" r:id="rIdSld14"/>
    <p:sldId id="270" r:id="rIdSld15"/>
    <p:sldId id="271" r:id="rIdSld16"/>
    <p:sldId id="272" r:id="rIdSld17"/>
    <p:sldId id="273" r:id="rIdSld18"/>
    <p:sldId id="274" r:id="rIdSld19"/>
    <p:sldId id="275" r:id="rIdSld20"/>
    <p:sldId id="276" r:id="rIdSld21"/>
    <p:sldId id="277" r:id="rIdSld22"/>
    <p:sldId id="278" r:id="rIdSld23"/>
    <p:sldId id="279" r:id="rIdSld24"/>
    <p:sldId id="280" r:id="rIdSld25"/>
    <p:sldId id="281" r:id="rIdSld26"/>
    <p:sldId id="282" r:id="rIdSld27"/>
    <p:sldId id="283" r:id="rIdSld28"/>
    <p:sldId id="284" r:id="rIdSld29"/>
    <p:sldId id="285" r:id="rIdSld30"/>
    <p:sldId id="286" r:id="rIdSld31"/>
    <p:sldId id="287" r:id="rIdSld32"/>
    <p:sldId id="288" r:id="rIdSld33"/>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E1CFEFFD-552D-4FBE-875F-A561453695E9}">
          <p14:sldIdLst>
            <p14:sldId id="275"/>
            <p14:sldId id="258"/>
            <p14:sldId id="366"/>
            <p14:sldId id="2147483615"/>
          </p14:sldIdLst>
        </p14:section>
        <p14:section name="Identificación" id="{FA0162D7-E09D-4CB4-A662-309A5C035497}">
          <p14:sldIdLst>
            <p14:sldId id="442"/>
            <p14:sldId id="2147483577"/>
            <p14:sldId id="2147483610"/>
            <p14:sldId id="2147483578"/>
            <p14:sldId id="2147483608"/>
            <p14:sldId id="2147483609"/>
          </p14:sldIdLst>
        </p14:section>
        <p14:section name="Planificación" id="{A25667E4-1EC7-4BC7-9109-6769519D9306}">
          <p14:sldIdLst>
            <p14:sldId id="439"/>
            <p14:sldId id="288"/>
            <p14:sldId id="2147483599"/>
            <p14:sldId id="2147483600"/>
            <p14:sldId id="2147483601"/>
            <p14:sldId id="292"/>
            <p14:sldId id="2147483598"/>
            <p14:sldId id="294"/>
            <p14:sldId id="295"/>
            <p14:sldId id="261"/>
            <p14:sldId id="424"/>
            <p14:sldId id="298"/>
            <p14:sldId id="426"/>
            <p14:sldId id="427"/>
            <p14:sldId id="301"/>
            <p14:sldId id="429"/>
            <p14:sldId id="303"/>
          </p14:sldIdLst>
        </p14:section>
        <p14:section name="Programación" id="{2C49919D-69D9-4D5B-986E-64B4C3AA9455}">
          <p14:sldIdLst>
            <p14:sldId id="440"/>
            <p14:sldId id="443"/>
            <p14:sldId id="2147483576"/>
            <p14:sldId id="263"/>
            <p14:sldId id="404"/>
            <p14:sldId id="2147483645"/>
            <p14:sldId id="286"/>
            <p14:sldId id="405"/>
            <p14:sldId id="407"/>
            <p14:sldId id="259"/>
          </p14:sldIdLst>
        </p14:section>
        <p14:section name="Ejecución" id="{1B24D65A-FF65-4B07-83A3-934242B839E5}">
          <p14:sldIdLst>
            <p14:sldId id="441"/>
            <p14:sldId id="393"/>
            <p14:sldId id="457"/>
            <p14:sldId id="2147483616"/>
            <p14:sldId id="273"/>
            <p14:sldId id="274"/>
            <p14:sldId id="2147483629"/>
            <p14:sldId id="2147483619"/>
            <p14:sldId id="264"/>
            <p14:sldId id="2147483571"/>
            <p14:sldId id="266"/>
            <p14:sldId id="284"/>
          </p14:sldIdLst>
        </p14:section>
        <p14:section name="Análisis" id="{6A4B5D71-A0D3-409D-A744-CD2CEB7F5560}">
          <p14:sldIdLst>
            <p14:sldId id="2147483589"/>
            <p14:sldId id="2147483590"/>
            <p14:sldId id="2147483646"/>
            <p14:sldId id="2147483647"/>
            <p14:sldId id="2147483596"/>
            <p14:sldId id="2147483613"/>
            <p14:sldId id="214748362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54C04-2FB0-06D6-7E12-CDD00483D446}" name="Isidora Patricia Correa Poblete" initials="IC" userId="S::isidora.correa@arauco.com::92aa58fe-1b4e-4258-a311-e3f49bad1b50" providerId="AD"/>
  <p188:author id="{FB21CA4C-8796-B5C0-3534-689FC36BE1F8}" name="Carlos Alberto Contreras Villablanca" initials="CV" userId="S::carlos.contreras@arauco.com::e1b5a32a-a352-466b-b131-6fdebd7aa2f2" providerId="AD"/>
  <p188:author id="{9D857388-7C7A-9BA0-28AD-6B4E4EBE7B6C}" name="Christian Aguayo Seguel" initials="CAS" userId="Christian Aguayo Seguel" providerId="None"/>
  <p188:author id="{4B7CD788-EAE6-C614-C671-F938613A56A6}" name="Williams Santiago Hernández" initials="WS" userId="S::williams.santiago@arauco.com::50a87e8b-7848-4093-8267-4e8b411dda78" providerId="AD"/>
  <p188:author id="{D6E10DB1-69D8-9CD9-9620-E47AF80C7BA9}" name="Jaime Alberto Toro Vega" initials="JV" userId="S::jaime.toro@arauco.com::f97a6e41-c772-4897-a275-c2736f0fe8ce" providerId="AD"/>
  <p188:author id="{E069AFBF-31B8-6394-406C-3AAB18503BE6}" name="Mauricio Alejandro Muñoz Troncoso" initials="MM" userId="S::mauricio.munoz.t@arauco.com::ae5c7700-3b27-493d-aea9-3c0631f72af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F9C8F2-D96C-A85B-BF6F-FCF32B02A630}" v="1" dt="2026-04-15T03:42:16.0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8"/>
    <p:restoredTop sz="94719"/>
  </p:normalViewPr>
  <p:slideViewPr>
    <p:cSldViewPr snapToGrid="0">
      <p:cViewPr varScale="1">
        <p:scale>
          <a:sx n="97" d="100"/>
          <a:sy n="97" d="100"/>
        </p:scale>
        <p:origin x="122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3" Type="http://schemas.openxmlformats.org/officeDocument/2006/relationships/tags" Target="tags/tag1.xml"/><Relationship Id="rId2" Type="http://schemas.openxmlformats.org/officeDocument/2006/relationships/customXml" Target="../customXml/item2.xml"/><Relationship Id="rId66" Type="http://schemas.openxmlformats.org/officeDocument/2006/relationships/theme" Target="theme/theme1.xml"/><Relationship Id="rId5" Type="http://schemas.openxmlformats.org/officeDocument/2006/relationships/slideMaster" Target="slideMasters/slideMaster2.xml"/><Relationship Id="rId64" Type="http://schemas.openxmlformats.org/officeDocument/2006/relationships/presProps" Target="presProps.xml"/><Relationship Id="rId69" Type="http://schemas.microsoft.com/office/2015/10/relationships/revisionInfo" Target="revisionInfo.xml"/><Relationship Id="rId3" Type="http://schemas.openxmlformats.org/officeDocument/2006/relationships/customXml" Target="../customXml/item3.xml"/><Relationship Id="rId67" Type="http://schemas.openxmlformats.org/officeDocument/2006/relationships/tableStyles" Target="tableStyles.xml"/><Relationship Id="rId62" Type="http://schemas.openxmlformats.org/officeDocument/2006/relationships/notesMaster" Target="notesMasters/notesMaster1.xml"/><Relationship Id="rId70" Type="http://schemas.microsoft.com/office/2018/10/relationships/authors" Target="authors.xml"/><Relationship Id="rId1" Type="http://schemas.openxmlformats.org/officeDocument/2006/relationships/customXml" Target="../customXml/item1.xml"/><Relationship Id="rId65" Type="http://schemas.openxmlformats.org/officeDocument/2006/relationships/viewProps" Target="viewProps.xml"/><Relationship Id="rId4" Type="http://schemas.openxmlformats.org/officeDocument/2006/relationships/slideMaster" Target="slideMasters/slideMaster1.xml"/><Relationship Id="rIdSld1" Type="http://schemas.openxmlformats.org/officeDocument/2006/relationships/slide" Target="slides/slide1.xml"/><Relationship Id="rIdSld2" Type="http://schemas.openxmlformats.org/officeDocument/2006/relationships/slide" Target="slides/slide2.xml"/><Relationship Id="rIdSld3" Type="http://schemas.openxmlformats.org/officeDocument/2006/relationships/slide" Target="slides/slide3.xml"/><Relationship Id="rIdSld4" Type="http://schemas.openxmlformats.org/officeDocument/2006/relationships/slide" Target="slides/slide4.xml"/><Relationship Id="rIdSld5" Type="http://schemas.openxmlformats.org/officeDocument/2006/relationships/slide" Target="slides/slide5.xml"/><Relationship Id="rIdSld6" Type="http://schemas.openxmlformats.org/officeDocument/2006/relationships/slide" Target="slides/slide6.xml"/><Relationship Id="rIdSld7" Type="http://schemas.openxmlformats.org/officeDocument/2006/relationships/slide" Target="slides/slide7.xml"/><Relationship Id="rIdSld8" Type="http://schemas.openxmlformats.org/officeDocument/2006/relationships/slide" Target="slides/slide8.xml"/><Relationship Id="rIdSld9" Type="http://schemas.openxmlformats.org/officeDocument/2006/relationships/slide" Target="slides/slide9.xml"/><Relationship Id="rIdSld10" Type="http://schemas.openxmlformats.org/officeDocument/2006/relationships/slide" Target="slides/slide10.xml"/><Relationship Id="rIdSld11" Type="http://schemas.openxmlformats.org/officeDocument/2006/relationships/slide" Target="slides/slide11.xml"/><Relationship Id="rIdSld12" Type="http://schemas.openxmlformats.org/officeDocument/2006/relationships/slide" Target="slides/slide12.xml"/><Relationship Id="rIdSld13" Type="http://schemas.openxmlformats.org/officeDocument/2006/relationships/slide" Target="slides/slide13.xml"/><Relationship Id="rIdSld14" Type="http://schemas.openxmlformats.org/officeDocument/2006/relationships/slide" Target="slides/slide14.xml"/><Relationship Id="rIdSld15" Type="http://schemas.openxmlformats.org/officeDocument/2006/relationships/slide" Target="slides/slide15.xml"/><Relationship Id="rIdSld16" Type="http://schemas.openxmlformats.org/officeDocument/2006/relationships/slide" Target="slides/slide16.xml"/><Relationship Id="rIdSld17" Type="http://schemas.openxmlformats.org/officeDocument/2006/relationships/slide" Target="slides/slide17.xml"/><Relationship Id="rIdSld18" Type="http://schemas.openxmlformats.org/officeDocument/2006/relationships/slide" Target="slides/slide18.xml"/><Relationship Id="rIdSld19" Type="http://schemas.openxmlformats.org/officeDocument/2006/relationships/slide" Target="slides/slide19.xml"/><Relationship Id="rIdSld20" Type="http://schemas.openxmlformats.org/officeDocument/2006/relationships/slide" Target="slides/slide20.xml"/><Relationship Id="rIdSld21" Type="http://schemas.openxmlformats.org/officeDocument/2006/relationships/slide" Target="slides/slide21.xml"/><Relationship Id="rIdSld22" Type="http://schemas.openxmlformats.org/officeDocument/2006/relationships/slide" Target="slides/slide22.xml"/><Relationship Id="rIdSld23" Type="http://schemas.openxmlformats.org/officeDocument/2006/relationships/slide" Target="slides/slide23.xml"/><Relationship Id="rIdSld24" Type="http://schemas.openxmlformats.org/officeDocument/2006/relationships/slide" Target="slides/slide24.xml"/><Relationship Id="rIdSld25" Type="http://schemas.openxmlformats.org/officeDocument/2006/relationships/slide" Target="slides/slide25.xml"/><Relationship Id="rIdSld26" Type="http://schemas.openxmlformats.org/officeDocument/2006/relationships/slide" Target="slides/slide26.xml"/><Relationship Id="rIdSld27" Type="http://schemas.openxmlformats.org/officeDocument/2006/relationships/slide" Target="slides/slide27.xml"/><Relationship Id="rIdSld28" Type="http://schemas.openxmlformats.org/officeDocument/2006/relationships/slide" Target="slides/slide28.xml"/><Relationship Id="rIdSld29" Type="http://schemas.openxmlformats.org/officeDocument/2006/relationships/slide" Target="slides/slide29.xml"/><Relationship Id="rIdSld30" Type="http://schemas.openxmlformats.org/officeDocument/2006/relationships/slide" Target="slides/slide30.xml"/><Relationship Id="rIdSld31" Type="http://schemas.openxmlformats.org/officeDocument/2006/relationships/slide" Target="slides/slide31.xml"/><Relationship Id="rIdSld32" Type="http://schemas.openxmlformats.org/officeDocument/2006/relationships/slide" Target="slides/slide32.xml"/><Relationship Id="rIdSld33"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4/14/2026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14-04-2026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Borrador de trabajo| </a:t>
            </a:r>
            <a:r>
              <a:rPr lang="es-CL" sz="2000" dirty="0">
                <a:solidFill>
                  <a:srgbClr val="A34100"/>
                </a:solidFill>
                <a:latin typeface="+mn-lt"/>
                <a:cs typeface="+mn-lt"/>
              </a:rPr>
              <a:t>Manual de Procesos · Gestión de Personas</a:t>
            </a:r>
            <a:endParaRPr lang="es-CL"/>
          </a:p>
        </p:txBody>
      </p:sp>
      <p:sp>
        <p:nvSpPr>
          <p:cNvPr id="10" name="Banda 10"/>
          <p:cNvSpPr/>
          <p:nvPr/>
        </p:nvSpPr>
        <p:spPr>
          <a:xfrm>
            <a:off x="630000" y="1075000"/>
            <a:ext cx="10933350" cy="331191"/>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100" dirty="0">
                <a:solidFill>
                  <a:srgbClr val="3F3A33"/>
                </a:solidFill>
                <a:latin typeface="+mn-lt"/>
                <a:cs typeface="+mn-lt"/>
              </a:rPr>
              <a:t>Macroproceso 8 · Negocio de Celulosa · Arauco    ·    Estructura visual heredada del manual del Macroproceso 15</a:t>
            </a:r>
          </a:p>
        </p:txBody>
      </p:sp>
      <p:sp>
        <p:nvSpPr>
          <p:cNvPr id="11" name="Texto 11"/>
          <p:cNvSpPr/>
          <p:nvPr/>
        </p:nvSpPr>
        <p:spPr>
          <a:xfrm>
            <a:off x="630000" y="1496191"/>
            <a:ext cx="10933350" cy="538861"/>
          </a:xfrm>
          <a:prstGeom prst="rect">
            <a:avLst/>
          </a:prstGeom>
          <a:noFill/>
          <a:ln>
            <a:noFill/>
          </a:ln>
        </p:spPr>
        <p:txBody>
          <a:bodyPr wrap="square" lIns="25400" tIns="25400" rIns="25400" bIns="25400" anchor="t">
            <a:noAutofit/>
          </a:bodyPr>
          <a:lstStyle/>
          <a:p>
            <a:pPr algn="l">
              <a:lnSpc>
                <a:spcPct val="90000"/>
              </a:lnSpc>
              <a:buNone/>
            </a:pPr>
            <a:r>
              <a:rPr lang="es-CL" sz="1300" b="1" dirty="0">
                <a:solidFill>
                  <a:srgbClr val="A34100"/>
                </a:solidFill>
                <a:latin typeface="+mn-lt"/>
                <a:cs typeface="+mn-lt"/>
              </a:rPr>
              <a:t>Qué es este documento</a:t>
            </a:r>
          </a:p>
          <a:p>
            <a:pPr algn="l">
              <a:lnSpc>
                <a:spcPct val="90000"/>
              </a:lnSpc>
              <a:spcBef>
                <a:spcPts val="200"/>
              </a:spcBef>
              <a:buNone/>
            </a:pPr>
            <a:r>
              <a:rPr lang="es-CL" sz="1100" dirty="0">
                <a:solidFill>
                  <a:srgbClr val="3F3A33"/>
                </a:solidFill>
                <a:latin typeface="+mn-lt"/>
                <a:cs typeface="+mn-lt"/>
              </a:rPr>
              <a:t>Es la arquitectura preliminar de procesos del MP8, construida sobre el diseño del manual de procesos de la compañía. Traduce a estructura de procesos la clasificación de «cajitas» revisada con Isi para las fases 1 a 14 del flujo único MP8 v3.</a:t>
            </a:r>
          </a:p>
        </p:txBody>
      </p:sp>
      <p:sp>
        <p:nvSpPr>
          <p:cNvPr id="12" name="Texto 12"/>
          <p:cNvSpPr/>
          <p:nvPr/>
        </p:nvSpPr>
        <p:spPr>
          <a:xfrm>
            <a:off x="630000" y="2125052"/>
            <a:ext cx="10933350" cy="538861"/>
          </a:xfrm>
          <a:prstGeom prst="rect">
            <a:avLst/>
          </a:prstGeom>
          <a:noFill/>
          <a:ln>
            <a:noFill/>
          </a:ln>
        </p:spPr>
        <p:txBody>
          <a:bodyPr wrap="square" lIns="25400" tIns="25400" rIns="25400" bIns="25400" anchor="t">
            <a:noAutofit/>
          </a:bodyPr>
          <a:lstStyle/>
          <a:p>
            <a:pPr algn="l">
              <a:lnSpc>
                <a:spcPct val="90000"/>
              </a:lnSpc>
              <a:buNone/>
            </a:pPr>
            <a:r>
              <a:rPr lang="es-CL" sz="1300" b="1" dirty="0">
                <a:solidFill>
                  <a:srgbClr val="A34100"/>
                </a:solidFill>
                <a:latin typeface="+mn-lt"/>
                <a:cs typeface="+mn-lt"/>
              </a:rPr>
              <a:t>Qué no es</a:t>
            </a:r>
          </a:p>
          <a:p>
            <a:pPr algn="l">
              <a:lnSpc>
                <a:spcPct val="90000"/>
              </a:lnSpc>
              <a:spcBef>
                <a:spcPts val="200"/>
              </a:spcBef>
              <a:buNone/>
            </a:pPr>
            <a:r>
              <a:rPr lang="es-CL" sz="1100" dirty="0">
                <a:solidFill>
                  <a:srgbClr val="3F3A33"/>
                </a:solidFill>
                <a:latin typeface="+mn-lt"/>
                <a:cs typeface="+mn-lt"/>
              </a:rPr>
              <a:t>No es el manual final ni una definición cerrada. Los nombres, agrupaciones y jerarquías marcados como propuesta o pendiente requieren validación. Las fases 0 y 15 a 18 no fueron revisadas y por eso no se modelan aquí.</a:t>
            </a:r>
          </a:p>
        </p:txBody>
      </p:sp>
      <p:sp>
        <p:nvSpPr>
          <p:cNvPr id="13" name="Tarjeta 13"/>
          <p:cNvSpPr/>
          <p:nvPr/>
        </p:nvSpPr>
        <p:spPr>
          <a:xfrm>
            <a:off x="630000" y="2753913"/>
            <a:ext cx="2643337" cy="660400"/>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2000" b="1" dirty="0">
                <a:solidFill>
                  <a:srgbClr val="A34100"/>
                </a:solidFill>
                <a:latin typeface="+mn-lt"/>
                <a:cs typeface="+mn-lt"/>
              </a:rPr>
              <a:t>5</a:t>
            </a:r>
          </a:p>
          <a:p>
            <a:pPr algn="l">
              <a:lnSpc>
                <a:spcPct val="90000"/>
              </a:lnSpc>
              <a:spcBef>
                <a:spcPts val="200"/>
              </a:spcBef>
              <a:buNone/>
            </a:pPr>
            <a:r>
              <a:rPr lang="es-CL" sz="950" dirty="0">
                <a:solidFill>
                  <a:srgbClr val="3F3A33"/>
                </a:solidFill>
                <a:latin typeface="+mn-lt"/>
                <a:cs typeface="+mn-lt"/>
              </a:rPr>
              <a:t>procesos preliminares</a:t>
            </a:r>
          </a:p>
        </p:txBody>
      </p:sp>
      <p:sp>
        <p:nvSpPr>
          <p:cNvPr id="14" name="Tarjeta 14"/>
          <p:cNvSpPr/>
          <p:nvPr/>
        </p:nvSpPr>
        <p:spPr>
          <a:xfrm>
            <a:off x="3393337" y="2753913"/>
            <a:ext cx="2643337" cy="660400"/>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2000" b="1" dirty="0">
                <a:solidFill>
                  <a:srgbClr val="A34100"/>
                </a:solidFill>
                <a:latin typeface="+mn-lt"/>
                <a:cs typeface="+mn-lt"/>
              </a:rPr>
              <a:t>17</a:t>
            </a:r>
          </a:p>
          <a:p>
            <a:pPr algn="l">
              <a:lnSpc>
                <a:spcPct val="90000"/>
              </a:lnSpc>
              <a:spcBef>
                <a:spcPts val="200"/>
              </a:spcBef>
              <a:buNone/>
            </a:pPr>
            <a:r>
              <a:rPr lang="es-CL" sz="950" dirty="0">
                <a:solidFill>
                  <a:srgbClr val="3F3A33"/>
                </a:solidFill>
                <a:latin typeface="+mn-lt"/>
                <a:cs typeface="+mn-lt"/>
              </a:rPr>
              <a:t>subprocesos identificados</a:t>
            </a:r>
          </a:p>
        </p:txBody>
      </p:sp>
      <p:sp>
        <p:nvSpPr>
          <p:cNvPr id="15" name="Tarjeta 15"/>
          <p:cNvSpPr/>
          <p:nvPr/>
        </p:nvSpPr>
        <p:spPr>
          <a:xfrm>
            <a:off x="6156674" y="2753913"/>
            <a:ext cx="2643337" cy="660400"/>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2000" b="1" dirty="0">
                <a:solidFill>
                  <a:srgbClr val="A34100"/>
                </a:solidFill>
                <a:latin typeface="+mn-lt"/>
                <a:cs typeface="+mn-lt"/>
              </a:rPr>
              <a:t>14</a:t>
            </a:r>
          </a:p>
          <a:p>
            <a:pPr algn="l">
              <a:lnSpc>
                <a:spcPct val="90000"/>
              </a:lnSpc>
              <a:spcBef>
                <a:spcPts val="200"/>
              </a:spcBef>
              <a:buNone/>
            </a:pPr>
            <a:r>
              <a:rPr lang="es-CL" sz="950" dirty="0">
                <a:solidFill>
                  <a:srgbClr val="3F3A33"/>
                </a:solidFill>
                <a:latin typeface="+mn-lt"/>
                <a:cs typeface="+mn-lt"/>
              </a:rPr>
              <a:t>fases clasificadas</a:t>
            </a:r>
          </a:p>
        </p:txBody>
      </p:sp>
      <p:sp>
        <p:nvSpPr>
          <p:cNvPr id="16" name="Tarjeta 16"/>
          <p:cNvSpPr/>
          <p:nvPr/>
        </p:nvSpPr>
        <p:spPr>
          <a:xfrm>
            <a:off x="8920011" y="2753913"/>
            <a:ext cx="2643337" cy="660400"/>
          </a:xfrm>
          <a:prstGeom prst="roundRect">
            <a:avLst>
              <a:gd name="adj" fmla="val 5000"/>
            </a:avLst>
          </a:prstGeom>
          <a:solidFill>
            <a:srgbClr val="F1F1F2"/>
          </a:solidFill>
          <a:ln w="9525" cap="flat">
            <a:solidFill>
              <a:srgbClr val="9A9B9F"/>
            </a:solidFill>
          </a:ln>
        </p:spPr>
        <p:txBody>
          <a:bodyPr wrap="square" lIns="76200" tIns="76200" rIns="76200" bIns="76200" anchor="t">
            <a:noAutofit/>
          </a:bodyPr>
          <a:lstStyle/>
          <a:p>
            <a:pPr algn="l">
              <a:lnSpc>
                <a:spcPct val="90000"/>
              </a:lnSpc>
              <a:buNone/>
            </a:pPr>
            <a:r>
              <a:rPr lang="es-CL" sz="2000" b="1" dirty="0">
                <a:solidFill>
                  <a:srgbClr val="55565A"/>
                </a:solidFill>
                <a:latin typeface="+mn-lt"/>
                <a:cs typeface="+mn-lt"/>
              </a:rPr>
              <a:t>5</a:t>
            </a:r>
          </a:p>
          <a:p>
            <a:pPr algn="l">
              <a:lnSpc>
                <a:spcPct val="90000"/>
              </a:lnSpc>
              <a:spcBef>
                <a:spcPts val="200"/>
              </a:spcBef>
              <a:buNone/>
            </a:pPr>
            <a:r>
              <a:rPr lang="es-CL" sz="950" dirty="0">
                <a:solidFill>
                  <a:srgbClr val="55565A"/>
                </a:solidFill>
                <a:latin typeface="+mn-lt"/>
                <a:cs typeface="+mn-lt"/>
              </a:rPr>
              <a:t>fases aún sin revisar</a:t>
            </a:r>
          </a:p>
        </p:txBody>
      </p:sp>
      <p:sp>
        <p:nvSpPr>
          <p:cNvPr id="17" name="Texto 17"/>
          <p:cNvSpPr/>
          <p:nvPr/>
        </p:nvSpPr>
        <p:spPr>
          <a:xfrm>
            <a:off x="630000" y="3504313"/>
            <a:ext cx="10933350" cy="232080"/>
          </a:xfrm>
          <a:prstGeom prst="rect">
            <a:avLst/>
          </a:prstGeom>
          <a:noFill/>
          <a:ln>
            <a:noFill/>
          </a:ln>
        </p:spPr>
        <p:txBody>
          <a:bodyPr wrap="square" lIns="25400" tIns="25400" rIns="25400" bIns="25400" anchor="t">
            <a:noAutofit/>
          </a:bodyPr>
          <a:lstStyle/>
          <a:p>
            <a:pPr algn="l">
              <a:lnSpc>
                <a:spcPct val="90000"/>
              </a:lnSpc>
              <a:buNone/>
            </a:pPr>
            <a:r>
              <a:rPr lang="es-CL" sz="1300" b="1" dirty="0">
                <a:solidFill>
                  <a:srgbClr val="A34100"/>
                </a:solidFill>
                <a:latin typeface="+mn-lt"/>
                <a:cs typeface="+mn-lt"/>
              </a:rPr>
              <a:t>Contenido</a:t>
            </a:r>
          </a:p>
        </p:txBody>
      </p:sp>
      <p:sp>
        <p:nvSpPr>
          <p:cNvPr id="18" name="Tarjeta 18"/>
          <p:cNvSpPr/>
          <p:nvPr/>
        </p:nvSpPr>
        <p:spPr>
          <a:xfrm>
            <a:off x="63000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Cómo leer</a:t>
            </a:r>
          </a:p>
          <a:p>
            <a:pPr algn="l">
              <a:lnSpc>
                <a:spcPct val="90000"/>
              </a:lnSpc>
              <a:spcBef>
                <a:spcPts val="200"/>
              </a:spcBef>
              <a:buNone/>
            </a:pPr>
            <a:r>
              <a:rPr lang="es-CL" sz="850" dirty="0">
                <a:solidFill>
                  <a:srgbClr val="3F3A33"/>
                </a:solidFill>
                <a:latin typeface="+mn-lt"/>
                <a:cs typeface="+mn-lt"/>
              </a:rPr>
              <a:t>Convenciones de color y estado  ·  criterios de clasificación jerárquica</a:t>
            </a:r>
          </a:p>
        </p:txBody>
      </p:sp>
      <p:sp>
        <p:nvSpPr>
          <p:cNvPr id="19" name="Tarjeta 19"/>
          <p:cNvSpPr/>
          <p:nvPr/>
        </p:nvSpPr>
        <p:spPr>
          <a:xfrm>
            <a:off x="284067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Alcance</a:t>
            </a:r>
          </a:p>
          <a:p>
            <a:pPr algn="l">
              <a:lnSpc>
                <a:spcPct val="90000"/>
              </a:lnSpc>
              <a:spcBef>
                <a:spcPts val="200"/>
              </a:spcBef>
              <a:buNone/>
            </a:pPr>
            <a:r>
              <a:rPr lang="es-CL" sz="850" dirty="0">
                <a:solidFill>
                  <a:srgbClr val="3F3A33"/>
                </a:solidFill>
                <a:latin typeface="+mn-lt"/>
                <a:cs typeface="+mn-lt"/>
              </a:rPr>
              <a:t>Cobertura del análisis fase por fase</a:t>
            </a:r>
          </a:p>
        </p:txBody>
      </p:sp>
      <p:sp>
        <p:nvSpPr>
          <p:cNvPr id="20" name="Tarjeta 20"/>
          <p:cNvSpPr/>
          <p:nvPr/>
        </p:nvSpPr>
        <p:spPr>
          <a:xfrm>
            <a:off x="505134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Arquitectura preliminar</a:t>
            </a:r>
          </a:p>
          <a:p>
            <a:pPr algn="l">
              <a:lnSpc>
                <a:spcPct val="90000"/>
              </a:lnSpc>
              <a:spcBef>
                <a:spcPts val="200"/>
              </a:spcBef>
              <a:buNone/>
            </a:pPr>
            <a:r>
              <a:rPr lang="es-CL" sz="850" dirty="0">
                <a:solidFill>
                  <a:srgbClr val="3F3A33"/>
                </a:solidFill>
                <a:latin typeface="+mn-lt"/>
                <a:cs typeface="+mn-lt"/>
              </a:rPr>
              <a:t>Mapa de procesos y subprocesos  ·  equivalencia con las fases del flujo</a:t>
            </a:r>
          </a:p>
        </p:txBody>
      </p:sp>
      <p:sp>
        <p:nvSpPr>
          <p:cNvPr id="21" name="Tarjeta 21"/>
          <p:cNvSpPr/>
          <p:nvPr/>
        </p:nvSpPr>
        <p:spPr>
          <a:xfrm>
            <a:off x="726201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Detalle por proceso</a:t>
            </a:r>
          </a:p>
          <a:p>
            <a:pPr algn="l">
              <a:lnSpc>
                <a:spcPct val="90000"/>
              </a:lnSpc>
              <a:spcBef>
                <a:spcPts val="200"/>
              </a:spcBef>
              <a:buNone/>
            </a:pPr>
            <a:r>
              <a:rPr lang="es-CL" sz="850" dirty="0">
                <a:solidFill>
                  <a:srgbClr val="3F3A33"/>
                </a:solidFill>
                <a:latin typeface="+mn-lt"/>
                <a:cs typeface="+mn-lt"/>
              </a:rPr>
              <a:t>Apertura de cada proceso y clasificación caja por caja</a:t>
            </a:r>
          </a:p>
        </p:txBody>
      </p:sp>
      <p:sp>
        <p:nvSpPr>
          <p:cNvPr id="22" name="Tarjeta 22"/>
          <p:cNvSpPr/>
          <p:nvPr/>
        </p:nvSpPr>
        <p:spPr>
          <a:xfrm>
            <a:off x="947268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Cierre</a:t>
            </a:r>
          </a:p>
          <a:p>
            <a:pPr algn="l">
              <a:lnSpc>
                <a:spcPct val="90000"/>
              </a:lnSpc>
              <a:spcBef>
                <a:spcPts val="200"/>
              </a:spcBef>
              <a:buNone/>
            </a:pPr>
            <a:r>
              <a:rPr lang="es-CL" sz="850" dirty="0">
                <a:solidFill>
                  <a:srgbClr val="3F3A33"/>
                </a:solidFill>
                <a:latin typeface="+mn-lt"/>
                <a:cs typeface="+mn-lt"/>
              </a:rPr>
              <a:t>Observaciones, preguntas para validar y trazabilidad de las fuentes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Cómo leer| </a:t>
            </a:r>
            <a:r>
              <a:rPr lang="es-CL" sz="2000" dirty="0">
                <a:solidFill>
                  <a:srgbClr val="A34100"/>
                </a:solidFill>
                <a:latin typeface="+mn-lt"/>
                <a:cs typeface="+mn-lt"/>
              </a:rPr>
              <a:t>Convenciones de color y estado</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El color del texto indica el grado de definición. No es decorativo.</a:t>
            </a:r>
          </a:p>
        </p:txBody>
      </p:sp>
      <p:sp>
        <p:nvSpPr>
          <p:cNvPr id="11" name="Texto 11"/>
          <p:cNvSpPr/>
          <p:nvPr/>
        </p:nvSpPr>
        <p:spPr>
          <a:xfrm>
            <a:off x="630000" y="2885249"/>
            <a:ext cx="10933350" cy="490055"/>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Regla de numeración de cajas</a:t>
            </a:r>
          </a:p>
          <a:p>
            <a:pPr algn="l">
              <a:lnSpc>
                <a:spcPct val="90000"/>
              </a:lnSpc>
              <a:spcBef>
                <a:spcPts val="200"/>
              </a:spcBef>
              <a:buNone/>
            </a:pPr>
            <a:r>
              <a:rPr lang="es-CL" sz="1000" dirty="0">
                <a:solidFill>
                  <a:srgbClr val="3F3A33"/>
                </a:solidFill>
                <a:latin typeface="+mn-lt"/>
                <a:cs typeface="+mn-lt"/>
              </a:rPr>
              <a:t>Se numera de izquierda a derecha en la primera fila, de derecha a izquierda en la segunda, y así alternando. Las decisiones y los controles no consumen número. Las cajas señaladas como «específico de Arauco» son propias de la compañía y no existen en el PCF genérico.</a:t>
            </a:r>
          </a:p>
        </p:txBody>
      </p:sp>
      <p:sp>
        <p:nvSpPr>
          <p:cNvPr id="12" name="Ejemplo 12"/>
          <p:cNvSpPr/>
          <p:nvPr/>
        </p:nvSpPr>
        <p:spPr>
          <a:xfrm>
            <a:off x="63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a:t>
            </a:r>
          </a:p>
        </p:txBody>
      </p:sp>
      <p:sp>
        <p:nvSpPr>
          <p:cNvPr id="13" name="Ejemplo 13"/>
          <p:cNvSpPr/>
          <p:nvPr/>
        </p:nvSpPr>
        <p:spPr>
          <a:xfrm>
            <a:off x="167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2</a:t>
            </a:r>
          </a:p>
        </p:txBody>
      </p:sp>
      <p:sp>
        <p:nvSpPr>
          <p:cNvPr id="14" name="Ejemplo 14"/>
          <p:cNvSpPr/>
          <p:nvPr/>
        </p:nvSpPr>
        <p:spPr>
          <a:xfrm>
            <a:off x="271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3</a:t>
            </a:r>
          </a:p>
        </p:txBody>
      </p:sp>
      <p:sp>
        <p:nvSpPr>
          <p:cNvPr id="15" name="Ejemplo 15"/>
          <p:cNvSpPr/>
          <p:nvPr/>
        </p:nvSpPr>
        <p:spPr>
          <a:xfrm>
            <a:off x="375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4</a:t>
            </a:r>
          </a:p>
        </p:txBody>
      </p:sp>
      <p:sp>
        <p:nvSpPr>
          <p:cNvPr id="16" name="Sentido 16"/>
          <p:cNvSpPr/>
          <p:nvPr/>
        </p:nvSpPr>
        <p:spPr>
          <a:xfrm>
            <a:off x="4790000" y="3465304"/>
            <a:ext cx="1300000" cy="381000"/>
          </a:xfrm>
          <a:prstGeom prst="rect">
            <a:avLst/>
          </a:prstGeom>
          <a:noFill/>
          <a:ln>
            <a:noFill/>
          </a:ln>
        </p:spPr>
        <p:txBody>
          <a:bodyPr wrap="square" lIns="38100" tIns="38100" rIns="38100" bIns="38100" anchor="ctr">
            <a:noAutofit/>
          </a:bodyPr>
          <a:lstStyle/>
          <a:p>
            <a:pPr algn="l">
              <a:lnSpc>
                <a:spcPct val="90000"/>
              </a:lnSpc>
              <a:buNone/>
            </a:pPr>
            <a:r>
              <a:rPr lang="es-CL" sz="750" dirty="0">
                <a:solidFill>
                  <a:srgbClr val="6B655C"/>
                </a:solidFill>
                <a:latin typeface="+mn-lt"/>
                <a:cs typeface="+mn-lt"/>
              </a:rPr>
              <a:t>1ª fila · de izquierda a derecha</a:t>
            </a:r>
          </a:p>
        </p:txBody>
      </p:sp>
      <p:sp>
        <p:nvSpPr>
          <p:cNvPr id="17" name="Ejemplo 17"/>
          <p:cNvSpPr/>
          <p:nvPr/>
        </p:nvSpPr>
        <p:spPr>
          <a:xfrm>
            <a:off x="63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8</a:t>
            </a:r>
          </a:p>
        </p:txBody>
      </p:sp>
      <p:sp>
        <p:nvSpPr>
          <p:cNvPr id="18" name="Ejemplo 18"/>
          <p:cNvSpPr/>
          <p:nvPr/>
        </p:nvSpPr>
        <p:spPr>
          <a:xfrm>
            <a:off x="167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7</a:t>
            </a:r>
          </a:p>
        </p:txBody>
      </p:sp>
      <p:sp>
        <p:nvSpPr>
          <p:cNvPr id="19" name="Ejemplo 19"/>
          <p:cNvSpPr/>
          <p:nvPr/>
        </p:nvSpPr>
        <p:spPr>
          <a:xfrm>
            <a:off x="271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6</a:t>
            </a:r>
          </a:p>
        </p:txBody>
      </p:sp>
      <p:sp>
        <p:nvSpPr>
          <p:cNvPr id="20" name="Ejemplo 20"/>
          <p:cNvSpPr/>
          <p:nvPr/>
        </p:nvSpPr>
        <p:spPr>
          <a:xfrm>
            <a:off x="375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5</a:t>
            </a:r>
          </a:p>
        </p:txBody>
      </p:sp>
      <p:sp>
        <p:nvSpPr>
          <p:cNvPr id="21" name="Sentido 21"/>
          <p:cNvSpPr/>
          <p:nvPr/>
        </p:nvSpPr>
        <p:spPr>
          <a:xfrm>
            <a:off x="4790000" y="3936304"/>
            <a:ext cx="1300000" cy="381000"/>
          </a:xfrm>
          <a:prstGeom prst="rect">
            <a:avLst/>
          </a:prstGeom>
          <a:noFill/>
          <a:ln>
            <a:noFill/>
          </a:ln>
        </p:spPr>
        <p:txBody>
          <a:bodyPr wrap="square" lIns="38100" tIns="38100" rIns="38100" bIns="38100" anchor="ctr">
            <a:noAutofit/>
          </a:bodyPr>
          <a:lstStyle/>
          <a:p>
            <a:pPr algn="l">
              <a:lnSpc>
                <a:spcPct val="90000"/>
              </a:lnSpc>
              <a:buNone/>
            </a:pPr>
            <a:r>
              <a:rPr lang="es-CL" sz="750" dirty="0">
                <a:solidFill>
                  <a:srgbClr val="6B655C"/>
                </a:solidFill>
                <a:latin typeface="+mn-lt"/>
                <a:cs typeface="+mn-lt"/>
              </a:rPr>
              <a:t>2ª fila · de derecha a izquierda</a:t>
            </a:r>
          </a:p>
        </p:txBody>
      </p:sp>
      <p:sp>
        <p:nvSpPr>
          <p:cNvPr id="22" name="Ejemplo 22"/>
          <p:cNvSpPr/>
          <p:nvPr/>
        </p:nvSpPr>
        <p:spPr>
          <a:xfrm>
            <a:off x="63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9</a:t>
            </a:r>
          </a:p>
        </p:txBody>
      </p:sp>
      <p:sp>
        <p:nvSpPr>
          <p:cNvPr id="23" name="Ejemplo 23"/>
          <p:cNvSpPr/>
          <p:nvPr/>
        </p:nvSpPr>
        <p:spPr>
          <a:xfrm>
            <a:off x="167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10</a:t>
            </a:r>
          </a:p>
        </p:txBody>
      </p:sp>
      <p:sp>
        <p:nvSpPr>
          <p:cNvPr id="24" name="Ejemplo 24"/>
          <p:cNvSpPr/>
          <p:nvPr/>
        </p:nvSpPr>
        <p:spPr>
          <a:xfrm>
            <a:off x="271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11</a:t>
            </a:r>
          </a:p>
        </p:txBody>
      </p:sp>
      <p:sp>
        <p:nvSpPr>
          <p:cNvPr id="25" name="Ejemplo 25"/>
          <p:cNvSpPr/>
          <p:nvPr/>
        </p:nvSpPr>
        <p:spPr>
          <a:xfrm>
            <a:off x="375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12</a:t>
            </a:r>
          </a:p>
        </p:txBody>
      </p:sp>
      <p:sp>
        <p:nvSpPr>
          <p:cNvPr id="26" name="Sentido 26"/>
          <p:cNvSpPr/>
          <p:nvPr/>
        </p:nvSpPr>
        <p:spPr>
          <a:xfrm>
            <a:off x="4790000" y="4407304"/>
            <a:ext cx="1300000" cy="381000"/>
          </a:xfrm>
          <a:prstGeom prst="rect">
            <a:avLst/>
          </a:prstGeom>
          <a:noFill/>
          <a:ln>
            <a:noFill/>
          </a:ln>
        </p:spPr>
        <p:txBody>
          <a:bodyPr wrap="square" lIns="38100" tIns="38100" rIns="38100" bIns="38100" anchor="ctr">
            <a:noAutofit/>
          </a:bodyPr>
          <a:lstStyle/>
          <a:p>
            <a:pPr algn="l">
              <a:lnSpc>
                <a:spcPct val="90000"/>
              </a:lnSpc>
              <a:buNone/>
            </a:pPr>
            <a:r>
              <a:rPr lang="es-CL" sz="750" dirty="0">
                <a:solidFill>
                  <a:srgbClr val="6B655C"/>
                </a:solidFill>
                <a:latin typeface="+mn-lt"/>
                <a:cs typeface="+mn-lt"/>
              </a:rPr>
              <a:t>3ª fila · de izquierda a derecha</a:t>
            </a:r>
          </a:p>
        </p:txBody>
      </p:sp>
      <p:sp>
        <p:nvSpPr>
          <p:cNvPr id="27" name="Nota 27"/>
          <p:cNvSpPr/>
          <p:nvPr/>
        </p:nvSpPr>
        <p:spPr>
          <a:xfrm>
            <a:off x="6180000" y="3465304"/>
            <a:ext cx="5383350" cy="1323000"/>
          </a:xfrm>
          <a:prstGeom prst="roundRect">
            <a:avLst>
              <a:gd name="adj" fmla="val 3000"/>
            </a:avLst>
          </a:prstGeom>
          <a:solidFill>
            <a:srgbClr val="FBF4DF"/>
          </a:solidFill>
          <a:ln w="9525" cap="flat">
            <a:solidFill>
              <a:srgbClr val="6F5800"/>
            </a:solidFill>
          </a:ln>
        </p:spPr>
        <p:txBody>
          <a:bodyPr wrap="square" lIns="76200" tIns="76200" rIns="76200" bIns="76200" anchor="ctr">
            <a:noAutofit/>
          </a:bodyPr>
          <a:lstStyle/>
          <a:p>
            <a:pPr algn="l">
              <a:lnSpc>
                <a:spcPct val="90000"/>
              </a:lnSpc>
              <a:buNone/>
            </a:pPr>
            <a:r>
              <a:rPr lang="es-CL" sz="900" b="1" dirty="0">
                <a:solidFill>
                  <a:srgbClr val="6F5800"/>
                </a:solidFill>
                <a:latin typeface="+mn-lt"/>
                <a:cs typeface="+mn-lt"/>
              </a:rPr>
              <a:t>Las decisiones y los controles no se numeran</a:t>
            </a:r>
          </a:p>
          <a:p>
            <a:pPr algn="l">
              <a:lnSpc>
                <a:spcPct val="90000"/>
              </a:lnSpc>
              <a:spcBef>
                <a:spcPts val="200"/>
              </a:spcBef>
              <a:buNone/>
            </a:pPr>
            <a:r>
              <a:rPr lang="es-CL" sz="850" dirty="0">
                <a:solidFill>
                  <a:srgbClr val="3F3A33"/>
                </a:solidFill>
                <a:latin typeface="+mn-lt"/>
                <a:cs typeface="+mn-lt"/>
              </a:rPr>
              <a:t>Por eso, en la fase 1, la caja 11 es «Emitir organigrama, perfil de cargo y costo organigrama», aunque antes de ella exista la decisión «¿Aprobado por Gerencia de Personas?».</a:t>
            </a:r>
          </a:p>
        </p:txBody>
      </p:sp>
      <p:graphicFrame>
        <p:nvGraphicFramePr>
          <p:cNvPr id="28" name="Tabla 28"/>
          <p:cNvGraphicFramePr>
            <a:graphicFrameLocks noGrp="1"/>
          </p:cNvGraphicFramePr>
          <p:nvPr/>
        </p:nvGraphicFramePr>
        <p:xfrm>
          <a:off x="630000" y="1489218"/>
          <a:ext cx="10933350" cy="1306031"/>
        </p:xfrm>
        <a:graphic>
          <a:graphicData uri="http://schemas.openxmlformats.org/drawingml/2006/table">
            <a:tbl>
              <a:tblPr firstRow="1"/>
              <a:tblGrid>
                <a:gridCol w="1000000"/>
                <a:gridCol w="2000000"/>
                <a:gridCol w="7933350"/>
              </a:tblGrid>
              <a:tr h="211861">
                <a:tc>
                  <a:txBody>
                    <a:bodyPr/>
                    <a:lstStyle/>
                    <a:p>
                      <a:pPr algn="ctr">
                        <a:lnSpc>
                          <a:spcPct val="90000"/>
                        </a:lnSpc>
                        <a:buNone/>
                      </a:pPr>
                      <a:r>
                        <a:rPr lang="es-CL" sz="900" b="1" dirty="0">
                          <a:solidFill>
                            <a:srgbClr val="FFFFFF"/>
                          </a:solidFill>
                          <a:latin typeface="+mn-lt"/>
                          <a:cs typeface="+mn-lt"/>
                        </a:rPr>
                        <a:t>Muestra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Estado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Significado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3F3A33"/>
                    </a:solidFill>
                  </a:tcPr>
                </a:tc>
                <a:tc>
                  <a:txBody>
                    <a:bodyPr/>
                    <a:lstStyle/>
                    <a:p>
                      <a:pPr algn="l">
                        <a:lnSpc>
                          <a:spcPct val="90000"/>
                        </a:lnSpc>
                        <a:buNone/>
                      </a:pPr>
                      <a:r>
                        <a:rPr lang="es-CL" sz="900" b="1" dirty="0">
                          <a:solidFill>
                            <a:srgbClr val="3F3A33"/>
                          </a:solidFill>
                          <a:latin typeface="+mn-lt"/>
                          <a:cs typeface="+mn-lt"/>
                        </a:rPr>
                        <a:t>Confirmado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Definido y acordado en la revisión con Isi. No requiere validación adicional.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A34100"/>
                          </a:solidFill>
                          <a:latin typeface="+mn-lt"/>
                          <a:cs typeface="+mn-lt"/>
                        </a:rPr>
                        <a:t>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Nombre, agrupación o jerarquía propuesta con base en APQC y en los antecedentes levantados. Requiere validación.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55565A"/>
                    </a:solidFill>
                  </a:tcPr>
                </a:tc>
                <a:tc>
                  <a:txBody>
                    <a:bodyPr/>
                    <a:lstStyle/>
                    <a:p>
                      <a:pPr algn="l">
                        <a:lnSpc>
                          <a:spcPct val="90000"/>
                        </a:lnSpc>
                        <a:buNone/>
                      </a:pPr>
                      <a:r>
                        <a:rPr lang="es-CL" sz="900" b="1" dirty="0">
                          <a:solidFill>
                            <a:srgbClr val="55565A"/>
                          </a:solidFill>
                          <a:latin typeface="+mn-lt"/>
                          <a:cs typeface="+mn-lt"/>
                        </a:rPr>
                        <a:t>Pendiente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Sin definición todavía. No se completó para no inventar contenido.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14567A"/>
                    </a:solidFill>
                  </a:tcPr>
                </a:tc>
                <a:tc>
                  <a:txBody>
                    <a:bodyPr/>
                    <a:lstStyle/>
                    <a:p>
                      <a:pPr algn="l">
                        <a:lnSpc>
                          <a:spcPct val="90000"/>
                        </a:lnSpc>
                        <a:buNone/>
                      </a:pPr>
                      <a:r>
                        <a:rPr lang="es-CL" sz="90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Punto de verificación del flujo. Se representa, pero no se numera.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6F5800"/>
                    </a:solidFill>
                  </a:tcPr>
                </a:tc>
                <a:tc>
                  <a:txBody>
                    <a:bodyPr/>
                    <a:lstStyle/>
                    <a:p>
                      <a:pPr algn="l">
                        <a:lnSpc>
                          <a:spcPct val="90000"/>
                        </a:lnSpc>
                        <a:buNone/>
                      </a:pPr>
                      <a:r>
                        <a:rPr lang="es-CL" sz="90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Compuerta del flujo. Se representa, pero no se numera.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Cómo leer| </a:t>
            </a:r>
            <a:r>
              <a:rPr lang="es-CL" sz="2000" dirty="0">
                <a:solidFill>
                  <a:srgbClr val="A34100"/>
                </a:solidFill>
                <a:latin typeface="+mn-lt"/>
                <a:cs typeface="+mn-lt"/>
              </a:rPr>
              <a:t>Criterios de clasificación jerárquica</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Definiciones aplicadas para clasificar cada caja del flujo MP8 v3.</a:t>
            </a:r>
          </a:p>
        </p:txBody>
      </p:sp>
      <p:sp>
        <p:nvSpPr>
          <p:cNvPr id="11" name="Tarjeta 11"/>
          <p:cNvSpPr/>
          <p:nvPr/>
        </p:nvSpPr>
        <p:spPr>
          <a:xfrm>
            <a:off x="630000" y="1489218"/>
            <a:ext cx="3564450" cy="584683"/>
          </a:xfrm>
          <a:prstGeom prst="roundRect">
            <a:avLst>
              <a:gd name="adj" fmla="val 5000"/>
            </a:avLst>
          </a:prstGeom>
          <a:solidFill>
            <a:srgbClr val="EFE6D0"/>
          </a:solidFill>
          <a:ln w="9525" cap="flat">
            <a:solidFill>
              <a:srgbClr val="A34100"/>
            </a:solidFill>
          </a:ln>
        </p:spPr>
        <p:txBody>
          <a:bodyPr wrap="square" lIns="76200" tIns="76200" rIns="76200" bIns="76200" anchor="t">
            <a:noAutofit/>
          </a:bodyPr>
          <a:lstStyle/>
          <a:p>
            <a:pPr algn="l">
              <a:lnSpc>
                <a:spcPct val="90000"/>
              </a:lnSpc>
              <a:buNone/>
            </a:pPr>
            <a:r>
              <a:rPr lang="es-CL" sz="1200" b="1" dirty="0">
                <a:solidFill>
                  <a:srgbClr val="A34100"/>
                </a:solidFill>
                <a:latin typeface="+mn-lt"/>
                <a:cs typeface="+mn-lt"/>
              </a:rPr>
              <a:t>Proceso</a:t>
            </a:r>
          </a:p>
          <a:p>
            <a:pPr algn="l">
              <a:lnSpc>
                <a:spcPct val="90000"/>
              </a:lnSpc>
              <a:spcBef>
                <a:spcPts val="200"/>
              </a:spcBef>
              <a:buNone/>
            </a:pPr>
            <a:r>
              <a:rPr lang="es-CL" sz="950" dirty="0">
                <a:solidFill>
                  <a:srgbClr val="3F3A33"/>
                </a:solidFill>
                <a:latin typeface="+mn-lt"/>
                <a:cs typeface="+mn-lt"/>
              </a:rPr>
              <a:t>Conjunto de subprocesos con un resultado propio y un dueño identificable.</a:t>
            </a:r>
          </a:p>
        </p:txBody>
      </p:sp>
      <p:sp>
        <p:nvSpPr>
          <p:cNvPr id="12" name="Tarjeta 12"/>
          <p:cNvSpPr/>
          <p:nvPr/>
        </p:nvSpPr>
        <p:spPr>
          <a:xfrm>
            <a:off x="4314450" y="1489218"/>
            <a:ext cx="3564450" cy="584683"/>
          </a:xfrm>
          <a:prstGeom prst="roundRect">
            <a:avLst>
              <a:gd name="adj" fmla="val 5000"/>
            </a:avLst>
          </a:prstGeom>
          <a:solidFill>
            <a:srgbClr val="EFE6D0"/>
          </a:solidFill>
          <a:ln w="9525" cap="flat">
            <a:solidFill>
              <a:srgbClr val="A34100"/>
            </a:solidFill>
          </a:ln>
        </p:spPr>
        <p:txBody>
          <a:bodyPr wrap="square" lIns="76200" tIns="76200" rIns="76200" bIns="76200" anchor="t">
            <a:noAutofit/>
          </a:bodyPr>
          <a:lstStyle/>
          <a:p>
            <a:pPr algn="l">
              <a:lnSpc>
                <a:spcPct val="90000"/>
              </a:lnSpc>
              <a:buNone/>
            </a:pPr>
            <a:r>
              <a:rPr lang="es-CL" sz="1200" b="1" dirty="0">
                <a:solidFill>
                  <a:srgbClr val="A34100"/>
                </a:solidFill>
                <a:latin typeface="+mn-lt"/>
                <a:cs typeface="+mn-lt"/>
              </a:rPr>
              <a:t>Subproceso</a:t>
            </a:r>
          </a:p>
          <a:p>
            <a:pPr algn="l">
              <a:lnSpc>
                <a:spcPct val="90000"/>
              </a:lnSpc>
              <a:spcBef>
                <a:spcPts val="200"/>
              </a:spcBef>
              <a:buNone/>
            </a:pPr>
            <a:r>
              <a:rPr lang="es-CL" sz="950" dirty="0">
                <a:solidFill>
                  <a:srgbClr val="3F3A33"/>
                </a:solidFill>
                <a:latin typeface="+mn-lt"/>
                <a:cs typeface="+mn-lt"/>
              </a:rPr>
              <a:t>Bloque con entradas y salidas propias dentro de un proceso; agrupa actividades.</a:t>
            </a:r>
          </a:p>
        </p:txBody>
      </p:sp>
      <p:sp>
        <p:nvSpPr>
          <p:cNvPr id="13" name="Tarjeta 13"/>
          <p:cNvSpPr/>
          <p:nvPr/>
        </p:nvSpPr>
        <p:spPr>
          <a:xfrm>
            <a:off x="7998900" y="1489218"/>
            <a:ext cx="3564450" cy="584683"/>
          </a:xfrm>
          <a:prstGeom prst="roundRect">
            <a:avLst>
              <a:gd name="adj" fmla="val 5000"/>
            </a:avLst>
          </a:prstGeom>
          <a:solidFill>
            <a:srgbClr val="FBF8F1"/>
          </a:solidFill>
          <a:ln w="9525" cap="flat">
            <a:solidFill>
              <a:srgbClr val="C9B98F"/>
            </a:solidFill>
          </a:ln>
        </p:spPr>
        <p:txBody>
          <a:bodyPr wrap="square" lIns="76200" tIns="76200" rIns="76200" bIns="76200" anchor="t">
            <a:noAutofit/>
          </a:bodyPr>
          <a:lstStyle/>
          <a:p>
            <a:pPr algn="l">
              <a:lnSpc>
                <a:spcPct val="90000"/>
              </a:lnSpc>
              <a:buNone/>
            </a:pPr>
            <a:r>
              <a:rPr lang="es-CL" sz="1200" b="1" dirty="0">
                <a:solidFill>
                  <a:srgbClr val="3F3A33"/>
                </a:solidFill>
                <a:latin typeface="+mn-lt"/>
                <a:cs typeface="+mn-lt"/>
              </a:rPr>
              <a:t>Actividad</a:t>
            </a:r>
          </a:p>
          <a:p>
            <a:pPr algn="l">
              <a:lnSpc>
                <a:spcPct val="90000"/>
              </a:lnSpc>
              <a:spcBef>
                <a:spcPts val="200"/>
              </a:spcBef>
              <a:buNone/>
            </a:pPr>
            <a:r>
              <a:rPr lang="es-CL" sz="950" dirty="0">
                <a:solidFill>
                  <a:srgbClr val="3F3A33"/>
                </a:solidFill>
                <a:latin typeface="+mn-lt"/>
                <a:cs typeface="+mn-lt"/>
              </a:rPr>
              <a:t>Unidad de trabajo con responsable y resultado verificable; agrupa tareas.</a:t>
            </a:r>
          </a:p>
        </p:txBody>
      </p:sp>
      <p:sp>
        <p:nvSpPr>
          <p:cNvPr id="14" name="Tarjeta 14"/>
          <p:cNvSpPr/>
          <p:nvPr/>
        </p:nvSpPr>
        <p:spPr>
          <a:xfrm>
            <a:off x="630000" y="2193901"/>
            <a:ext cx="3564450" cy="584683"/>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1200" b="1" dirty="0">
                <a:solidFill>
                  <a:srgbClr val="6B655C"/>
                </a:solidFill>
                <a:latin typeface="+mn-lt"/>
                <a:cs typeface="+mn-lt"/>
              </a:rPr>
              <a:t>Tarea</a:t>
            </a:r>
          </a:p>
          <a:p>
            <a:pPr algn="l">
              <a:lnSpc>
                <a:spcPct val="90000"/>
              </a:lnSpc>
              <a:spcBef>
                <a:spcPts val="200"/>
              </a:spcBef>
              <a:buNone/>
            </a:pPr>
            <a:r>
              <a:rPr lang="es-CL" sz="950" dirty="0">
                <a:solidFill>
                  <a:srgbClr val="3F3A33"/>
                </a:solidFill>
                <a:latin typeface="+mn-lt"/>
                <a:cs typeface="+mn-lt"/>
              </a:rPr>
              <a:t>Paso operativo concreto dentro de una actividad.</a:t>
            </a:r>
          </a:p>
        </p:txBody>
      </p:sp>
      <p:sp>
        <p:nvSpPr>
          <p:cNvPr id="15" name="Tarjeta 15"/>
          <p:cNvSpPr/>
          <p:nvPr/>
        </p:nvSpPr>
        <p:spPr>
          <a:xfrm>
            <a:off x="4314450" y="2193901"/>
            <a:ext cx="3564450" cy="584683"/>
          </a:xfrm>
          <a:prstGeom prst="roundRect">
            <a:avLst>
              <a:gd name="adj" fmla="val 5000"/>
            </a:avLst>
          </a:prstGeom>
          <a:solidFill>
            <a:srgbClr val="E6EFF5"/>
          </a:solidFill>
          <a:ln w="9525" cap="flat">
            <a:solidFill>
              <a:srgbClr val="14567A"/>
            </a:solidFill>
          </a:ln>
        </p:spPr>
        <p:txBody>
          <a:bodyPr wrap="square" lIns="76200" tIns="76200" rIns="76200" bIns="76200" anchor="t">
            <a:noAutofit/>
          </a:bodyPr>
          <a:lstStyle/>
          <a:p>
            <a:pPr algn="l">
              <a:lnSpc>
                <a:spcPct val="90000"/>
              </a:lnSpc>
              <a:buNone/>
            </a:pPr>
            <a:r>
              <a:rPr lang="es-CL" sz="1200" b="1" dirty="0">
                <a:solidFill>
                  <a:srgbClr val="14567A"/>
                </a:solidFill>
                <a:latin typeface="+mn-lt"/>
                <a:cs typeface="+mn-lt"/>
              </a:rPr>
              <a:t>Control</a:t>
            </a:r>
          </a:p>
          <a:p>
            <a:pPr algn="l">
              <a:lnSpc>
                <a:spcPct val="90000"/>
              </a:lnSpc>
              <a:spcBef>
                <a:spcPts val="200"/>
              </a:spcBef>
              <a:buNone/>
            </a:pPr>
            <a:r>
              <a:rPr lang="es-CL" sz="950" dirty="0">
                <a:solidFill>
                  <a:srgbClr val="3F3A33"/>
                </a:solidFill>
                <a:latin typeface="+mn-lt"/>
                <a:cs typeface="+mn-lt"/>
              </a:rPr>
              <a:t>Verificación que valida o autoriza el avance del flujo.</a:t>
            </a:r>
          </a:p>
        </p:txBody>
      </p:sp>
      <p:sp>
        <p:nvSpPr>
          <p:cNvPr id="16" name="Tarjeta 16"/>
          <p:cNvSpPr/>
          <p:nvPr/>
        </p:nvSpPr>
        <p:spPr>
          <a:xfrm>
            <a:off x="7998900" y="2193901"/>
            <a:ext cx="3564450" cy="584683"/>
          </a:xfrm>
          <a:prstGeom prst="roundRect">
            <a:avLst>
              <a:gd name="adj" fmla="val 5000"/>
            </a:avLst>
          </a:prstGeom>
          <a:solidFill>
            <a:srgbClr val="FBF4DF"/>
          </a:solidFill>
          <a:ln w="9525" cap="flat">
            <a:solidFill>
              <a:srgbClr val="6F5800"/>
            </a:solidFill>
          </a:ln>
        </p:spPr>
        <p:txBody>
          <a:bodyPr wrap="square" lIns="76200" tIns="76200" rIns="76200" bIns="76200" anchor="t">
            <a:noAutofit/>
          </a:bodyPr>
          <a:lstStyle/>
          <a:p>
            <a:pPr algn="l">
              <a:lnSpc>
                <a:spcPct val="90000"/>
              </a:lnSpc>
              <a:buNone/>
            </a:pPr>
            <a:r>
              <a:rPr lang="es-CL" sz="1200" b="1" dirty="0">
                <a:solidFill>
                  <a:srgbClr val="6F5800"/>
                </a:solidFill>
                <a:latin typeface="+mn-lt"/>
                <a:cs typeface="+mn-lt"/>
              </a:rPr>
              <a:t>Decisión</a:t>
            </a:r>
          </a:p>
          <a:p>
            <a:pPr algn="l">
              <a:lnSpc>
                <a:spcPct val="90000"/>
              </a:lnSpc>
              <a:spcBef>
                <a:spcPts val="200"/>
              </a:spcBef>
              <a:buNone/>
            </a:pPr>
            <a:r>
              <a:rPr lang="es-CL" sz="950" dirty="0">
                <a:solidFill>
                  <a:srgbClr val="3F3A33"/>
                </a:solidFill>
                <a:latin typeface="+mn-lt"/>
                <a:cs typeface="+mn-lt"/>
              </a:rPr>
              <a:t>Compuerta que bifurca el flujo según una condición.</a:t>
            </a:r>
          </a:p>
        </p:txBody>
      </p:sp>
      <p:sp>
        <p:nvSpPr>
          <p:cNvPr id="17" name="Texto 17"/>
          <p:cNvSpPr/>
          <p:nvPr/>
        </p:nvSpPr>
        <p:spPr>
          <a:xfrm>
            <a:off x="630000" y="2868584"/>
            <a:ext cx="10933350" cy="211163"/>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Ejemplo de anidamiento en el MP8</a:t>
            </a:r>
          </a:p>
        </p:txBody>
      </p:sp>
      <p:sp>
        <p:nvSpPr>
          <p:cNvPr id="18" name="Nivel 18"/>
          <p:cNvSpPr/>
          <p:nvPr/>
        </p:nvSpPr>
        <p:spPr>
          <a:xfrm>
            <a:off x="630000" y="3169747"/>
            <a:ext cx="10933350" cy="330200"/>
          </a:xfrm>
          <a:prstGeom prst="roundRect">
            <a:avLst>
              <a:gd name="adj" fmla="val 4000"/>
            </a:avLst>
          </a:prstGeom>
          <a:solidFill>
            <a:srgbClr val="EFE6D0"/>
          </a:solidFill>
          <a:ln w="9525" cap="flat">
            <a:solidFill>
              <a:srgbClr val="A34100"/>
            </a:solidFill>
          </a:ln>
        </p:spPr>
        <p:txBody>
          <a:bodyPr wrap="square" lIns="76200" tIns="76200" rIns="76200" bIns="76200" anchor="ctr">
            <a:noAutofit/>
          </a:bodyPr>
          <a:lstStyle/>
          <a:p>
            <a:pPr algn="l">
              <a:lnSpc>
                <a:spcPct val="90000"/>
              </a:lnSpc>
              <a:buNone/>
            </a:pPr>
            <a:r>
              <a:rPr lang="es-CL" sz="900" b="1" dirty="0">
                <a:solidFill>
                  <a:srgbClr val="A34100"/>
                </a:solidFill>
                <a:latin typeface="+mn-lt"/>
                <a:cs typeface="+mn-lt"/>
              </a:rPr>
              <a:t>Proceso   ·   P4 · Desarrollo organizacional</a:t>
            </a:r>
          </a:p>
        </p:txBody>
      </p:sp>
      <p:sp>
        <p:nvSpPr>
          <p:cNvPr id="19" name="Nivel 19"/>
          <p:cNvSpPr/>
          <p:nvPr/>
        </p:nvSpPr>
        <p:spPr>
          <a:xfrm>
            <a:off x="1250000" y="3544947"/>
            <a:ext cx="10313350" cy="330200"/>
          </a:xfrm>
          <a:prstGeom prst="roundRect">
            <a:avLst>
              <a:gd name="adj" fmla="val 4000"/>
            </a:avLst>
          </a:prstGeom>
          <a:solidFill>
            <a:srgbClr val="EFE6D0"/>
          </a:solidFill>
          <a:ln w="9525" cap="flat">
            <a:solidFill>
              <a:srgbClr val="C9B98F"/>
            </a:solidFill>
          </a:ln>
        </p:spPr>
        <p:txBody>
          <a:bodyPr wrap="square" lIns="76200" tIns="76200" rIns="76200" bIns="76200" anchor="ctr">
            <a:noAutofit/>
          </a:bodyPr>
          <a:lstStyle/>
          <a:p>
            <a:pPr algn="l">
              <a:lnSpc>
                <a:spcPct val="90000"/>
              </a:lnSpc>
              <a:buNone/>
            </a:pPr>
            <a:r>
              <a:rPr lang="es-CL" sz="900" b="1" dirty="0">
                <a:solidFill>
                  <a:srgbClr val="3F3A33"/>
                </a:solidFill>
                <a:latin typeface="+mn-lt"/>
                <a:cs typeface="+mn-lt"/>
              </a:rPr>
              <a:t>Subproceso   ·   Formación</a:t>
            </a:r>
          </a:p>
        </p:txBody>
      </p:sp>
      <p:sp>
        <p:nvSpPr>
          <p:cNvPr id="20" name="Nivel 20"/>
          <p:cNvSpPr/>
          <p:nvPr/>
        </p:nvSpPr>
        <p:spPr>
          <a:xfrm>
            <a:off x="1870000" y="3920147"/>
            <a:ext cx="9693350" cy="330200"/>
          </a:xfrm>
          <a:prstGeom prst="roundRect">
            <a:avLst>
              <a:gd name="adj" fmla="val 4000"/>
            </a:avLst>
          </a:prstGeom>
          <a:solidFill>
            <a:srgbClr val="FBF8F1"/>
          </a:solidFill>
          <a:ln w="9525" cap="flat">
            <a:solidFill>
              <a:srgbClr val="C9B98F"/>
            </a:solidFill>
          </a:ln>
        </p:spPr>
        <p:txBody>
          <a:bodyPr wrap="square" lIns="76200" tIns="76200" rIns="76200" bIns="76200" anchor="ctr">
            <a:noAutofit/>
          </a:bodyPr>
          <a:lstStyle/>
          <a:p>
            <a:pPr algn="l">
              <a:lnSpc>
                <a:spcPct val="90000"/>
              </a:lnSpc>
              <a:buNone/>
            </a:pPr>
            <a:r>
              <a:rPr lang="es-CL" sz="900" dirty="0">
                <a:solidFill>
                  <a:srgbClr val="3F3A33"/>
                </a:solidFill>
                <a:latin typeface="+mn-lt"/>
                <a:cs typeface="+mn-lt"/>
              </a:rPr>
              <a:t>Actividad   ·   A4 · Ejecución de la formación  ·  cajas 8 a 12</a:t>
            </a:r>
          </a:p>
        </p:txBody>
      </p:sp>
      <p:sp>
        <p:nvSpPr>
          <p:cNvPr id="21" name="Nivel 21"/>
          <p:cNvSpPr/>
          <p:nvPr/>
        </p:nvSpPr>
        <p:spPr>
          <a:xfrm>
            <a:off x="2490000" y="4295347"/>
            <a:ext cx="9073350" cy="330200"/>
          </a:xfrm>
          <a:prstGeom prst="roundRect">
            <a:avLst>
              <a:gd name="adj" fmla="val 4000"/>
            </a:avLst>
          </a:prstGeom>
          <a:solidFill>
            <a:srgbClr val="FFFFFF"/>
          </a:solidFill>
          <a:ln w="9525" cap="flat">
            <a:solidFill>
              <a:srgbClr val="D6D1C8"/>
            </a:solidFill>
          </a:ln>
        </p:spPr>
        <p:txBody>
          <a:bodyPr wrap="square" lIns="76200" tIns="76200" rIns="76200" bIns="76200" anchor="ctr">
            <a:noAutofit/>
          </a:bodyPr>
          <a:lstStyle/>
          <a:p>
            <a:pPr algn="l">
              <a:lnSpc>
                <a:spcPct val="90000"/>
              </a:lnSpc>
              <a:buNone/>
            </a:pPr>
            <a:r>
              <a:rPr lang="es-CL" sz="900" dirty="0">
                <a:solidFill>
                  <a:srgbClr val="6B655C"/>
                </a:solidFill>
                <a:latin typeface="+mn-lt"/>
                <a:cs typeface="+mn-lt"/>
              </a:rPr>
              <a:t>Tarea   ·   Formación e-learning: nivelación teórica de fundamentos técnicos</a:t>
            </a:r>
          </a:p>
        </p:txBody>
      </p:sp>
      <p:sp>
        <p:nvSpPr>
          <p:cNvPr id="22" name="Texto 22"/>
          <p:cNvSpPr/>
          <p:nvPr/>
        </p:nvSpPr>
        <p:spPr>
          <a:xfrm>
            <a:off x="630000" y="4760547"/>
            <a:ext cx="10933350" cy="629501"/>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Base de las propuestas</a:t>
            </a:r>
          </a:p>
          <a:p>
            <a:pPr algn="l">
              <a:lnSpc>
                <a:spcPct val="90000"/>
              </a:lnSpc>
              <a:spcBef>
                <a:spcPts val="200"/>
              </a:spcBef>
              <a:buNone/>
            </a:pPr>
            <a:r>
              <a:rPr lang="es-CL" sz="1000" dirty="0">
                <a:solidFill>
                  <a:srgbClr val="3F3A33"/>
                </a:solidFill>
                <a:latin typeface="+mn-lt"/>
                <a:cs typeface="+mn-lt"/>
              </a:rPr>
              <a:t>Toda propuesta de nombre o de agrupación se apoya en el APQC PCF v8.0 categoría 7, en los procedimientos vigentes levantados por Loreto, Vanesa y Rocío, en los antecedentes de Paula Silva y en el marco metodológico de la Jornada MGO. Donde ninguna de esas fuentes permite decidir, la caja queda marcada como pendiente en lugar de rellenarse.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Alcance| </a:t>
            </a:r>
            <a:r>
              <a:rPr lang="es-CL" sz="2000" dirty="0">
                <a:solidFill>
                  <a:srgbClr val="A34100"/>
                </a:solidFill>
                <a:latin typeface="+mn-lt"/>
                <a:cs typeface="+mn-lt"/>
              </a:rPr>
              <a:t>Cobertura del análisis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La revisión con Isi cubrió las fases 1 a 14. Las fases 0 y 15 a 18 no se modelan en este borrador.</a:t>
            </a:r>
          </a:p>
        </p:txBody>
      </p:sp>
      <p:graphicFrame>
        <p:nvGraphicFramePr>
          <p:cNvPr id="11" name="Tabla 11"/>
          <p:cNvGraphicFramePr>
            <a:graphicFrameLocks noGrp="1"/>
          </p:cNvGraphicFramePr>
          <p:nvPr/>
        </p:nvGraphicFramePr>
        <p:xfrm>
          <a:off x="630000" y="1489218"/>
          <a:ext cx="10933350" cy="4237220"/>
        </p:xfrm>
        <a:graphic>
          <a:graphicData uri="http://schemas.openxmlformats.org/drawingml/2006/table">
            <a:tbl>
              <a:tblPr firstRow="1"/>
              <a:tblGrid>
                <a:gridCol w="900000"/>
                <a:gridCol w="3900000"/>
                <a:gridCol w="1100000"/>
                <a:gridCol w="1100000"/>
                <a:gridCol w="1100000"/>
                <a:gridCol w="2833350"/>
              </a:tblGrid>
              <a:tr h="211861">
                <a:tc>
                  <a:txBody>
                    <a:bodyPr/>
                    <a:lstStyle/>
                    <a:p>
                      <a:pPr algn="l">
                        <a:lnSpc>
                          <a:spcPct val="90000"/>
                        </a:lnSpc>
                        <a:buNone/>
                      </a:pPr>
                      <a:r>
                        <a:rPr lang="es-CL" sz="900" b="1" dirty="0">
                          <a:solidFill>
                            <a:srgbClr val="FFFFFF"/>
                          </a:solidFill>
                          <a:latin typeface="+mn-lt"/>
                          <a:cs typeface="+mn-lt"/>
                        </a:rPr>
                        <a:t>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Nombre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Cajas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Decisiones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Controles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Estado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211861">
                <a:tc>
                  <a:txBody>
                    <a:bodyPr/>
                    <a:lstStyle/>
                    <a:p>
                      <a:pPr algn="l">
                        <a:lnSpc>
                          <a:spcPct val="90000"/>
                        </a:lnSpc>
                        <a:buNone/>
                      </a:pPr>
                      <a:r>
                        <a:rPr lang="es-CL" sz="900" b="1" dirty="0">
                          <a:solidFill>
                            <a:srgbClr val="3F3A33"/>
                          </a:solidFill>
                          <a:latin typeface="+mn-lt"/>
                          <a:cs typeface="+mn-lt"/>
                        </a:rPr>
                        <a:t>F1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Necesidad estratégica y plan de dotación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Valoración de cargo y banda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F3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Reclutamiento y filtro curricular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F5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Evaluación área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F7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Evaluación área solicitante · entrevistas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F9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Flujo de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F11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Formación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Gestión del desempeño · ciclo anual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30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F13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Carrera, sucesión y movilidad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14567A"/>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F14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Revisión de renta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14567A"/>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55565A"/>
                          </a:solidFill>
                          <a:latin typeface="+mn-lt"/>
                          <a:cs typeface="+mn-lt"/>
                        </a:rPr>
                        <a:t>F0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Fase 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incluida en la revisión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11861">
                <a:tc>
                  <a:txBody>
                    <a:bodyPr/>
                    <a:lstStyle/>
                    <a:p>
                      <a:pPr algn="l">
                        <a:lnSpc>
                          <a:spcPct val="90000"/>
                        </a:lnSpc>
                        <a:buNone/>
                      </a:pPr>
                      <a:r>
                        <a:rPr lang="es-CL" sz="900" b="1" dirty="0">
                          <a:solidFill>
                            <a:srgbClr val="55565A"/>
                          </a:solidFill>
                          <a:latin typeface="+mn-lt"/>
                          <a:cs typeface="+mn-lt"/>
                        </a:rPr>
                        <a:t>F15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Administración de nómina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11861">
                <a:tc>
                  <a:txBody>
                    <a:bodyPr/>
                    <a:lstStyle/>
                    <a:p>
                      <a:pPr algn="l">
                        <a:lnSpc>
                          <a:spcPct val="90000"/>
                        </a:lnSpc>
                        <a:buNone/>
                      </a:pPr>
                      <a:r>
                        <a:rPr lang="es-CL" sz="900" b="1" dirty="0">
                          <a:solidFill>
                            <a:srgbClr val="55565A"/>
                          </a:solidFill>
                          <a:latin typeface="+mn-lt"/>
                          <a:cs typeface="+mn-lt"/>
                        </a:rPr>
                        <a:t>F16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Clima, asistencia y retención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11861">
                <a:tc>
                  <a:txBody>
                    <a:bodyPr/>
                    <a:lstStyle/>
                    <a:p>
                      <a:pPr algn="l">
                        <a:lnSpc>
                          <a:spcPct val="90000"/>
                        </a:lnSpc>
                        <a:buNone/>
                      </a:pPr>
                      <a:r>
                        <a:rPr lang="es-CL" sz="900" b="1" dirty="0">
                          <a:solidFill>
                            <a:srgbClr val="55565A"/>
                          </a:solidFill>
                          <a:latin typeface="+mn-lt"/>
                          <a:cs typeface="+mn-lt"/>
                        </a:rPr>
                        <a:t>F17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Desvinculación y salida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11861">
                <a:tc>
                  <a:txBody>
                    <a:bodyPr/>
                    <a:lstStyle/>
                    <a:p>
                      <a:pPr algn="l">
                        <a:lnSpc>
                          <a:spcPct val="90000"/>
                        </a:lnSpc>
                        <a:buNone/>
                      </a:pPr>
                      <a:r>
                        <a:rPr lang="es-CL" sz="900" b="1" dirty="0">
                          <a:solidFill>
                            <a:srgbClr val="55565A"/>
                          </a:solidFill>
                          <a:latin typeface="+mn-lt"/>
                          <a:cs typeface="+mn-lt"/>
                        </a:rPr>
                        <a:t>F18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Backbone de datos y gobernanza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Arquitectura preliminar| </a:t>
            </a:r>
            <a:r>
              <a:rPr lang="es-CL" sz="2000" dirty="0">
                <a:solidFill>
                  <a:srgbClr val="A34100"/>
                </a:solidFill>
                <a:latin typeface="+mn-lt"/>
                <a:cs typeface="+mn-lt"/>
              </a:rPr>
              <a:t>Mapa de procesos y subprocesos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Cinco procesos preliminares para las fases 1 a 14. El color del nombre indica su estado.</a:t>
            </a:r>
          </a:p>
        </p:txBody>
      </p:sp>
      <p:sp>
        <p:nvSpPr>
          <p:cNvPr id="11" name="Proceso 11"/>
          <p:cNvSpPr/>
          <p:nvPr/>
        </p:nvSpPr>
        <p:spPr>
          <a:xfrm>
            <a:off x="630000" y="1489218"/>
            <a:ext cx="2098670" cy="660400"/>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P1 · Necesidad estratégica y plan de dotación</a:t>
            </a:r>
          </a:p>
          <a:p>
            <a:pPr algn="l">
              <a:lnSpc>
                <a:spcPct val="90000"/>
              </a:lnSpc>
              <a:spcBef>
                <a:spcPts val="200"/>
              </a:spcBef>
              <a:buNone/>
            </a:pPr>
            <a:r>
              <a:rPr lang="es-CL" sz="750" dirty="0">
                <a:solidFill>
                  <a:srgbClr val="F7E2D2"/>
                </a:solidFill>
                <a:latin typeface="+mn-lt"/>
                <a:cs typeface="+mn-lt"/>
              </a:rPr>
              <a:t>APQC 7.1.1 · 7.1.2  ·  confirmado</a:t>
            </a:r>
          </a:p>
        </p:txBody>
      </p:sp>
      <p:sp>
        <p:nvSpPr>
          <p:cNvPr id="12" name="Subproceso 12"/>
          <p:cNvSpPr/>
          <p:nvPr/>
        </p:nvSpPr>
        <p:spPr>
          <a:xfrm>
            <a:off x="63000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Identificar necesidades estratégicas de RRHH</a:t>
            </a:r>
          </a:p>
          <a:p>
            <a:pPr algn="l">
              <a:lnSpc>
                <a:spcPct val="90000"/>
              </a:lnSpc>
              <a:spcBef>
                <a:spcPts val="200"/>
              </a:spcBef>
              <a:buNone/>
            </a:pPr>
            <a:r>
              <a:rPr lang="es-CL" sz="750" dirty="0">
                <a:solidFill>
                  <a:srgbClr val="6B655C"/>
                </a:solidFill>
                <a:latin typeface="+mn-lt"/>
                <a:cs typeface="+mn-lt"/>
              </a:rPr>
              <a:t>F1  ·  Sin actividades definidas</a:t>
            </a:r>
          </a:p>
        </p:txBody>
      </p:sp>
      <p:sp>
        <p:nvSpPr>
          <p:cNvPr id="13" name="Subproceso 13"/>
          <p:cNvSpPr/>
          <p:nvPr/>
        </p:nvSpPr>
        <p:spPr>
          <a:xfrm>
            <a:off x="63000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Estimar dotación futura</a:t>
            </a:r>
          </a:p>
          <a:p>
            <a:pPr algn="l">
              <a:lnSpc>
                <a:spcPct val="90000"/>
              </a:lnSpc>
              <a:spcBef>
                <a:spcPts val="200"/>
              </a:spcBef>
              <a:buNone/>
            </a:pPr>
            <a:r>
              <a:rPr lang="es-CL" sz="750" dirty="0">
                <a:solidFill>
                  <a:srgbClr val="6B655C"/>
                </a:solidFill>
                <a:latin typeface="+mn-lt"/>
                <a:cs typeface="+mn-lt"/>
              </a:rPr>
              <a:t>F1  ·  Cajas 2–6</a:t>
            </a:r>
          </a:p>
        </p:txBody>
      </p:sp>
      <p:sp>
        <p:nvSpPr>
          <p:cNvPr id="14" name="Subproceso 14"/>
          <p:cNvSpPr/>
          <p:nvPr/>
        </p:nvSpPr>
        <p:spPr>
          <a:xfrm>
            <a:off x="630000" y="3877770"/>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Diseñar plan de dotación / organigrama</a:t>
            </a:r>
          </a:p>
          <a:p>
            <a:pPr algn="l">
              <a:lnSpc>
                <a:spcPct val="90000"/>
              </a:lnSpc>
              <a:spcBef>
                <a:spcPts val="200"/>
              </a:spcBef>
              <a:buNone/>
            </a:pPr>
            <a:r>
              <a:rPr lang="es-CL" sz="750" dirty="0">
                <a:solidFill>
                  <a:srgbClr val="6B655C"/>
                </a:solidFill>
                <a:latin typeface="+mn-lt"/>
                <a:cs typeface="+mn-lt"/>
              </a:rPr>
              <a:t>F1  ·  Cajas 8–11</a:t>
            </a:r>
          </a:p>
        </p:txBody>
      </p:sp>
      <p:sp>
        <p:nvSpPr>
          <p:cNvPr id="15" name="Proceso 15"/>
          <p:cNvSpPr/>
          <p:nvPr/>
        </p:nvSpPr>
        <p:spPr>
          <a:xfrm>
            <a:off x="2838670" y="1489218"/>
            <a:ext cx="2098670" cy="660400"/>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P2 · Valoración de cargo y banda de renta</a:t>
            </a:r>
          </a:p>
          <a:p>
            <a:pPr algn="l">
              <a:lnSpc>
                <a:spcPct val="90000"/>
              </a:lnSpc>
              <a:spcBef>
                <a:spcPts val="200"/>
              </a:spcBef>
              <a:buNone/>
            </a:pPr>
            <a:r>
              <a:rPr lang="es-CL" sz="750" dirty="0">
                <a:solidFill>
                  <a:srgbClr val="F7E2D2"/>
                </a:solidFill>
                <a:latin typeface="+mn-lt"/>
                <a:cs typeface="+mn-lt"/>
              </a:rPr>
              <a:t>APQC 7.1.2.2 · 7.1.2.15 · 7.5.1  ·  confirmado</a:t>
            </a:r>
          </a:p>
        </p:txBody>
      </p:sp>
      <p:sp>
        <p:nvSpPr>
          <p:cNvPr id="16" name="Subproceso 16"/>
          <p:cNvSpPr/>
          <p:nvPr/>
        </p:nvSpPr>
        <p:spPr>
          <a:xfrm>
            <a:off x="283867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Benchmark de remuneración</a:t>
            </a:r>
          </a:p>
          <a:p>
            <a:pPr algn="l">
              <a:lnSpc>
                <a:spcPct val="90000"/>
              </a:lnSpc>
              <a:spcBef>
                <a:spcPts val="200"/>
              </a:spcBef>
              <a:buNone/>
            </a:pPr>
            <a:r>
              <a:rPr lang="es-CL" sz="750" dirty="0">
                <a:solidFill>
                  <a:srgbClr val="6B655C"/>
                </a:solidFill>
                <a:latin typeface="+mn-lt"/>
                <a:cs typeface="+mn-lt"/>
              </a:rPr>
              <a:t>F2  ·  Cajas 1–3</a:t>
            </a:r>
          </a:p>
        </p:txBody>
      </p:sp>
      <p:sp>
        <p:nvSpPr>
          <p:cNvPr id="17" name="Subproceso 17"/>
          <p:cNvSpPr/>
          <p:nvPr/>
        </p:nvSpPr>
        <p:spPr>
          <a:xfrm>
            <a:off x="283867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Valoración del cargo y definición de bandas salariales</a:t>
            </a:r>
          </a:p>
          <a:p>
            <a:pPr algn="l">
              <a:lnSpc>
                <a:spcPct val="90000"/>
              </a:lnSpc>
              <a:spcBef>
                <a:spcPts val="200"/>
              </a:spcBef>
              <a:buNone/>
            </a:pPr>
            <a:r>
              <a:rPr lang="es-CL" sz="750" dirty="0">
                <a:solidFill>
                  <a:srgbClr val="6B655C"/>
                </a:solidFill>
                <a:latin typeface="+mn-lt"/>
                <a:cs typeface="+mn-lt"/>
              </a:rPr>
              <a:t>F2  ·  Cajas 4–6</a:t>
            </a:r>
          </a:p>
        </p:txBody>
      </p:sp>
      <p:sp>
        <p:nvSpPr>
          <p:cNvPr id="18" name="Subproceso 18"/>
          <p:cNvSpPr/>
          <p:nvPr/>
        </p:nvSpPr>
        <p:spPr>
          <a:xfrm>
            <a:off x="2838670" y="3877770"/>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Administración periódica del marco de compensación</a:t>
            </a:r>
          </a:p>
          <a:p>
            <a:pPr algn="l">
              <a:lnSpc>
                <a:spcPct val="90000"/>
              </a:lnSpc>
              <a:spcBef>
                <a:spcPts val="200"/>
              </a:spcBef>
              <a:buNone/>
            </a:pPr>
            <a:r>
              <a:rPr lang="es-CL" sz="750" dirty="0">
                <a:solidFill>
                  <a:srgbClr val="6B655C"/>
                </a:solidFill>
                <a:latin typeface="+mn-lt"/>
                <a:cs typeface="+mn-lt"/>
              </a:rPr>
              <a:t>F2  ·  Cajas 7–9</a:t>
            </a:r>
          </a:p>
        </p:txBody>
      </p:sp>
      <p:sp>
        <p:nvSpPr>
          <p:cNvPr id="19" name="Subproceso 19"/>
          <p:cNvSpPr/>
          <p:nvPr/>
        </p:nvSpPr>
        <p:spPr>
          <a:xfrm>
            <a:off x="2838670" y="4711846"/>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Gobierno y publicación del marco de compensaciones</a:t>
            </a:r>
          </a:p>
          <a:p>
            <a:pPr algn="l">
              <a:lnSpc>
                <a:spcPct val="90000"/>
              </a:lnSpc>
              <a:spcBef>
                <a:spcPts val="200"/>
              </a:spcBef>
              <a:buNone/>
            </a:pPr>
            <a:r>
              <a:rPr lang="es-CL" sz="750" dirty="0">
                <a:solidFill>
                  <a:srgbClr val="6B655C"/>
                </a:solidFill>
                <a:latin typeface="+mn-lt"/>
                <a:cs typeface="+mn-lt"/>
              </a:rPr>
              <a:t>F2  ·  Cajas 10–13</a:t>
            </a:r>
          </a:p>
        </p:txBody>
      </p:sp>
      <p:sp>
        <p:nvSpPr>
          <p:cNvPr id="20" name="Proceso 20"/>
          <p:cNvSpPr/>
          <p:nvPr/>
        </p:nvSpPr>
        <p:spPr>
          <a:xfrm>
            <a:off x="5047340" y="1489218"/>
            <a:ext cx="2098670" cy="660400"/>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P3 · Atracción y selección de personas</a:t>
            </a:r>
          </a:p>
          <a:p>
            <a:pPr algn="l">
              <a:lnSpc>
                <a:spcPct val="90000"/>
              </a:lnSpc>
              <a:spcBef>
                <a:spcPts val="200"/>
              </a:spcBef>
              <a:buNone/>
            </a:pPr>
            <a:r>
              <a:rPr lang="es-CL" sz="750" dirty="0">
                <a:solidFill>
                  <a:srgbClr val="F7E2D2"/>
                </a:solidFill>
                <a:latin typeface="+mn-lt"/>
                <a:cs typeface="+mn-lt"/>
              </a:rPr>
              <a:t>APQC 7.2 · fases 3 a 10  ·  propuesta</a:t>
            </a:r>
          </a:p>
        </p:txBody>
      </p:sp>
      <p:sp>
        <p:nvSpPr>
          <p:cNvPr id="21" name="Subproceso 21"/>
          <p:cNvSpPr/>
          <p:nvPr/>
        </p:nvSpPr>
        <p:spPr>
          <a:xfrm>
            <a:off x="504734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Requisición y apertura de vacante</a:t>
            </a:r>
          </a:p>
          <a:p>
            <a:pPr algn="l">
              <a:lnSpc>
                <a:spcPct val="90000"/>
              </a:lnSpc>
              <a:spcBef>
                <a:spcPts val="200"/>
              </a:spcBef>
              <a:buNone/>
            </a:pPr>
            <a:r>
              <a:rPr lang="es-CL" sz="750" dirty="0">
                <a:solidFill>
                  <a:srgbClr val="6B655C"/>
                </a:solidFill>
                <a:latin typeface="+mn-lt"/>
                <a:cs typeface="+mn-lt"/>
              </a:rPr>
              <a:t>F3  ·  Subproceso completo</a:t>
            </a:r>
          </a:p>
        </p:txBody>
      </p:sp>
      <p:sp>
        <p:nvSpPr>
          <p:cNvPr id="22" name="Subproceso 22"/>
          <p:cNvSpPr/>
          <p:nvPr/>
        </p:nvSpPr>
        <p:spPr>
          <a:xfrm>
            <a:off x="5047340" y="3043694"/>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Reclutamiento y preselección</a:t>
            </a:r>
          </a:p>
          <a:p>
            <a:pPr algn="l">
              <a:lnSpc>
                <a:spcPct val="90000"/>
              </a:lnSpc>
              <a:spcBef>
                <a:spcPts val="200"/>
              </a:spcBef>
              <a:buNone/>
            </a:pPr>
            <a:r>
              <a:rPr lang="es-CL" sz="750" dirty="0">
                <a:solidFill>
                  <a:srgbClr val="6B655C"/>
                </a:solidFill>
                <a:latin typeface="+mn-lt"/>
                <a:cs typeface="+mn-lt"/>
              </a:rPr>
              <a:t>F4 · F5  ·  2 actividades</a:t>
            </a:r>
          </a:p>
        </p:txBody>
      </p:sp>
      <p:sp>
        <p:nvSpPr>
          <p:cNvPr id="23" name="Subproceso 23"/>
          <p:cNvSpPr/>
          <p:nvPr/>
        </p:nvSpPr>
        <p:spPr>
          <a:xfrm>
            <a:off x="5047340" y="3877770"/>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Evaluación y selección de candidatos</a:t>
            </a:r>
          </a:p>
          <a:p>
            <a:pPr algn="l">
              <a:lnSpc>
                <a:spcPct val="90000"/>
              </a:lnSpc>
              <a:spcBef>
                <a:spcPts val="200"/>
              </a:spcBef>
              <a:buNone/>
            </a:pPr>
            <a:r>
              <a:rPr lang="es-CL" sz="750" dirty="0">
                <a:solidFill>
                  <a:srgbClr val="6B655C"/>
                </a:solidFill>
                <a:latin typeface="+mn-lt"/>
                <a:cs typeface="+mn-lt"/>
              </a:rPr>
              <a:t>F6 · F7  ·  2 actividades</a:t>
            </a:r>
          </a:p>
        </p:txBody>
      </p:sp>
      <p:sp>
        <p:nvSpPr>
          <p:cNvPr id="24" name="Subproceso 24"/>
          <p:cNvSpPr/>
          <p:nvPr/>
        </p:nvSpPr>
        <p:spPr>
          <a:xfrm>
            <a:off x="5047340" y="4711846"/>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Verificación preocupacional y contratación</a:t>
            </a:r>
          </a:p>
          <a:p>
            <a:pPr algn="l">
              <a:lnSpc>
                <a:spcPct val="90000"/>
              </a:lnSpc>
              <a:spcBef>
                <a:spcPts val="200"/>
              </a:spcBef>
              <a:buNone/>
            </a:pPr>
            <a:r>
              <a:rPr lang="es-CL" sz="750" dirty="0">
                <a:solidFill>
                  <a:srgbClr val="6B655C"/>
                </a:solidFill>
                <a:latin typeface="+mn-lt"/>
                <a:cs typeface="+mn-lt"/>
              </a:rPr>
              <a:t>F8 · F9  ·  2 actividades</a:t>
            </a:r>
          </a:p>
        </p:txBody>
      </p:sp>
      <p:sp>
        <p:nvSpPr>
          <p:cNvPr id="25" name="Subproceso 25"/>
          <p:cNvSpPr/>
          <p:nvPr/>
        </p:nvSpPr>
        <p:spPr>
          <a:xfrm>
            <a:off x="5047340" y="5545922"/>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Incorporación y onboarding</a:t>
            </a:r>
          </a:p>
          <a:p>
            <a:pPr algn="l">
              <a:lnSpc>
                <a:spcPct val="90000"/>
              </a:lnSpc>
              <a:spcBef>
                <a:spcPts val="200"/>
              </a:spcBef>
              <a:buNone/>
            </a:pPr>
            <a:r>
              <a:rPr lang="es-CL" sz="750" dirty="0">
                <a:solidFill>
                  <a:srgbClr val="6B655C"/>
                </a:solidFill>
                <a:latin typeface="+mn-lt"/>
                <a:cs typeface="+mn-lt"/>
              </a:rPr>
              <a:t>F10  ·  1 actividad</a:t>
            </a:r>
          </a:p>
        </p:txBody>
      </p:sp>
      <p:sp>
        <p:nvSpPr>
          <p:cNvPr id="26" name="Proceso 26"/>
          <p:cNvSpPr/>
          <p:nvPr/>
        </p:nvSpPr>
        <p:spPr>
          <a:xfrm>
            <a:off x="7256010" y="1489218"/>
            <a:ext cx="2098670" cy="660400"/>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P4 · Desarrollo organizacional</a:t>
            </a:r>
          </a:p>
          <a:p>
            <a:pPr algn="l">
              <a:lnSpc>
                <a:spcPct val="90000"/>
              </a:lnSpc>
              <a:spcBef>
                <a:spcPts val="200"/>
              </a:spcBef>
              <a:buNone/>
            </a:pPr>
            <a:r>
              <a:rPr lang="es-CL" sz="750" dirty="0">
                <a:solidFill>
                  <a:srgbClr val="F7E2D2"/>
                </a:solidFill>
                <a:latin typeface="+mn-lt"/>
                <a:cs typeface="+mn-lt"/>
              </a:rPr>
              <a:t>APQC 7.3 · 7.6.1  ·  confirmado</a:t>
            </a:r>
          </a:p>
        </p:txBody>
      </p:sp>
      <p:sp>
        <p:nvSpPr>
          <p:cNvPr id="27" name="Subproceso 27"/>
          <p:cNvSpPr/>
          <p:nvPr/>
        </p:nvSpPr>
        <p:spPr>
          <a:xfrm>
            <a:off x="725601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Formación</a:t>
            </a:r>
          </a:p>
          <a:p>
            <a:pPr algn="l">
              <a:lnSpc>
                <a:spcPct val="90000"/>
              </a:lnSpc>
              <a:spcBef>
                <a:spcPts val="200"/>
              </a:spcBef>
              <a:buNone/>
            </a:pPr>
            <a:r>
              <a:rPr lang="es-CL" sz="750" dirty="0">
                <a:solidFill>
                  <a:srgbClr val="6B655C"/>
                </a:solidFill>
                <a:latin typeface="+mn-lt"/>
                <a:cs typeface="+mn-lt"/>
              </a:rPr>
              <a:t>F11  ·  19 cajas por agrupar</a:t>
            </a:r>
          </a:p>
        </p:txBody>
      </p:sp>
      <p:sp>
        <p:nvSpPr>
          <p:cNvPr id="28" name="Subproceso 28"/>
          <p:cNvSpPr/>
          <p:nvPr/>
        </p:nvSpPr>
        <p:spPr>
          <a:xfrm>
            <a:off x="725601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Gestión del desempeño</a:t>
            </a:r>
          </a:p>
          <a:p>
            <a:pPr algn="l">
              <a:lnSpc>
                <a:spcPct val="90000"/>
              </a:lnSpc>
              <a:spcBef>
                <a:spcPts val="200"/>
              </a:spcBef>
              <a:buNone/>
            </a:pPr>
            <a:r>
              <a:rPr lang="es-CL" sz="750" dirty="0">
                <a:solidFill>
                  <a:srgbClr val="6B655C"/>
                </a:solidFill>
                <a:latin typeface="+mn-lt"/>
                <a:cs typeface="+mn-lt"/>
              </a:rPr>
              <a:t>F12  ·  4 actividades</a:t>
            </a:r>
          </a:p>
        </p:txBody>
      </p:sp>
      <p:sp>
        <p:nvSpPr>
          <p:cNvPr id="29" name="Subproceso 29"/>
          <p:cNvSpPr/>
          <p:nvPr/>
        </p:nvSpPr>
        <p:spPr>
          <a:xfrm>
            <a:off x="7256010" y="3877770"/>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Carrera, sucesión y movilidad</a:t>
            </a:r>
          </a:p>
          <a:p>
            <a:pPr algn="l">
              <a:lnSpc>
                <a:spcPct val="90000"/>
              </a:lnSpc>
              <a:spcBef>
                <a:spcPts val="200"/>
              </a:spcBef>
              <a:buNone/>
            </a:pPr>
            <a:r>
              <a:rPr lang="es-CL" sz="750" dirty="0">
                <a:solidFill>
                  <a:srgbClr val="6B655C"/>
                </a:solidFill>
                <a:latin typeface="+mn-lt"/>
                <a:cs typeface="+mn-lt"/>
              </a:rPr>
              <a:t>F13  ·  Proceso padre propuesto</a:t>
            </a:r>
          </a:p>
        </p:txBody>
      </p:sp>
      <p:sp>
        <p:nvSpPr>
          <p:cNvPr id="30" name="Proceso 30"/>
          <p:cNvSpPr/>
          <p:nvPr/>
        </p:nvSpPr>
        <p:spPr>
          <a:xfrm>
            <a:off x="9464680" y="1489218"/>
            <a:ext cx="2098670" cy="660400"/>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P5 · Compensaciones y beneficios</a:t>
            </a:r>
          </a:p>
          <a:p>
            <a:pPr algn="l">
              <a:lnSpc>
                <a:spcPct val="90000"/>
              </a:lnSpc>
              <a:spcBef>
                <a:spcPts val="200"/>
              </a:spcBef>
              <a:buNone/>
            </a:pPr>
            <a:r>
              <a:rPr lang="es-CL" sz="750" dirty="0">
                <a:solidFill>
                  <a:srgbClr val="F7E2D2"/>
                </a:solidFill>
                <a:latin typeface="+mn-lt"/>
                <a:cs typeface="+mn-lt"/>
              </a:rPr>
              <a:t>APQC 7.5.1 · 7.5.2  ·  propuesta</a:t>
            </a:r>
          </a:p>
        </p:txBody>
      </p:sp>
      <p:sp>
        <p:nvSpPr>
          <p:cNvPr id="31" name="Subproceso 31"/>
          <p:cNvSpPr/>
          <p:nvPr/>
        </p:nvSpPr>
        <p:spPr>
          <a:xfrm>
            <a:off x="946468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Remuneración y compensación</a:t>
            </a:r>
          </a:p>
          <a:p>
            <a:pPr algn="l">
              <a:lnSpc>
                <a:spcPct val="90000"/>
              </a:lnSpc>
              <a:spcBef>
                <a:spcPts val="200"/>
              </a:spcBef>
              <a:buNone/>
            </a:pPr>
            <a:r>
              <a:rPr lang="es-CL" sz="750" dirty="0">
                <a:solidFill>
                  <a:srgbClr val="6B655C"/>
                </a:solidFill>
                <a:latin typeface="+mn-lt"/>
                <a:cs typeface="+mn-lt"/>
              </a:rPr>
              <a:t>F14  ·  Agrupación interna propuesta</a:t>
            </a:r>
          </a:p>
        </p:txBody>
      </p:sp>
      <p:sp>
        <p:nvSpPr>
          <p:cNvPr id="32" name="Subproceso 32"/>
          <p:cNvSpPr/>
          <p:nvPr/>
        </p:nvSpPr>
        <p:spPr>
          <a:xfrm>
            <a:off x="946468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Beneficios</a:t>
            </a:r>
          </a:p>
          <a:p>
            <a:pPr algn="l">
              <a:lnSpc>
                <a:spcPct val="90000"/>
              </a:lnSpc>
              <a:spcBef>
                <a:spcPts val="200"/>
              </a:spcBef>
              <a:buNone/>
            </a:pPr>
            <a:r>
              <a:rPr lang="es-CL" sz="750" dirty="0">
                <a:solidFill>
                  <a:srgbClr val="6B655C"/>
                </a:solidFill>
                <a:latin typeface="+mn-lt"/>
                <a:cs typeface="+mn-lt"/>
              </a:rPr>
              <a:t>F14  ·  Cajas 19–21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Arquitectura preliminar| </a:t>
            </a:r>
            <a:r>
              <a:rPr lang="es-CL" sz="2000" dirty="0">
                <a:solidFill>
                  <a:srgbClr val="A34100"/>
                </a:solidFill>
                <a:latin typeface="+mn-lt"/>
                <a:cs typeface="+mn-lt"/>
              </a:rPr>
              <a:t>De fase del flujo a estructura de procesos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Equivalencia entre cada fase del flujo único MP8 v3 y su lugar en la arquitectura de procesos.</a:t>
            </a:r>
          </a:p>
        </p:txBody>
      </p:sp>
      <p:graphicFrame>
        <p:nvGraphicFramePr>
          <p:cNvPr id="11" name="Tabla 11"/>
          <p:cNvGraphicFramePr>
            <a:graphicFrameLocks noGrp="1"/>
          </p:cNvGraphicFramePr>
          <p:nvPr/>
        </p:nvGraphicFramePr>
        <p:xfrm>
          <a:off x="630000" y="1489218"/>
          <a:ext cx="10933350" cy="4739713"/>
        </p:xfrm>
        <a:graphic>
          <a:graphicData uri="http://schemas.openxmlformats.org/drawingml/2006/table">
            <a:tbl>
              <a:tblPr firstRow="1"/>
              <a:tblGrid>
                <a:gridCol w="560000"/>
                <a:gridCol w="2150000"/>
                <a:gridCol w="2350000"/>
                <a:gridCol w="3400000"/>
                <a:gridCol w="1200000"/>
                <a:gridCol w="1273350"/>
              </a:tblGrid>
              <a:tr h="211861">
                <a:tc>
                  <a:txBody>
                    <a:bodyPr/>
                    <a:lstStyle/>
                    <a:p>
                      <a:pPr algn="l">
                        <a:lnSpc>
                          <a:spcPct val="90000"/>
                        </a:lnSpc>
                        <a:buNone/>
                      </a:pPr>
                      <a:r>
                        <a:rPr lang="es-CL" sz="900" b="1" dirty="0">
                          <a:solidFill>
                            <a:srgbClr val="FFFFFF"/>
                          </a:solidFill>
                          <a:latin typeface="+mn-lt"/>
                          <a:cs typeface="+mn-lt"/>
                        </a:rPr>
                        <a:t>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Nombre de la 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Nivel de la 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Confirmado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441947">
                <a:tc>
                  <a:txBody>
                    <a:bodyPr/>
                    <a:lstStyle/>
                    <a:p>
                      <a:pPr algn="l">
                        <a:lnSpc>
                          <a:spcPct val="90000"/>
                        </a:lnSpc>
                        <a:buNone/>
                      </a:pPr>
                      <a:r>
                        <a:rPr lang="es-CL" sz="850" b="1" dirty="0">
                          <a:solidFill>
                            <a:srgbClr val="3F3A33"/>
                          </a:solidFill>
                          <a:latin typeface="+mn-lt"/>
                          <a:cs typeface="+mn-lt"/>
                        </a:rPr>
                        <a:t>F1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Necesidad estratégica y plan de dotación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P1 · Necesidad estratégica y plan de dotación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necesidades estratégicas de RRHH / Estimar dotación futura / 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Proceso completo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560476">
                <a:tc>
                  <a:txBody>
                    <a:bodyPr/>
                    <a:lstStyle/>
                    <a:p>
                      <a:pPr algn="l">
                        <a:lnSpc>
                          <a:spcPct val="90000"/>
                        </a:lnSpc>
                        <a:buNone/>
                      </a:pPr>
                      <a:r>
                        <a:rPr lang="es-CL" sz="850" b="1" dirty="0">
                          <a:solidFill>
                            <a:srgbClr val="3F3A33"/>
                          </a:solidFill>
                          <a:latin typeface="+mn-lt"/>
                          <a:cs typeface="+mn-lt"/>
                        </a:rPr>
                        <a:t>F2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Valoración de cargo y banda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P2 · Valoración de cargo y banda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Benchmark de remuneración / Valoración del cargo y definición de bandas salariales / Administración periódica del marco de compensación / Gobierno y publicación del marco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Proceso completo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l">
                        <a:lnSpc>
                          <a:spcPct val="90000"/>
                        </a:lnSpc>
                        <a:buNone/>
                      </a:pPr>
                      <a:r>
                        <a:rPr lang="es-CL" sz="850" b="1" dirty="0">
                          <a:solidFill>
                            <a:srgbClr val="3F3A33"/>
                          </a:solidFill>
                          <a:latin typeface="+mn-lt"/>
                          <a:cs typeface="+mn-lt"/>
                        </a:rPr>
                        <a:t>F3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Reclutamiento y filtro curricular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Reclutamiento y preselección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l">
                        <a:lnSpc>
                          <a:spcPct val="90000"/>
                        </a:lnSpc>
                        <a:buNone/>
                      </a:pPr>
                      <a:r>
                        <a:rPr lang="es-CL" sz="850" b="1" dirty="0">
                          <a:solidFill>
                            <a:srgbClr val="3F3A33"/>
                          </a:solidFill>
                          <a:latin typeface="+mn-lt"/>
                          <a:cs typeface="+mn-lt"/>
                        </a:rPr>
                        <a:t>F5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Reclutamiento y preselección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Evaluación área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Evaluación y selección de candidatos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l">
                        <a:lnSpc>
                          <a:spcPct val="90000"/>
                        </a:lnSpc>
                        <a:buNone/>
                      </a:pPr>
                      <a:r>
                        <a:rPr lang="es-CL" sz="850" b="1" dirty="0">
                          <a:solidFill>
                            <a:srgbClr val="3F3A33"/>
                          </a:solidFill>
                          <a:latin typeface="+mn-lt"/>
                          <a:cs typeface="+mn-lt"/>
                        </a:rPr>
                        <a:t>F7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Evaluación área solicitante · entrevistas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Evaluación y selección de candidatos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Verificación preocupacional y contratación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l">
                        <a:lnSpc>
                          <a:spcPct val="90000"/>
                        </a:lnSpc>
                        <a:buNone/>
                      </a:pPr>
                      <a:r>
                        <a:rPr lang="es-CL" sz="850" b="1" dirty="0">
                          <a:solidFill>
                            <a:srgbClr val="3F3A33"/>
                          </a:solidFill>
                          <a:latin typeface="+mn-lt"/>
                          <a:cs typeface="+mn-lt"/>
                        </a:rPr>
                        <a:t>F9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Flujo de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Verificación preocupacional y contratación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Incorporación y onboarding</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l">
                        <a:lnSpc>
                          <a:spcPct val="90000"/>
                        </a:lnSpc>
                        <a:buNone/>
                      </a:pPr>
                      <a:r>
                        <a:rPr lang="es-CL" sz="850" b="1" dirty="0">
                          <a:solidFill>
                            <a:srgbClr val="3F3A33"/>
                          </a:solidFill>
                          <a:latin typeface="+mn-lt"/>
                          <a:cs typeface="+mn-lt"/>
                        </a:rPr>
                        <a:t>F11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P4 · Desarrollo organizacional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Gestión del desempeño · ciclo anual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P4 · Desarrollo organizacional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Gestión del desempeño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l">
                        <a:lnSpc>
                          <a:spcPct val="90000"/>
                        </a:lnSpc>
                        <a:buNone/>
                      </a:pPr>
                      <a:r>
                        <a:rPr lang="es-CL" sz="850" b="1" dirty="0">
                          <a:solidFill>
                            <a:srgbClr val="3F3A33"/>
                          </a:solidFill>
                          <a:latin typeface="+mn-lt"/>
                          <a:cs typeface="+mn-lt"/>
                        </a:rPr>
                        <a:t>F13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Carrera, sucesión y movilidad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P4 · Desarrollo organizacional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Carrera, sucesión y movilidad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l">
                        <a:lnSpc>
                          <a:spcPct val="90000"/>
                        </a:lnSpc>
                        <a:buNone/>
                      </a:pPr>
                      <a:r>
                        <a:rPr lang="es-CL" sz="850" b="1" dirty="0">
                          <a:solidFill>
                            <a:srgbClr val="3F3A33"/>
                          </a:solidFill>
                          <a:latin typeface="+mn-lt"/>
                          <a:cs typeface="+mn-lt"/>
                        </a:rPr>
                        <a:t>F14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Revisión de renta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P5 ·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Remuneración y compensación /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Dos subprocesos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P1 · Apertura del proceso| </a:t>
            </a:r>
            <a:r>
              <a:rPr lang="es-CL" sz="2000" dirty="0">
                <a:solidFill>
                  <a:srgbClr val="3F3A33"/>
                </a:solidFill>
                <a:latin typeface="+mn-lt"/>
                <a:cs typeface="+mn-lt"/>
              </a:rPr>
              <a:t>Necesidad estratégica y plan de dotación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7.1.1 · 7.1.2    ·    proceso confirmado</a:t>
            </a:r>
          </a:p>
        </p:txBody>
      </p:sp>
      <p:sp>
        <p:nvSpPr>
          <p:cNvPr id="11" name="Subproceso 11"/>
          <p:cNvSpPr/>
          <p:nvPr/>
        </p:nvSpPr>
        <p:spPr>
          <a:xfrm>
            <a:off x="630000"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F1</a:t>
            </a:r>
          </a:p>
          <a:p>
            <a:pPr algn="l">
              <a:lnSpc>
                <a:spcPct val="90000"/>
              </a:lnSpc>
              <a:spcBef>
                <a:spcPts val="200"/>
              </a:spcBef>
              <a:buNone/>
            </a:pPr>
            <a:r>
              <a:rPr lang="es-CL" sz="950" b="1" dirty="0">
                <a:solidFill>
                  <a:srgbClr val="FFFFFF"/>
                </a:solidFill>
                <a:latin typeface="+mn-lt"/>
                <a:cs typeface="+mn-lt"/>
              </a:rPr>
              <a:t>Identificar necesidades estratégicas de RRHH</a:t>
            </a:r>
          </a:p>
        </p:txBody>
      </p:sp>
      <p:sp>
        <p:nvSpPr>
          <p:cNvPr id="12" name="Chip 12"/>
          <p:cNvSpPr/>
          <p:nvPr/>
        </p:nvSpPr>
        <p:spPr>
          <a:xfrm>
            <a:off x="630000" y="1939332"/>
            <a:ext cx="3577783" cy="508000"/>
          </a:xfrm>
          <a:prstGeom prst="roundRect">
            <a:avLst>
              <a:gd name="adj" fmla="val 4000"/>
            </a:avLst>
          </a:prstGeom>
          <a:solidFill>
            <a:srgbClr val="EFE6D0"/>
          </a:solidFill>
          <a:ln w="9525" cap="flat">
            <a:solidFill>
              <a:srgbClr val="C9B98F"/>
            </a:solidFill>
          </a:ln>
        </p:spPr>
        <p:txBody>
          <a:bodyPr wrap="square" lIns="57150" tIns="57150" rIns="57150" bIns="57150" anchor="ctr">
            <a:noAutofit/>
          </a:bodyPr>
          <a:lstStyle/>
          <a:p>
            <a:pPr algn="l">
              <a:lnSpc>
                <a:spcPct val="90000"/>
              </a:lnSpc>
              <a:buNone/>
            </a:pPr>
            <a:r>
              <a:rPr lang="es-CL" sz="750" b="1" dirty="0">
                <a:solidFill>
                  <a:srgbClr val="3F3A33"/>
                </a:solidFill>
                <a:latin typeface="+mn-lt"/>
                <a:cs typeface="+mn-lt"/>
              </a:rPr>
              <a:t>1 · Identificar necesidades estratégicas de RRHH</a:t>
            </a:r>
          </a:p>
        </p:txBody>
      </p:sp>
      <p:sp>
        <p:nvSpPr>
          <p:cNvPr id="13" name="Subproceso 13"/>
          <p:cNvSpPr/>
          <p:nvPr/>
        </p:nvSpPr>
        <p:spPr>
          <a:xfrm>
            <a:off x="4307783"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F1</a:t>
            </a:r>
          </a:p>
          <a:p>
            <a:pPr algn="l">
              <a:lnSpc>
                <a:spcPct val="90000"/>
              </a:lnSpc>
              <a:spcBef>
                <a:spcPts val="200"/>
              </a:spcBef>
              <a:buNone/>
            </a:pPr>
            <a:r>
              <a:rPr lang="es-CL" sz="950" b="1" dirty="0">
                <a:solidFill>
                  <a:srgbClr val="FFFFFF"/>
                </a:solidFill>
                <a:latin typeface="+mn-lt"/>
                <a:cs typeface="+mn-lt"/>
              </a:rPr>
              <a:t>Estimar dotación futura</a:t>
            </a:r>
          </a:p>
        </p:txBody>
      </p:sp>
      <p:sp>
        <p:nvSpPr>
          <p:cNvPr id="14" name="Chip 14"/>
          <p:cNvSpPr/>
          <p:nvPr/>
        </p:nvSpPr>
        <p:spPr>
          <a:xfrm>
            <a:off x="4307783" y="1939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2 · Recopilar información de perfiles de cargo</a:t>
            </a:r>
          </a:p>
        </p:txBody>
      </p:sp>
      <p:sp>
        <p:nvSpPr>
          <p:cNvPr id="15" name="Chip 15"/>
          <p:cNvSpPr/>
          <p:nvPr/>
        </p:nvSpPr>
        <p:spPr>
          <a:xfrm>
            <a:off x="4307783" y="2497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3 · Gestionar familias de cargos y niveles de grado</a:t>
            </a:r>
          </a:p>
        </p:txBody>
      </p:sp>
      <p:sp>
        <p:nvSpPr>
          <p:cNvPr id="16" name="Chip 16"/>
          <p:cNvSpPr/>
          <p:nvPr/>
        </p:nvSpPr>
        <p:spPr>
          <a:xfrm>
            <a:off x="4307783" y="3055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4 · Evaluar la dotación actual</a:t>
            </a:r>
          </a:p>
        </p:txBody>
      </p:sp>
      <p:sp>
        <p:nvSpPr>
          <p:cNvPr id="17" name="Chip 17"/>
          <p:cNvSpPr/>
          <p:nvPr/>
        </p:nvSpPr>
        <p:spPr>
          <a:xfrm>
            <a:off x="4307783" y="3613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5 · Validar la estructura organizacional vigente</a:t>
            </a:r>
          </a:p>
        </p:txBody>
      </p:sp>
      <p:sp>
        <p:nvSpPr>
          <p:cNvPr id="18" name="Chip 18"/>
          <p:cNvSpPr/>
          <p:nvPr/>
        </p:nvSpPr>
        <p:spPr>
          <a:xfrm>
            <a:off x="4307783" y="4171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6 · Analizar cambios de estructura y proyectos</a:t>
            </a:r>
          </a:p>
        </p:txBody>
      </p:sp>
      <p:sp>
        <p:nvSpPr>
          <p:cNvPr id="19" name="Chip 19"/>
          <p:cNvSpPr/>
          <p:nvPr/>
        </p:nvSpPr>
        <p:spPr>
          <a:xfrm>
            <a:off x="4307783" y="4729332"/>
            <a:ext cx="3577783" cy="508000"/>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7 · Estimar dotación futura según proyecciones</a:t>
            </a:r>
          </a:p>
        </p:txBody>
      </p:sp>
      <p:sp>
        <p:nvSpPr>
          <p:cNvPr id="20" name="Subproceso 20"/>
          <p:cNvSpPr/>
          <p:nvPr/>
        </p:nvSpPr>
        <p:spPr>
          <a:xfrm>
            <a:off x="7985566"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F1</a:t>
            </a:r>
          </a:p>
          <a:p>
            <a:pPr algn="l">
              <a:lnSpc>
                <a:spcPct val="90000"/>
              </a:lnSpc>
              <a:spcBef>
                <a:spcPts val="200"/>
              </a:spcBef>
              <a:buNone/>
            </a:pPr>
            <a:r>
              <a:rPr lang="es-CL" sz="950" b="1" dirty="0">
                <a:solidFill>
                  <a:srgbClr val="FFFFFF"/>
                </a:solidFill>
                <a:latin typeface="+mn-lt"/>
                <a:cs typeface="+mn-lt"/>
              </a:rPr>
              <a:t>Diseñar plan de dotación / organigrama</a:t>
            </a:r>
          </a:p>
        </p:txBody>
      </p:sp>
      <p:sp>
        <p:nvSpPr>
          <p:cNvPr id="21" name="Chip 21"/>
          <p:cNvSpPr/>
          <p:nvPr/>
        </p:nvSpPr>
        <p:spPr>
          <a:xfrm>
            <a:off x="7985566" y="1939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8 · Diseñar plan de dotación con perfiles requeridos</a:t>
            </a:r>
          </a:p>
        </p:txBody>
      </p:sp>
      <p:sp>
        <p:nvSpPr>
          <p:cNvPr id="22" name="Chip 22"/>
          <p:cNvSpPr/>
          <p:nvPr/>
        </p:nvSpPr>
        <p:spPr>
          <a:xfrm>
            <a:off x="7985566" y="2497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9 · Validar plan con líderes de área</a:t>
            </a:r>
          </a:p>
        </p:txBody>
      </p:sp>
      <p:sp>
        <p:nvSpPr>
          <p:cNvPr id="23" name="Chip 23"/>
          <p:cNvSpPr/>
          <p:nvPr/>
        </p:nvSpPr>
        <p:spPr>
          <a:xfrm>
            <a:off x="7985566" y="3055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10 · Ajustar según feedback de líderes</a:t>
            </a:r>
          </a:p>
        </p:txBody>
      </p:sp>
      <p:sp>
        <p:nvSpPr>
          <p:cNvPr id="24" name="Chip 24"/>
          <p:cNvSpPr/>
          <p:nvPr/>
        </p:nvSpPr>
        <p:spPr>
          <a:xfrm>
            <a:off x="7985566" y="3613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11 · Emitir organigrama, perfil de cargo y costo organigrama</a:t>
            </a:r>
          </a:p>
        </p:txBody>
      </p:sp>
      <p:sp>
        <p:nvSpPr>
          <p:cNvPr id="25" name="Pendientes 25"/>
          <p:cNvSpPr/>
          <p:nvPr/>
        </p:nvSpPr>
        <p:spPr>
          <a:xfrm>
            <a:off x="630000" y="5327332"/>
            <a:ext cx="10933350" cy="403403"/>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55565A"/>
                </a:solidFill>
                <a:latin typeface="+mn-lt"/>
                <a:cs typeface="+mn-lt"/>
              </a:rPr>
              <a:t>·  F1 · caja 7: Caja que rotula el subproceso: confirmar si además es actividad de cierre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P1 · F1 · Cajas del flujo| </a:t>
            </a:r>
            <a:r>
              <a:rPr lang="es-CL" sz="2000" dirty="0">
                <a:solidFill>
                  <a:srgbClr val="A34100"/>
                </a:solidFill>
                <a:latin typeface="+mn-lt"/>
                <a:cs typeface="+mn-lt"/>
              </a:rPr>
              <a:t>Necesidad estratégica y plan de dotación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11 cajas numeradas  ·  1 decisión sin numerar  ·  proceso P1 · Necesidad estratégica y plan de dotación</a:t>
            </a:r>
          </a:p>
        </p:txBody>
      </p:sp>
      <p:graphicFrame>
        <p:nvGraphicFramePr>
          <p:cNvPr id="11" name="Tabla 11"/>
          <p:cNvGraphicFramePr>
            <a:graphicFrameLocks noGrp="1"/>
          </p:cNvGraphicFramePr>
          <p:nvPr/>
        </p:nvGraphicFramePr>
        <p:xfrm>
          <a:off x="630000" y="1475274"/>
          <a:ext cx="10933350" cy="2907587"/>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necesidades estratégicas de RRHH</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A34100"/>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necesidades estratégicas de RRHH — Subproceso sin actividades definidas todavía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Recopilar información de perfiles de cargo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familias de cargos y niveles de grado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Evaluar la dotación actual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Validar la estructura organizacional vigente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Analizar cambios de estructura y proyectos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Estimar dotación futura según proyecciones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Estimar dotación futura — Caja que rotula el subproceso: confirmar si además es actividad de cierre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con perfiles requeridos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Validar plan con líderes de área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Ajustar según feedback de líderes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¿Aprobado por Gerencia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204889">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Emitir organigrama, perfil de cargo y costo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P2 · Apertura del proceso| </a:t>
            </a:r>
            <a:r>
              <a:rPr lang="es-CL" sz="2000" dirty="0">
                <a:solidFill>
                  <a:srgbClr val="3F3A33"/>
                </a:solidFill>
                <a:latin typeface="+mn-lt"/>
                <a:cs typeface="+mn-lt"/>
              </a:rPr>
              <a:t>Valoración de cargo y banda de renta</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7.1.2.2 · 7.1.2.15 · 7.5.1    ·    proceso confirmado</a:t>
            </a:r>
          </a:p>
        </p:txBody>
      </p:sp>
      <p:sp>
        <p:nvSpPr>
          <p:cNvPr id="11" name="Subproceso 11"/>
          <p:cNvSpPr/>
          <p:nvPr/>
        </p:nvSpPr>
        <p:spPr>
          <a:xfrm>
            <a:off x="630000" y="1475274"/>
            <a:ext cx="2658337"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F2</a:t>
            </a:r>
          </a:p>
          <a:p>
            <a:pPr algn="l">
              <a:lnSpc>
                <a:spcPct val="90000"/>
              </a:lnSpc>
              <a:spcBef>
                <a:spcPts val="200"/>
              </a:spcBef>
              <a:buNone/>
            </a:pPr>
            <a:r>
              <a:rPr lang="es-CL" sz="950" b="1" dirty="0">
                <a:solidFill>
                  <a:srgbClr val="FFFFFF"/>
                </a:solidFill>
                <a:latin typeface="+mn-lt"/>
                <a:cs typeface="+mn-lt"/>
              </a:rPr>
              <a:t>Benchmark de remuneración</a:t>
            </a:r>
          </a:p>
        </p:txBody>
      </p:sp>
      <p:sp>
        <p:nvSpPr>
          <p:cNvPr id="12" name="Chip 12"/>
          <p:cNvSpPr/>
          <p:nvPr/>
        </p:nvSpPr>
        <p:spPr>
          <a:xfrm>
            <a:off x="630000" y="2071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1 · Cotizar y adquirir encuestas de remuneraciones de mercado</a:t>
            </a:r>
          </a:p>
        </p:txBody>
      </p:sp>
      <p:sp>
        <p:nvSpPr>
          <p:cNvPr id="13" name="Chip 13"/>
          <p:cNvSpPr/>
          <p:nvPr/>
        </p:nvSpPr>
        <p:spPr>
          <a:xfrm>
            <a:off x="630000" y="2629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2 · Recopilar datos del mercado laboral desde las encuestas</a:t>
            </a:r>
          </a:p>
        </p:txBody>
      </p:sp>
      <p:sp>
        <p:nvSpPr>
          <p:cNvPr id="14" name="Chip 14"/>
          <p:cNvSpPr/>
          <p:nvPr/>
        </p:nvSpPr>
        <p:spPr>
          <a:xfrm>
            <a:off x="630000" y="3187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3 · Job matching: comparar el cargo contra el mercado por rubro, nivel y años de experiencia</a:t>
            </a:r>
          </a:p>
        </p:txBody>
      </p:sp>
      <p:sp>
        <p:nvSpPr>
          <p:cNvPr id="15" name="Subproceso 15"/>
          <p:cNvSpPr/>
          <p:nvPr/>
        </p:nvSpPr>
        <p:spPr>
          <a:xfrm>
            <a:off x="3388337" y="1475274"/>
            <a:ext cx="2658337"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F2</a:t>
            </a:r>
          </a:p>
          <a:p>
            <a:pPr algn="l">
              <a:lnSpc>
                <a:spcPct val="90000"/>
              </a:lnSpc>
              <a:spcBef>
                <a:spcPts val="200"/>
              </a:spcBef>
              <a:buNone/>
            </a:pPr>
            <a:r>
              <a:rPr lang="es-CL" sz="950" b="1" dirty="0">
                <a:solidFill>
                  <a:srgbClr val="FFFFFF"/>
                </a:solidFill>
                <a:latin typeface="+mn-lt"/>
                <a:cs typeface="+mn-lt"/>
              </a:rPr>
              <a:t>Valoración del cargo y definición de bandas salariales</a:t>
            </a:r>
          </a:p>
        </p:txBody>
      </p:sp>
      <p:sp>
        <p:nvSpPr>
          <p:cNvPr id="16" name="Chip 16"/>
          <p:cNvSpPr/>
          <p:nvPr/>
        </p:nvSpPr>
        <p:spPr>
          <a:xfrm>
            <a:off x="3388337" y="2071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4 · Recopilar sueldos y beneficios internos actuales</a:t>
            </a:r>
          </a:p>
        </p:txBody>
      </p:sp>
      <p:sp>
        <p:nvSpPr>
          <p:cNvPr id="17" name="Chip 17"/>
          <p:cNvSpPr/>
          <p:nvPr/>
        </p:nvSpPr>
        <p:spPr>
          <a:xfrm>
            <a:off x="3388337" y="2629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5 · Valorar el cargo y asignarle un grado en la estructura</a:t>
            </a:r>
          </a:p>
        </p:txBody>
      </p:sp>
      <p:sp>
        <p:nvSpPr>
          <p:cNvPr id="18" name="Chip 18"/>
          <p:cNvSpPr/>
          <p:nvPr/>
        </p:nvSpPr>
        <p:spPr>
          <a:xfrm>
            <a:off x="3388337" y="3187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6 · Registrar el grado en el código de posición del cargo</a:t>
            </a:r>
          </a:p>
        </p:txBody>
      </p:sp>
      <p:sp>
        <p:nvSpPr>
          <p:cNvPr id="19" name="Subproceso 19"/>
          <p:cNvSpPr/>
          <p:nvPr/>
        </p:nvSpPr>
        <p:spPr>
          <a:xfrm>
            <a:off x="6146674" y="1475274"/>
            <a:ext cx="2658337"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F2</a:t>
            </a:r>
          </a:p>
          <a:p>
            <a:pPr algn="l">
              <a:lnSpc>
                <a:spcPct val="90000"/>
              </a:lnSpc>
              <a:spcBef>
                <a:spcPts val="200"/>
              </a:spcBef>
              <a:buNone/>
            </a:pPr>
            <a:r>
              <a:rPr lang="es-CL" sz="950" b="1" dirty="0">
                <a:solidFill>
                  <a:srgbClr val="FFFFFF"/>
                </a:solidFill>
                <a:latin typeface="+mn-lt"/>
                <a:cs typeface="+mn-lt"/>
              </a:rPr>
              <a:t>Administración periódica del marco de compensación</a:t>
            </a:r>
          </a:p>
        </p:txBody>
      </p:sp>
      <p:sp>
        <p:nvSpPr>
          <p:cNvPr id="20" name="Chip 20"/>
          <p:cNvSpPr/>
          <p:nvPr/>
        </p:nvSpPr>
        <p:spPr>
          <a:xfrm>
            <a:off x="6146674" y="2071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7 · Analizar bandas salariales</a:t>
            </a:r>
          </a:p>
        </p:txBody>
      </p:sp>
      <p:sp>
        <p:nvSpPr>
          <p:cNvPr id="21" name="Chip 21"/>
          <p:cNvSpPr/>
          <p:nvPr/>
        </p:nvSpPr>
        <p:spPr>
          <a:xfrm>
            <a:off x="6146674" y="2629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8 · Definir la banda de renta asociada a cada grado</a:t>
            </a:r>
          </a:p>
        </p:txBody>
      </p:sp>
      <p:sp>
        <p:nvSpPr>
          <p:cNvPr id="22" name="Chip 22"/>
          <p:cNvSpPr/>
          <p:nvPr/>
        </p:nvSpPr>
        <p:spPr>
          <a:xfrm>
            <a:off x="6146674" y="3187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9 · Revisar coherencia contra presupuesto disponible</a:t>
            </a:r>
          </a:p>
        </p:txBody>
      </p:sp>
      <p:sp>
        <p:nvSpPr>
          <p:cNvPr id="23" name="Subproceso 23"/>
          <p:cNvSpPr/>
          <p:nvPr/>
        </p:nvSpPr>
        <p:spPr>
          <a:xfrm>
            <a:off x="8905011" y="1475274"/>
            <a:ext cx="2658337"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4  ·  F2</a:t>
            </a:r>
          </a:p>
          <a:p>
            <a:pPr algn="l">
              <a:lnSpc>
                <a:spcPct val="90000"/>
              </a:lnSpc>
              <a:spcBef>
                <a:spcPts val="200"/>
              </a:spcBef>
              <a:buNone/>
            </a:pPr>
            <a:r>
              <a:rPr lang="es-CL" sz="950" b="1" dirty="0">
                <a:solidFill>
                  <a:srgbClr val="FFFFFF"/>
                </a:solidFill>
                <a:latin typeface="+mn-lt"/>
                <a:cs typeface="+mn-lt"/>
              </a:rPr>
              <a:t>Gobierno y publicación del marco de compensaciones</a:t>
            </a:r>
          </a:p>
        </p:txBody>
      </p:sp>
      <p:sp>
        <p:nvSpPr>
          <p:cNvPr id="24" name="Chip 24"/>
          <p:cNvSpPr/>
          <p:nvPr/>
        </p:nvSpPr>
        <p:spPr>
          <a:xfrm>
            <a:off x="8905011" y="2071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10 · Validar y aprobar la estructura de compensaciones</a:t>
            </a:r>
          </a:p>
        </p:txBody>
      </p:sp>
      <p:sp>
        <p:nvSpPr>
          <p:cNvPr id="25" name="Chip 25"/>
          <p:cNvSpPr/>
          <p:nvPr/>
        </p:nvSpPr>
        <p:spPr>
          <a:xfrm>
            <a:off x="8905011" y="2629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11 · Publicar esquema de compensaciones y rango de renta por cargo</a:t>
            </a:r>
          </a:p>
        </p:txBody>
      </p:sp>
      <p:sp>
        <p:nvSpPr>
          <p:cNvPr id="26" name="Chip 26"/>
          <p:cNvSpPr/>
          <p:nvPr/>
        </p:nvSpPr>
        <p:spPr>
          <a:xfrm>
            <a:off x="8905011" y="3187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12 · Revalorizar anualmente el valor en pesos de cada grado según IPC y ajustes internos</a:t>
            </a:r>
          </a:p>
        </p:txBody>
      </p:sp>
      <p:sp>
        <p:nvSpPr>
          <p:cNvPr id="27" name="Chip 27"/>
          <p:cNvSpPr/>
          <p:nvPr/>
        </p:nvSpPr>
        <p:spPr>
          <a:xfrm>
            <a:off x="8905011" y="3745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13 · Administrar el marco de compensaciones transversalmente en celulosa, madera y forestal, ajustando la magnitud</a:t>
            </a:r>
          </a:p>
        </p:txBody>
      </p:sp>
      <p:sp>
        <p:nvSpPr>
          <p:cNvPr id="28" name="Pendientes 28"/>
          <p:cNvSpPr/>
          <p:nvPr/>
        </p:nvSpPr>
        <p:spPr>
          <a:xfrm>
            <a:off x="630000" y="4343806"/>
            <a:ext cx="10933350" cy="640461"/>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Nombre del subproceso «Gobierno y publicación del marco de compensaciones» propuesto</a:t>
            </a:r>
          </a:p>
          <a:p>
            <a:pPr algn="l">
              <a:lnSpc>
                <a:spcPct val="90000"/>
              </a:lnSpc>
              <a:spcBef>
                <a:spcPts val="200"/>
              </a:spcBef>
              <a:buNone/>
            </a:pPr>
            <a:r>
              <a:rPr lang="es-CL" sz="850" dirty="0">
                <a:solidFill>
                  <a:srgbClr val="A34100"/>
                </a:solidFill>
                <a:latin typeface="+mn-lt"/>
                <a:cs typeface="+mn-lt"/>
              </a:rPr>
              <a:t>·  F2 · cajas 10–11: Nombre del subproceso propuesto según APQC 7.5.1.8 y 7.1.2.11</a:t>
            </a:r>
          </a:p>
          <a:p>
            <a:pPr algn="l">
              <a:lnSpc>
                <a:spcPct val="90000"/>
              </a:lnSpc>
              <a:spcBef>
                <a:spcPts val="200"/>
              </a:spcBef>
              <a:buNone/>
            </a:pPr>
            <a:r>
              <a:rPr lang="es-CL" sz="850" dirty="0">
                <a:solidFill>
                  <a:srgbClr val="A34100"/>
                </a:solidFill>
                <a:latin typeface="+mn-lt"/>
                <a:cs typeface="+mn-lt"/>
              </a:rPr>
              <a:t>·  F2 · cajas 12–13: Revisar con Isi: por contenido podría pertenecer al subproceso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P2 · F2 · Cajas del flujo| </a:t>
            </a:r>
            <a:r>
              <a:rPr lang="es-CL" sz="2000" dirty="0">
                <a:solidFill>
                  <a:srgbClr val="A34100"/>
                </a:solidFill>
                <a:latin typeface="+mn-lt"/>
                <a:cs typeface="+mn-lt"/>
              </a:rPr>
              <a:t>Valoración de cargo y banda de renta</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13 cajas numeradas  ·  sin decisiones  ·  proceso P2 · Valoración de cargo y banda de renta</a:t>
            </a:r>
          </a:p>
        </p:txBody>
      </p:sp>
      <p:graphicFrame>
        <p:nvGraphicFramePr>
          <p:cNvPr id="11" name="Tabla 11"/>
          <p:cNvGraphicFramePr>
            <a:graphicFrameLocks noGrp="1"/>
          </p:cNvGraphicFramePr>
          <p:nvPr/>
        </p:nvGraphicFramePr>
        <p:xfrm>
          <a:off x="630000" y="1475274"/>
          <a:ext cx="10933350" cy="3977044"/>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09474">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Cotizar y adquirir encuestas de remuneraciones de mercado</a:t>
                      </a:r>
                    </a:p>
                    <a:p>
                      <a:pPr algn="l">
                        <a:lnSpc>
                          <a:spcPct val="90000"/>
                        </a:lnSpc>
                        <a:spcBef>
                          <a:spcPts val="150"/>
                        </a:spcBef>
                        <a:buNone/>
                      </a:pPr>
                      <a:r>
                        <a:rPr lang="es-CL" sz="750" dirty="0">
                          <a:solidFill>
                            <a:srgbClr val="6B655C"/>
                          </a:solidFill>
                          <a:latin typeface="+mn-lt"/>
                          <a:cs typeface="+mn-lt"/>
                        </a:rPr>
                        <a:t>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Benchmark de remuneración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Recopilar datos del mercado laboral desde las encuestas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Benchmark de remuneración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Job matching: comparar el cargo contra el mercado por rubro, nivel y años de experiencia</a:t>
                      </a:r>
                    </a:p>
                    <a:p>
                      <a:pPr algn="l">
                        <a:lnSpc>
                          <a:spcPct val="90000"/>
                        </a:lnSpc>
                        <a:spcBef>
                          <a:spcPts val="150"/>
                        </a:spcBef>
                        <a:buNone/>
                      </a:pPr>
                      <a:r>
                        <a:rPr lang="es-CL" sz="750" dirty="0">
                          <a:solidFill>
                            <a:srgbClr val="6B655C"/>
                          </a:solidFill>
                          <a:latin typeface="+mn-lt"/>
                          <a:cs typeface="+mn-lt"/>
                        </a:rPr>
                        <a:t>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Benchmark de remuneración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Recopilar sueldos y beneficios internos actuales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Valoración del cargo y definición de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Valorar el cargo y asignarle un grado en la estructura</a:t>
                      </a:r>
                    </a:p>
                    <a:p>
                      <a:pPr algn="l">
                        <a:lnSpc>
                          <a:spcPct val="90000"/>
                        </a:lnSpc>
                        <a:spcBef>
                          <a:spcPts val="150"/>
                        </a:spcBef>
                        <a:buNone/>
                      </a:pPr>
                      <a:r>
                        <a:rPr lang="es-CL" sz="750" dirty="0">
                          <a:solidFill>
                            <a:srgbClr val="6B655C"/>
                          </a:solidFill>
                          <a:latin typeface="+mn-lt"/>
                          <a:cs typeface="+mn-lt"/>
                        </a:rPr>
                        <a:t>la valoración es del cargo, no de la persona · 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Valoración del cargo y definición de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Registrar el grado en el código de posición del cargo</a:t>
                      </a:r>
                    </a:p>
                    <a:p>
                      <a:pPr algn="l">
                        <a:lnSpc>
                          <a:spcPct val="90000"/>
                        </a:lnSpc>
                        <a:spcBef>
                          <a:spcPts val="150"/>
                        </a:spcBef>
                        <a:buNone/>
                      </a:pPr>
                      <a:r>
                        <a:rPr lang="es-CL" sz="750" dirty="0">
                          <a:solidFill>
                            <a:srgbClr val="6B655C"/>
                          </a:solidFill>
                          <a:latin typeface="+mn-lt"/>
                          <a:cs typeface="+mn-lt"/>
                        </a:rPr>
                        <a:t>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Valoración del cargo y definición de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Administración periódica del marco de compensación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Definir la banda de renta asociada a cada grado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Administración periódica del marco de compensación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coherencia contra presupuesto disponible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Administración periódica del marco de compensación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Validar y aprobar la estructura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Gobierno y publicación del marco de compensaciones — Nombre del subproceso propuesto según APQC 7.5.1.8 y 7.1.2.11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Publicar esquema de compensaciones y rango de renta por cargo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Gobierno y publicación del marco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Revalorizar anualmente el valor en pesos de cada grado según IPC y ajustes internos</a:t>
                      </a:r>
                    </a:p>
                    <a:p>
                      <a:pPr algn="l">
                        <a:lnSpc>
                          <a:spcPct val="90000"/>
                        </a:lnSpc>
                        <a:spcBef>
                          <a:spcPts val="150"/>
                        </a:spcBef>
                        <a:buNone/>
                      </a:pPr>
                      <a:r>
                        <a:rPr lang="es-CL" sz="750" dirty="0">
                          <a:solidFill>
                            <a:srgbClr val="6B655C"/>
                          </a:solidFill>
                          <a:latin typeface="+mn-lt"/>
                          <a:cs typeface="+mn-lt"/>
                        </a:rPr>
                        <a:t>el grado no cambia, cambia su valor · 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Gobierno y publicación del marco de compensaciones — Revisar con Isi: por contenido podría pertenecer al subproceso 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Administrar el marco de compensaciones transversalmente en celulosa, madera y forestal, ajustando la magnitud</a:t>
                      </a:r>
                    </a:p>
                    <a:p>
                      <a:pPr algn="l">
                        <a:lnSpc>
                          <a:spcPct val="90000"/>
                        </a:lnSpc>
                        <a:spcBef>
                          <a:spcPts val="150"/>
                        </a:spcBef>
                        <a:buNone/>
                      </a:pPr>
                      <a:r>
                        <a:rPr lang="es-CL" sz="750" dirty="0">
                          <a:solidFill>
                            <a:srgbClr val="6B655C"/>
                          </a:solidFill>
                          <a:latin typeface="+mn-lt"/>
                          <a:cs typeface="+mn-lt"/>
                        </a:rPr>
                        <a:t>SG Compensaciones y Beneficios · transversal a los 3 negocios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Gobierno y publicación del marco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Apertura del proceso| </a:t>
            </a:r>
            <a:r>
              <a:rPr lang="es-CL" sz="2000" dirty="0">
                <a:solidFill>
                  <a:srgbClr val="A34100"/>
                </a:solidFill>
                <a:latin typeface="+mn-lt"/>
                <a:cs typeface="+mn-lt"/>
              </a:rPr>
              <a:t>Atracción y selección de personas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7.2 · fases 3 a 10    ·    proceso propuesta    ·    El proceso padre de la fase 3 estaba sin definir: se propone este.</a:t>
            </a:r>
          </a:p>
        </p:txBody>
      </p:sp>
      <p:sp>
        <p:nvSpPr>
          <p:cNvPr id="11" name="Subproceso 11"/>
          <p:cNvSpPr/>
          <p:nvPr/>
        </p:nvSpPr>
        <p:spPr>
          <a:xfrm>
            <a:off x="630000" y="1475274"/>
            <a:ext cx="2106670"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F3</a:t>
            </a:r>
          </a:p>
          <a:p>
            <a:pPr algn="l">
              <a:lnSpc>
                <a:spcPct val="90000"/>
              </a:lnSpc>
              <a:spcBef>
                <a:spcPts val="200"/>
              </a:spcBef>
              <a:buNone/>
            </a:pPr>
            <a:r>
              <a:rPr lang="es-CL" sz="950" b="1" dirty="0">
                <a:solidFill>
                  <a:srgbClr val="FFFFFF"/>
                </a:solidFill>
                <a:latin typeface="+mn-lt"/>
                <a:cs typeface="+mn-lt"/>
              </a:rPr>
              <a:t>Requisición y apertura de vacante</a:t>
            </a:r>
          </a:p>
        </p:txBody>
      </p:sp>
      <p:sp>
        <p:nvSpPr>
          <p:cNvPr id="12" name="Chip 12"/>
          <p:cNvSpPr/>
          <p:nvPr/>
        </p:nvSpPr>
        <p:spPr>
          <a:xfrm>
            <a:off x="630000" y="2071806"/>
            <a:ext cx="2106670" cy="508000"/>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Cajas 1 a 15 sin agrupar todavía</a:t>
            </a:r>
          </a:p>
          <a:p>
            <a:pPr algn="l">
              <a:lnSpc>
                <a:spcPct val="90000"/>
              </a:lnSpc>
              <a:spcBef>
                <a:spcPts val="200"/>
              </a:spcBef>
              <a:buNone/>
            </a:pPr>
            <a:r>
              <a:rPr lang="es-CL" sz="650" dirty="0">
                <a:solidFill>
                  <a:srgbClr val="6B655C"/>
                </a:solidFill>
                <a:latin typeface="+mn-lt"/>
                <a:cs typeface="+mn-lt"/>
              </a:rPr>
              <a:t>15 cajas  ·  jerarquía interna pendiente</a:t>
            </a:r>
          </a:p>
        </p:txBody>
      </p:sp>
      <p:sp>
        <p:nvSpPr>
          <p:cNvPr id="13" name="Subproceso 13"/>
          <p:cNvSpPr/>
          <p:nvPr/>
        </p:nvSpPr>
        <p:spPr>
          <a:xfrm>
            <a:off x="283667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F4 · F5</a:t>
            </a:r>
          </a:p>
          <a:p>
            <a:pPr algn="l">
              <a:lnSpc>
                <a:spcPct val="90000"/>
              </a:lnSpc>
              <a:spcBef>
                <a:spcPts val="200"/>
              </a:spcBef>
              <a:buNone/>
            </a:pPr>
            <a:r>
              <a:rPr lang="es-CL" sz="950" b="1" dirty="0">
                <a:solidFill>
                  <a:srgbClr val="FFFFFF"/>
                </a:solidFill>
                <a:latin typeface="+mn-lt"/>
                <a:cs typeface="+mn-lt"/>
              </a:rPr>
              <a:t>Reclutamiento y preselección</a:t>
            </a:r>
          </a:p>
        </p:txBody>
      </p:sp>
      <p:sp>
        <p:nvSpPr>
          <p:cNvPr id="14" name="Chip 14"/>
          <p:cNvSpPr/>
          <p:nvPr/>
        </p:nvSpPr>
        <p:spPr>
          <a:xfrm>
            <a:off x="283667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Reclutamiento y selección</a:t>
            </a:r>
          </a:p>
          <a:p>
            <a:pPr algn="l">
              <a:lnSpc>
                <a:spcPct val="90000"/>
              </a:lnSpc>
              <a:spcBef>
                <a:spcPts val="200"/>
              </a:spcBef>
              <a:buNone/>
            </a:pPr>
            <a:r>
              <a:rPr lang="es-CL" sz="650" dirty="0">
                <a:solidFill>
                  <a:srgbClr val="6B655C"/>
                </a:solidFill>
                <a:latin typeface="+mn-lt"/>
                <a:cs typeface="+mn-lt"/>
              </a:rPr>
              <a:t>cajas 1–9  ·  9 tareas</a:t>
            </a:r>
          </a:p>
        </p:txBody>
      </p:sp>
      <p:sp>
        <p:nvSpPr>
          <p:cNvPr id="15" name="Chip 15"/>
          <p:cNvSpPr/>
          <p:nvPr/>
        </p:nvSpPr>
        <p:spPr>
          <a:xfrm>
            <a:off x="2836670" y="2629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Revisión del área solicitante</a:t>
            </a:r>
          </a:p>
          <a:p>
            <a:pPr algn="l">
              <a:lnSpc>
                <a:spcPct val="90000"/>
              </a:lnSpc>
              <a:spcBef>
                <a:spcPts val="200"/>
              </a:spcBef>
              <a:buNone/>
            </a:pPr>
            <a:r>
              <a:rPr lang="es-CL" sz="650" dirty="0">
                <a:solidFill>
                  <a:srgbClr val="6B655C"/>
                </a:solidFill>
                <a:latin typeface="+mn-lt"/>
                <a:cs typeface="+mn-lt"/>
              </a:rPr>
              <a:t>cajas 1–7  ·  7 tareas</a:t>
            </a:r>
          </a:p>
        </p:txBody>
      </p:sp>
      <p:sp>
        <p:nvSpPr>
          <p:cNvPr id="16" name="Subproceso 16"/>
          <p:cNvSpPr/>
          <p:nvPr/>
        </p:nvSpPr>
        <p:spPr>
          <a:xfrm>
            <a:off x="504334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F6 · F7</a:t>
            </a:r>
          </a:p>
          <a:p>
            <a:pPr algn="l">
              <a:lnSpc>
                <a:spcPct val="90000"/>
              </a:lnSpc>
              <a:spcBef>
                <a:spcPts val="200"/>
              </a:spcBef>
              <a:buNone/>
            </a:pPr>
            <a:r>
              <a:rPr lang="es-CL" sz="950" b="1" dirty="0">
                <a:solidFill>
                  <a:srgbClr val="FFFFFF"/>
                </a:solidFill>
                <a:latin typeface="+mn-lt"/>
                <a:cs typeface="+mn-lt"/>
              </a:rPr>
              <a:t>Evaluación y selección de candidatos</a:t>
            </a:r>
          </a:p>
        </p:txBody>
      </p:sp>
      <p:sp>
        <p:nvSpPr>
          <p:cNvPr id="17" name="Chip 17"/>
          <p:cNvSpPr/>
          <p:nvPr/>
        </p:nvSpPr>
        <p:spPr>
          <a:xfrm>
            <a:off x="504334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Evaluación de selección · psicolaboral</a:t>
            </a:r>
          </a:p>
          <a:p>
            <a:pPr algn="l">
              <a:lnSpc>
                <a:spcPct val="90000"/>
              </a:lnSpc>
              <a:spcBef>
                <a:spcPts val="200"/>
              </a:spcBef>
              <a:buNone/>
            </a:pPr>
            <a:r>
              <a:rPr lang="es-CL" sz="650" dirty="0">
                <a:solidFill>
                  <a:srgbClr val="6B655C"/>
                </a:solidFill>
                <a:latin typeface="+mn-lt"/>
                <a:cs typeface="+mn-lt"/>
              </a:rPr>
              <a:t>cajas 1–11  ·  11 tareas</a:t>
            </a:r>
          </a:p>
        </p:txBody>
      </p:sp>
      <p:sp>
        <p:nvSpPr>
          <p:cNvPr id="18" name="Chip 18"/>
          <p:cNvSpPr/>
          <p:nvPr/>
        </p:nvSpPr>
        <p:spPr>
          <a:xfrm>
            <a:off x="5043340" y="2629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Evaluación del área solicitante</a:t>
            </a:r>
          </a:p>
          <a:p>
            <a:pPr algn="l">
              <a:lnSpc>
                <a:spcPct val="90000"/>
              </a:lnSpc>
              <a:spcBef>
                <a:spcPts val="200"/>
              </a:spcBef>
              <a:buNone/>
            </a:pPr>
            <a:r>
              <a:rPr lang="es-CL" sz="650" dirty="0">
                <a:solidFill>
                  <a:srgbClr val="6B655C"/>
                </a:solidFill>
                <a:latin typeface="+mn-lt"/>
                <a:cs typeface="+mn-lt"/>
              </a:rPr>
              <a:t>cajas 1–10  ·  10 tareas</a:t>
            </a:r>
          </a:p>
        </p:txBody>
      </p:sp>
      <p:sp>
        <p:nvSpPr>
          <p:cNvPr id="19" name="Subproceso 19"/>
          <p:cNvSpPr/>
          <p:nvPr/>
        </p:nvSpPr>
        <p:spPr>
          <a:xfrm>
            <a:off x="725001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4  ·  F8 · F9</a:t>
            </a:r>
          </a:p>
          <a:p>
            <a:pPr algn="l">
              <a:lnSpc>
                <a:spcPct val="90000"/>
              </a:lnSpc>
              <a:spcBef>
                <a:spcPts val="200"/>
              </a:spcBef>
              <a:buNone/>
            </a:pPr>
            <a:r>
              <a:rPr lang="es-CL" sz="950" b="1" dirty="0">
                <a:solidFill>
                  <a:srgbClr val="FFFFFF"/>
                </a:solidFill>
                <a:latin typeface="+mn-lt"/>
                <a:cs typeface="+mn-lt"/>
              </a:rPr>
              <a:t>Verificación preocupacional y contratación</a:t>
            </a:r>
          </a:p>
        </p:txBody>
      </p:sp>
      <p:sp>
        <p:nvSpPr>
          <p:cNvPr id="20" name="Chip 20"/>
          <p:cNvSpPr/>
          <p:nvPr/>
        </p:nvSpPr>
        <p:spPr>
          <a:xfrm>
            <a:off x="725001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Examen preocupacional</a:t>
            </a:r>
          </a:p>
          <a:p>
            <a:pPr algn="l">
              <a:lnSpc>
                <a:spcPct val="90000"/>
              </a:lnSpc>
              <a:spcBef>
                <a:spcPts val="200"/>
              </a:spcBef>
              <a:buNone/>
            </a:pPr>
            <a:r>
              <a:rPr lang="es-CL" sz="650" dirty="0">
                <a:solidFill>
                  <a:srgbClr val="6B655C"/>
                </a:solidFill>
                <a:latin typeface="+mn-lt"/>
                <a:cs typeface="+mn-lt"/>
              </a:rPr>
              <a:t>cajas 1–10  ·  10 tareas</a:t>
            </a:r>
          </a:p>
        </p:txBody>
      </p:sp>
      <p:sp>
        <p:nvSpPr>
          <p:cNvPr id="21" name="Chip 21"/>
          <p:cNvSpPr/>
          <p:nvPr/>
        </p:nvSpPr>
        <p:spPr>
          <a:xfrm>
            <a:off x="7250010" y="2629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Contratación y carta oferta</a:t>
            </a:r>
          </a:p>
          <a:p>
            <a:pPr algn="l">
              <a:lnSpc>
                <a:spcPct val="90000"/>
              </a:lnSpc>
              <a:spcBef>
                <a:spcPts val="200"/>
              </a:spcBef>
              <a:buNone/>
            </a:pPr>
            <a:r>
              <a:rPr lang="es-CL" sz="650" dirty="0">
                <a:solidFill>
                  <a:srgbClr val="6B655C"/>
                </a:solidFill>
                <a:latin typeface="+mn-lt"/>
                <a:cs typeface="+mn-lt"/>
              </a:rPr>
              <a:t>cajas 1–16  ·  16 tareas</a:t>
            </a:r>
          </a:p>
        </p:txBody>
      </p:sp>
      <p:sp>
        <p:nvSpPr>
          <p:cNvPr id="22" name="Subproceso 22"/>
          <p:cNvSpPr/>
          <p:nvPr/>
        </p:nvSpPr>
        <p:spPr>
          <a:xfrm>
            <a:off x="945668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5  ·  F10</a:t>
            </a:r>
          </a:p>
          <a:p>
            <a:pPr algn="l">
              <a:lnSpc>
                <a:spcPct val="90000"/>
              </a:lnSpc>
              <a:spcBef>
                <a:spcPts val="200"/>
              </a:spcBef>
              <a:buNone/>
            </a:pPr>
            <a:r>
              <a:rPr lang="es-CL" sz="950" b="1" dirty="0">
                <a:solidFill>
                  <a:srgbClr val="FFFFFF"/>
                </a:solidFill>
                <a:latin typeface="+mn-lt"/>
                <a:cs typeface="+mn-lt"/>
              </a:rPr>
              <a:t>Incorporación y onboarding</a:t>
            </a:r>
          </a:p>
        </p:txBody>
      </p:sp>
      <p:sp>
        <p:nvSpPr>
          <p:cNvPr id="23" name="Chip 23"/>
          <p:cNvSpPr/>
          <p:nvPr/>
        </p:nvSpPr>
        <p:spPr>
          <a:xfrm>
            <a:off x="945668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Onboarding e incorporación</a:t>
            </a:r>
          </a:p>
          <a:p>
            <a:pPr algn="l">
              <a:lnSpc>
                <a:spcPct val="90000"/>
              </a:lnSpc>
              <a:spcBef>
                <a:spcPts val="200"/>
              </a:spcBef>
              <a:buNone/>
            </a:pPr>
            <a:r>
              <a:rPr lang="es-CL" sz="650" dirty="0">
                <a:solidFill>
                  <a:srgbClr val="6B655C"/>
                </a:solidFill>
                <a:latin typeface="+mn-lt"/>
                <a:cs typeface="+mn-lt"/>
              </a:rPr>
              <a:t>cajas 1–8  ·  8 tareas</a:t>
            </a:r>
          </a:p>
        </p:txBody>
      </p:sp>
      <p:sp>
        <p:nvSpPr>
          <p:cNvPr id="24" name="Pendientes 24"/>
          <p:cNvSpPr/>
          <p:nvPr/>
        </p:nvSpPr>
        <p:spPr>
          <a:xfrm>
            <a:off x="630000" y="3227806"/>
            <a:ext cx="10933350" cy="877519"/>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El proceso «Atracción y selección de personas» es una propuesta: APQC 7.2 · fases 3 a 10</a:t>
            </a:r>
          </a:p>
          <a:p>
            <a:pPr algn="l">
              <a:lnSpc>
                <a:spcPct val="90000"/>
              </a:lnSpc>
              <a:spcBef>
                <a:spcPts val="200"/>
              </a:spcBef>
              <a:buNone/>
            </a:pPr>
            <a:r>
              <a:rPr lang="es-CL" sz="850" dirty="0">
                <a:solidFill>
                  <a:srgbClr val="A34100"/>
                </a:solidFill>
                <a:latin typeface="+mn-lt"/>
                <a:cs typeface="+mn-lt"/>
              </a:rPr>
              <a:t>·  Nombre del subproceso «Reclutamiento y preselección» propuesto</a:t>
            </a:r>
          </a:p>
          <a:p>
            <a:pPr algn="l">
              <a:lnSpc>
                <a:spcPct val="90000"/>
              </a:lnSpc>
              <a:spcBef>
                <a:spcPts val="200"/>
              </a:spcBef>
              <a:buNone/>
            </a:pPr>
            <a:r>
              <a:rPr lang="es-CL" sz="850" dirty="0">
                <a:solidFill>
                  <a:srgbClr val="A34100"/>
                </a:solidFill>
                <a:latin typeface="+mn-lt"/>
                <a:cs typeface="+mn-lt"/>
              </a:rPr>
              <a:t>·  Nombre del subproceso «Evaluación y selección de candidatos» propuesto</a:t>
            </a:r>
          </a:p>
          <a:p>
            <a:pPr algn="l">
              <a:lnSpc>
                <a:spcPct val="90000"/>
              </a:lnSpc>
              <a:spcBef>
                <a:spcPts val="200"/>
              </a:spcBef>
              <a:buNone/>
            </a:pPr>
            <a:r>
              <a:rPr lang="es-CL" sz="850" dirty="0">
                <a:solidFill>
                  <a:srgbClr val="A34100"/>
                </a:solidFill>
                <a:latin typeface="+mn-lt"/>
                <a:cs typeface="+mn-lt"/>
              </a:rPr>
              <a:t>·  Nombre del subproceso «Verificación preocupacional y contratación» propuesto</a:t>
            </a:r>
          </a:p>
          <a:p>
            <a:pPr algn="l">
              <a:lnSpc>
                <a:spcPct val="90000"/>
              </a:lnSpc>
              <a:spcBef>
                <a:spcPts val="200"/>
              </a:spcBef>
              <a:buNone/>
            </a:pPr>
            <a:r>
              <a:rPr lang="es-CL" sz="850" dirty="0">
                <a:solidFill>
                  <a:srgbClr val="55565A"/>
                </a:solidFill>
                <a:latin typeface="+mn-lt"/>
                <a:cs typeface="+mn-lt"/>
              </a:rPr>
              <a:t>·  y 2 definiciones más: ver «Observaciones y tensiones detectadas»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F3 · Cajas del flujo| </a:t>
            </a:r>
            <a:r>
              <a:rPr lang="es-CL" sz="2000" dirty="0">
                <a:solidFill>
                  <a:srgbClr val="A34100"/>
                </a:solidFill>
                <a:latin typeface="+mn-lt"/>
                <a:cs typeface="+mn-lt"/>
              </a:rPr>
              <a:t>Requisición y apertura de vacante</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15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2715541"/>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Verificar disponibilidad de la vacante con el área de Personas</a:t>
                      </a:r>
                    </a:p>
                    <a:p>
                      <a:pPr algn="l">
                        <a:lnSpc>
                          <a:spcPct val="90000"/>
                        </a:lnSpc>
                        <a:spcBef>
                          <a:spcPts val="150"/>
                        </a:spcBef>
                        <a:buNone/>
                      </a:pPr>
                      <a:r>
                        <a:rPr lang="es-CL" sz="750" dirty="0">
                          <a:solidFill>
                            <a:srgbClr val="6B655C"/>
                          </a:solidFill>
                          <a:latin typeface="+mn-lt"/>
                          <a:cs typeface="+mn-lt"/>
                        </a:rPr>
                        <a:t>Área Solicitante · garantiza Generalista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 — Definir qué cajas son actividades y qué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Comunicar el requerimiento a EP y A&amp;S: cargo y N° de vacantes</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Recibir la necesidad de personal</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Priorizar la necesidad según urgencia en reunión de inicio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428003">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Disponer rango de renta, posición vacante en organigrama, perfil de cargo, condiciones contractuales, movilización, turnos y horarios</a:t>
                      </a:r>
                    </a:p>
                    <a:p>
                      <a:pPr algn="l">
                        <a:lnSpc>
                          <a:spcPct val="90000"/>
                        </a:lnSpc>
                        <a:spcBef>
                          <a:spcPts val="150"/>
                        </a:spcBef>
                        <a:buNone/>
                      </a:pPr>
                      <a:r>
                        <a:rPr lang="es-CL" sz="750" dirty="0">
                          <a:solidFill>
                            <a:srgbClr val="6B655C"/>
                          </a:solidFill>
                          <a:latin typeface="+mn-lt"/>
                          <a:cs typeface="+mn-lt"/>
                        </a:rPr>
                        <a:t>EP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Abrir el proceso desde el organigrama de posiciones en SSFF</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Aprobar incorporando los apartados de su área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Completar los detalles de publicación</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F3 · Cajas del flujo| </a:t>
            </a:r>
            <a:r>
              <a:rPr lang="es-CL" sz="2000" dirty="0">
                <a:solidFill>
                  <a:srgbClr val="A34100"/>
                </a:solidFill>
                <a:latin typeface="+mn-lt"/>
                <a:cs typeface="+mn-lt"/>
              </a:rPr>
              <a:t>Requisición y apertura de vacante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2834070"/>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Definir fuentes de búsqueda</a:t>
                      </a:r>
                    </a:p>
                    <a:p>
                      <a:pPr algn="l">
                        <a:lnSpc>
                          <a:spcPct val="90000"/>
                        </a:lnSpc>
                        <a:spcBef>
                          <a:spcPts val="150"/>
                        </a:spcBef>
                        <a:buNone/>
                      </a:pPr>
                      <a:r>
                        <a:rPr lang="es-CL" sz="750" dirty="0">
                          <a:solidFill>
                            <a:srgbClr val="6B655C"/>
                          </a:solidFill>
                          <a:latin typeface="+mn-lt"/>
                          <a:cs typeface="+mn-lt"/>
                        </a:rPr>
                        <a:t>Área Solicitante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Definir modalidad de publicación: interna, externa o mixta</a:t>
                      </a:r>
                    </a:p>
                    <a:p>
                      <a:pPr algn="l">
                        <a:lnSpc>
                          <a:spcPct val="90000"/>
                        </a:lnSpc>
                        <a:spcBef>
                          <a:spcPts val="150"/>
                        </a:spcBef>
                        <a:buNone/>
                      </a:pPr>
                      <a:r>
                        <a:rPr lang="es-CL" sz="750" dirty="0">
                          <a:solidFill>
                            <a:srgbClr val="6B655C"/>
                          </a:solidFill>
                          <a:latin typeface="+mn-lt"/>
                          <a:cs typeface="+mn-lt"/>
                        </a:rPr>
                        <a:t>Área Solicitante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428003">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Definir la oferta a publicar en portal ARAUCO y plataformas, considerando atracción de mujeres y PcD</a:t>
                      </a:r>
                    </a:p>
                    <a:p>
                      <a:pPr algn="l">
                        <a:lnSpc>
                          <a:spcPct val="90000"/>
                        </a:lnSpc>
                        <a:spcBef>
                          <a:spcPts val="150"/>
                        </a:spcBef>
                        <a:buNone/>
                      </a:pPr>
                      <a:r>
                        <a:rPr lang="es-CL" sz="750" dirty="0">
                          <a:solidFill>
                            <a:srgbClr val="6B655C"/>
                          </a:solidFill>
                          <a:latin typeface="+mn-lt"/>
                          <a:cs typeface="+mn-lt"/>
                        </a:rPr>
                        <a:t>Área Solicitante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23418">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Enviar la necesidad a las fuentes de búsqueda: LinkedIn y otros portales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¿Proceso masivo o individual?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Asegurar plazos por zona/planta, N° y disponibilidad de vacantes, compensaciones, perfiles de cargo y propuesta de valor</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 — Definir qué cajas son actividades y qué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Obtener validación de Operaciones y de EP</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09474">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Coordinar reunión semanal de seguimiento</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F4 · Cajas del flujo| </a:t>
            </a:r>
            <a:r>
              <a:rPr lang="es-CL" sz="2000" dirty="0">
                <a:solidFill>
                  <a:srgbClr val="A34100"/>
                </a:solidFill>
                <a:latin typeface="+mn-lt"/>
                <a:cs typeface="+mn-lt"/>
              </a:rPr>
              <a:t>Reclutamiento y filtro curricular</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9 cajas numeradas  ·  sin decisiones  ·  proceso P3 · Atracción y selección de personas</a:t>
            </a:r>
          </a:p>
        </p:txBody>
      </p:sp>
      <p:graphicFrame>
        <p:nvGraphicFramePr>
          <p:cNvPr id="11" name="Tabla 11"/>
          <p:cNvGraphicFramePr>
            <a:graphicFrameLocks noGrp="1"/>
          </p:cNvGraphicFramePr>
          <p:nvPr/>
        </p:nvGraphicFramePr>
        <p:xfrm>
          <a:off x="630000" y="1475274"/>
          <a:ext cx="10933350" cy="2801901"/>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Compliance: rol supervisor y extranjero</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 — Tareas sujetas a revisión: algunas pueden ser demasiado operativas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antecedente Ex ARAUCO</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condición de extranjero y visa</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el perfil de cargo con el Área Solicitante si es necesario</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Abrir el proceso en plataforma SSFF</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Publicar en portal interno y portales externos de empleo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Recepcionar postulaciones a través del portal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Aplicar filtro curricular intencionando candidatas mujeres y PcD</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Dar acceso a la Jefatura Solicitante a los CV</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F5 · Cajas del flujo| </a:t>
            </a:r>
            <a:r>
              <a:rPr lang="es-CL" sz="2000" dirty="0">
                <a:solidFill>
                  <a:srgbClr val="A34100"/>
                </a:solidFill>
                <a:latin typeface="+mn-lt"/>
                <a:cs typeface="+mn-lt"/>
              </a:rPr>
              <a:t>Revisión del área solicitante</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7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2729485"/>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los CV según los requisitos del perfil de cargo</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Revisión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Preseleccionar máximo 6 perfiles, intencionando mujeres y PcD</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¿Algún perfil se ajusta?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Acordar una segunda entrega de filtro CV</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Comunicar a A&amp;S los candidatos que avanzan</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Notificar a la persona si pasó o no a la siguiente etapa</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Notificar y agradecer a los no seleccionados por filtro de jefatura</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En masivos, avanzar sin revisión de jefatura, previa revisión telefónica de antecedentes</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F6 · Cajas del flujo| </a:t>
            </a:r>
            <a:r>
              <a:rPr lang="es-CL" sz="2000" dirty="0">
                <a:solidFill>
                  <a:srgbClr val="A34100"/>
                </a:solidFill>
                <a:latin typeface="+mn-lt"/>
                <a:cs typeface="+mn-lt"/>
              </a:rPr>
              <a:t>Evaluación área selección · psicolaboral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11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3967381"/>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Contactar a los candidatos preseleccionados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Aplicar entrevista psicolaboral</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encuesta HAL</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Aplicar pruebas psicométricas</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pruebas técnicas</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Levantar referencias</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Resultado: ¿Recomendable?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Elaborar informe de resultados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Cargar los resultados en SSFF</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Retroalimentar al Área Solicitante</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Notificar a los postulantes descartados su no continuidad</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No Recomendable: no compartir el informe psicolaboral, entregar feedback verbal</a:t>
                      </a:r>
                    </a:p>
                    <a:p>
                      <a:pPr algn="l">
                        <a:lnSpc>
                          <a:spcPct val="90000"/>
                        </a:lnSpc>
                        <a:spcBef>
                          <a:spcPts val="150"/>
                        </a:spcBef>
                        <a:buNone/>
                      </a:pPr>
                      <a:r>
                        <a:rPr lang="es-CL" sz="750" dirty="0">
                          <a:solidFill>
                            <a:srgbClr val="6F5800"/>
                          </a:solidFill>
                          <a:latin typeface="+mn-lt"/>
                          <a:cs typeface="+mn-lt"/>
                        </a:rPr>
                        <a:t>Específico de Arauco · 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F7 · Cajas del flujo| </a:t>
            </a:r>
            <a:r>
              <a:rPr lang="es-CL" sz="2000" dirty="0">
                <a:solidFill>
                  <a:srgbClr val="A34100"/>
                </a:solidFill>
                <a:latin typeface="+mn-lt"/>
                <a:cs typeface="+mn-lt"/>
              </a:rPr>
              <a:t>Evaluación área solicitante · entrevistas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10 cajas numeradas  ·  2 decisiones sin numerar  ·  proceso P3 · Atracción y selección de personas</a:t>
            </a:r>
          </a:p>
        </p:txBody>
      </p:sp>
      <p:graphicFrame>
        <p:nvGraphicFramePr>
          <p:cNvPr id="11" name="Tabla 11"/>
          <p:cNvGraphicFramePr>
            <a:graphicFrameLocks noGrp="1"/>
          </p:cNvGraphicFramePr>
          <p:nvPr/>
        </p:nvGraphicFramePr>
        <p:xfrm>
          <a:off x="630000" y="1475274"/>
          <a:ext cx="10933350" cy="3562985"/>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Entregar la pauta de entrevista a la jefatura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la entrevista con el jefe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Realizar como mínimo una entrevista</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Añadir una instancia de entrevista de la jefatura siguiente en la línea</a:t>
                      </a:r>
                    </a:p>
                    <a:p>
                      <a:pPr algn="l">
                        <a:lnSpc>
                          <a:spcPct val="90000"/>
                        </a:lnSpc>
                        <a:spcBef>
                          <a:spcPts val="150"/>
                        </a:spcBef>
                        <a:buNone/>
                      </a:pPr>
                      <a:r>
                        <a:rPr lang="es-CL" sz="750" dirty="0">
                          <a:solidFill>
                            <a:srgbClr val="6B655C"/>
                          </a:solidFill>
                          <a:latin typeface="+mn-lt"/>
                          <a:cs typeface="+mn-lt"/>
                        </a:rPr>
                        <a:t>opcional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Evaluar según la pauta o los criterios de la jefatura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Retroalimentar lo observado e indicar si avanza</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¿Avanza?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Señalar la razón de la no continuidad</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¿Es PcD recomendable?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Contactar al equipo de Inclusión</a:t>
                      </a:r>
                    </a:p>
                    <a:p>
                      <a:pPr algn="l">
                        <a:lnSpc>
                          <a:spcPct val="90000"/>
                        </a:lnSpc>
                        <a:spcBef>
                          <a:spcPts val="150"/>
                        </a:spcBef>
                        <a:buNone/>
                      </a:pPr>
                      <a:r>
                        <a:rPr lang="es-CL" sz="750" dirty="0">
                          <a:solidFill>
                            <a:srgbClr val="6F5800"/>
                          </a:solidFill>
                          <a:latin typeface="+mn-lt"/>
                          <a:cs typeface="+mn-lt"/>
                        </a:rPr>
                        <a:t>Específico de Arauco · Equipo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análisis funcional y análisis del puesto de trabajo</a:t>
                      </a:r>
                    </a:p>
                    <a:p>
                      <a:pPr algn="l">
                        <a:lnSpc>
                          <a:spcPct val="90000"/>
                        </a:lnSpc>
                        <a:spcBef>
                          <a:spcPts val="150"/>
                        </a:spcBef>
                        <a:buNone/>
                      </a:pPr>
                      <a:r>
                        <a:rPr lang="es-CL" sz="750" dirty="0">
                          <a:solidFill>
                            <a:srgbClr val="6F5800"/>
                          </a:solidFill>
                          <a:latin typeface="+mn-lt"/>
                          <a:cs typeface="+mn-lt"/>
                        </a:rPr>
                        <a:t>Específico de Arauco · Terapeuta 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Definir el candidato seleccionado para examen médico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F8 · Cajas del flujo| </a:t>
            </a:r>
            <a:r>
              <a:rPr lang="es-CL" sz="2000" dirty="0">
                <a:solidFill>
                  <a:srgbClr val="A34100"/>
                </a:solidFill>
                <a:latin typeface="+mn-lt"/>
                <a:cs typeface="+mn-lt"/>
              </a:rPr>
              <a:t>Examen preocupacional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10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3030397"/>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¿Oficina/masivo o planta/zona?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los exámenes de cargos de oficina y procesos masivos</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Coordinar los exámenes de planta y zona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con los laboratorios externos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Citar a los candidatos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Descargar los resultados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y gestionar el resultado de los exámenes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Validar los resultados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Cargar los resultados en el perfil de la persona en SSFF</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Notificar al Área Solicitante para posicionar a la persona en el sistema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PcD: reunión de retroalimentación con Área Solicitante, SSO y DEI para informar observaciones y determinar ajustes necesarios</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F9 · Cajas del flujo| </a:t>
            </a:r>
            <a:r>
              <a:rPr lang="es-CL" sz="2000" dirty="0">
                <a:solidFill>
                  <a:srgbClr val="A34100"/>
                </a:solidFill>
                <a:latin typeface="+mn-lt"/>
                <a:cs typeface="+mn-lt"/>
              </a:rPr>
              <a:t>Flujo de contratación y carta oferta</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16 cajas numeradas  ·  2 decisiones sin numerar  ·  proceso P3 · Atracción y selección de personas</a:t>
            </a:r>
          </a:p>
        </p:txBody>
      </p:sp>
      <p:graphicFrame>
        <p:nvGraphicFramePr>
          <p:cNvPr id="11" name="Tabla 11"/>
          <p:cNvGraphicFramePr>
            <a:graphicFrameLocks noGrp="1"/>
          </p:cNvGraphicFramePr>
          <p:nvPr/>
        </p:nvGraphicFramePr>
        <p:xfrm>
          <a:off x="630000" y="1475274"/>
          <a:ext cx="10933350" cy="2811564"/>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Posicionar al candidato para el proceso de contratación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Solicitar la documentación para el contrato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Cargar los documentos al sistema</a:t>
                      </a:r>
                    </a:p>
                    <a:p>
                      <a:pPr algn="l">
                        <a:lnSpc>
                          <a:spcPct val="90000"/>
                        </a:lnSpc>
                        <a:spcBef>
                          <a:spcPts val="150"/>
                        </a:spcBef>
                        <a:buNone/>
                      </a:pPr>
                      <a:r>
                        <a:rPr lang="es-CL" sz="750" dirty="0">
                          <a:solidFill>
                            <a:srgbClr val="6B655C"/>
                          </a:solidFill>
                          <a:latin typeface="+mn-lt"/>
                          <a:cs typeface="+mn-lt"/>
                        </a:rPr>
                        <a:t>el propio postulante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Preparar la propuesta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Validar la propuesta de renta entre Generalista y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Desatar la cadena de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Generar el flujo de contratación</a:t>
                      </a:r>
                    </a:p>
                    <a:p>
                      <a:pPr algn="l">
                        <a:lnSpc>
                          <a:spcPct val="90000"/>
                        </a:lnSpc>
                        <a:spcBef>
                          <a:spcPts val="150"/>
                        </a:spcBef>
                        <a:buNone/>
                      </a:pPr>
                      <a:r>
                        <a:rPr lang="es-CL" sz="750" dirty="0">
                          <a:solidFill>
                            <a:srgbClr val="6B655C"/>
                          </a:solidFill>
                          <a:latin typeface="+mn-lt"/>
                          <a:cs typeface="+mn-lt"/>
                        </a:rPr>
                        <a:t>Área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Generar la carta oferta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¿Individual o masivo?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Entregar la carta oferta</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F9 · Cajas del flujo| </a:t>
            </a:r>
            <a:r>
              <a:rPr lang="es-CL" sz="2000" dirty="0">
                <a:solidFill>
                  <a:srgbClr val="A34100"/>
                </a:solidFill>
                <a:latin typeface="+mn-lt"/>
                <a:cs typeface="+mn-lt"/>
              </a:rPr>
              <a:t>Flujo de contratación y carta oferta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2624900"/>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09474">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Generar y entregar la carta oferta</a:t>
                      </a:r>
                    </a:p>
                    <a:p>
                      <a:pPr algn="l">
                        <a:lnSpc>
                          <a:spcPct val="90000"/>
                        </a:lnSpc>
                        <a:spcBef>
                          <a:spcPts val="150"/>
                        </a:spcBef>
                        <a:buNone/>
                      </a:pPr>
                      <a:r>
                        <a:rPr lang="es-CL" sz="750" dirty="0">
                          <a:solidFill>
                            <a:srgbClr val="6B655C"/>
                          </a:solidFill>
                          <a:latin typeface="+mn-lt"/>
                          <a:cs typeface="+mn-lt"/>
                        </a:rPr>
                        <a:t>Área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¿Acepta la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si es factible una contraoferta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Rechazo reiterativo: informar al Área Solicitante y tomar decisiones para resguardar la continuidad operacional</a:t>
                      </a:r>
                    </a:p>
                    <a:p>
                      <a:pPr algn="l">
                        <a:lnSpc>
                          <a:spcPct val="90000"/>
                        </a:lnSpc>
                        <a:spcBef>
                          <a:spcPts val="150"/>
                        </a:spcBef>
                        <a:buNone/>
                      </a:pPr>
                      <a:r>
                        <a:rPr lang="es-CL" sz="750" dirty="0">
                          <a:solidFill>
                            <a:srgbClr val="6B655C"/>
                          </a:solidFill>
                          <a:latin typeface="+mn-lt"/>
                          <a:cs typeface="+mn-lt"/>
                        </a:rPr>
                        <a:t>Personas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Registrar al trabajador en los sistemas internos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Firmar el contrato de trabajo</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Generar credenciales y accesos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Generar el cierre del proceso de selección en SSFF, módulo Reclutamiento e Incorporación de Personal</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F10 · Cajas del flujo| </a:t>
            </a:r>
            <a:r>
              <a:rPr lang="es-CL" sz="2000" dirty="0">
                <a:solidFill>
                  <a:srgbClr val="A34100"/>
                </a:solidFill>
                <a:latin typeface="+mn-lt"/>
                <a:cs typeface="+mn-lt"/>
              </a:rPr>
              <a:t>Onboarding e incorporación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8 cajas numeradas  ·  sin decisiones  ·  proceso P3 · Atracción y selección de personas</a:t>
            </a:r>
          </a:p>
        </p:txBody>
      </p:sp>
      <p:graphicFrame>
        <p:nvGraphicFramePr>
          <p:cNvPr id="11" name="Tabla 11"/>
          <p:cNvGraphicFramePr>
            <a:graphicFrameLocks noGrp="1"/>
          </p:cNvGraphicFramePr>
          <p:nvPr/>
        </p:nvGraphicFramePr>
        <p:xfrm>
          <a:off x="630000" y="1475274"/>
          <a:ext cx="10933350" cy="2415730"/>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Ejecutar la bienvenida institucional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Ejecutar la inducción inicial Sello Arauco en compañía, negocio, cultura, seguridad y forma de trabajar</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Explicar normativa interna, beneficios y reglamento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Realizar la charla inicial de Seguridad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Entregar EPP y ropa corporativa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Asignar herramientas, equipos y accesos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Coordinar y derivar al nuevo trabajador con 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Velar por el adecuado proceso de incorporación, último hito de la experiencia del postulante</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Apertura del proceso| </a:t>
            </a:r>
            <a:r>
              <a:rPr lang="es-CL" sz="2000" dirty="0">
                <a:solidFill>
                  <a:srgbClr val="3F3A33"/>
                </a:solidFill>
                <a:latin typeface="+mn-lt"/>
                <a:cs typeface="+mn-lt"/>
              </a:rPr>
              <a:t>Desarrollo organizacional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7.3 · 7.6.1    ·    proceso confirmado</a:t>
            </a:r>
          </a:p>
        </p:txBody>
      </p:sp>
      <p:sp>
        <p:nvSpPr>
          <p:cNvPr id="11" name="Subproceso 11"/>
          <p:cNvSpPr/>
          <p:nvPr/>
        </p:nvSpPr>
        <p:spPr>
          <a:xfrm>
            <a:off x="630000"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F11</a:t>
            </a:r>
          </a:p>
          <a:p>
            <a:pPr algn="l">
              <a:lnSpc>
                <a:spcPct val="90000"/>
              </a:lnSpc>
              <a:spcBef>
                <a:spcPts val="200"/>
              </a:spcBef>
              <a:buNone/>
            </a:pPr>
            <a:r>
              <a:rPr lang="es-CL" sz="950" b="1" dirty="0">
                <a:solidFill>
                  <a:srgbClr val="FFFFFF"/>
                </a:solidFill>
                <a:latin typeface="+mn-lt"/>
                <a:cs typeface="+mn-lt"/>
              </a:rPr>
              <a:t>Formación</a:t>
            </a:r>
          </a:p>
        </p:txBody>
      </p:sp>
      <p:sp>
        <p:nvSpPr>
          <p:cNvPr id="12" name="Chip 12"/>
          <p:cNvSpPr/>
          <p:nvPr/>
        </p:nvSpPr>
        <p:spPr>
          <a:xfrm>
            <a:off x="630000" y="1939332"/>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A1 · Definir lineamientos y estándares</a:t>
            </a:r>
          </a:p>
          <a:p>
            <a:pPr algn="l">
              <a:lnSpc>
                <a:spcPct val="90000"/>
              </a:lnSpc>
              <a:spcBef>
                <a:spcPts val="200"/>
              </a:spcBef>
              <a:buNone/>
            </a:pPr>
            <a:r>
              <a:rPr lang="es-CL" sz="650" dirty="0">
                <a:solidFill>
                  <a:srgbClr val="6B655C"/>
                </a:solidFill>
                <a:latin typeface="+mn-lt"/>
                <a:cs typeface="+mn-lt"/>
              </a:rPr>
              <a:t>cajas 1–2</a:t>
            </a:r>
          </a:p>
        </p:txBody>
      </p:sp>
      <p:sp>
        <p:nvSpPr>
          <p:cNvPr id="13" name="Chip 13"/>
          <p:cNvSpPr/>
          <p:nvPr/>
        </p:nvSpPr>
        <p:spPr>
          <a:xfrm>
            <a:off x="630000" y="2372225"/>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A2 · Diagnóstico de brechas y diseño</a:t>
            </a:r>
          </a:p>
          <a:p>
            <a:pPr algn="l">
              <a:lnSpc>
                <a:spcPct val="90000"/>
              </a:lnSpc>
              <a:spcBef>
                <a:spcPts val="200"/>
              </a:spcBef>
              <a:buNone/>
            </a:pPr>
            <a:r>
              <a:rPr lang="es-CL" sz="650" dirty="0">
                <a:solidFill>
                  <a:srgbClr val="6B655C"/>
                </a:solidFill>
                <a:latin typeface="+mn-lt"/>
                <a:cs typeface="+mn-lt"/>
              </a:rPr>
              <a:t>cajas 3–5</a:t>
            </a:r>
          </a:p>
        </p:txBody>
      </p:sp>
      <p:sp>
        <p:nvSpPr>
          <p:cNvPr id="14" name="Chip 14"/>
          <p:cNvSpPr/>
          <p:nvPr/>
        </p:nvSpPr>
        <p:spPr>
          <a:xfrm>
            <a:off x="630000" y="2805118"/>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A3 · Planificación y coordinación</a:t>
            </a:r>
          </a:p>
          <a:p>
            <a:pPr algn="l">
              <a:lnSpc>
                <a:spcPct val="90000"/>
              </a:lnSpc>
              <a:spcBef>
                <a:spcPts val="200"/>
              </a:spcBef>
              <a:buNone/>
            </a:pPr>
            <a:r>
              <a:rPr lang="es-CL" sz="650" dirty="0">
                <a:solidFill>
                  <a:srgbClr val="6B655C"/>
                </a:solidFill>
                <a:latin typeface="+mn-lt"/>
                <a:cs typeface="+mn-lt"/>
              </a:rPr>
              <a:t>cajas 6–7</a:t>
            </a:r>
          </a:p>
        </p:txBody>
      </p:sp>
      <p:sp>
        <p:nvSpPr>
          <p:cNvPr id="15" name="Chip 15"/>
          <p:cNvSpPr/>
          <p:nvPr/>
        </p:nvSpPr>
        <p:spPr>
          <a:xfrm>
            <a:off x="630000" y="3238011"/>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A4 · Ejecución de la formación</a:t>
            </a:r>
          </a:p>
          <a:p>
            <a:pPr algn="l">
              <a:lnSpc>
                <a:spcPct val="90000"/>
              </a:lnSpc>
              <a:spcBef>
                <a:spcPts val="200"/>
              </a:spcBef>
              <a:buNone/>
            </a:pPr>
            <a:r>
              <a:rPr lang="es-CL" sz="650" dirty="0">
                <a:solidFill>
                  <a:srgbClr val="6B655C"/>
                </a:solidFill>
                <a:latin typeface="+mn-lt"/>
                <a:cs typeface="+mn-lt"/>
              </a:rPr>
              <a:t>cajas 8–12</a:t>
            </a:r>
          </a:p>
        </p:txBody>
      </p:sp>
      <p:sp>
        <p:nvSpPr>
          <p:cNvPr id="16" name="Chip 16"/>
          <p:cNvSpPr/>
          <p:nvPr/>
        </p:nvSpPr>
        <p:spPr>
          <a:xfrm>
            <a:off x="630000" y="3670904"/>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A5 · Evaluación y habilitación</a:t>
            </a:r>
          </a:p>
          <a:p>
            <a:pPr algn="l">
              <a:lnSpc>
                <a:spcPct val="90000"/>
              </a:lnSpc>
              <a:spcBef>
                <a:spcPts val="200"/>
              </a:spcBef>
              <a:buNone/>
            </a:pPr>
            <a:r>
              <a:rPr lang="es-CL" sz="650" dirty="0">
                <a:solidFill>
                  <a:srgbClr val="6B655C"/>
                </a:solidFill>
                <a:latin typeface="+mn-lt"/>
                <a:cs typeface="+mn-lt"/>
              </a:rPr>
              <a:t>cajas 13–17</a:t>
            </a:r>
          </a:p>
        </p:txBody>
      </p:sp>
      <p:sp>
        <p:nvSpPr>
          <p:cNvPr id="17" name="Chip 17"/>
          <p:cNvSpPr/>
          <p:nvPr/>
        </p:nvSpPr>
        <p:spPr>
          <a:xfrm>
            <a:off x="630000" y="4103797"/>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A6 · Medición de eficacia y KPI</a:t>
            </a:r>
          </a:p>
          <a:p>
            <a:pPr algn="l">
              <a:lnSpc>
                <a:spcPct val="90000"/>
              </a:lnSpc>
              <a:spcBef>
                <a:spcPts val="200"/>
              </a:spcBef>
              <a:buNone/>
            </a:pPr>
            <a:r>
              <a:rPr lang="es-CL" sz="650" dirty="0">
                <a:solidFill>
                  <a:srgbClr val="6B655C"/>
                </a:solidFill>
                <a:latin typeface="+mn-lt"/>
                <a:cs typeface="+mn-lt"/>
              </a:rPr>
              <a:t>cajas 18–19</a:t>
            </a:r>
          </a:p>
        </p:txBody>
      </p:sp>
      <p:sp>
        <p:nvSpPr>
          <p:cNvPr id="18" name="Subproceso 18"/>
          <p:cNvSpPr/>
          <p:nvPr/>
        </p:nvSpPr>
        <p:spPr>
          <a:xfrm>
            <a:off x="4307783"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F12</a:t>
            </a:r>
          </a:p>
          <a:p>
            <a:pPr algn="l">
              <a:lnSpc>
                <a:spcPct val="90000"/>
              </a:lnSpc>
              <a:spcBef>
                <a:spcPts val="200"/>
              </a:spcBef>
              <a:buNone/>
            </a:pPr>
            <a:r>
              <a:rPr lang="es-CL" sz="950" b="1" dirty="0">
                <a:solidFill>
                  <a:srgbClr val="FFFFFF"/>
                </a:solidFill>
                <a:latin typeface="+mn-lt"/>
                <a:cs typeface="+mn-lt"/>
              </a:rPr>
              <a:t>Gestión del desempeño</a:t>
            </a:r>
          </a:p>
        </p:txBody>
      </p:sp>
      <p:sp>
        <p:nvSpPr>
          <p:cNvPr id="19" name="Chip 19"/>
          <p:cNvSpPr/>
          <p:nvPr/>
        </p:nvSpPr>
        <p:spPr>
          <a:xfrm>
            <a:off x="4307783" y="1939332"/>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A1 · Definir objetivos de roles</a:t>
            </a:r>
          </a:p>
          <a:p>
            <a:pPr algn="l">
              <a:lnSpc>
                <a:spcPct val="90000"/>
              </a:lnSpc>
              <a:spcBef>
                <a:spcPts val="200"/>
              </a:spcBef>
              <a:buNone/>
            </a:pPr>
            <a:r>
              <a:rPr lang="es-CL" sz="650" dirty="0">
                <a:solidFill>
                  <a:srgbClr val="6B655C"/>
                </a:solidFill>
                <a:latin typeface="+mn-lt"/>
                <a:cs typeface="+mn-lt"/>
              </a:rPr>
              <a:t>cajas 2–4</a:t>
            </a:r>
          </a:p>
        </p:txBody>
      </p:sp>
      <p:sp>
        <p:nvSpPr>
          <p:cNvPr id="20" name="Chip 20"/>
          <p:cNvSpPr/>
          <p:nvPr/>
        </p:nvSpPr>
        <p:spPr>
          <a:xfrm>
            <a:off x="4307783" y="2372225"/>
            <a:ext cx="3577783" cy="382893"/>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Sin asignación</a:t>
            </a:r>
          </a:p>
          <a:p>
            <a:pPr algn="l">
              <a:lnSpc>
                <a:spcPct val="90000"/>
              </a:lnSpc>
              <a:spcBef>
                <a:spcPts val="200"/>
              </a:spcBef>
              <a:buNone/>
            </a:pPr>
            <a:r>
              <a:rPr lang="es-CL" sz="650" dirty="0">
                <a:solidFill>
                  <a:srgbClr val="6B655C"/>
                </a:solidFill>
                <a:latin typeface="+mn-lt"/>
                <a:cs typeface="+mn-lt"/>
              </a:rPr>
              <a:t>cajas 5–30</a:t>
            </a:r>
          </a:p>
        </p:txBody>
      </p:sp>
      <p:sp>
        <p:nvSpPr>
          <p:cNvPr id="21" name="Chip 21"/>
          <p:cNvSpPr/>
          <p:nvPr/>
        </p:nvSpPr>
        <p:spPr>
          <a:xfrm>
            <a:off x="4307783" y="2805118"/>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A2 · Preparación herramienta de evaluación</a:t>
            </a:r>
          </a:p>
          <a:p>
            <a:pPr algn="l">
              <a:lnSpc>
                <a:spcPct val="90000"/>
              </a:lnSpc>
              <a:spcBef>
                <a:spcPts val="200"/>
              </a:spcBef>
              <a:buNone/>
            </a:pPr>
            <a:r>
              <a:rPr lang="es-CL" sz="650" dirty="0">
                <a:solidFill>
                  <a:srgbClr val="6B655C"/>
                </a:solidFill>
                <a:latin typeface="+mn-lt"/>
                <a:cs typeface="+mn-lt"/>
              </a:rPr>
              <a:t>cajas 6–13</a:t>
            </a:r>
          </a:p>
        </p:txBody>
      </p:sp>
      <p:sp>
        <p:nvSpPr>
          <p:cNvPr id="22" name="Chip 22"/>
          <p:cNvSpPr/>
          <p:nvPr/>
        </p:nvSpPr>
        <p:spPr>
          <a:xfrm>
            <a:off x="4307783" y="3238011"/>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A3 · Ejecución y calibración</a:t>
            </a:r>
          </a:p>
          <a:p>
            <a:pPr algn="l">
              <a:lnSpc>
                <a:spcPct val="90000"/>
              </a:lnSpc>
              <a:spcBef>
                <a:spcPts val="200"/>
              </a:spcBef>
              <a:buNone/>
            </a:pPr>
            <a:r>
              <a:rPr lang="es-CL" sz="650" dirty="0">
                <a:solidFill>
                  <a:srgbClr val="6B655C"/>
                </a:solidFill>
                <a:latin typeface="+mn-lt"/>
                <a:cs typeface="+mn-lt"/>
              </a:rPr>
              <a:t>cajas 14–26</a:t>
            </a:r>
          </a:p>
        </p:txBody>
      </p:sp>
      <p:sp>
        <p:nvSpPr>
          <p:cNvPr id="23" name="Chip 23"/>
          <p:cNvSpPr/>
          <p:nvPr/>
        </p:nvSpPr>
        <p:spPr>
          <a:xfrm>
            <a:off x="4307783" y="3670904"/>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A4 · Análisis de resultados y compromiso</a:t>
            </a:r>
          </a:p>
          <a:p>
            <a:pPr algn="l">
              <a:lnSpc>
                <a:spcPct val="90000"/>
              </a:lnSpc>
              <a:spcBef>
                <a:spcPts val="200"/>
              </a:spcBef>
              <a:buNone/>
            </a:pPr>
            <a:r>
              <a:rPr lang="es-CL" sz="650" dirty="0">
                <a:solidFill>
                  <a:srgbClr val="6B655C"/>
                </a:solidFill>
                <a:latin typeface="+mn-lt"/>
                <a:cs typeface="+mn-lt"/>
              </a:rPr>
              <a:t>cajas 27–29</a:t>
            </a:r>
          </a:p>
        </p:txBody>
      </p:sp>
      <p:sp>
        <p:nvSpPr>
          <p:cNvPr id="24" name="Subproceso 24"/>
          <p:cNvSpPr/>
          <p:nvPr/>
        </p:nvSpPr>
        <p:spPr>
          <a:xfrm>
            <a:off x="7985566"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F13</a:t>
            </a:r>
          </a:p>
          <a:p>
            <a:pPr algn="l">
              <a:lnSpc>
                <a:spcPct val="90000"/>
              </a:lnSpc>
              <a:spcBef>
                <a:spcPts val="200"/>
              </a:spcBef>
              <a:buNone/>
            </a:pPr>
            <a:r>
              <a:rPr lang="es-CL" sz="950" b="1" dirty="0">
                <a:solidFill>
                  <a:srgbClr val="FFFFFF"/>
                </a:solidFill>
                <a:latin typeface="+mn-lt"/>
                <a:cs typeface="+mn-lt"/>
              </a:rPr>
              <a:t>Carrera, sucesión y movilidad</a:t>
            </a:r>
          </a:p>
        </p:txBody>
      </p:sp>
      <p:sp>
        <p:nvSpPr>
          <p:cNvPr id="25" name="Chip 25"/>
          <p:cNvSpPr/>
          <p:nvPr/>
        </p:nvSpPr>
        <p:spPr>
          <a:xfrm>
            <a:off x="7985566" y="1939332"/>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A1 · Definir roles clave y riesgo de vacancia</a:t>
            </a:r>
          </a:p>
          <a:p>
            <a:pPr algn="l">
              <a:lnSpc>
                <a:spcPct val="90000"/>
              </a:lnSpc>
              <a:spcBef>
                <a:spcPts val="200"/>
              </a:spcBef>
              <a:buNone/>
            </a:pPr>
            <a:r>
              <a:rPr lang="es-CL" sz="650" dirty="0">
                <a:solidFill>
                  <a:srgbClr val="6B655C"/>
                </a:solidFill>
                <a:latin typeface="+mn-lt"/>
                <a:cs typeface="+mn-lt"/>
              </a:rPr>
              <a:t>caja 1</a:t>
            </a:r>
          </a:p>
        </p:txBody>
      </p:sp>
      <p:sp>
        <p:nvSpPr>
          <p:cNvPr id="26" name="Chip 26"/>
          <p:cNvSpPr/>
          <p:nvPr/>
        </p:nvSpPr>
        <p:spPr>
          <a:xfrm>
            <a:off x="7985566" y="2372225"/>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A2 · Validar posiciones del rol supervisor</a:t>
            </a:r>
          </a:p>
          <a:p>
            <a:pPr algn="l">
              <a:lnSpc>
                <a:spcPct val="90000"/>
              </a:lnSpc>
              <a:spcBef>
                <a:spcPts val="200"/>
              </a:spcBef>
              <a:buNone/>
            </a:pPr>
            <a:r>
              <a:rPr lang="es-CL" sz="650" dirty="0">
                <a:solidFill>
                  <a:srgbClr val="6B655C"/>
                </a:solidFill>
                <a:latin typeface="+mn-lt"/>
                <a:cs typeface="+mn-lt"/>
              </a:rPr>
              <a:t>caja 2</a:t>
            </a:r>
          </a:p>
        </p:txBody>
      </p:sp>
      <p:sp>
        <p:nvSpPr>
          <p:cNvPr id="27" name="Chip 27"/>
          <p:cNvSpPr/>
          <p:nvPr/>
        </p:nvSpPr>
        <p:spPr>
          <a:xfrm>
            <a:off x="7985566" y="2805118"/>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A3 · Sin nombre definido</a:t>
            </a:r>
          </a:p>
          <a:p>
            <a:pPr algn="l">
              <a:lnSpc>
                <a:spcPct val="90000"/>
              </a:lnSpc>
              <a:spcBef>
                <a:spcPts val="200"/>
              </a:spcBef>
              <a:buNone/>
            </a:pPr>
            <a:r>
              <a:rPr lang="es-CL" sz="650" dirty="0">
                <a:solidFill>
                  <a:srgbClr val="6B655C"/>
                </a:solidFill>
                <a:latin typeface="+mn-lt"/>
                <a:cs typeface="+mn-lt"/>
              </a:rPr>
              <a:t>cajas 3–4</a:t>
            </a:r>
          </a:p>
        </p:txBody>
      </p:sp>
      <p:sp>
        <p:nvSpPr>
          <p:cNvPr id="28" name="Chip 28"/>
          <p:cNvSpPr/>
          <p:nvPr/>
        </p:nvSpPr>
        <p:spPr>
          <a:xfrm>
            <a:off x="7985566" y="3238011"/>
            <a:ext cx="3577783" cy="382893"/>
          </a:xfrm>
          <a:prstGeom prst="roundRect">
            <a:avLst>
              <a:gd name="adj" fmla="val 4000"/>
            </a:avLst>
          </a:prstGeom>
          <a:solidFill>
            <a:srgbClr val="E6EFF5"/>
          </a:solidFill>
          <a:ln w="9525" cap="flat">
            <a:solidFill>
              <a:srgbClr val="14567A"/>
            </a:solidFill>
          </a:ln>
        </p:spPr>
        <p:txBody>
          <a:bodyPr wrap="square" lIns="57150" tIns="57150" rIns="57150" bIns="57150" anchor="ctr">
            <a:noAutofit/>
          </a:bodyPr>
          <a:lstStyle/>
          <a:p>
            <a:pPr algn="l">
              <a:lnSpc>
                <a:spcPct val="90000"/>
              </a:lnSpc>
              <a:buNone/>
            </a:pPr>
            <a:r>
              <a:rPr lang="es-CL" sz="750" b="1" dirty="0">
                <a:solidFill>
                  <a:srgbClr val="14567A"/>
                </a:solidFill>
                <a:latin typeface="+mn-lt"/>
                <a:cs typeface="+mn-lt"/>
              </a:rPr>
              <a:t>Control · Riesgo de cobertura</a:t>
            </a:r>
          </a:p>
          <a:p>
            <a:pPr algn="l">
              <a:lnSpc>
                <a:spcPct val="90000"/>
              </a:lnSpc>
              <a:spcBef>
                <a:spcPts val="200"/>
              </a:spcBef>
              <a:buNone/>
            </a:pPr>
            <a:r>
              <a:rPr lang="es-CL" sz="650" dirty="0">
                <a:solidFill>
                  <a:srgbClr val="6B655C"/>
                </a:solidFill>
                <a:latin typeface="+mn-lt"/>
                <a:cs typeface="+mn-lt"/>
              </a:rPr>
              <a:t>caja 5</a:t>
            </a:r>
          </a:p>
        </p:txBody>
      </p:sp>
      <p:sp>
        <p:nvSpPr>
          <p:cNvPr id="29" name="Chip 29"/>
          <p:cNvSpPr/>
          <p:nvPr/>
        </p:nvSpPr>
        <p:spPr>
          <a:xfrm>
            <a:off x="7985566" y="3670904"/>
            <a:ext cx="3577783" cy="382893"/>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Control o tarea</a:t>
            </a:r>
          </a:p>
          <a:p>
            <a:pPr algn="l">
              <a:lnSpc>
                <a:spcPct val="90000"/>
              </a:lnSpc>
              <a:spcBef>
                <a:spcPts val="200"/>
              </a:spcBef>
              <a:buNone/>
            </a:pPr>
            <a:r>
              <a:rPr lang="es-CL" sz="650" dirty="0">
                <a:solidFill>
                  <a:srgbClr val="6B655C"/>
                </a:solidFill>
                <a:latin typeface="+mn-lt"/>
                <a:cs typeface="+mn-lt"/>
              </a:rPr>
              <a:t>caja 6</a:t>
            </a:r>
          </a:p>
        </p:txBody>
      </p:sp>
      <p:sp>
        <p:nvSpPr>
          <p:cNvPr id="30" name="Chip 30"/>
          <p:cNvSpPr/>
          <p:nvPr/>
        </p:nvSpPr>
        <p:spPr>
          <a:xfrm>
            <a:off x="7985566" y="4103797"/>
            <a:ext cx="3577783" cy="382893"/>
          </a:xfrm>
          <a:prstGeom prst="roundRect">
            <a:avLst>
              <a:gd name="adj" fmla="val 4000"/>
            </a:avLst>
          </a:prstGeom>
          <a:solidFill>
            <a:srgbClr val="EFE6D0"/>
          </a:solidFill>
          <a:ln w="9525" cap="flat">
            <a:solidFill>
              <a:srgbClr val="C9B98F"/>
            </a:solidFill>
          </a:ln>
        </p:spPr>
        <p:txBody>
          <a:bodyPr wrap="square" lIns="57150" tIns="57150" rIns="57150" bIns="57150" anchor="ctr">
            <a:noAutofit/>
          </a:bodyPr>
          <a:lstStyle/>
          <a:p>
            <a:pPr algn="l">
              <a:lnSpc>
                <a:spcPct val="90000"/>
              </a:lnSpc>
              <a:buNone/>
            </a:pPr>
            <a:r>
              <a:rPr lang="es-CL" sz="750" b="1" dirty="0">
                <a:solidFill>
                  <a:srgbClr val="3F3A33"/>
                </a:solidFill>
                <a:latin typeface="+mn-lt"/>
                <a:cs typeface="+mn-lt"/>
              </a:rPr>
              <a:t>Subproceso · Formación para el desarrollo</a:t>
            </a:r>
          </a:p>
          <a:p>
            <a:pPr algn="l">
              <a:lnSpc>
                <a:spcPct val="90000"/>
              </a:lnSpc>
              <a:spcBef>
                <a:spcPts val="200"/>
              </a:spcBef>
              <a:buNone/>
            </a:pPr>
            <a:r>
              <a:rPr lang="es-CL" sz="650" dirty="0">
                <a:solidFill>
                  <a:srgbClr val="6B655C"/>
                </a:solidFill>
                <a:latin typeface="+mn-lt"/>
                <a:cs typeface="+mn-lt"/>
              </a:rPr>
              <a:t>caja 7</a:t>
            </a:r>
          </a:p>
        </p:txBody>
      </p:sp>
      <p:sp>
        <p:nvSpPr>
          <p:cNvPr id="31" name="Chip 31"/>
          <p:cNvSpPr/>
          <p:nvPr/>
        </p:nvSpPr>
        <p:spPr>
          <a:xfrm>
            <a:off x="7985566" y="4536690"/>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A4 · Validar carrera y alinear con estrategia</a:t>
            </a:r>
          </a:p>
          <a:p>
            <a:pPr algn="l">
              <a:lnSpc>
                <a:spcPct val="90000"/>
              </a:lnSpc>
              <a:spcBef>
                <a:spcPts val="200"/>
              </a:spcBef>
              <a:buNone/>
            </a:pPr>
            <a:r>
              <a:rPr lang="es-CL" sz="650" dirty="0">
                <a:solidFill>
                  <a:srgbClr val="6B655C"/>
                </a:solidFill>
                <a:latin typeface="+mn-lt"/>
                <a:cs typeface="+mn-lt"/>
              </a:rPr>
              <a:t>caja 8</a:t>
            </a:r>
          </a:p>
        </p:txBody>
      </p:sp>
      <p:sp>
        <p:nvSpPr>
          <p:cNvPr id="32" name="Chip 32"/>
          <p:cNvSpPr/>
          <p:nvPr/>
        </p:nvSpPr>
        <p:spPr>
          <a:xfrm>
            <a:off x="7985566" y="4969583"/>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A5 · Sin nombre definido</a:t>
            </a:r>
          </a:p>
          <a:p>
            <a:pPr algn="l">
              <a:lnSpc>
                <a:spcPct val="90000"/>
              </a:lnSpc>
              <a:spcBef>
                <a:spcPts val="200"/>
              </a:spcBef>
              <a:buNone/>
            </a:pPr>
            <a:r>
              <a:rPr lang="es-CL" sz="650" dirty="0">
                <a:solidFill>
                  <a:srgbClr val="6B655C"/>
                </a:solidFill>
                <a:latin typeface="+mn-lt"/>
                <a:cs typeface="+mn-lt"/>
              </a:rPr>
              <a:t>cajas 9–10</a:t>
            </a:r>
          </a:p>
        </p:txBody>
      </p:sp>
      <p:sp>
        <p:nvSpPr>
          <p:cNvPr id="33" name="Pendientes 33"/>
          <p:cNvSpPr/>
          <p:nvPr/>
        </p:nvSpPr>
        <p:spPr>
          <a:xfrm>
            <a:off x="630000" y="5442476"/>
            <a:ext cx="10933350" cy="877519"/>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F11 · cajas 1–2: Agrupación de las 19 cajas propuesta con base en APQC 7.3.4; pendiente de validar</a:t>
            </a:r>
          </a:p>
          <a:p>
            <a:pPr algn="l">
              <a:lnSpc>
                <a:spcPct val="90000"/>
              </a:lnSpc>
              <a:spcBef>
                <a:spcPts val="200"/>
              </a:spcBef>
              <a:buNone/>
            </a:pPr>
            <a:r>
              <a:rPr lang="es-CL" sz="850" dirty="0">
                <a:solidFill>
                  <a:srgbClr val="55565A"/>
                </a:solidFill>
                <a:latin typeface="+mn-lt"/>
                <a:cs typeface="+mn-lt"/>
              </a:rPr>
              <a:t>·  F12 · caja 5: Marcador temporal de ola; definir si se conserva como caja</a:t>
            </a:r>
          </a:p>
          <a:p>
            <a:pPr algn="l">
              <a:lnSpc>
                <a:spcPct val="90000"/>
              </a:lnSpc>
              <a:spcBef>
                <a:spcPts val="200"/>
              </a:spcBef>
              <a:buNone/>
            </a:pPr>
            <a:r>
              <a:rPr lang="es-CL" sz="850" dirty="0">
                <a:solidFill>
                  <a:srgbClr val="55565A"/>
                </a:solidFill>
                <a:latin typeface="+mn-lt"/>
                <a:cs typeface="+mn-lt"/>
              </a:rPr>
              <a:t>·  F13 · cajas 3–4: Denominar la actividad que agrupa las cajas 3 y 4</a:t>
            </a:r>
          </a:p>
          <a:p>
            <a:pPr algn="l">
              <a:lnSpc>
                <a:spcPct val="90000"/>
              </a:lnSpc>
              <a:spcBef>
                <a:spcPts val="200"/>
              </a:spcBef>
              <a:buNone/>
            </a:pPr>
            <a:r>
              <a:rPr lang="es-CL" sz="850" dirty="0">
                <a:solidFill>
                  <a:srgbClr val="55565A"/>
                </a:solidFill>
                <a:latin typeface="+mn-lt"/>
                <a:cs typeface="+mn-lt"/>
              </a:rPr>
              <a:t>·  F13 · caja 6: Definir si es control o tarea</a:t>
            </a:r>
          </a:p>
          <a:p>
            <a:pPr algn="l">
              <a:lnSpc>
                <a:spcPct val="90000"/>
              </a:lnSpc>
              <a:spcBef>
                <a:spcPts val="200"/>
              </a:spcBef>
              <a:buNone/>
            </a:pPr>
            <a:r>
              <a:rPr lang="es-CL" sz="850" dirty="0">
                <a:solidFill>
                  <a:srgbClr val="55565A"/>
                </a:solidFill>
                <a:latin typeface="+mn-lt"/>
                <a:cs typeface="+mn-lt"/>
              </a:rPr>
              <a:t>·  F13 · caja 9: Gestiona lo resuelto en A4: promoción, descenso o movilidad interna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F11 · Cajas del flujo| </a:t>
            </a:r>
            <a:r>
              <a:rPr lang="es-CL" sz="2000" dirty="0">
                <a:solidFill>
                  <a:srgbClr val="A34100"/>
                </a:solidFill>
                <a:latin typeface="+mn-lt"/>
                <a:cs typeface="+mn-lt"/>
              </a:rPr>
              <a:t>Formación y habilitación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19 cajas numeradas  ·  1 decisión sin numerar  ·  proceso P4 · Desarrollo organizacional</a:t>
            </a:r>
          </a:p>
        </p:txBody>
      </p:sp>
      <p:graphicFrame>
        <p:nvGraphicFramePr>
          <p:cNvPr id="11" name="Tabla 11"/>
          <p:cNvGraphicFramePr>
            <a:graphicFrameLocks noGrp="1"/>
          </p:cNvGraphicFramePr>
          <p:nvPr/>
        </p:nvGraphicFramePr>
        <p:xfrm>
          <a:off x="630000" y="1475274"/>
          <a:ext cx="10933350" cy="3571547"/>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lineamientos del procedimiento de Formación Técnica</a:t>
                      </a:r>
                    </a:p>
                    <a:p>
                      <a:pPr algn="l">
                        <a:lnSpc>
                          <a:spcPct val="90000"/>
                        </a:lnSpc>
                        <a:spcBef>
                          <a:spcPts val="150"/>
                        </a:spcBef>
                        <a:buNone/>
                      </a:pPr>
                      <a:r>
                        <a:rPr lang="es-CL" sz="750" dirty="0">
                          <a:solidFill>
                            <a:srgbClr val="6B655C"/>
                          </a:solidFill>
                          <a:latin typeface="+mn-lt"/>
                          <a:cs typeface="+mn-lt"/>
                        </a:rPr>
                        <a:t>Subgerencia de Formación / Jefe de Formación · A: Gerencia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Definir lineamientos y estándares — Agrupación de las 19 cajas propuesta con base en APQC 7.3.4; pendiente de validar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Definir y validar procedimientos, controles y tareas críticas</a:t>
                      </a:r>
                    </a:p>
                    <a:p>
                      <a:pPr algn="l">
                        <a:lnSpc>
                          <a:spcPct val="90000"/>
                        </a:lnSpc>
                        <a:spcBef>
                          <a:spcPts val="150"/>
                        </a:spcBef>
                        <a:buNone/>
                      </a:pPr>
                      <a:r>
                        <a:rPr lang="es-CL" sz="750" dirty="0">
                          <a:solidFill>
                            <a:srgbClr val="6B655C"/>
                          </a:solidFill>
                          <a:latin typeface="+mn-lt"/>
                          <a:cs typeface="+mn-lt"/>
                        </a:rPr>
                        <a:t>Superintendentes e Ingenieros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Definir lineamientos y estándares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Ejecutar el diagnóstico de brechas</a:t>
                      </a:r>
                    </a:p>
                    <a:p>
                      <a:pPr algn="l">
                        <a:lnSpc>
                          <a:spcPct val="90000"/>
                        </a:lnSpc>
                        <a:spcBef>
                          <a:spcPts val="150"/>
                        </a:spcBef>
                        <a:buNone/>
                      </a:pPr>
                      <a:r>
                        <a:rPr lang="es-CL" sz="750" dirty="0">
                          <a:solidFill>
                            <a:srgbClr val="6B655C"/>
                          </a:solidFill>
                          <a:latin typeface="+mn-lt"/>
                          <a:cs typeface="+mn-lt"/>
                        </a:rPr>
                        <a:t>Especialista de Formación · A: 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brechas y diseño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programas formativos transversales y específicos</a:t>
                      </a:r>
                    </a:p>
                    <a:p>
                      <a:pPr algn="l">
                        <a:lnSpc>
                          <a:spcPct val="90000"/>
                        </a:lnSpc>
                        <a:spcBef>
                          <a:spcPts val="150"/>
                        </a:spcBef>
                        <a:buNone/>
                      </a:pPr>
                      <a:r>
                        <a:rPr lang="es-CL" sz="750" dirty="0">
                          <a:solidFill>
                            <a:srgbClr val="6B655C"/>
                          </a:solidFill>
                          <a:latin typeface="+mn-lt"/>
                          <a:cs typeface="+mn-lt"/>
                        </a:rPr>
                        <a:t>Especialista de Formación · A: Subgerencia de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brechas y diseño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Diseñar y desarrollar las Guías de Entrenamiento en Terreno</a:t>
                      </a:r>
                    </a:p>
                    <a:p>
                      <a:pPr algn="l">
                        <a:lnSpc>
                          <a:spcPct val="90000"/>
                        </a:lnSpc>
                        <a:spcBef>
                          <a:spcPts val="150"/>
                        </a:spcBef>
                        <a:buNone/>
                      </a:pPr>
                      <a:r>
                        <a:rPr lang="es-CL" sz="750" dirty="0">
                          <a:solidFill>
                            <a:srgbClr val="6B655C"/>
                          </a:solidFill>
                          <a:latin typeface="+mn-lt"/>
                          <a:cs typeface="+mn-lt"/>
                        </a:rPr>
                        <a:t>Especialista de Formación · A: Jefe de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brechas y diseño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Planificar y coordinar el proceso formativo en planta</a:t>
                      </a:r>
                    </a:p>
                    <a:p>
                      <a:pPr algn="l">
                        <a:lnSpc>
                          <a:spcPct val="90000"/>
                        </a:lnSpc>
                        <a:spcBef>
                          <a:spcPts val="150"/>
                        </a:spcBef>
                        <a:buNone/>
                      </a:pPr>
                      <a:r>
                        <a:rPr lang="es-CL" sz="750" dirty="0">
                          <a:solidFill>
                            <a:srgbClr val="6B655C"/>
                          </a:solidFill>
                          <a:latin typeface="+mn-lt"/>
                          <a:cs typeface="+mn-lt"/>
                        </a:rPr>
                        <a:t>Generalista de Personas · A: Superintendente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A3 · Planificación y coordinación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participación y disponibilidad de trabajadores</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A3 · Planificación y coordinación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Formación E-learning: nivelación teórica de fundamentos técnicos, procedimientos, riesgos y controles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Entrenamiento en Terreno: revisión teórica en sala y aplicación práctica acompañada</a:t>
                      </a:r>
                    </a:p>
                    <a:p>
                      <a:pPr algn="l">
                        <a:lnSpc>
                          <a:spcPct val="90000"/>
                        </a:lnSpc>
                        <a:spcBef>
                          <a:spcPts val="150"/>
                        </a:spcBef>
                        <a:buNone/>
                      </a:pPr>
                      <a:r>
                        <a:rPr lang="es-CL" sz="750" dirty="0">
                          <a:solidFill>
                            <a:srgbClr val="6B655C"/>
                          </a:solidFill>
                          <a:latin typeface="+mn-lt"/>
                          <a:cs typeface="+mn-lt"/>
                        </a:rPr>
                        <a:t>Tutores Internos · A: 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Análisis de Casos Operacionales en operación normal, detenciones y partidas, y condiciones anómalas o de emergencia</a:t>
                      </a:r>
                    </a:p>
                    <a:p>
                      <a:pPr algn="l">
                        <a:lnSpc>
                          <a:spcPct val="90000"/>
                        </a:lnSpc>
                        <a:spcBef>
                          <a:spcPts val="150"/>
                        </a:spcBef>
                        <a:buNone/>
                      </a:pPr>
                      <a:r>
                        <a:rPr lang="es-CL" sz="750" dirty="0">
                          <a:solidFill>
                            <a:srgbClr val="6B655C"/>
                          </a:solidFill>
                          <a:latin typeface="+mn-lt"/>
                          <a:cs typeface="+mn-lt"/>
                        </a:rPr>
                        <a:t>Ingenieros / Superintendentes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F11 · Cajas del flujo| </a:t>
            </a:r>
            <a:r>
              <a:rPr lang="es-CL" sz="2000" dirty="0">
                <a:solidFill>
                  <a:srgbClr val="A34100"/>
                </a:solidFill>
                <a:latin typeface="+mn-lt"/>
                <a:cs typeface="+mn-lt"/>
              </a:rPr>
              <a:t>Formación y habilitación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3585490"/>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 Normativa: matrices de formación obligatoria, certificaciones, licencias habilitantes y renovaciones periódicas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7.3.4.6.4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Cumplir las horas de vuelo: tiempo mínimo de práctica efectiva</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Evaluar al trabajador en ejecución de procedimientos, aplicación de controles, comprensión del proceso, riesgos y toma de decisiones</a:t>
                      </a:r>
                    </a:p>
                    <a:p>
                      <a:pPr algn="l">
                        <a:lnSpc>
                          <a:spcPct val="90000"/>
                        </a:lnSpc>
                        <a:spcBef>
                          <a:spcPts val="150"/>
                        </a:spcBef>
                        <a:buNone/>
                      </a:pPr>
                      <a:r>
                        <a:rPr lang="es-CL" sz="750" dirty="0">
                          <a:solidFill>
                            <a:srgbClr val="6B655C"/>
                          </a:solidFill>
                          <a:latin typeface="+mn-lt"/>
                          <a:cs typeface="+mn-lt"/>
                        </a:rPr>
                        <a:t>Tutor / 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7.3.4.6.2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14058">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Comité de calibración</a:t>
                      </a:r>
                    </a:p>
                    <a:p>
                      <a:pPr algn="l">
                        <a:lnSpc>
                          <a:spcPct val="90000"/>
                        </a:lnSpc>
                        <a:spcBef>
                          <a:spcPts val="150"/>
                        </a:spcBef>
                        <a:buNone/>
                      </a:pPr>
                      <a:r>
                        <a:rPr lang="es-CL" sz="750" dirty="0">
                          <a:solidFill>
                            <a:srgbClr val="6F5800"/>
                          </a:solidFill>
                          <a:latin typeface="+mn-lt"/>
                          <a:cs typeface="+mn-lt"/>
                        </a:rPr>
                        <a:t>Específico de Arauco · Generalista de Personas · A: Superintendente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Comité de evaluación y habilitación</a:t>
                      </a:r>
                    </a:p>
                    <a:p>
                      <a:pPr algn="l">
                        <a:lnSpc>
                          <a:spcPct val="90000"/>
                        </a:lnSpc>
                        <a:spcBef>
                          <a:spcPts val="150"/>
                        </a:spcBef>
                        <a:buNone/>
                      </a:pPr>
                      <a:r>
                        <a:rPr lang="es-CL" sz="750" dirty="0">
                          <a:solidFill>
                            <a:srgbClr val="6F5800"/>
                          </a:solidFill>
                          <a:latin typeface="+mn-lt"/>
                          <a:cs typeface="+mn-lt"/>
                        </a:rPr>
                        <a:t>Específico de Arauco · Superintendentes / Jefaturas · A: Gerente de Planta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7.3.4.6.3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¿Habilitado?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plan de reforzamiento sobre las brechas detectadas: reentrenamiento en procedimientos y controles críticos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A5 · Evaluación y habilitación — Agrupación de las 19 cajas propuesta con base en APQC 7.3.4; pendiente de validar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Formalizar la habilitación con jefaturas, Personas y Gerencia Técnica</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7.3.4.6.4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Medir eficacia con rúbricas y nota mínima de aprobación</a:t>
                      </a:r>
                    </a:p>
                    <a:p>
                      <a:pPr algn="l">
                        <a:lnSpc>
                          <a:spcPct val="90000"/>
                        </a:lnSpc>
                        <a:spcBef>
                          <a:spcPts val="150"/>
                        </a:spcBef>
                        <a:buNone/>
                      </a:pPr>
                      <a:r>
                        <a:rPr lang="es-CL" sz="750" dirty="0">
                          <a:solidFill>
                            <a:srgbClr val="6B655C"/>
                          </a:solidFill>
                          <a:latin typeface="+mn-lt"/>
                          <a:cs typeface="+mn-lt"/>
                        </a:rPr>
                        <a:t>Área de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A6 · Medición de eficacia y KPI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ctr">
                        <a:lnSpc>
                          <a:spcPct val="90000"/>
                        </a:lnSpc>
                        <a:buNone/>
                      </a:pPr>
                      <a:r>
                        <a:rPr lang="es-CL" sz="850" b="1"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Seguir los KPI: porcentaje habilitados en cargo de ingreso, con dominio técnico avanzado y habilitados como back-up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A6 · Medición de eficacia y KPI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F12 · Cajas del flujo| </a:t>
            </a:r>
            <a:r>
              <a:rPr lang="es-CL" sz="2000" dirty="0">
                <a:solidFill>
                  <a:srgbClr val="A34100"/>
                </a:solidFill>
                <a:latin typeface="+mn-lt"/>
                <a:cs typeface="+mn-lt"/>
              </a:rPr>
              <a:t>Gestión del desempeño · ciclo anual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30 cajas numeradas  ·  1 decisión sin numerar  ·  proceso P4 · Desarrollo organizacional</a:t>
            </a:r>
          </a:p>
        </p:txBody>
      </p:sp>
      <p:graphicFrame>
        <p:nvGraphicFramePr>
          <p:cNvPr id="11" name="Tabla 11"/>
          <p:cNvGraphicFramePr>
            <a:graphicFrameLocks noGrp="1"/>
          </p:cNvGraphicFramePr>
          <p:nvPr/>
        </p:nvGraphicFramePr>
        <p:xfrm>
          <a:off x="630000" y="1475274"/>
          <a:ext cx="10933350" cy="4724184"/>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Establecer el calendario del proceso de evaluación</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Fuera del subproceso · nivel estratégico — Trasladar a un proceso transversal de programación anual, aún no definido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Ola 1 · febrero a abril: fijar objetivos del rol ejecutivo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A1 · Definir objetivos de 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objetivos individuales: trabajador y jefatura acuerdan actividades y proyectos clave</a:t>
                      </a:r>
                    </a:p>
                    <a:p>
                      <a:pPr algn="l">
                        <a:lnSpc>
                          <a:spcPct val="90000"/>
                        </a:lnSpc>
                        <a:spcBef>
                          <a:spcPts val="150"/>
                        </a:spcBef>
                        <a:buNone/>
                      </a:pPr>
                      <a:r>
                        <a:rPr lang="es-CL" sz="750" dirty="0">
                          <a:solidFill>
                            <a:srgbClr val="6B655C"/>
                          </a:solidFill>
                          <a:latin typeface="+mn-lt"/>
                          <a:cs typeface="+mn-lt"/>
                        </a:rPr>
                        <a:t>solo rol supervisor y ejecutivo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A1 · Definir objetivos de 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Establecer competencias clave a evaluar por 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A1 · Definir objetivos de 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Ola 2 · mayo: preparación del rol general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Sin asignación — Marcador temporal de ola; definir si se conserva como caja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323418">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Planificar: calendario, verificación de novedades de plataforma y validación con las localidades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Probar las plantillas de desempeño y rellenar el formulario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Configurar la plataforma SuccessFactors módulo Desempeño</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Preparar el material comunicacional: correo, pantallas, comunicados, diarios murales y folletos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el material de acompañamiento: guías, videos y paso a paso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localmente por planta</a:t>
                      </a:r>
                    </a:p>
                    <a:p>
                      <a:pPr algn="l">
                        <a:lnSpc>
                          <a:spcPct val="90000"/>
                        </a:lnSpc>
                        <a:spcBef>
                          <a:spcPts val="150"/>
                        </a:spcBef>
                        <a:buNone/>
                      </a:pPr>
                      <a:r>
                        <a:rPr lang="es-CL" sz="750" dirty="0">
                          <a:solidFill>
                            <a:srgbClr val="6B655C"/>
                          </a:solidFill>
                          <a:latin typeface="+mn-lt"/>
                          <a:cs typeface="+mn-lt"/>
                        </a:rPr>
                        <a:t>Recursos Humanos Local / Generalistas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la validación de los trabajadores participantes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Consolidar el universo de trabajadores a evaluar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Ola 2 · junio: comienza el proceso propiamente tal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Lanzar los formularios a los trabajadores</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Autoevaluación: el trabajador califica competencias y objetivos. Es referencial y no entra en el cálculo de la nota final</a:t>
                      </a:r>
                    </a:p>
                    <a:p>
                      <a:pPr algn="l">
                        <a:lnSpc>
                          <a:spcPct val="90000"/>
                        </a:lnSpc>
                        <a:spcBef>
                          <a:spcPts val="150"/>
                        </a:spcBef>
                        <a:buNone/>
                      </a:pPr>
                      <a:r>
                        <a:rPr lang="es-CL" sz="750" dirty="0">
                          <a:solidFill>
                            <a:srgbClr val="6B655C"/>
                          </a:solidFill>
                          <a:latin typeface="+mn-lt"/>
                          <a:cs typeface="+mn-lt"/>
                        </a:rPr>
                        <a:t>Trabajador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F12 · Cajas del flujo| </a:t>
            </a:r>
            <a:r>
              <a:rPr lang="es-CL" sz="2000" dirty="0">
                <a:solidFill>
                  <a:srgbClr val="A34100"/>
                </a:solidFill>
                <a:latin typeface="+mn-lt"/>
                <a:cs typeface="+mn-lt"/>
              </a:rPr>
              <a:t>Gestión del desempeño · ciclo anual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4519295"/>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09474">
                <a:tc>
                  <a:txBody>
                    <a:bodyPr/>
                    <a:lstStyle/>
                    <a:p>
                      <a:pPr algn="ctr">
                        <a:lnSpc>
                          <a:spcPct val="90000"/>
                        </a:lnSpc>
                        <a:buNone/>
                      </a:pPr>
                      <a:r>
                        <a:rPr lang="es-CL" sz="850" b="1"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Evaluación: la jefatura directa califica competencias y objetivos</a:t>
                      </a:r>
                    </a:p>
                    <a:p>
                      <a:pPr algn="l">
                        <a:lnSpc>
                          <a:spcPct val="90000"/>
                        </a:lnSpc>
                        <a:spcBef>
                          <a:spcPts val="150"/>
                        </a:spcBef>
                        <a:buNone/>
                      </a:pPr>
                      <a:r>
                        <a:rPr lang="es-CL" sz="750" dirty="0">
                          <a:solidFill>
                            <a:srgbClr val="6B655C"/>
                          </a:solidFill>
                          <a:latin typeface="+mn-lt"/>
                          <a:cs typeface="+mn-lt"/>
                        </a:rPr>
                        <a:t>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Organizar los comités de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Calibración: RRHH, jefaturas directas y relacionadas revisan la distribución, balancean, generan consenso y acuerdan el esperable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Facilitar la instancia de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Retroalimentación estructurada jefatura-trabajador: fortalezas y áreas de mejora</a:t>
                      </a:r>
                    </a:p>
                    <a:p>
                      <a:pPr algn="l">
                        <a:lnSpc>
                          <a:spcPct val="90000"/>
                        </a:lnSpc>
                        <a:spcBef>
                          <a:spcPts val="150"/>
                        </a:spcBef>
                        <a:buNone/>
                      </a:pPr>
                      <a:r>
                        <a:rPr lang="es-CL" sz="750" dirty="0">
                          <a:solidFill>
                            <a:srgbClr val="6B655C"/>
                          </a:solidFill>
                          <a:latin typeface="+mn-lt"/>
                          <a:cs typeface="+mn-lt"/>
                        </a:rPr>
                        <a:t>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El trabajador confirma y envía su feedback</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Cierre masivo de formularios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Cerrar y cargar las calificaciones al perfil del trabajador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428003">
                <a:tc>
                  <a:txBody>
                    <a:bodyPr/>
                    <a:lstStyle/>
                    <a:p>
                      <a:pPr algn="ctr">
                        <a:lnSpc>
                          <a:spcPct val="90000"/>
                        </a:lnSpc>
                        <a:buNone/>
                      </a:pPr>
                      <a:r>
                        <a:rPr lang="es-CL" sz="850" b="1" dirty="0">
                          <a:solidFill>
                            <a:srgbClr val="3F3A33"/>
                          </a:solidFill>
                          <a:latin typeface="+mn-lt"/>
                          <a:cs typeface="+mn-lt"/>
                        </a:rPr>
                        <a:t>25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Calcular escala de 5 puntos, rango de desempeño bajo/esperado/alto y rango de potencial</a:t>
                      </a:r>
                    </a:p>
                    <a:p>
                      <a:pPr algn="l">
                        <a:lnSpc>
                          <a:spcPct val="90000"/>
                        </a:lnSpc>
                        <a:spcBef>
                          <a:spcPts val="150"/>
                        </a:spcBef>
                        <a:buNone/>
                      </a:pPr>
                      <a:r>
                        <a:rPr lang="es-CL" sz="750" dirty="0">
                          <a:solidFill>
                            <a:srgbClr val="6B655C"/>
                          </a:solidFill>
                          <a:latin typeface="+mn-lt"/>
                          <a:cs typeface="+mn-lt"/>
                        </a:rPr>
                        <a:t>potencial solo supervisor y ejecutivo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Mostrar los resultados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09474">
                <a:tc>
                  <a:txBody>
                    <a:bodyPr/>
                    <a:lstStyle/>
                    <a:p>
                      <a:pPr algn="ctr">
                        <a:lnSpc>
                          <a:spcPct val="90000"/>
                        </a:lnSpc>
                        <a:buNone/>
                      </a:pPr>
                      <a:r>
                        <a:rPr lang="es-CL" sz="850" b="1" dirty="0">
                          <a:solidFill>
                            <a:srgbClr val="3F3A33"/>
                          </a:solidFill>
                          <a:latin typeface="+mn-lt"/>
                          <a:cs typeface="+mn-lt"/>
                        </a:rPr>
                        <a:t>27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hallazgos y entregar resultados</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A4 · Análisis de resultados y compromiso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¿Bajo desempeño?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28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compromiso de desarrollo y registrar en Compromisos / Bitácora de Desarrollo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A4 · Análisis de resultados y compromiso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428003">
                <a:tc>
                  <a:txBody>
                    <a:bodyPr/>
                    <a:lstStyle/>
                    <a:p>
                      <a:pPr algn="ctr">
                        <a:lnSpc>
                          <a:spcPct val="90000"/>
                        </a:lnSpc>
                        <a:buNone/>
                      </a:pPr>
                      <a:r>
                        <a:rPr lang="es-CL" sz="850" b="1" dirty="0">
                          <a:solidFill>
                            <a:srgbClr val="3F3A33"/>
                          </a:solidFill>
                          <a:latin typeface="+mn-lt"/>
                          <a:cs typeface="+mn-lt"/>
                        </a:rPr>
                        <a:t>29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Implementar planes de desarrollo y registrar en módulos complementarios de SuccessFactors</a:t>
                      </a:r>
                    </a:p>
                    <a:p>
                      <a:pPr algn="l">
                        <a:lnSpc>
                          <a:spcPct val="90000"/>
                        </a:lnSpc>
                        <a:spcBef>
                          <a:spcPts val="150"/>
                        </a:spcBef>
                        <a:buNone/>
                      </a:pPr>
                      <a:r>
                        <a:rPr lang="es-CL" sz="750" dirty="0">
                          <a:solidFill>
                            <a:srgbClr val="6B655C"/>
                          </a:solidFill>
                          <a:latin typeface="+mn-lt"/>
                          <a:cs typeface="+mn-lt"/>
                        </a:rPr>
                        <a:t>Recursos Humanos Local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A4 · Análisis de resultados y compromiso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30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Ola 3 · octubre a diciembre: repetir el ciclo para el rol supervisor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Sin asignación — Marcador temporal de ola; definir si se conserva como caja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F13 · Cajas del flujo| </a:t>
            </a:r>
            <a:r>
              <a:rPr lang="es-CL" sz="2000" dirty="0">
                <a:solidFill>
                  <a:srgbClr val="A34100"/>
                </a:solidFill>
                <a:latin typeface="+mn-lt"/>
                <a:cs typeface="+mn-lt"/>
              </a:rPr>
              <a:t>Carrera, sucesión y movilidad</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10 cajas numeradas  ·  sin decisiones  ·  proceso P4 · Desarrollo organizacional</a:t>
            </a:r>
          </a:p>
        </p:txBody>
      </p:sp>
      <p:graphicFrame>
        <p:nvGraphicFramePr>
          <p:cNvPr id="11" name="Tabla 11"/>
          <p:cNvGraphicFramePr>
            <a:graphicFrameLocks noGrp="1"/>
          </p:cNvGraphicFramePr>
          <p:nvPr/>
        </p:nvGraphicFramePr>
        <p:xfrm>
          <a:off x="630000" y="1475274"/>
          <a:ext cx="10933350" cy="2616338"/>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204889">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roles clave y posiciones con riesgo de vacancia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7.3.3.4.1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A1 · Definir roles clave y riesgo de vacancia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Validar con el equipo ejecutivo las posiciones de rol supervisor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Validar posiciones del rol supervisor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Mapear el talento: desempeño, competencias y proyección de desarrollo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55565A"/>
                          </a:solidFill>
                          <a:latin typeface="+mn-lt"/>
                          <a:cs typeface="+mn-lt"/>
                        </a:rPr>
                        <a:t>A3 · Sin nombre definido — Denominar la actividad que agrupa las cajas 3 y 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Identificar sucesores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55565A"/>
                          </a:solidFill>
                          <a:latin typeface="+mn-lt"/>
                          <a:cs typeface="+mn-lt"/>
                        </a:rPr>
                        <a:t>A3 · Sin nombre definido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Analizar riesgo de posiciones con y sin cobertura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7.3.3.4.2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 · Riesgo de cobertura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Elaborar planes de formación individual para sucesores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7.3.3.4.3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Control o tarea — Definir si es control o 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 para el desarrollo y preparación de back-up operacional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A34100"/>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 · Formación para el desarrollo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Comité de sucesión: validar sucesores y alinear con la estrategia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A4 · Validar carrera y alinear con estrategia — Evaluar si corresponde separarla en dos actividades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promoción, descenso y movilidad interna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7.6.1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55565A"/>
                          </a:solidFill>
                          <a:latin typeface="+mn-lt"/>
                          <a:cs typeface="+mn-lt"/>
                        </a:rPr>
                        <a:t>A5 · Sin nombre definido — Gestiona lo resuelto en A4: promoción, descenso o movilidad interna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y actualizar la matriz de sucesión y reportar avances a SG</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A5 · Sin nombre definido — Tarea de la actividad A5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P5 · Apertura del proceso| </a:t>
            </a:r>
            <a:r>
              <a:rPr lang="es-CL" sz="2000" dirty="0">
                <a:solidFill>
                  <a:srgbClr val="A34100"/>
                </a:solidFill>
                <a:latin typeface="+mn-lt"/>
                <a:cs typeface="+mn-lt"/>
              </a:rPr>
              <a:t>Compensaciones y beneficios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7.5.1 · 7.5.2    ·    proceso propuesta    ·    Se propone que ambos bloques sean subprocesos de un mismo proceso.</a:t>
            </a:r>
          </a:p>
        </p:txBody>
      </p:sp>
      <p:sp>
        <p:nvSpPr>
          <p:cNvPr id="11" name="Subproceso 11"/>
          <p:cNvSpPr/>
          <p:nvPr/>
        </p:nvSpPr>
        <p:spPr>
          <a:xfrm>
            <a:off x="630000" y="1475274"/>
            <a:ext cx="5416675"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F14</a:t>
            </a:r>
          </a:p>
          <a:p>
            <a:pPr algn="l">
              <a:lnSpc>
                <a:spcPct val="90000"/>
              </a:lnSpc>
              <a:spcBef>
                <a:spcPts val="200"/>
              </a:spcBef>
              <a:buNone/>
            </a:pPr>
            <a:r>
              <a:rPr lang="es-CL" sz="950" b="1" dirty="0">
                <a:solidFill>
                  <a:srgbClr val="FFFFFF"/>
                </a:solidFill>
                <a:latin typeface="+mn-lt"/>
                <a:cs typeface="+mn-lt"/>
              </a:rPr>
              <a:t>Remuneración y compensación</a:t>
            </a:r>
          </a:p>
        </p:txBody>
      </p:sp>
      <p:sp>
        <p:nvSpPr>
          <p:cNvPr id="12" name="Chip 12"/>
          <p:cNvSpPr/>
          <p:nvPr/>
        </p:nvSpPr>
        <p:spPr>
          <a:xfrm>
            <a:off x="630000" y="1939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A1 · Recopilación de antecedentes</a:t>
            </a:r>
          </a:p>
          <a:p>
            <a:pPr algn="l">
              <a:lnSpc>
                <a:spcPct val="90000"/>
              </a:lnSpc>
              <a:spcBef>
                <a:spcPts val="200"/>
              </a:spcBef>
              <a:buNone/>
            </a:pPr>
            <a:r>
              <a:rPr lang="es-CL" sz="650" dirty="0">
                <a:solidFill>
                  <a:srgbClr val="6B655C"/>
                </a:solidFill>
                <a:latin typeface="+mn-lt"/>
                <a:cs typeface="+mn-lt"/>
              </a:rPr>
              <a:t>cajas 1–3</a:t>
            </a:r>
          </a:p>
        </p:txBody>
      </p:sp>
      <p:sp>
        <p:nvSpPr>
          <p:cNvPr id="13" name="Chip 13"/>
          <p:cNvSpPr/>
          <p:nvPr/>
        </p:nvSpPr>
        <p:spPr>
          <a:xfrm>
            <a:off x="630000" y="2497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A2 · Diagnóstico de equidad y competitividad</a:t>
            </a:r>
          </a:p>
          <a:p>
            <a:pPr algn="l">
              <a:lnSpc>
                <a:spcPct val="90000"/>
              </a:lnSpc>
              <a:spcBef>
                <a:spcPts val="200"/>
              </a:spcBef>
              <a:buNone/>
            </a:pPr>
            <a:r>
              <a:rPr lang="es-CL" sz="650" dirty="0">
                <a:solidFill>
                  <a:srgbClr val="6B655C"/>
                </a:solidFill>
                <a:latin typeface="+mn-lt"/>
                <a:cs typeface="+mn-lt"/>
              </a:rPr>
              <a:t>cajas 4–8</a:t>
            </a:r>
          </a:p>
        </p:txBody>
      </p:sp>
      <p:sp>
        <p:nvSpPr>
          <p:cNvPr id="14" name="Chip 14"/>
          <p:cNvSpPr/>
          <p:nvPr/>
        </p:nvSpPr>
        <p:spPr>
          <a:xfrm>
            <a:off x="630000" y="3055332"/>
            <a:ext cx="5416675" cy="508000"/>
          </a:xfrm>
          <a:prstGeom prst="roundRect">
            <a:avLst>
              <a:gd name="adj" fmla="val 4000"/>
            </a:avLst>
          </a:prstGeom>
          <a:solidFill>
            <a:srgbClr val="E6EFF5"/>
          </a:solidFill>
          <a:ln w="9525" cap="flat">
            <a:solidFill>
              <a:srgbClr val="14567A"/>
            </a:solidFill>
          </a:ln>
        </p:spPr>
        <p:txBody>
          <a:bodyPr wrap="square" lIns="57150" tIns="57150" rIns="57150" bIns="57150" anchor="ctr">
            <a:noAutofit/>
          </a:bodyPr>
          <a:lstStyle/>
          <a:p>
            <a:pPr algn="l">
              <a:lnSpc>
                <a:spcPct val="90000"/>
              </a:lnSpc>
              <a:buNone/>
            </a:pPr>
            <a:r>
              <a:rPr lang="es-CL" sz="750" b="1" dirty="0">
                <a:solidFill>
                  <a:srgbClr val="14567A"/>
                </a:solidFill>
                <a:latin typeface="+mn-lt"/>
                <a:cs typeface="+mn-lt"/>
              </a:rPr>
              <a:t>Controles · Mecanismos de ajuste</a:t>
            </a:r>
          </a:p>
          <a:p>
            <a:pPr algn="l">
              <a:lnSpc>
                <a:spcPct val="90000"/>
              </a:lnSpc>
              <a:spcBef>
                <a:spcPts val="200"/>
              </a:spcBef>
              <a:buNone/>
            </a:pPr>
            <a:r>
              <a:rPr lang="es-CL" sz="650" dirty="0">
                <a:solidFill>
                  <a:srgbClr val="6B655C"/>
                </a:solidFill>
                <a:latin typeface="+mn-lt"/>
                <a:cs typeface="+mn-lt"/>
              </a:rPr>
              <a:t>cajas 9–13</a:t>
            </a:r>
          </a:p>
        </p:txBody>
      </p:sp>
      <p:sp>
        <p:nvSpPr>
          <p:cNvPr id="15" name="Chip 15"/>
          <p:cNvSpPr/>
          <p:nvPr/>
        </p:nvSpPr>
        <p:spPr>
          <a:xfrm>
            <a:off x="630000" y="3613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A3 · Diseño y aprobación de la propuesta</a:t>
            </a:r>
          </a:p>
          <a:p>
            <a:pPr algn="l">
              <a:lnSpc>
                <a:spcPct val="90000"/>
              </a:lnSpc>
              <a:spcBef>
                <a:spcPts val="200"/>
              </a:spcBef>
              <a:buNone/>
            </a:pPr>
            <a:r>
              <a:rPr lang="es-CL" sz="650" dirty="0">
                <a:solidFill>
                  <a:srgbClr val="6B655C"/>
                </a:solidFill>
                <a:latin typeface="+mn-lt"/>
                <a:cs typeface="+mn-lt"/>
              </a:rPr>
              <a:t>cajas 14–17</a:t>
            </a:r>
          </a:p>
        </p:txBody>
      </p:sp>
      <p:sp>
        <p:nvSpPr>
          <p:cNvPr id="16" name="Chip 16"/>
          <p:cNvSpPr/>
          <p:nvPr/>
        </p:nvSpPr>
        <p:spPr>
          <a:xfrm>
            <a:off x="630000" y="4171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A4 · Implementación en remuneraciones</a:t>
            </a:r>
          </a:p>
          <a:p>
            <a:pPr algn="l">
              <a:lnSpc>
                <a:spcPct val="90000"/>
              </a:lnSpc>
              <a:spcBef>
                <a:spcPts val="200"/>
              </a:spcBef>
              <a:buNone/>
            </a:pPr>
            <a:r>
              <a:rPr lang="es-CL" sz="650" dirty="0">
                <a:solidFill>
                  <a:srgbClr val="6B655C"/>
                </a:solidFill>
                <a:latin typeface="+mn-lt"/>
                <a:cs typeface="+mn-lt"/>
              </a:rPr>
              <a:t>caja 18</a:t>
            </a:r>
          </a:p>
        </p:txBody>
      </p:sp>
      <p:sp>
        <p:nvSpPr>
          <p:cNvPr id="17" name="Chip 17"/>
          <p:cNvSpPr/>
          <p:nvPr/>
        </p:nvSpPr>
        <p:spPr>
          <a:xfrm>
            <a:off x="630000" y="4729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A5 · Ajuste de procedimientos</a:t>
            </a:r>
          </a:p>
          <a:p>
            <a:pPr algn="l">
              <a:lnSpc>
                <a:spcPct val="90000"/>
              </a:lnSpc>
              <a:spcBef>
                <a:spcPts val="200"/>
              </a:spcBef>
              <a:buNone/>
            </a:pPr>
            <a:r>
              <a:rPr lang="es-CL" sz="650" dirty="0">
                <a:solidFill>
                  <a:srgbClr val="6B655C"/>
                </a:solidFill>
                <a:latin typeface="+mn-lt"/>
                <a:cs typeface="+mn-lt"/>
              </a:rPr>
              <a:t>caja 22</a:t>
            </a:r>
          </a:p>
        </p:txBody>
      </p:sp>
      <p:sp>
        <p:nvSpPr>
          <p:cNvPr id="18" name="Subproceso 18"/>
          <p:cNvSpPr/>
          <p:nvPr/>
        </p:nvSpPr>
        <p:spPr>
          <a:xfrm>
            <a:off x="6146675" y="1475274"/>
            <a:ext cx="5416675"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F14</a:t>
            </a:r>
          </a:p>
          <a:p>
            <a:pPr algn="l">
              <a:lnSpc>
                <a:spcPct val="90000"/>
              </a:lnSpc>
              <a:spcBef>
                <a:spcPts val="200"/>
              </a:spcBef>
              <a:buNone/>
            </a:pPr>
            <a:r>
              <a:rPr lang="es-CL" sz="950" b="1" dirty="0">
                <a:solidFill>
                  <a:srgbClr val="FFFFFF"/>
                </a:solidFill>
                <a:latin typeface="+mn-lt"/>
                <a:cs typeface="+mn-lt"/>
              </a:rPr>
              <a:t>Beneficios</a:t>
            </a:r>
          </a:p>
        </p:txBody>
      </p:sp>
      <p:sp>
        <p:nvSpPr>
          <p:cNvPr id="19" name="Chip 19"/>
          <p:cNvSpPr/>
          <p:nvPr/>
        </p:nvSpPr>
        <p:spPr>
          <a:xfrm>
            <a:off x="6146675" y="1939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A1 · Aplicación de beneficios</a:t>
            </a:r>
          </a:p>
          <a:p>
            <a:pPr algn="l">
              <a:lnSpc>
                <a:spcPct val="90000"/>
              </a:lnSpc>
              <a:spcBef>
                <a:spcPts val="200"/>
              </a:spcBef>
              <a:buNone/>
            </a:pPr>
            <a:r>
              <a:rPr lang="es-CL" sz="650" dirty="0">
                <a:solidFill>
                  <a:srgbClr val="6B655C"/>
                </a:solidFill>
                <a:latin typeface="+mn-lt"/>
                <a:cs typeface="+mn-lt"/>
              </a:rPr>
              <a:t>cajas 19–21</a:t>
            </a:r>
          </a:p>
        </p:txBody>
      </p:sp>
      <p:sp>
        <p:nvSpPr>
          <p:cNvPr id="20" name="Pendientes 20"/>
          <p:cNvSpPr/>
          <p:nvPr/>
        </p:nvSpPr>
        <p:spPr>
          <a:xfrm>
            <a:off x="630000" y="5327332"/>
            <a:ext cx="10933350" cy="640461"/>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El proceso «Compensaciones y beneficios» es una propuesta: APQC 7.5.1 · 7.5.2</a:t>
            </a:r>
          </a:p>
          <a:p>
            <a:pPr algn="l">
              <a:lnSpc>
                <a:spcPct val="90000"/>
              </a:lnSpc>
              <a:spcBef>
                <a:spcPts val="200"/>
              </a:spcBef>
              <a:buNone/>
            </a:pPr>
            <a:r>
              <a:rPr lang="es-CL" sz="850" dirty="0">
                <a:solidFill>
                  <a:srgbClr val="A34100"/>
                </a:solidFill>
                <a:latin typeface="+mn-lt"/>
                <a:cs typeface="+mn-lt"/>
              </a:rPr>
              <a:t>·  F14 · cajas 1–3: Agrupación interna propuesta con base en APQC 7.5.1</a:t>
            </a:r>
          </a:p>
          <a:p>
            <a:pPr algn="l">
              <a:lnSpc>
                <a:spcPct val="90000"/>
              </a:lnSpc>
              <a:spcBef>
                <a:spcPts val="200"/>
              </a:spcBef>
              <a:buNone/>
            </a:pPr>
            <a:r>
              <a:rPr lang="es-CL" sz="850" dirty="0">
                <a:solidFill>
                  <a:srgbClr val="A34100"/>
                </a:solidFill>
                <a:latin typeface="+mn-lt"/>
                <a:cs typeface="+mn-lt"/>
              </a:rPr>
              <a:t>·  F14 · cajas 19–21: Agrupación interna propuesta con base en APQC 7.5.2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P5 · F14 · Cajas del flujo| </a:t>
            </a:r>
            <a:r>
              <a:rPr lang="es-CL" sz="2000" dirty="0">
                <a:solidFill>
                  <a:srgbClr val="A34100"/>
                </a:solidFill>
                <a:latin typeface="+mn-lt"/>
                <a:cs typeface="+mn-lt"/>
              </a:rPr>
              <a:t>Revisión de renta y beneficios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22 cajas numeradas  ·  2 decisiones sin numerar  ·  proceso P5 · Compensaciones y beneficios</a:t>
            </a:r>
          </a:p>
        </p:txBody>
      </p:sp>
      <p:graphicFrame>
        <p:nvGraphicFramePr>
          <p:cNvPr id="11" name="Tabla 11"/>
          <p:cNvGraphicFramePr>
            <a:graphicFrameLocks noGrp="1"/>
          </p:cNvGraphicFramePr>
          <p:nvPr/>
        </p:nvGraphicFramePr>
        <p:xfrm>
          <a:off x="630000" y="1475274"/>
          <a:ext cx="10933350" cy="3472344"/>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Recopilar datos internos de rentas actuales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Recopilación de antecedentes — Agrupación interna propuesta con base en APQC 7.5.1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Incorporar datos de evaluaciones de desempeño y antigüedad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Recopilación de antecedentes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el presupuesto disponible para el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Recopilación de antecedentes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Comparar sueldos actuales con la estructura definida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Calcular el compa-ratio de cada persona: sueldo dividido por el punto medio de su banda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diferencias internas y frente al mercado 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riesgos de rotación o pérdida de personal clave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Priorizar cargos y áreas críticas que requieren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¿Qué mecanismo de ajuste aplica?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428003">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1 — Movimiento de la estructura: desplazar el valor en pesos de todas las bandas por IPC y mercado</a:t>
                      </a:r>
                    </a:p>
                    <a:p>
                      <a:pPr algn="l">
                        <a:lnSpc>
                          <a:spcPct val="90000"/>
                        </a:lnSpc>
                        <a:spcBef>
                          <a:spcPts val="150"/>
                        </a:spcBef>
                        <a:buNone/>
                      </a:pPr>
                      <a:r>
                        <a:rPr lang="es-CL" sz="750" dirty="0">
                          <a:solidFill>
                            <a:srgbClr val="6B655C"/>
                          </a:solidFill>
                          <a:latin typeface="+mn-lt"/>
                          <a:cs typeface="+mn-lt"/>
                        </a:rPr>
                        <a:t>anual y para todos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 — Toda caja rotulada «Mecanismo» es un 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r>
              <a:tr h="428003">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2 — Aumento por mérito: mover a la persona dentro de su propia banda</a:t>
                      </a:r>
                    </a:p>
                    <a:p>
                      <a:pPr algn="l">
                        <a:lnSpc>
                          <a:spcPct val="90000"/>
                        </a:lnSpc>
                        <a:spcBef>
                          <a:spcPts val="150"/>
                        </a:spcBef>
                        <a:buNone/>
                      </a:pPr>
                      <a:r>
                        <a:rPr lang="es-CL" sz="750" dirty="0">
                          <a:solidFill>
                            <a:srgbClr val="6B655C"/>
                          </a:solidFill>
                          <a:latin typeface="+mn-lt"/>
                          <a:cs typeface="+mn-lt"/>
                        </a:rPr>
                        <a:t>anual y según nota de desempeño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r>
              <a:tr h="323418">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2 — Aplicar la matriz de mérito: cruce de nota de desempeño por cuartil de compa-ratio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P5 · F14 · Cajas del flujo| </a:t>
            </a:r>
            <a:r>
              <a:rPr lang="es-CL" sz="2000" dirty="0">
                <a:solidFill>
                  <a:srgbClr val="A34100"/>
                </a:solidFill>
                <a:latin typeface="+mn-lt"/>
                <a:cs typeface="+mn-lt"/>
              </a:rPr>
              <a:t>Revisión de renta y beneficios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3472344"/>
        </p:xfrm>
        <a:graphic>
          <a:graphicData uri="http://schemas.openxmlformats.org/drawingml/2006/table">
            <a:tbl>
              <a:tblPr firstRow="1"/>
              <a:tblGrid>
                <a:gridCol w="430000"/>
                <a:gridCol w="4320000"/>
                <a:gridCol w="780000"/>
                <a:gridCol w="1320000"/>
                <a:gridCol w="4083350"/>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428003">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3 — Ajuste por equidad o mercado: corregir a quien está bajo banda o en inequidad interna</a:t>
                      </a:r>
                    </a:p>
                    <a:p>
                      <a:pPr algn="l">
                        <a:lnSpc>
                          <a:spcPct val="90000"/>
                        </a:lnSpc>
                        <a:spcBef>
                          <a:spcPts val="150"/>
                        </a:spcBef>
                        <a:buNone/>
                      </a:pPr>
                      <a:r>
                        <a:rPr lang="es-CL" sz="750" dirty="0">
                          <a:solidFill>
                            <a:srgbClr val="6B655C"/>
                          </a:solidFill>
                          <a:latin typeface="+mn-lt"/>
                          <a:cs typeface="+mn-lt"/>
                        </a:rPr>
                        <a:t>fuera de ciclo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4 — Aumento por promoción: reasignar a la persona a un grado superior</a:t>
                      </a:r>
                    </a:p>
                    <a:p>
                      <a:pPr algn="l">
                        <a:lnSpc>
                          <a:spcPct val="90000"/>
                        </a:lnSpc>
                        <a:spcBef>
                          <a:spcPts val="150"/>
                        </a:spcBef>
                        <a:buNone/>
                      </a:pPr>
                      <a:r>
                        <a:rPr lang="es-CL" sz="750" dirty="0">
                          <a:solidFill>
                            <a:srgbClr val="6B655C"/>
                          </a:solidFill>
                          <a:latin typeface="+mn-lt"/>
                          <a:cs typeface="+mn-lt"/>
                        </a:rPr>
                        <a:t>fuera de ciclo y gatillado por la promoción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7.6.1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r>
              <a:tr h="323418">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Diseñar alternativas de ajuste salarial y de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A3 · Diseño y aprobación de la propuesta — Agrupación interna propuesta con base en APQC 7.5.1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el costo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A3 · Diseño y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Presentar la propuesta a Gerencia de Personas y negocios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A3 · Diseño y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Ajustar, definir versión final y realizar el flujo de aprobación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A3 · Diseño y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Ingresar los ajustes en el sistema de remuneraciones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A4 · Implementación en remuneraciones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ctr">
                        <a:lnSpc>
                          <a:spcPct val="90000"/>
                        </a:lnSpc>
                        <a:buNone/>
                      </a:pPr>
                      <a:r>
                        <a:rPr lang="es-CL" sz="850" b="1"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Incorporar los beneficios en las plataformas correspondientes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Aplicación de beneficios — Agrupación interna propuesta con base en APQC 7.5.2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3F3A33"/>
                          </a:solidFill>
                          <a:latin typeface="+mn-lt"/>
                          <a:cs typeface="+mn-lt"/>
                        </a:rPr>
                        <a:t>20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los beneficios según lo establecido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Aplicación de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ctr">
                        <a:lnSpc>
                          <a:spcPct val="90000"/>
                        </a:lnSpc>
                        <a:buNone/>
                      </a:pPr>
                      <a:r>
                        <a:rPr lang="es-CL" sz="850" b="1" dirty="0">
                          <a:solidFill>
                            <a:srgbClr val="3F3A33"/>
                          </a:solidFill>
                          <a:latin typeface="+mn-lt"/>
                          <a:cs typeface="+mn-lt"/>
                        </a:rPr>
                        <a:t>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Verificar que los ajustes se reflejen en la nómina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Aplicación de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¿Existe alguna desviación?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r>
              <a:tr h="323418">
                <a:tc>
                  <a:txBody>
                    <a:bodyPr/>
                    <a:lstStyle/>
                    <a:p>
                      <a:pPr algn="ctr">
                        <a:lnSpc>
                          <a:spcPct val="90000"/>
                        </a:lnSpc>
                        <a:buNone/>
                      </a:pPr>
                      <a:r>
                        <a:rPr lang="es-CL" sz="850" b="1" dirty="0">
                          <a:solidFill>
                            <a:srgbClr val="3F3A33"/>
                          </a:solidFill>
                          <a:latin typeface="+mn-lt"/>
                          <a:cs typeface="+mn-lt"/>
                        </a:rPr>
                        <a:t>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Ajustar los procedimientos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A5 · Ajuste de procedimientos — Agrupación interna propuesta con base en APQC 7.5.1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Cierre| </a:t>
            </a:r>
            <a:r>
              <a:rPr lang="es-CL" sz="2000" dirty="0">
                <a:solidFill>
                  <a:srgbClr val="A34100"/>
                </a:solidFill>
                <a:latin typeface="+mn-lt"/>
                <a:cs typeface="+mn-lt"/>
              </a:rPr>
              <a:t>Observaciones y tensiones detectadas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Puntos donde la clasificación quedó abierta o donde el contenido tensiona la agrupación.</a:t>
            </a:r>
          </a:p>
        </p:txBody>
      </p:sp>
      <p:graphicFrame>
        <p:nvGraphicFramePr>
          <p:cNvPr id="11" name="Tabla 11"/>
          <p:cNvGraphicFramePr>
            <a:graphicFrameLocks noGrp="1"/>
          </p:cNvGraphicFramePr>
          <p:nvPr/>
        </p:nvGraphicFramePr>
        <p:xfrm>
          <a:off x="630000" y="1489218"/>
          <a:ext cx="10933350" cy="2648507"/>
        </p:xfrm>
        <a:graphic>
          <a:graphicData uri="http://schemas.openxmlformats.org/drawingml/2006/table">
            <a:tbl>
              <a:tblPr firstRow="1"/>
              <a:tblGrid>
                <a:gridCol w="1800000"/>
                <a:gridCol w="4600000"/>
                <a:gridCol w="4533350"/>
              </a:tblGrid>
              <a:tr h="211861">
                <a:tc>
                  <a:txBody>
                    <a:bodyPr/>
                    <a:lstStyle/>
                    <a:p>
                      <a:pPr algn="l">
                        <a:lnSpc>
                          <a:spcPct val="90000"/>
                        </a:lnSpc>
                        <a:buNone/>
                      </a:pPr>
                      <a:r>
                        <a:rPr lang="es-CL" sz="900" b="1" dirty="0">
                          <a:solidFill>
                            <a:srgbClr val="FFFFFF"/>
                          </a:solidFill>
                          <a:latin typeface="+mn-lt"/>
                          <a:cs typeface="+mn-lt"/>
                        </a:rPr>
                        <a:t>Dónde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Qué se observó</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Qué hay que resolver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323418">
                <a:tc>
                  <a:txBody>
                    <a:bodyPr/>
                    <a:lstStyle/>
                    <a:p>
                      <a:pPr algn="l">
                        <a:lnSpc>
                          <a:spcPct val="90000"/>
                        </a:lnSpc>
                        <a:buNone/>
                      </a:pPr>
                      <a:r>
                        <a:rPr lang="es-CL" sz="850" b="1" dirty="0">
                          <a:solidFill>
                            <a:srgbClr val="3F3A33"/>
                          </a:solidFill>
                          <a:latin typeface="+mn-lt"/>
                          <a:cs typeface="+mn-lt"/>
                        </a:rPr>
                        <a:t>F1 · caja 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«Estimar dotación futura según proyecciones» rotula el subproceso 2, pero no quedó dentro de las actividades 2–6.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Confirmar si es actividad de cierre o solo el rótulo.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F2 · cajas 12–13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Revalorización anual del grado y administración transversal del marco quedaron en el subproceso 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Por contenido podrían pertenecer al subproceso 3, que es justamente la administración periódica.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l">
                        <a:lnSpc>
                          <a:spcPct val="90000"/>
                        </a:lnSpc>
                        <a:buNone/>
                      </a:pPr>
                      <a:r>
                        <a:rPr lang="es-CL" sz="850" b="1" dirty="0">
                          <a:solidFill>
                            <a:srgbClr val="3F3A33"/>
                          </a:solidFill>
                          <a:latin typeface="+mn-lt"/>
                          <a:cs typeface="+mn-lt"/>
                        </a:rPr>
                        <a:t>F3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El subproceso está definido, pero no la jerarquía interna de sus 15 cajas.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Definir qué cajas son actividades y qué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l">
                        <a:lnSpc>
                          <a:spcPct val="90000"/>
                        </a:lnSpc>
                        <a:buNone/>
                      </a:pPr>
                      <a:r>
                        <a:rPr lang="es-CL" sz="850" b="1" dirty="0">
                          <a:solidFill>
                            <a:srgbClr val="3F3A33"/>
                          </a:solidFill>
                          <a:latin typeface="+mn-lt"/>
                          <a:cs typeface="+mn-lt"/>
                        </a:rPr>
                        <a:t>F4 a F10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Cada fase es una actividad y sus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Depurar las tareas demasiado operativas para el manual.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l">
                        <a:lnSpc>
                          <a:spcPct val="90000"/>
                        </a:lnSpc>
                        <a:buNone/>
                      </a:pPr>
                      <a:r>
                        <a:rPr lang="es-CL" sz="850" b="1" dirty="0">
                          <a:solidFill>
                            <a:srgbClr val="3F3A33"/>
                          </a:solidFill>
                          <a:latin typeface="+mn-lt"/>
                          <a:cs typeface="+mn-lt"/>
                        </a:rPr>
                        <a:t>F11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19 cajas sin agrupar.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Se propone una agrupación en 6 actividades según APQC 7.3.4.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323418">
                <a:tc>
                  <a:txBody>
                    <a:bodyPr/>
                    <a:lstStyle/>
                    <a:p>
                      <a:pPr algn="l">
                        <a:lnSpc>
                          <a:spcPct val="90000"/>
                        </a:lnSpc>
                        <a:buNone/>
                      </a:pPr>
                      <a:r>
                        <a:rPr lang="es-CL" sz="850" b="1" dirty="0">
                          <a:solidFill>
                            <a:srgbClr val="3F3A33"/>
                          </a:solidFill>
                          <a:latin typeface="+mn-lt"/>
                          <a:cs typeface="+mn-lt"/>
                        </a:rPr>
                        <a:t>F12 · caja 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«Establecer el calendario del proceso de evaluación» es de nivel estratégico.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Requiere un proceso transversal de programación anual que hoy no existe.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323418">
                <a:tc>
                  <a:txBody>
                    <a:bodyPr/>
                    <a:lstStyle/>
                    <a:p>
                      <a:pPr algn="l">
                        <a:lnSpc>
                          <a:spcPct val="90000"/>
                        </a:lnSpc>
                        <a:buNone/>
                      </a:pPr>
                      <a:r>
                        <a:rPr lang="es-CL" sz="850" b="1" dirty="0">
                          <a:solidFill>
                            <a:srgbClr val="3F3A33"/>
                          </a:solidFill>
                          <a:latin typeface="+mn-lt"/>
                          <a:cs typeface="+mn-lt"/>
                        </a:rPr>
                        <a:t>F12 · cajas 5 y 30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Los marcadores «Ola 2 · mayo» y «Ola 3 · octubre a diciembre» no quedaron asignados.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Definir si son cajas del flujo o solo hitos de calendario.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04889">
                <a:tc>
                  <a:txBody>
                    <a:bodyPr/>
                    <a:lstStyle/>
                    <a:p>
                      <a:pPr algn="l">
                        <a:lnSpc>
                          <a:spcPct val="90000"/>
                        </a:lnSpc>
                        <a:buNone/>
                      </a:pPr>
                      <a:r>
                        <a:rPr lang="es-CL" sz="850" b="1" dirty="0">
                          <a:solidFill>
                            <a:srgbClr val="3F3A33"/>
                          </a:solidFill>
                          <a:latin typeface="+mn-lt"/>
                          <a:cs typeface="+mn-lt"/>
                        </a:rPr>
                        <a:t>F13 · cajas 5 y 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La caja 5 es control; la caja 6 quedó sin definir entre control y 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Cerrar la definición de la caja 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04889">
                <a:tc>
                  <a:txBody>
                    <a:bodyPr/>
                    <a:lstStyle/>
                    <a:p>
                      <a:pPr algn="l">
                        <a:lnSpc>
                          <a:spcPct val="90000"/>
                        </a:lnSpc>
                        <a:buNone/>
                      </a:pPr>
                      <a:r>
                        <a:rPr lang="es-CL" sz="850" b="1" dirty="0">
                          <a:solidFill>
                            <a:srgbClr val="3F3A33"/>
                          </a:solidFill>
                          <a:latin typeface="+mn-lt"/>
                          <a:cs typeface="+mn-lt"/>
                        </a:rPr>
                        <a:t>F14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Dos bloques: remuneración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Se propone que sean subprocesos de un mismo 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Cierre| </a:t>
            </a:r>
            <a:r>
              <a:rPr lang="es-CL" sz="2000" dirty="0">
                <a:solidFill>
                  <a:srgbClr val="A34100"/>
                </a:solidFill>
                <a:latin typeface="+mn-lt"/>
                <a:cs typeface="+mn-lt"/>
              </a:rPr>
              <a:t>Preguntas para validar</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Definiciones que requieren confirmación antes de completar el manual.</a:t>
            </a:r>
          </a:p>
        </p:txBody>
      </p:sp>
      <p:sp>
        <p:nvSpPr>
          <p:cNvPr id="11" name="Tarjeta 11"/>
          <p:cNvSpPr/>
          <p:nvPr/>
        </p:nvSpPr>
        <p:spPr>
          <a:xfrm>
            <a:off x="630000" y="1489218"/>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01</a:t>
            </a:r>
          </a:p>
          <a:p>
            <a:pPr algn="l">
              <a:lnSpc>
                <a:spcPct val="90000"/>
              </a:lnSpc>
              <a:spcBef>
                <a:spcPts val="200"/>
              </a:spcBef>
              <a:buNone/>
            </a:pPr>
            <a:r>
              <a:rPr lang="es-CL" sz="950" dirty="0">
                <a:solidFill>
                  <a:srgbClr val="3F3A33"/>
                </a:solidFill>
                <a:latin typeface="+mn-lt"/>
                <a:cs typeface="+mn-lt"/>
              </a:rPr>
              <a:t>¿El proceso padre de la fase 3 es «Atracción y selección de personas» o se define otro nombre?</a:t>
            </a:r>
          </a:p>
        </p:txBody>
      </p:sp>
      <p:sp>
        <p:nvSpPr>
          <p:cNvPr id="12" name="Tarjeta 12"/>
          <p:cNvSpPr/>
          <p:nvPr/>
        </p:nvSpPr>
        <p:spPr>
          <a:xfrm>
            <a:off x="4314450" y="1489218"/>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02</a:t>
            </a:r>
          </a:p>
          <a:p>
            <a:pPr algn="l">
              <a:lnSpc>
                <a:spcPct val="90000"/>
              </a:lnSpc>
              <a:spcBef>
                <a:spcPts val="200"/>
              </a:spcBef>
              <a:buNone/>
            </a:pPr>
            <a:r>
              <a:rPr lang="es-CL" sz="950" dirty="0">
                <a:solidFill>
                  <a:srgbClr val="3F3A33"/>
                </a:solidFill>
                <a:latin typeface="+mn-lt"/>
                <a:cs typeface="+mn-lt"/>
              </a:rPr>
              <a:t>¿Las fases 4 a 10 se agrupan en los cuatro subprocesos propuestos o en otra estructura?</a:t>
            </a:r>
          </a:p>
        </p:txBody>
      </p:sp>
      <p:sp>
        <p:nvSpPr>
          <p:cNvPr id="13" name="Tarjeta 13"/>
          <p:cNvSpPr/>
          <p:nvPr/>
        </p:nvSpPr>
        <p:spPr>
          <a:xfrm>
            <a:off x="7998900" y="1489218"/>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03</a:t>
            </a:r>
          </a:p>
          <a:p>
            <a:pPr algn="l">
              <a:lnSpc>
                <a:spcPct val="90000"/>
              </a:lnSpc>
              <a:spcBef>
                <a:spcPts val="200"/>
              </a:spcBef>
              <a:buNone/>
            </a:pPr>
            <a:r>
              <a:rPr lang="es-CL" sz="950" dirty="0">
                <a:solidFill>
                  <a:srgbClr val="3F3A33"/>
                </a:solidFill>
                <a:latin typeface="+mn-lt"/>
                <a:cs typeface="+mn-lt"/>
              </a:rPr>
              <a:t>¿«Carrera, sucesión y movilidad» queda bajo «Desarrollo organizacional»?</a:t>
            </a:r>
          </a:p>
        </p:txBody>
      </p:sp>
      <p:sp>
        <p:nvSpPr>
          <p:cNvPr id="14" name="Tarjeta 14"/>
          <p:cNvSpPr/>
          <p:nvPr/>
        </p:nvSpPr>
        <p:spPr>
          <a:xfrm>
            <a:off x="630000" y="2207845"/>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04</a:t>
            </a:r>
          </a:p>
          <a:p>
            <a:pPr algn="l">
              <a:lnSpc>
                <a:spcPct val="90000"/>
              </a:lnSpc>
              <a:spcBef>
                <a:spcPts val="200"/>
              </a:spcBef>
              <a:buNone/>
            </a:pPr>
            <a:r>
              <a:rPr lang="es-CL" sz="950" dirty="0">
                <a:solidFill>
                  <a:srgbClr val="3F3A33"/>
                </a:solidFill>
                <a:latin typeface="+mn-lt"/>
                <a:cs typeface="+mn-lt"/>
              </a:rPr>
              <a:t>¿«Remuneración y compensación» y «Beneficios» son subprocesos de un proceso mayor?</a:t>
            </a:r>
          </a:p>
        </p:txBody>
      </p:sp>
      <p:sp>
        <p:nvSpPr>
          <p:cNvPr id="15" name="Tarjeta 15"/>
          <p:cNvSpPr/>
          <p:nvPr/>
        </p:nvSpPr>
        <p:spPr>
          <a:xfrm>
            <a:off x="4314450" y="2207845"/>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05</a:t>
            </a:r>
          </a:p>
          <a:p>
            <a:pPr algn="l">
              <a:lnSpc>
                <a:spcPct val="90000"/>
              </a:lnSpc>
              <a:spcBef>
                <a:spcPts val="200"/>
              </a:spcBef>
              <a:buNone/>
            </a:pPr>
            <a:r>
              <a:rPr lang="es-CL" sz="950" dirty="0">
                <a:solidFill>
                  <a:srgbClr val="3F3A33"/>
                </a:solidFill>
                <a:latin typeface="+mn-lt"/>
                <a:cs typeface="+mn-lt"/>
              </a:rPr>
              <a:t>¿Ese proceso mayor absorbe también la fase 2 o la fase 2 se mantiene como proceso propio?</a:t>
            </a:r>
          </a:p>
        </p:txBody>
      </p:sp>
      <p:sp>
        <p:nvSpPr>
          <p:cNvPr id="16" name="Tarjeta 16"/>
          <p:cNvSpPr/>
          <p:nvPr/>
        </p:nvSpPr>
        <p:spPr>
          <a:xfrm>
            <a:off x="7998900" y="2207845"/>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06</a:t>
            </a:r>
          </a:p>
          <a:p>
            <a:pPr algn="l">
              <a:lnSpc>
                <a:spcPct val="90000"/>
              </a:lnSpc>
              <a:spcBef>
                <a:spcPts val="200"/>
              </a:spcBef>
              <a:buNone/>
            </a:pPr>
            <a:r>
              <a:rPr lang="es-CL" sz="950" dirty="0">
                <a:solidFill>
                  <a:srgbClr val="3F3A33"/>
                </a:solidFill>
                <a:latin typeface="+mn-lt"/>
                <a:cs typeface="+mn-lt"/>
              </a:rPr>
              <a:t>¿Cómo se llama el subproceso 4 de la fase 2 y qué cajas lo componen finalmente?</a:t>
            </a:r>
          </a:p>
        </p:txBody>
      </p:sp>
      <p:sp>
        <p:nvSpPr>
          <p:cNvPr id="17" name="Tarjeta 17"/>
          <p:cNvSpPr/>
          <p:nvPr/>
        </p:nvSpPr>
        <p:spPr>
          <a:xfrm>
            <a:off x="630000" y="2926472"/>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07</a:t>
            </a:r>
          </a:p>
          <a:p>
            <a:pPr algn="l">
              <a:lnSpc>
                <a:spcPct val="90000"/>
              </a:lnSpc>
              <a:spcBef>
                <a:spcPts val="200"/>
              </a:spcBef>
              <a:buNone/>
            </a:pPr>
            <a:r>
              <a:rPr lang="es-CL" sz="950" dirty="0">
                <a:solidFill>
                  <a:srgbClr val="3F3A33"/>
                </a:solidFill>
                <a:latin typeface="+mn-lt"/>
                <a:cs typeface="+mn-lt"/>
              </a:rPr>
              <a:t>¿Dónde se aloja el calendario anual de evaluación que salió de la fase 12?</a:t>
            </a:r>
          </a:p>
        </p:txBody>
      </p:sp>
      <p:sp>
        <p:nvSpPr>
          <p:cNvPr id="18" name="Tarjeta 18"/>
          <p:cNvSpPr/>
          <p:nvPr/>
        </p:nvSpPr>
        <p:spPr>
          <a:xfrm>
            <a:off x="4314450" y="2926472"/>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08</a:t>
            </a:r>
          </a:p>
          <a:p>
            <a:pPr algn="l">
              <a:lnSpc>
                <a:spcPct val="90000"/>
              </a:lnSpc>
              <a:spcBef>
                <a:spcPts val="200"/>
              </a:spcBef>
              <a:buNone/>
            </a:pPr>
            <a:r>
              <a:rPr lang="es-CL" sz="950" dirty="0">
                <a:solidFill>
                  <a:srgbClr val="3F3A33"/>
                </a:solidFill>
                <a:latin typeface="+mn-lt"/>
                <a:cs typeface="+mn-lt"/>
              </a:rPr>
              <a:t>¿Qué nombre reciben las actividades sin denominar de la fase 13?</a:t>
            </a:r>
          </a:p>
        </p:txBody>
      </p:sp>
      <p:sp>
        <p:nvSpPr>
          <p:cNvPr id="19" name="Tarjeta 19"/>
          <p:cNvSpPr/>
          <p:nvPr/>
        </p:nvSpPr>
        <p:spPr>
          <a:xfrm>
            <a:off x="7998900" y="2926472"/>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09</a:t>
            </a:r>
          </a:p>
          <a:p>
            <a:pPr algn="l">
              <a:lnSpc>
                <a:spcPct val="90000"/>
              </a:lnSpc>
              <a:spcBef>
                <a:spcPts val="200"/>
              </a:spcBef>
              <a:buNone/>
            </a:pPr>
            <a:r>
              <a:rPr lang="es-CL" sz="950" dirty="0">
                <a:solidFill>
                  <a:srgbClr val="3F3A33"/>
                </a:solidFill>
                <a:latin typeface="+mn-lt"/>
                <a:cs typeface="+mn-lt"/>
              </a:rPr>
              <a:t>¿Las cajas «Ola» de la fase 12 se conservan como cajas del flujo?</a:t>
            </a:r>
          </a:p>
        </p:txBody>
      </p:sp>
      <p:sp>
        <p:nvSpPr>
          <p:cNvPr id="20" name="Texto 20"/>
          <p:cNvSpPr/>
          <p:nvPr/>
        </p:nvSpPr>
        <p:spPr>
          <a:xfrm>
            <a:off x="630000" y="3615099"/>
            <a:ext cx="10933350" cy="490055"/>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Cómo se cierran</a:t>
            </a:r>
          </a:p>
          <a:p>
            <a:pPr algn="l">
              <a:lnSpc>
                <a:spcPct val="90000"/>
              </a:lnSpc>
              <a:spcBef>
                <a:spcPts val="200"/>
              </a:spcBef>
              <a:buNone/>
            </a:pPr>
            <a:r>
              <a:rPr lang="es-CL" sz="1000" dirty="0">
                <a:solidFill>
                  <a:srgbClr val="3F3A33"/>
                </a:solidFill>
                <a:latin typeface="+mn-lt"/>
                <a:cs typeface="+mn-lt"/>
              </a:rPr>
              <a:t>Cada respuesta se marca sobre este mismo borrador: el texto pasa de naranjo o gris a color normal cuando queda confirmado. Así el documento registra qué se validó y qué sigue abierto, sin necesidad de una planilla aparte.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Cierre| </a:t>
            </a:r>
            <a:r>
              <a:rPr lang="es-CL" sz="2000" dirty="0">
                <a:solidFill>
                  <a:srgbClr val="A34100"/>
                </a:solidFill>
                <a:latin typeface="+mn-lt"/>
                <a:cs typeface="+mn-lt"/>
              </a:rPr>
              <a:t>Fundamento y trazabilidad</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Ninguna propuesta de este borrador proviene de fuentes informales.</a:t>
            </a:r>
          </a:p>
        </p:txBody>
      </p:sp>
      <p:sp>
        <p:nvSpPr>
          <p:cNvPr id="11" name="Texto 11"/>
          <p:cNvSpPr/>
          <p:nvPr/>
        </p:nvSpPr>
        <p:spPr>
          <a:xfrm>
            <a:off x="630000" y="3062245"/>
            <a:ext cx="10933350" cy="218135"/>
          </a:xfrm>
          <a:prstGeom prst="rect">
            <a:avLst/>
          </a:prstGeom>
          <a:noFill/>
          <a:ln>
            <a:noFill/>
          </a:ln>
        </p:spPr>
        <p:txBody>
          <a:bodyPr wrap="square" lIns="25400" tIns="25400" rIns="25400" bIns="25400" anchor="t">
            <a:noAutofit/>
          </a:bodyPr>
          <a:lstStyle/>
          <a:p>
            <a:pPr algn="l">
              <a:lnSpc>
                <a:spcPct val="90000"/>
              </a:lnSpc>
              <a:buNone/>
            </a:pPr>
            <a:r>
              <a:rPr lang="es-CL" sz="1200" b="1" dirty="0">
                <a:solidFill>
                  <a:srgbClr val="A34100"/>
                </a:solidFill>
                <a:latin typeface="+mn-lt"/>
                <a:cs typeface="+mn-lt"/>
              </a:rPr>
              <a:t>Próximos pasos</a:t>
            </a:r>
          </a:p>
        </p:txBody>
      </p:sp>
      <p:sp>
        <p:nvSpPr>
          <p:cNvPr id="12" name="Tarjeta 12"/>
          <p:cNvSpPr/>
          <p:nvPr/>
        </p:nvSpPr>
        <p:spPr>
          <a:xfrm>
            <a:off x="630000" y="3370380"/>
            <a:ext cx="3564450" cy="765962"/>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600" b="1" dirty="0">
                <a:solidFill>
                  <a:srgbClr val="A34100"/>
                </a:solidFill>
                <a:latin typeface="+mn-lt"/>
                <a:cs typeface="+mn-lt"/>
              </a:rPr>
              <a:t>1</a:t>
            </a:r>
          </a:p>
          <a:p>
            <a:pPr algn="l">
              <a:lnSpc>
                <a:spcPct val="90000"/>
              </a:lnSpc>
              <a:spcBef>
                <a:spcPts val="200"/>
              </a:spcBef>
              <a:buNone/>
            </a:pPr>
            <a:r>
              <a:rPr lang="es-CL" sz="1000" b="1" dirty="0">
                <a:solidFill>
                  <a:srgbClr val="3F3A33"/>
                </a:solidFill>
                <a:latin typeface="+mn-lt"/>
                <a:cs typeface="+mn-lt"/>
              </a:rPr>
              <a:t>Validar con Isi</a:t>
            </a:r>
          </a:p>
          <a:p>
            <a:pPr algn="l">
              <a:lnSpc>
                <a:spcPct val="90000"/>
              </a:lnSpc>
              <a:spcBef>
                <a:spcPts val="200"/>
              </a:spcBef>
              <a:buNone/>
            </a:pPr>
            <a:r>
              <a:rPr lang="es-CL" sz="900" dirty="0">
                <a:solidFill>
                  <a:srgbClr val="3F3A33"/>
                </a:solidFill>
                <a:latin typeface="+mn-lt"/>
                <a:cs typeface="+mn-lt"/>
              </a:rPr>
              <a:t>Cerrar las nueve preguntas abiertas y fijar los nombres propuestos.</a:t>
            </a:r>
          </a:p>
        </p:txBody>
      </p:sp>
      <p:sp>
        <p:nvSpPr>
          <p:cNvPr id="13" name="Tarjeta 13"/>
          <p:cNvSpPr/>
          <p:nvPr/>
        </p:nvSpPr>
        <p:spPr>
          <a:xfrm>
            <a:off x="4314450" y="3370380"/>
            <a:ext cx="3564450" cy="765962"/>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600" b="1" dirty="0">
                <a:solidFill>
                  <a:srgbClr val="A34100"/>
                </a:solidFill>
                <a:latin typeface="+mn-lt"/>
                <a:cs typeface="+mn-lt"/>
              </a:rPr>
              <a:t>2</a:t>
            </a:r>
          </a:p>
          <a:p>
            <a:pPr algn="l">
              <a:lnSpc>
                <a:spcPct val="90000"/>
              </a:lnSpc>
              <a:spcBef>
                <a:spcPts val="200"/>
              </a:spcBef>
              <a:buNone/>
            </a:pPr>
            <a:r>
              <a:rPr lang="es-CL" sz="1000" b="1" dirty="0">
                <a:solidFill>
                  <a:srgbClr val="3F3A33"/>
                </a:solidFill>
                <a:latin typeface="+mn-lt"/>
                <a:cs typeface="+mn-lt"/>
              </a:rPr>
              <a:t>Completar el alcance</a:t>
            </a:r>
          </a:p>
          <a:p>
            <a:pPr algn="l">
              <a:lnSpc>
                <a:spcPct val="90000"/>
              </a:lnSpc>
              <a:spcBef>
                <a:spcPts val="200"/>
              </a:spcBef>
              <a:buNone/>
            </a:pPr>
            <a:r>
              <a:rPr lang="es-CL" sz="900" dirty="0">
                <a:solidFill>
                  <a:srgbClr val="3F3A33"/>
                </a:solidFill>
                <a:latin typeface="+mn-lt"/>
                <a:cs typeface="+mn-lt"/>
              </a:rPr>
              <a:t>Revisar las fases 0 y 15 a 18 e incorporarlas a la arquitectura.</a:t>
            </a:r>
          </a:p>
        </p:txBody>
      </p:sp>
      <p:sp>
        <p:nvSpPr>
          <p:cNvPr id="14" name="Tarjeta 14"/>
          <p:cNvSpPr/>
          <p:nvPr/>
        </p:nvSpPr>
        <p:spPr>
          <a:xfrm>
            <a:off x="7998900" y="3370380"/>
            <a:ext cx="3564450" cy="765962"/>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600" b="1" dirty="0">
                <a:solidFill>
                  <a:srgbClr val="A34100"/>
                </a:solidFill>
                <a:latin typeface="+mn-lt"/>
                <a:cs typeface="+mn-lt"/>
              </a:rPr>
              <a:t>3</a:t>
            </a:r>
          </a:p>
          <a:p>
            <a:pPr algn="l">
              <a:lnSpc>
                <a:spcPct val="90000"/>
              </a:lnSpc>
              <a:spcBef>
                <a:spcPts val="200"/>
              </a:spcBef>
              <a:buNone/>
            </a:pPr>
            <a:r>
              <a:rPr lang="es-CL" sz="1000" b="1" dirty="0">
                <a:solidFill>
                  <a:srgbClr val="3F3A33"/>
                </a:solidFill>
                <a:latin typeface="+mn-lt"/>
                <a:cs typeface="+mn-lt"/>
              </a:rPr>
              <a:t>Redactar el manual</a:t>
            </a:r>
          </a:p>
          <a:p>
            <a:pPr algn="l">
              <a:lnSpc>
                <a:spcPct val="90000"/>
              </a:lnSpc>
              <a:spcBef>
                <a:spcPts val="200"/>
              </a:spcBef>
              <a:buNone/>
            </a:pPr>
            <a:r>
              <a:rPr lang="es-CL" sz="900" dirty="0">
                <a:solidFill>
                  <a:srgbClr val="3F3A33"/>
                </a:solidFill>
                <a:latin typeface="+mn-lt"/>
                <a:cs typeface="+mn-lt"/>
              </a:rPr>
              <a:t>Recién entonces llenar fichas resumen, SIPOC y flujogramas por subproceso.</a:t>
            </a:r>
          </a:p>
        </p:txBody>
      </p:sp>
      <p:graphicFrame>
        <p:nvGraphicFramePr>
          <p:cNvPr id="15" name="Tabla 15"/>
          <p:cNvGraphicFramePr>
            <a:graphicFrameLocks noGrp="1"/>
          </p:cNvGraphicFramePr>
          <p:nvPr/>
        </p:nvGraphicFramePr>
        <p:xfrm>
          <a:off x="630000" y="1489218"/>
          <a:ext cx="10933350" cy="1483027"/>
        </p:xfrm>
        <a:graphic>
          <a:graphicData uri="http://schemas.openxmlformats.org/drawingml/2006/table">
            <a:tbl>
              <a:tblPr firstRow="1"/>
              <a:tblGrid>
                <a:gridCol w="3200000"/>
                <a:gridCol w="7733350"/>
              </a:tblGrid>
              <a:tr h="211861">
                <a:tc>
                  <a:txBody>
                    <a:bodyPr/>
                    <a:lstStyle/>
                    <a:p>
                      <a:pPr algn="l">
                        <a:lnSpc>
                          <a:spcPct val="90000"/>
                        </a:lnSpc>
                        <a:buNone/>
                      </a:pPr>
                      <a:r>
                        <a:rPr lang="es-CL" sz="900" b="1" dirty="0">
                          <a:solidFill>
                            <a:srgbClr val="FFFFFF"/>
                          </a:solidFill>
                          <a:latin typeface="+mn-lt"/>
                          <a:cs typeface="+mn-lt"/>
                        </a:rPr>
                        <a:t>Fuente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Qué aporta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r>
              <a:tr h="211861">
                <a:tc>
                  <a:txBody>
                    <a:bodyPr/>
                    <a:lstStyle/>
                    <a:p>
                      <a:pPr algn="l">
                        <a:lnSpc>
                          <a:spcPct val="90000"/>
                        </a:lnSpc>
                        <a:buNone/>
                      </a:pPr>
                      <a:r>
                        <a:rPr lang="es-CL" sz="900" b="1" dirty="0">
                          <a:solidFill>
                            <a:srgbClr val="3F3A33"/>
                          </a:solidFill>
                          <a:latin typeface="+mn-lt"/>
                          <a:cs typeface="+mn-lt"/>
                        </a:rPr>
                        <a:t>APQC PCF v8.0 · Categoría 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Orden y códigos de proceso; base de toda propuesta de agrupación.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Procedimientos vigentes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Loreto (atracción y selección), Vanesa (desempeño), Rocío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Paula Silva A–H (2024)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Antecedentes de compensaciones y estructura de cargos.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Jornada MGO (24-feb)</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Marco metodológico de modelamiento de procesos.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r h="211861">
                <a:tc>
                  <a:txBody>
                    <a:bodyPr/>
                    <a:lstStyle/>
                    <a:p>
                      <a:pPr algn="l">
                        <a:lnSpc>
                          <a:spcPct val="90000"/>
                        </a:lnSpc>
                        <a:buNone/>
                      </a:pPr>
                      <a:r>
                        <a:rPr lang="es-CL" sz="900" b="1" dirty="0">
                          <a:solidFill>
                            <a:srgbClr val="3F3A33"/>
                          </a:solidFill>
                          <a:latin typeface="+mn-lt"/>
                          <a:cs typeface="+mn-lt"/>
                        </a:rPr>
                        <a:t>Cuaderno de entrevistas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Loreto, Vanesa y Ariel; levantado y aún por validar.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r>
              <a:tr h="211861">
                <a:tc>
                  <a:txBody>
                    <a:bodyPr/>
                    <a:lstStyle/>
                    <a:p>
                      <a:pPr algn="l">
                        <a:lnSpc>
                          <a:spcPct val="90000"/>
                        </a:lnSpc>
                        <a:buNone/>
                      </a:pPr>
                      <a:r>
                        <a:rPr lang="es-CL" sz="900" b="1" dirty="0">
                          <a:solidFill>
                            <a:srgbClr val="3F3A33"/>
                          </a:solidFill>
                          <a:latin typeface="+mn-lt"/>
                          <a:cs typeface="+mn-lt"/>
                        </a:rPr>
                        <a:t>Revisión con Isi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Clasificación jerárquica de las fases 1 a 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9E35590500FFD4BB6D05B34108B1210" ma:contentTypeVersion="15" ma:contentTypeDescription="Crear nuevo documento." ma:contentTypeScope="" ma:versionID="f8b0f18d71c294ff992b226ddac6f6ed">
  <xsd:schema xmlns:xsd="http://www.w3.org/2001/XMLSchema" xmlns:xs="http://www.w3.org/2001/XMLSchema" xmlns:p="http://schemas.microsoft.com/office/2006/metadata/properties" xmlns:ns2="0b73e489-f742-4c68-8bbe-441f4455f5a7" xmlns:ns3="ff080255-02de-4aea-8fdc-cd6a1f05e83f" targetNamespace="http://schemas.microsoft.com/office/2006/metadata/properties" ma:root="true" ma:fieldsID="1b27b58f6fb9090f24a0fdb4976ccc68" ns2:_="" ns3:_="">
    <xsd:import namespace="0b73e489-f742-4c68-8bbe-441f4455f5a7"/>
    <xsd:import namespace="ff080255-02de-4aea-8fdc-cd6a1f05e8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73e489-f742-4c68-8bbe-441f4455f5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00a4a071-7ff2-4c61-8097-7437831337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Status" ma:index="22" nillable="true" ma:displayName="Status" ma:format="Dropdown" ma:internalName="Statu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080255-02de-4aea-8fdc-cd6a1f05e83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8e862e-3d4c-48ae-9d5f-da6bf01ce447}" ma:internalName="TaxCatchAll" ma:showField="CatchAllData" ma:web="ff080255-02de-4aea-8fdc-cd6a1f05e8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b73e489-f742-4c68-8bbe-441f4455f5a7">
      <Terms xmlns="http://schemas.microsoft.com/office/infopath/2007/PartnerControls"/>
    </lcf76f155ced4ddcb4097134ff3c332f>
    <TaxCatchAll xmlns="ff080255-02de-4aea-8fdc-cd6a1f05e83f" xsi:nil="true"/>
    <Status xmlns="0b73e489-f742-4c68-8bbe-441f4455f5a7" xsi:nil="true"/>
  </documentManagement>
</p:properties>
</file>

<file path=customXml/itemProps1.xml><?xml version="1.0" encoding="utf-8"?>
<ds:datastoreItem xmlns:ds="http://schemas.openxmlformats.org/officeDocument/2006/customXml" ds:itemID="{B125A8A1-2F91-49F2-82AF-A0A0431DA748}">
  <ds:schemaRefs>
    <ds:schemaRef ds:uri="http://schemas.microsoft.com/sharepoint/v3/contenttype/forms"/>
  </ds:schemaRefs>
</ds:datastoreItem>
</file>

<file path=customXml/itemProps2.xml><?xml version="1.0" encoding="utf-8"?>
<ds:datastoreItem xmlns:ds="http://schemas.openxmlformats.org/officeDocument/2006/customXml" ds:itemID="{44C212A3-0C5C-46A0-8A92-71D6ECB5F265}">
  <ds:schemaRefs>
    <ds:schemaRef ds:uri="0b73e489-f742-4c68-8bbe-441f4455f5a7"/>
    <ds:schemaRef ds:uri="ff080255-02de-4aea-8fdc-cd6a1f05e8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F1D1C3-3FA1-44BA-9E2A-B0C9A6026880}">
  <ds:schemaRefs>
    <ds:schemaRef ds:uri="http://www.w3.org/XML/1998/namespac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purl.org/dc/terms/"/>
    <ds:schemaRef ds:uri="http://schemas.openxmlformats.org/package/2006/metadata/core-properties"/>
    <ds:schemaRef ds:uri="ff080255-02de-4aea-8fdc-cd6a1f05e83f"/>
    <ds:schemaRef ds:uri="0b73e489-f742-4c68-8bbe-441f4455f5a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65</TotalTime>
  <Words>11345</Words>
  <Application>Microsoft Office PowerPoint</Application>
  <PresentationFormat>Widescreen</PresentationFormat>
  <Paragraphs>2619</Paragraphs>
  <Slides>56</Slides>
  <Notes>43</Notes>
  <HiddenSlides>1</HiddenSlides>
  <MMClips>0</MMClips>
  <ScaleCrop>false</ScaleCrop>
  <HeadingPairs>
    <vt:vector size="4" baseType="variant">
      <vt:variant>
        <vt:lpstr>Theme</vt:lpstr>
      </vt:variant>
      <vt:variant>
        <vt:i4>2</vt:i4>
      </vt:variant>
      <vt:variant>
        <vt:lpstr>Slide Titles</vt:lpstr>
      </vt:variant>
      <vt:variant>
        <vt:i4>56</vt:i4>
      </vt:variant>
    </vt:vector>
  </HeadingPairs>
  <TitlesOfParts>
    <vt:vector size="58" baseType="lpstr">
      <vt:lpstr>Arauco Grid 16:9</vt:lpstr>
      <vt:lpstr>1_Arauco Grid 16:9</vt:lpstr>
      <vt:lpstr>Macroprocesos | Negocio de celulosa cuenta con 21 macroprocesos</vt:lpstr>
      <vt:lpstr>1.1 Apertura macroproceso| Gestión de Mantenimiento</vt:lpstr>
      <vt:lpstr>1.2 Ficha resumen| Gestión de Mantenimiento</vt:lpstr>
      <vt:lpstr>1.3 SIPOC del macroproceso| Gestión de Mantenimiento</vt:lpstr>
      <vt:lpstr>A. Ficha resumen| Identificación</vt:lpstr>
      <vt:lpstr>A. SIPOC| Identificación</vt:lpstr>
      <vt:lpstr>A.1 Flujograma subproceso| Recepción y calidad de avisos</vt:lpstr>
      <vt:lpstr>A.1 Actividades y tareas| Recepción y calidad de avisos</vt:lpstr>
      <vt:lpstr>A.2 Flujograma subproceso| Gestión de Backlog de Avisos</vt:lpstr>
      <vt:lpstr>A.2 Actividades y tareas| Gestión Backlog Avisos</vt:lpstr>
      <vt:lpstr>1.4 Apertura macroproceso| Gestión de Mantenimiento</vt:lpstr>
      <vt:lpstr>B. Ficha resumen| Planificación</vt:lpstr>
      <vt:lpstr>B. SIPOC| Planificación</vt:lpstr>
      <vt:lpstr>B.1 Flujograma subproceso| Administración de datos maestros</vt:lpstr>
      <vt:lpstr>B.1 Actividades y tareas| Administración de datos maestros</vt:lpstr>
      <vt:lpstr>B.2 Flujograma subproceso| Gestión de repuestos</vt:lpstr>
      <vt:lpstr>B.2 Actividades y tareas | Gestión de repuestos</vt:lpstr>
      <vt:lpstr>B.3 Flujograma subproceso| Planificación de órdenes de trabajo</vt:lpstr>
      <vt:lpstr>B.3 Actividades y tareas| Planificación de órdenes de trabajo</vt:lpstr>
      <vt:lpstr>B.4 Flujograma subproceso| Administración de planes preventivos</vt:lpstr>
      <vt:lpstr>B.4 Actividades y tareas| Administración de planes preventivos</vt:lpstr>
      <vt:lpstr>B.5 Flujograma subproceso| Gestión del POI del Negocio Celulosa</vt:lpstr>
      <vt:lpstr>B.5 Actividades y tareas| Gestión del POI del Negocio Celulosa</vt:lpstr>
      <vt:lpstr>B.6 Flujograma subproceso| Gestión de presupuesto de mantenimiento</vt:lpstr>
      <vt:lpstr>B.6 Actividades y tareas| Gestión de presupuesto de mantenimiento</vt:lpstr>
      <vt:lpstr>B.7 Flujograma subproceso| Desarrollo de plan quinquenal</vt:lpstr>
      <vt:lpstr>B.7 Actividades y tareas| Desarrollo de plan quinquenal</vt:lpstr>
      <vt:lpstr>1.4 Apertura macroproceso| Gestión de Mantenimiento</vt:lpstr>
      <vt:lpstr>PowerPoint Presentation</vt:lpstr>
      <vt:lpstr>C. SIPOC| Programación</vt:lpstr>
      <vt:lpstr>C.1 Flujograma subproceso| Generación programa semanal</vt:lpstr>
      <vt:lpstr>C.1 Actividades y tareas| Gestión de programa semanal</vt:lpstr>
      <vt:lpstr>C.2 Flujograma subproceso| Generación programa Parada de Área</vt:lpstr>
      <vt:lpstr>C.1 Actividades y tareas| Gestión de programa detención programada</vt:lpstr>
      <vt:lpstr>C.3 Flujograma subproceso| Generación programa Contingencia</vt:lpstr>
      <vt:lpstr>C.3 Actividades y tareas| Generación Programa Contingencia</vt:lpstr>
      <vt:lpstr>C.3 Actividades y tareas| Generación Programa Contingencia</vt:lpstr>
      <vt:lpstr>1.4 Apertura macroproceso| Gestión de Mantenimiento</vt:lpstr>
      <vt:lpstr>D. Ficha resumen| Ejecución</vt:lpstr>
      <vt:lpstr>D. SIPOC| Ejecución</vt:lpstr>
      <vt:lpstr>D.1 Flujograma subproceso| Preparación para la ejecución</vt:lpstr>
      <vt:lpstr>D.1 Actividades y tareas| Preparación para la ejecución</vt:lpstr>
      <vt:lpstr>D.2 Flujograma subproceso| Ejecución de mantenimiento</vt:lpstr>
      <vt:lpstr>D.2 Flujograma subproceso| Ejecución de mantenimiento</vt:lpstr>
      <vt:lpstr>D.2 Flujograma subproceso| Ejecución de mantenimiento</vt:lpstr>
      <vt:lpstr>D.3 Flujograma subproceso| Gestión de fallas</vt:lpstr>
      <vt:lpstr>D.3 Actividades y tareas| Gestión de fallas</vt:lpstr>
      <vt:lpstr>D.4 Flujograma subproceso|Verificación, pruebas de Calidad y devolución</vt:lpstr>
      <vt:lpstr>D.4 Actividades y tareas| Verificación y pruebas operativas</vt:lpstr>
      <vt:lpstr>1.4 Apertura macroproceso| Gestión de Mantenimiento</vt:lpstr>
      <vt:lpstr>E. Ficha resumen| Seguimiento y Análisis</vt:lpstr>
      <vt:lpstr>E. SIPOC| Seguimiento y Análisis</vt:lpstr>
      <vt:lpstr>E.1 Flujograma subproceso| Evaluar ciclo de ejecución</vt:lpstr>
      <vt:lpstr>E.1 Actividades y tareas| Evaluar ciclo de ejecución</vt:lpstr>
      <vt:lpstr>E.2 Flujograma subproceso| Análisis de Mantenibilidad</vt:lpstr>
      <vt:lpstr>E.2 Actividades y tareas| Análisis Mantenibilidad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Analizamos la consistencia entre SIPOCs con 3 lentes</dc:title>
  <dc:creator>Isidora Patricia Correa Poblete</dc:creator>
  <cp:lastModifiedBy>Williams Santiago Hernández</cp:lastModifiedBy>
  <cp:revision>2</cp:revision>
  <cp:lastPrinted>2025-10-06T16:27:58Z</cp:lastPrinted>
  <dcterms:created xsi:type="dcterms:W3CDTF">2025-07-31T18:19:11Z</dcterms:created>
  <dcterms:modified xsi:type="dcterms:W3CDTF">2026-04-15T03:42:16Z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0x01010059E35590500FFD4BB6D05B34108B1210</vt:lpwstr>
  </property>
  <property fmtid="{D5CDD505-2E9C-101B-9397-08002B2CF9AE}" pid="3" name="MediaServiceImageTags">
    <vt:lpwstr/>
  </property>
  <property fmtid="{D5CDD505-2E9C-101B-9397-08002B2CF9AE}" pid="4" name="MSIP_Label_b0d5c4f4-7a29-4385-b7a5-afbe2154ae6f_Name">
    <vt:lpwstr>Confidential</vt:lpwstr>
  </property>
  <property fmtid="{D5CDD505-2E9C-101B-9397-08002B2CF9AE}" pid="5" name="MSIP_Label_b0d5c4f4-7a29-4385-b7a5-afbe2154ae6f_ActionId">
    <vt:lpwstr>3eed8319-1780-4910-a948-03fcd97ad372</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Tag">
    <vt:lpwstr>10, 3, 0, 1</vt:lpwstr>
  </property>
  <property fmtid="{D5CDD505-2E9C-101B-9397-08002B2CF9AE}" pid="8" name="MSIP_Label_b0d5c4f4-7a29-4385-b7a5-afbe2154ae6f_Method">
    <vt:lpwstr>Standard</vt:lpwstr>
  </property>
  <property fmtid="{D5CDD505-2E9C-101B-9397-08002B2CF9AE}" pid="9" name="MSIP_Label_b0d5c4f4-7a29-4385-b7a5-afbe2154ae6f_ContentBits">
    <vt:lpwstr>0</vt:lpwstr>
  </property>
  <property fmtid="{D5CDD505-2E9C-101B-9397-08002B2CF9AE}" pid="10" name="MSIP_Label_b0d5c4f4-7a29-4385-b7a5-afbe2154ae6f_Enabled">
    <vt:lpwstr>true</vt:lpwstr>
  </property>
  <property fmtid="{D5CDD505-2E9C-101B-9397-08002B2CF9AE}" pid="11" name="MSIP_Label_b0d5c4f4-7a29-4385-b7a5-afbe2154ae6f_SetDate">
    <vt:lpwstr>2025-08-04T16:41:55Z</vt:lpwstr>
  </property>
</Properties>
</file>