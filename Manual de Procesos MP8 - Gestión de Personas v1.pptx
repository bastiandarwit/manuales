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62"/>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 id="291" r:id="rIdS36"/>
    <p:sldId id="292" r:id="rIdS37"/>
    <p:sldId id="293" r:id="rIdS38"/>
    <p:sldId id="294" r:id="rIdS39"/>
    <p:sldId id="295" r:id="rIdS40"/>
    <p:sldId id="296" r:id="rIdS41"/>
    <p:sldId id="297" r:id="rIdS42"/>
    <p:sldId id="298" r:id="rIdS43"/>
    <p:sldId id="299" r:id="rIdS44"/>
    <p:sldId id="300" r:id="rIdS45"/>
    <p:sldId id="301" r:id="rIdS46"/>
    <p:sldId id="302" r:id="rIdS47"/>
    <p:sldId id="303" r:id="rIdS48"/>
    <p:sldId id="304" r:id="rIdS49"/>
    <p:sldId id="305" r:id="rIdS50"/>
    <p:sldId id="306" r:id="rIdS51"/>
    <p:sldId id="307" r:id="rIdS52"/>
    <p:sldId id="308" r:id="rIdS53"/>
    <p:sldId id="309" r:id="rIdS54"/>
    <p:sldId id="310" r:id="rIdS55"/>
    <p:sldId id="311" r:id="rIdS56"/>
    <p:sldId id="312" r:id="rIdS57"/>
    <p:sldId id="313" r:id="rIdS58"/>
  </p:sldIdLst>
  <p:sldSz cx="12192000" cy="6858000"/>
  <p:notesSz cx="7023100" cy="9309100"/>
  <p:custDataLst>
    <p:tags r:id="rId63"/>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roproceso" id="{DC543B89-CBDF-4E66-BBBC-93D9D4CE2076}">
          <p14:sldIdLst>
            <p14:sldId id="256"/>
            <p14:sldId id="257"/>
            <p14:sldId id="258"/>
            <p14:sldId id="259"/>
          </p14:sldIdLst>
        </p14:section>
        <p14:section name="Necesidad estratégica y plan de dotación" id="{CC74F750-C924-48AA-97E8-A584649A5C45}">
          <p14:sldIdLst>
            <p14:sldId id="260"/>
            <p14:sldId id="261"/>
            <p14:sldId id="262"/>
            <p14:sldId id="263"/>
            <p14:sldId id="264"/>
            <p14:sldId id="265"/>
            <p14:sldId id="266"/>
            <p14:sldId id="267"/>
          </p14:sldIdLst>
        </p14:section>
        <p14:section name="Valoración de cargo y banda de renta" id="{3FBC230E-A804-4749-B768-80A5675CB784}">
          <p14:sldIdLst>
            <p14:sldId id="268"/>
            <p14:sldId id="269"/>
            <p14:sldId id="270"/>
            <p14:sldId id="271"/>
            <p14:sldId id="272"/>
            <p14:sldId id="273"/>
            <p14:sldId id="274"/>
            <p14:sldId id="275"/>
            <p14:sldId id="276"/>
            <p14:sldId id="277"/>
            <p14:sldId id="278"/>
          </p14:sldIdLst>
        </p14:section>
        <p14:section name="Atracción y selección de personas" id="{59E0972A-CE3C-4958-8F1D-B1EF09526F31}">
          <p14:sldIdLst>
            <p14:sldId id="279"/>
            <p14:sldId id="280"/>
            <p14:sldId id="281"/>
            <p14:sldId id="282"/>
            <p14:sldId id="283"/>
            <p14:sldId id="284"/>
            <p14:sldId id="285"/>
            <p14:sldId id="286"/>
            <p14:sldId id="287"/>
            <p14:sldId id="288"/>
            <p14:sldId id="289"/>
            <p14:sldId id="290"/>
            <p14:sldId id="291"/>
            <p14:sldId id="292"/>
            <p14:sldId id="293"/>
          </p14:sldIdLst>
        </p14:section>
        <p14:section name="Desarrollo organizacional" id="{D5A22E77-96D3-4B53-AC67-DC2AE6DFCF8D}">
          <p14:sldIdLst>
            <p14:sldId id="294"/>
            <p14:sldId id="295"/>
            <p14:sldId id="296"/>
            <p14:sldId id="297"/>
            <p14:sldId id="298"/>
            <p14:sldId id="299"/>
            <p14:sldId id="300"/>
            <p14:sldId id="301"/>
            <p14:sldId id="302"/>
            <p14:sldId id="303"/>
            <p14:sldId id="304"/>
            <p14:sldId id="305"/>
          </p14:sldIdLst>
        </p14:section>
        <p14:section name="Compensaciones y beneficios" id="{9C53F650-DE30-45D8-BC42-813317DC6DE7}">
          <p14:sldIdLst>
            <p14:sldId id="306"/>
            <p14:sldId id="307"/>
            <p14:sldId id="308"/>
            <p14:sldId id="309"/>
            <p14:sldId id="310"/>
            <p14:sldId id="311"/>
            <p14:sldId id="31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8"/>
    <p:restoredTop sz="94719"/>
  </p:normalViewPr>
  <p:slideViewPr>
    <p:cSldViewPr snapToGrid="0">
      <p:cViewPr varScale="1">
        <p:scale>
          <a:sx n="97" d="100"/>
          <a:sy n="97" d="100"/>
        </p:scale>
        <p:origin x="122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3" Type="http://schemas.openxmlformats.org/officeDocument/2006/relationships/tags" Target="tags/tag1.xml"/><Relationship Id="rId66" Type="http://schemas.openxmlformats.org/officeDocument/2006/relationships/theme" Target="theme/theme1.xml"/><Relationship Id="rId5" Type="http://schemas.openxmlformats.org/officeDocument/2006/relationships/slideMaster" Target="slideMasters/slideMaster2.xml"/><Relationship Id="rId64" Type="http://schemas.openxmlformats.org/officeDocument/2006/relationships/presProps" Target="presProps.xml"/><Relationship Id="rId67" Type="http://schemas.openxmlformats.org/officeDocument/2006/relationships/tableStyles" Target="tableStyles.xml"/><Relationship Id="rId62"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 Id="rIdS37" Type="http://schemas.openxmlformats.org/officeDocument/2006/relationships/slide" Target="slides/slide37.xml"/><Relationship Id="rIdS38" Type="http://schemas.openxmlformats.org/officeDocument/2006/relationships/slide" Target="slides/slide38.xml"/><Relationship Id="rIdS39" Type="http://schemas.openxmlformats.org/officeDocument/2006/relationships/slide" Target="slides/slide39.xml"/><Relationship Id="rIdS40" Type="http://schemas.openxmlformats.org/officeDocument/2006/relationships/slide" Target="slides/slide40.xml"/><Relationship Id="rIdS41" Type="http://schemas.openxmlformats.org/officeDocument/2006/relationships/slide" Target="slides/slide41.xml"/><Relationship Id="rIdS42" Type="http://schemas.openxmlformats.org/officeDocument/2006/relationships/slide" Target="slides/slide42.xml"/><Relationship Id="rIdS43" Type="http://schemas.openxmlformats.org/officeDocument/2006/relationships/slide" Target="slides/slide43.xml"/><Relationship Id="rIdS44" Type="http://schemas.openxmlformats.org/officeDocument/2006/relationships/slide" Target="slides/slide44.xml"/><Relationship Id="rIdS45" Type="http://schemas.openxmlformats.org/officeDocument/2006/relationships/slide" Target="slides/slide45.xml"/><Relationship Id="rIdS46" Type="http://schemas.openxmlformats.org/officeDocument/2006/relationships/slide" Target="slides/slide46.xml"/><Relationship Id="rIdS47" Type="http://schemas.openxmlformats.org/officeDocument/2006/relationships/slide" Target="slides/slide47.xml"/><Relationship Id="rIdS48" Type="http://schemas.openxmlformats.org/officeDocument/2006/relationships/slide" Target="slides/slide48.xml"/><Relationship Id="rIdS49" Type="http://schemas.openxmlformats.org/officeDocument/2006/relationships/slide" Target="slides/slide49.xml"/><Relationship Id="rIdS50" Type="http://schemas.openxmlformats.org/officeDocument/2006/relationships/slide" Target="slides/slide50.xml"/><Relationship Id="rIdS51" Type="http://schemas.openxmlformats.org/officeDocument/2006/relationships/slide" Target="slides/slide51.xml"/><Relationship Id="rIdS52" Type="http://schemas.openxmlformats.org/officeDocument/2006/relationships/slide" Target="slides/slide52.xml"/><Relationship Id="rIdS53" Type="http://schemas.openxmlformats.org/officeDocument/2006/relationships/slide" Target="slides/slide53.xml"/><Relationship Id="rIdS54" Type="http://schemas.openxmlformats.org/officeDocument/2006/relationships/slide" Target="slides/slide54.xml"/><Relationship Id="rIdS55" Type="http://schemas.openxmlformats.org/officeDocument/2006/relationships/slide" Target="slides/slide55.xml"/><Relationship Id="rIdS56" Type="http://schemas.openxmlformats.org/officeDocument/2006/relationships/slide" Target="slides/slide56.xml"/><Relationship Id="rIdS57" Type="http://schemas.openxmlformats.org/officeDocument/2006/relationships/slide" Target="slides/slide57.xml"/><Relationship Id="rIdS58"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4/14/2026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14-04-2026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L" Type="http://schemas.openxmlformats.org/officeDocument/2006/relationships/slideLayout" Target="../slideLayouts/slideLayout31.xml"/><Relationship Id="rId6" Type="http://schemas.openxmlformats.org/officeDocument/2006/relationships/image" Target="../media/image16.svg"/></Relationships>
</file>

<file path=ppt/slides/_rels/slide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slide1.xml><?xml version="1.0" encoding="utf-8"?>
<p:sld xmlns:a="http://schemas.openxmlformats.org/drawingml/2006/main" xmlns:a14="http://schemas.microsoft.com/office/drawing/2010/main" xmlns:asvg="http://schemas.microsoft.com/office/drawing/2016/SVG/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ES">
                <a:solidFill>
                  <a:srgbClr val="EA7600"/>
                </a:solidFill>
              </a:rPr>
              <a:t>Macroprocesos | </a:t>
            </a:r>
            <a:r>
              <a:rPr lang="es-ES">
                <a:solidFill>
                  <a:schemeClr val="tx1"/>
                </a:solidFill>
              </a:rPr>
              <a:t>Negocio de celulosa cuenta con 21 macroprocesos</a:t>
            </a:r>
            <a:endParaRPr lang="en-US">
              <a:solidFill>
                <a:schemeClr val="tx1"/>
              </a:solidFill>
            </a:endParaRPr>
          </a:p>
        </p:txBody>
      </p:sp>
      <p:grpSp>
        <p:nvGrpSpPr>
          <p:cNvPr id="3" name="Grupo 190"/>
          <p:cNvGrpSpPr/>
          <p:nvPr/>
        </p:nvGrpSpPr>
        <p:grpSpPr>
          <a:xfrm>
            <a:off x="1106657" y="4729213"/>
            <a:ext cx="9980037" cy="1343024"/>
            <a:chOff x="238922" y="4811231"/>
            <a:chExt cx="11672552" cy="1570786"/>
          </a:xfrm>
        </p:grpSpPr>
        <p:sp>
          <p:nvSpPr>
            <p:cNvPr id="4" name="Oval 20"/>
            <p:cNvSpPr>
              <a:spLocks noChangeAspect="1" noChangeArrowheads="1"/>
            </p:cNvSpPr>
            <p:nvPr/>
          </p:nvSpPr>
          <p:spPr bwMode="auto">
            <a:xfrm>
              <a:off x="3390797" y="5176000"/>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16</a:t>
              </a:r>
            </a:p>
          </p:txBody>
        </p:sp>
        <p:sp>
          <p:nvSpPr>
            <p:cNvPr id="5" name="TextBox 117"/>
            <p:cNvSpPr txBox="1"/>
            <p:nvPr/>
          </p:nvSpPr>
          <p:spPr>
            <a:xfrm>
              <a:off x="355036" y="4811231"/>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lgn="ctr">
                <a:lnSpc>
                  <a:spcPct val="90000"/>
                </a:lnSpc>
                <a:spcAft>
                  <a:spcPts val="600"/>
                </a:spcAft>
              </a:pPr>
              <a:r>
                <a:rPr lang="es-CL" sz="1368">
                  <a:solidFill>
                    <a:srgbClr val="FFFFFF"/>
                  </a:solidFill>
                  <a:sym typeface="+mn-lt"/>
                </a:rPr>
                <a:t>Macroprocesos de soporte </a:t>
              </a:r>
            </a:p>
          </p:txBody>
        </p:sp>
        <p:sp>
          <p:nvSpPr>
            <p:cNvPr id="6" name="Rectangle: Rounded Corners 118"/>
            <p:cNvSpPr/>
            <p:nvPr/>
          </p:nvSpPr>
          <p:spPr>
            <a:xfrm>
              <a:off x="238922" y="5114832"/>
              <a:ext cx="11672552" cy="1267185"/>
            </a:xfrm>
            <a:prstGeom prst="roundRect">
              <a:avLst>
                <a:gd name="adj" fmla="val 4704"/>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7" name="Grupo 110"/>
            <p:cNvGrpSpPr/>
            <p:nvPr/>
          </p:nvGrpSpPr>
          <p:grpSpPr>
            <a:xfrm>
              <a:off x="741161" y="5176000"/>
              <a:ext cx="1036959" cy="1122694"/>
              <a:chOff x="783693" y="4970168"/>
              <a:chExt cx="1036959" cy="1122694"/>
            </a:xfrm>
          </p:grpSpPr>
          <p:grpSp>
            <p:nvGrpSpPr>
              <p:cNvPr id="8" name="bcgIcons_Monolith"/>
              <p:cNvGrpSpPr>
                <a:grpSpLocks noChangeAspect="1"/>
              </p:cNvGrpSpPr>
              <p:nvPr/>
            </p:nvGrpSpPr>
            <p:grpSpPr>
              <a:xfrm>
                <a:off x="1160707" y="5141091"/>
                <a:ext cx="380413" cy="380413"/>
                <a:chOff x="1113742" y="1826004"/>
                <a:chExt cx="1644650" cy="1644650"/>
              </a:xfrm>
            </p:grpSpPr>
            <p:sp>
              <p:nvSpPr>
                <p:cNvPr id="9" name="AutoShape 128"/>
                <p:cNvSpPr>
                  <a:spLocks noChangeAspect="1"/>
                </p:cNvSpPr>
                <p:nvPr/>
              </p:nvSpPr>
              <p:spPr bwMode="auto">
                <a:xfrm>
                  <a:off x="1113742" y="1826004"/>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0" name="Group 26"/>
                <p:cNvGrpSpPr>
                  <a:grpSpLocks/>
                </p:cNvGrpSpPr>
                <p:nvPr/>
              </p:nvGrpSpPr>
              <p:grpSpPr>
                <a:xfrm>
                  <a:off x="1243917" y="1897442"/>
                  <a:ext cx="1374775" cy="1508125"/>
                  <a:chOff x="1243917" y="1897442"/>
                  <a:chExt cx="1374775" cy="1508125"/>
                </a:xfrm>
              </p:grpSpPr>
              <p:sp>
                <p:nvSpPr>
                  <p:cNvPr id="11" name="Freeform 130"/>
                  <p:cNvSpPr>
                    <a:spLocks/>
                  </p:cNvSpPr>
                  <p:nvPr/>
                </p:nvSpPr>
                <p:spPr bwMode="auto">
                  <a:xfrm>
                    <a:off x="1259792" y="1897442"/>
                    <a:ext cx="1349375" cy="1508125"/>
                  </a:xfrm>
                  <a:custGeom>
                    <a:avLst/>
                    <a:gdLst>
                      <a:gd name="T0" fmla="*/ 1059 w 1889"/>
                      <a:gd name="T1" fmla="*/ 116 h 2112"/>
                      <a:gd name="T2" fmla="*/ 828 w 1889"/>
                      <a:gd name="T3" fmla="*/ 116 h 2112"/>
                      <a:gd name="T4" fmla="*/ 944 w 1889"/>
                      <a:gd name="T5" fmla="*/ 1880 h 2112"/>
                      <a:gd name="T6" fmla="*/ 944 w 1889"/>
                      <a:gd name="T7" fmla="*/ 2112 h 2112"/>
                      <a:gd name="T8" fmla="*/ 944 w 1889"/>
                      <a:gd name="T9" fmla="*/ 1880 h 2112"/>
                      <a:gd name="T10" fmla="*/ 232 w 1889"/>
                      <a:gd name="T11" fmla="*/ 606 h 2112"/>
                      <a:gd name="T12" fmla="*/ 0 w 1889"/>
                      <a:gd name="T13" fmla="*/ 606 h 2112"/>
                      <a:gd name="T14" fmla="*/ 137 w 1889"/>
                      <a:gd name="T15" fmla="*/ 1428 h 2112"/>
                      <a:gd name="T16" fmla="*/ 137 w 1889"/>
                      <a:gd name="T17" fmla="*/ 1660 h 2112"/>
                      <a:gd name="T18" fmla="*/ 137 w 1889"/>
                      <a:gd name="T19" fmla="*/ 1428 h 2112"/>
                      <a:gd name="T20" fmla="*/ 1889 w 1889"/>
                      <a:gd name="T21" fmla="*/ 606 h 2112"/>
                      <a:gd name="T22" fmla="*/ 1658 w 1889"/>
                      <a:gd name="T23" fmla="*/ 606 h 2112"/>
                      <a:gd name="T24" fmla="*/ 1750 w 1889"/>
                      <a:gd name="T25" fmla="*/ 1428 h 2112"/>
                      <a:gd name="T26" fmla="*/ 1750 w 1889"/>
                      <a:gd name="T27" fmla="*/ 1660 h 2112"/>
                      <a:gd name="T28" fmla="*/ 1750 w 1889"/>
                      <a:gd name="T29" fmla="*/ 1428 h 2112"/>
                      <a:gd name="T30" fmla="*/ 1607 w 1889"/>
                      <a:gd name="T31" fmla="*/ 1019 h 2112"/>
                      <a:gd name="T32" fmla="*/ 1595 w 1889"/>
                      <a:gd name="T33" fmla="*/ 933 h 2112"/>
                      <a:gd name="T34" fmla="*/ 1595 w 1889"/>
                      <a:gd name="T35" fmla="*/ 930 h 2112"/>
                      <a:gd name="T36" fmla="*/ 1575 w 1889"/>
                      <a:gd name="T37" fmla="*/ 848 h 2112"/>
                      <a:gd name="T38" fmla="*/ 1399 w 1889"/>
                      <a:gd name="T39" fmla="*/ 733 h 2112"/>
                      <a:gd name="T40" fmla="*/ 1424 w 1889"/>
                      <a:gd name="T41" fmla="*/ 594 h 2112"/>
                      <a:gd name="T42" fmla="*/ 1310 w 1889"/>
                      <a:gd name="T43" fmla="*/ 498 h 2112"/>
                      <a:gd name="T44" fmla="*/ 1167 w 1889"/>
                      <a:gd name="T45" fmla="*/ 553 h 2112"/>
                      <a:gd name="T46" fmla="*/ 1038 w 1889"/>
                      <a:gd name="T47" fmla="*/ 390 h 2112"/>
                      <a:gd name="T48" fmla="*/ 939 w 1889"/>
                      <a:gd name="T49" fmla="*/ 384 h 2112"/>
                      <a:gd name="T50" fmla="*/ 839 w 1889"/>
                      <a:gd name="T51" fmla="*/ 390 h 2112"/>
                      <a:gd name="T52" fmla="*/ 711 w 1889"/>
                      <a:gd name="T53" fmla="*/ 553 h 2112"/>
                      <a:gd name="T54" fmla="*/ 568 w 1889"/>
                      <a:gd name="T55" fmla="*/ 497 h 2112"/>
                      <a:gd name="T56" fmla="*/ 494 w 1889"/>
                      <a:gd name="T57" fmla="*/ 556 h 2112"/>
                      <a:gd name="T58" fmla="*/ 437 w 1889"/>
                      <a:gd name="T59" fmla="*/ 612 h 2112"/>
                      <a:gd name="T60" fmla="*/ 423 w 1889"/>
                      <a:gd name="T61" fmla="*/ 824 h 2112"/>
                      <a:gd name="T62" fmla="*/ 297 w 1889"/>
                      <a:gd name="T63" fmla="*/ 872 h 2112"/>
                      <a:gd name="T64" fmla="*/ 280 w 1889"/>
                      <a:gd name="T65" fmla="*/ 948 h 2112"/>
                      <a:gd name="T66" fmla="*/ 268 w 1889"/>
                      <a:gd name="T67" fmla="*/ 1045 h 2112"/>
                      <a:gd name="T68" fmla="*/ 389 w 1889"/>
                      <a:gd name="T69" fmla="*/ 1220 h 2112"/>
                      <a:gd name="T70" fmla="*/ 325 w 1889"/>
                      <a:gd name="T71" fmla="*/ 1336 h 2112"/>
                      <a:gd name="T72" fmla="*/ 354 w 1889"/>
                      <a:gd name="T73" fmla="*/ 1391 h 2112"/>
                      <a:gd name="T74" fmla="*/ 359 w 1889"/>
                      <a:gd name="T75" fmla="*/ 1402 h 2112"/>
                      <a:gd name="T76" fmla="*/ 413 w 1889"/>
                      <a:gd name="T77" fmla="*/ 1486 h 2112"/>
                      <a:gd name="T78" fmla="*/ 617 w 1889"/>
                      <a:gd name="T79" fmla="*/ 1528 h 2112"/>
                      <a:gd name="T80" fmla="*/ 641 w 1889"/>
                      <a:gd name="T81" fmla="*/ 1672 h 2112"/>
                      <a:gd name="T82" fmla="*/ 710 w 1889"/>
                      <a:gd name="T83" fmla="*/ 1701 h 2112"/>
                      <a:gd name="T84" fmla="*/ 779 w 1889"/>
                      <a:gd name="T85" fmla="*/ 1723 h 2112"/>
                      <a:gd name="T86" fmla="*/ 895 w 1889"/>
                      <a:gd name="T87" fmla="*/ 1624 h 2112"/>
                      <a:gd name="T88" fmla="*/ 981 w 1889"/>
                      <a:gd name="T89" fmla="*/ 1624 h 2112"/>
                      <a:gd name="T90" fmla="*/ 1097 w 1889"/>
                      <a:gd name="T91" fmla="*/ 1723 h 2112"/>
                      <a:gd name="T92" fmla="*/ 1235 w 1889"/>
                      <a:gd name="T93" fmla="*/ 1673 h 2112"/>
                      <a:gd name="T94" fmla="*/ 1260 w 1889"/>
                      <a:gd name="T95" fmla="*/ 1529 h 2112"/>
                      <a:gd name="T96" fmla="*/ 1463 w 1889"/>
                      <a:gd name="T97" fmla="*/ 1486 h 2112"/>
                      <a:gd name="T98" fmla="*/ 1518 w 1889"/>
                      <a:gd name="T99" fmla="*/ 1402 h 2112"/>
                      <a:gd name="T100" fmla="*/ 1552 w 1889"/>
                      <a:gd name="T101" fmla="*/ 1334 h 2112"/>
                      <a:gd name="T102" fmla="*/ 1489 w 1889"/>
                      <a:gd name="T103" fmla="*/ 1222 h 2112"/>
                      <a:gd name="T104" fmla="*/ 1609 w 1889"/>
                      <a:gd name="T105" fmla="*/ 1045 h 2112"/>
                      <a:gd name="T106" fmla="*/ 564 w 1889"/>
                      <a:gd name="T107" fmla="*/ 1059 h 2112"/>
                      <a:gd name="T108" fmla="*/ 1318 w 1889"/>
                      <a:gd name="T109" fmla="*/ 1059 h 2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9" h="2112">
                        <a:moveTo>
                          <a:pt x="944" y="232"/>
                        </a:moveTo>
                        <a:cubicBezTo>
                          <a:pt x="1007" y="232"/>
                          <a:pt x="1059" y="180"/>
                          <a:pt x="1059" y="116"/>
                        </a:cubicBezTo>
                        <a:cubicBezTo>
                          <a:pt x="1059" y="52"/>
                          <a:pt x="1007" y="0"/>
                          <a:pt x="944" y="0"/>
                        </a:cubicBezTo>
                        <a:cubicBezTo>
                          <a:pt x="880" y="0"/>
                          <a:pt x="828" y="52"/>
                          <a:pt x="828" y="116"/>
                        </a:cubicBezTo>
                        <a:cubicBezTo>
                          <a:pt x="828" y="180"/>
                          <a:pt x="880" y="232"/>
                          <a:pt x="944" y="232"/>
                        </a:cubicBezTo>
                        <a:close/>
                        <a:moveTo>
                          <a:pt x="944" y="1880"/>
                        </a:moveTo>
                        <a:cubicBezTo>
                          <a:pt x="880" y="1880"/>
                          <a:pt x="828" y="1932"/>
                          <a:pt x="828" y="1996"/>
                        </a:cubicBezTo>
                        <a:cubicBezTo>
                          <a:pt x="828" y="2060"/>
                          <a:pt x="880" y="2112"/>
                          <a:pt x="944" y="2112"/>
                        </a:cubicBezTo>
                        <a:cubicBezTo>
                          <a:pt x="1007" y="2112"/>
                          <a:pt x="1059" y="2060"/>
                          <a:pt x="1059" y="1996"/>
                        </a:cubicBezTo>
                        <a:cubicBezTo>
                          <a:pt x="1059" y="1932"/>
                          <a:pt x="1007" y="1880"/>
                          <a:pt x="944" y="1880"/>
                        </a:cubicBezTo>
                        <a:close/>
                        <a:moveTo>
                          <a:pt x="116" y="722"/>
                        </a:moveTo>
                        <a:cubicBezTo>
                          <a:pt x="180" y="722"/>
                          <a:pt x="232" y="670"/>
                          <a:pt x="232" y="606"/>
                        </a:cubicBezTo>
                        <a:cubicBezTo>
                          <a:pt x="232" y="541"/>
                          <a:pt x="180" y="490"/>
                          <a:pt x="116" y="490"/>
                        </a:cubicBezTo>
                        <a:cubicBezTo>
                          <a:pt x="52" y="490"/>
                          <a:pt x="0" y="541"/>
                          <a:pt x="0" y="606"/>
                        </a:cubicBezTo>
                        <a:cubicBezTo>
                          <a:pt x="0" y="670"/>
                          <a:pt x="52" y="722"/>
                          <a:pt x="116" y="722"/>
                        </a:cubicBezTo>
                        <a:close/>
                        <a:moveTo>
                          <a:pt x="137" y="1428"/>
                        </a:moveTo>
                        <a:cubicBezTo>
                          <a:pt x="73" y="1428"/>
                          <a:pt x="21" y="1480"/>
                          <a:pt x="21" y="1544"/>
                        </a:cubicBezTo>
                        <a:cubicBezTo>
                          <a:pt x="21" y="1608"/>
                          <a:pt x="73" y="1660"/>
                          <a:pt x="137" y="1660"/>
                        </a:cubicBezTo>
                        <a:cubicBezTo>
                          <a:pt x="201" y="1660"/>
                          <a:pt x="253" y="1608"/>
                          <a:pt x="253" y="1544"/>
                        </a:cubicBezTo>
                        <a:cubicBezTo>
                          <a:pt x="253" y="1480"/>
                          <a:pt x="201" y="1428"/>
                          <a:pt x="137" y="1428"/>
                        </a:cubicBezTo>
                        <a:close/>
                        <a:moveTo>
                          <a:pt x="1773" y="722"/>
                        </a:moveTo>
                        <a:cubicBezTo>
                          <a:pt x="1837" y="722"/>
                          <a:pt x="1889" y="670"/>
                          <a:pt x="1889" y="606"/>
                        </a:cubicBezTo>
                        <a:cubicBezTo>
                          <a:pt x="1889" y="541"/>
                          <a:pt x="1837" y="490"/>
                          <a:pt x="1773" y="490"/>
                        </a:cubicBezTo>
                        <a:cubicBezTo>
                          <a:pt x="1709" y="490"/>
                          <a:pt x="1658" y="541"/>
                          <a:pt x="1658" y="606"/>
                        </a:cubicBezTo>
                        <a:cubicBezTo>
                          <a:pt x="1658" y="670"/>
                          <a:pt x="1709" y="722"/>
                          <a:pt x="1773" y="722"/>
                        </a:cubicBezTo>
                        <a:close/>
                        <a:moveTo>
                          <a:pt x="1750" y="1428"/>
                        </a:moveTo>
                        <a:cubicBezTo>
                          <a:pt x="1686" y="1428"/>
                          <a:pt x="1635" y="1480"/>
                          <a:pt x="1635" y="1544"/>
                        </a:cubicBezTo>
                        <a:cubicBezTo>
                          <a:pt x="1635" y="1608"/>
                          <a:pt x="1686" y="1660"/>
                          <a:pt x="1750" y="1660"/>
                        </a:cubicBezTo>
                        <a:cubicBezTo>
                          <a:pt x="1814" y="1660"/>
                          <a:pt x="1866" y="1608"/>
                          <a:pt x="1866" y="1544"/>
                        </a:cubicBezTo>
                        <a:cubicBezTo>
                          <a:pt x="1866" y="1480"/>
                          <a:pt x="1814" y="1428"/>
                          <a:pt x="1750" y="1428"/>
                        </a:cubicBezTo>
                        <a:close/>
                        <a:moveTo>
                          <a:pt x="1609" y="1045"/>
                        </a:moveTo>
                        <a:cubicBezTo>
                          <a:pt x="1607" y="1019"/>
                          <a:pt x="1607" y="1019"/>
                          <a:pt x="1607" y="1019"/>
                        </a:cubicBezTo>
                        <a:cubicBezTo>
                          <a:pt x="1604" y="984"/>
                          <a:pt x="1598" y="947"/>
                          <a:pt x="1598" y="946"/>
                        </a:cubicBezTo>
                        <a:cubicBezTo>
                          <a:pt x="1595" y="933"/>
                          <a:pt x="1595" y="933"/>
                          <a:pt x="1595" y="933"/>
                        </a:cubicBezTo>
                        <a:cubicBezTo>
                          <a:pt x="1595" y="932"/>
                          <a:pt x="1595" y="932"/>
                          <a:pt x="1595" y="932"/>
                        </a:cubicBezTo>
                        <a:cubicBezTo>
                          <a:pt x="1595" y="932"/>
                          <a:pt x="1595" y="931"/>
                          <a:pt x="1595" y="930"/>
                        </a:cubicBezTo>
                        <a:cubicBezTo>
                          <a:pt x="1592" y="917"/>
                          <a:pt x="1588" y="894"/>
                          <a:pt x="1582" y="873"/>
                        </a:cubicBezTo>
                        <a:cubicBezTo>
                          <a:pt x="1575" y="848"/>
                          <a:pt x="1575" y="848"/>
                          <a:pt x="1575" y="848"/>
                        </a:cubicBezTo>
                        <a:cubicBezTo>
                          <a:pt x="1455" y="825"/>
                          <a:pt x="1455" y="825"/>
                          <a:pt x="1455" y="825"/>
                        </a:cubicBezTo>
                        <a:cubicBezTo>
                          <a:pt x="1440" y="793"/>
                          <a:pt x="1422" y="763"/>
                          <a:pt x="1399" y="733"/>
                        </a:cubicBezTo>
                        <a:cubicBezTo>
                          <a:pt x="1441" y="612"/>
                          <a:pt x="1441" y="612"/>
                          <a:pt x="1441" y="612"/>
                        </a:cubicBezTo>
                        <a:cubicBezTo>
                          <a:pt x="1424" y="594"/>
                          <a:pt x="1424" y="594"/>
                          <a:pt x="1424" y="594"/>
                        </a:cubicBezTo>
                        <a:cubicBezTo>
                          <a:pt x="1400" y="570"/>
                          <a:pt x="1373" y="547"/>
                          <a:pt x="1369" y="544"/>
                        </a:cubicBezTo>
                        <a:cubicBezTo>
                          <a:pt x="1366" y="541"/>
                          <a:pt x="1338" y="517"/>
                          <a:pt x="1310" y="498"/>
                        </a:cubicBezTo>
                        <a:cubicBezTo>
                          <a:pt x="1289" y="483"/>
                          <a:pt x="1289" y="483"/>
                          <a:pt x="1289" y="483"/>
                        </a:cubicBezTo>
                        <a:cubicBezTo>
                          <a:pt x="1167" y="553"/>
                          <a:pt x="1167" y="553"/>
                          <a:pt x="1167" y="553"/>
                        </a:cubicBezTo>
                        <a:cubicBezTo>
                          <a:pt x="1142" y="542"/>
                          <a:pt x="1116" y="533"/>
                          <a:pt x="1089" y="526"/>
                        </a:cubicBezTo>
                        <a:cubicBezTo>
                          <a:pt x="1038" y="390"/>
                          <a:pt x="1038" y="390"/>
                          <a:pt x="1038" y="390"/>
                        </a:cubicBezTo>
                        <a:cubicBezTo>
                          <a:pt x="1013" y="387"/>
                          <a:pt x="1013" y="387"/>
                          <a:pt x="1013" y="387"/>
                        </a:cubicBezTo>
                        <a:cubicBezTo>
                          <a:pt x="978" y="384"/>
                          <a:pt x="943" y="384"/>
                          <a:pt x="939" y="384"/>
                        </a:cubicBezTo>
                        <a:cubicBezTo>
                          <a:pt x="937" y="384"/>
                          <a:pt x="901" y="384"/>
                          <a:pt x="865" y="387"/>
                        </a:cubicBezTo>
                        <a:cubicBezTo>
                          <a:pt x="839" y="390"/>
                          <a:pt x="839" y="390"/>
                          <a:pt x="839" y="390"/>
                        </a:cubicBezTo>
                        <a:cubicBezTo>
                          <a:pt x="789" y="526"/>
                          <a:pt x="789" y="526"/>
                          <a:pt x="789" y="526"/>
                        </a:cubicBezTo>
                        <a:cubicBezTo>
                          <a:pt x="763" y="533"/>
                          <a:pt x="738" y="542"/>
                          <a:pt x="711" y="553"/>
                        </a:cubicBezTo>
                        <a:cubicBezTo>
                          <a:pt x="589" y="482"/>
                          <a:pt x="589" y="482"/>
                          <a:pt x="589" y="482"/>
                        </a:cubicBezTo>
                        <a:cubicBezTo>
                          <a:pt x="568" y="497"/>
                          <a:pt x="568" y="497"/>
                          <a:pt x="568" y="497"/>
                        </a:cubicBezTo>
                        <a:cubicBezTo>
                          <a:pt x="549" y="510"/>
                          <a:pt x="532" y="524"/>
                          <a:pt x="521" y="533"/>
                        </a:cubicBezTo>
                        <a:cubicBezTo>
                          <a:pt x="494" y="556"/>
                          <a:pt x="494" y="556"/>
                          <a:pt x="494" y="556"/>
                        </a:cubicBezTo>
                        <a:cubicBezTo>
                          <a:pt x="483" y="566"/>
                          <a:pt x="468" y="580"/>
                          <a:pt x="454" y="594"/>
                        </a:cubicBezTo>
                        <a:cubicBezTo>
                          <a:pt x="437" y="612"/>
                          <a:pt x="437" y="612"/>
                          <a:pt x="437" y="612"/>
                        </a:cubicBezTo>
                        <a:cubicBezTo>
                          <a:pt x="479" y="733"/>
                          <a:pt x="479" y="733"/>
                          <a:pt x="479" y="733"/>
                        </a:cubicBezTo>
                        <a:cubicBezTo>
                          <a:pt x="459" y="759"/>
                          <a:pt x="441" y="789"/>
                          <a:pt x="423" y="824"/>
                        </a:cubicBezTo>
                        <a:cubicBezTo>
                          <a:pt x="303" y="847"/>
                          <a:pt x="303" y="847"/>
                          <a:pt x="303" y="847"/>
                        </a:cubicBezTo>
                        <a:cubicBezTo>
                          <a:pt x="297" y="872"/>
                          <a:pt x="297" y="872"/>
                          <a:pt x="297" y="872"/>
                        </a:cubicBezTo>
                        <a:cubicBezTo>
                          <a:pt x="287" y="906"/>
                          <a:pt x="281" y="943"/>
                          <a:pt x="281" y="945"/>
                        </a:cubicBezTo>
                        <a:cubicBezTo>
                          <a:pt x="280" y="948"/>
                          <a:pt x="280" y="948"/>
                          <a:pt x="280" y="948"/>
                        </a:cubicBezTo>
                        <a:cubicBezTo>
                          <a:pt x="278" y="960"/>
                          <a:pt x="273" y="989"/>
                          <a:pt x="271" y="1019"/>
                        </a:cubicBezTo>
                        <a:cubicBezTo>
                          <a:pt x="268" y="1045"/>
                          <a:pt x="268" y="1045"/>
                          <a:pt x="268" y="1045"/>
                        </a:cubicBezTo>
                        <a:cubicBezTo>
                          <a:pt x="368" y="1105"/>
                          <a:pt x="368" y="1105"/>
                          <a:pt x="368" y="1105"/>
                        </a:cubicBezTo>
                        <a:cubicBezTo>
                          <a:pt x="371" y="1144"/>
                          <a:pt x="378" y="1183"/>
                          <a:pt x="389" y="1220"/>
                        </a:cubicBezTo>
                        <a:cubicBezTo>
                          <a:pt x="314" y="1313"/>
                          <a:pt x="314" y="1313"/>
                          <a:pt x="314" y="1313"/>
                        </a:cubicBezTo>
                        <a:cubicBezTo>
                          <a:pt x="325" y="1336"/>
                          <a:pt x="325" y="1336"/>
                          <a:pt x="325" y="1336"/>
                        </a:cubicBezTo>
                        <a:cubicBezTo>
                          <a:pt x="335" y="1357"/>
                          <a:pt x="346" y="1378"/>
                          <a:pt x="353" y="1390"/>
                        </a:cubicBezTo>
                        <a:cubicBezTo>
                          <a:pt x="353" y="1391"/>
                          <a:pt x="353" y="1391"/>
                          <a:pt x="354" y="1391"/>
                        </a:cubicBezTo>
                        <a:cubicBezTo>
                          <a:pt x="354" y="1392"/>
                          <a:pt x="354" y="1392"/>
                          <a:pt x="354" y="1392"/>
                        </a:cubicBezTo>
                        <a:cubicBezTo>
                          <a:pt x="359" y="1402"/>
                          <a:pt x="359" y="1402"/>
                          <a:pt x="359" y="1402"/>
                        </a:cubicBezTo>
                        <a:cubicBezTo>
                          <a:pt x="360" y="1403"/>
                          <a:pt x="378" y="1435"/>
                          <a:pt x="398" y="1465"/>
                        </a:cubicBezTo>
                        <a:cubicBezTo>
                          <a:pt x="413" y="1486"/>
                          <a:pt x="413" y="1486"/>
                          <a:pt x="413" y="1486"/>
                        </a:cubicBezTo>
                        <a:cubicBezTo>
                          <a:pt x="539" y="1465"/>
                          <a:pt x="539" y="1465"/>
                          <a:pt x="539" y="1465"/>
                        </a:cubicBezTo>
                        <a:cubicBezTo>
                          <a:pt x="562" y="1488"/>
                          <a:pt x="587" y="1508"/>
                          <a:pt x="617" y="1528"/>
                        </a:cubicBezTo>
                        <a:cubicBezTo>
                          <a:pt x="618" y="1661"/>
                          <a:pt x="618" y="1661"/>
                          <a:pt x="618" y="1661"/>
                        </a:cubicBezTo>
                        <a:cubicBezTo>
                          <a:pt x="641" y="1672"/>
                          <a:pt x="641" y="1672"/>
                          <a:pt x="641" y="1672"/>
                        </a:cubicBezTo>
                        <a:cubicBezTo>
                          <a:pt x="674" y="1687"/>
                          <a:pt x="708" y="1700"/>
                          <a:pt x="709" y="1701"/>
                        </a:cubicBezTo>
                        <a:cubicBezTo>
                          <a:pt x="710" y="1701"/>
                          <a:pt x="710" y="1701"/>
                          <a:pt x="710" y="1701"/>
                        </a:cubicBezTo>
                        <a:cubicBezTo>
                          <a:pt x="711" y="1701"/>
                          <a:pt x="711" y="1701"/>
                          <a:pt x="711" y="1701"/>
                        </a:cubicBezTo>
                        <a:cubicBezTo>
                          <a:pt x="712" y="1702"/>
                          <a:pt x="746" y="1714"/>
                          <a:pt x="779" y="1723"/>
                        </a:cubicBezTo>
                        <a:cubicBezTo>
                          <a:pt x="805" y="1730"/>
                          <a:pt x="805" y="1730"/>
                          <a:pt x="805" y="1730"/>
                        </a:cubicBezTo>
                        <a:cubicBezTo>
                          <a:pt x="895" y="1624"/>
                          <a:pt x="895" y="1624"/>
                          <a:pt x="895" y="1624"/>
                        </a:cubicBezTo>
                        <a:cubicBezTo>
                          <a:pt x="910" y="1625"/>
                          <a:pt x="925" y="1625"/>
                          <a:pt x="939" y="1625"/>
                        </a:cubicBezTo>
                        <a:cubicBezTo>
                          <a:pt x="954" y="1625"/>
                          <a:pt x="967" y="1625"/>
                          <a:pt x="981" y="1624"/>
                        </a:cubicBezTo>
                        <a:cubicBezTo>
                          <a:pt x="1072" y="1730"/>
                          <a:pt x="1072" y="1730"/>
                          <a:pt x="1072" y="1730"/>
                        </a:cubicBezTo>
                        <a:cubicBezTo>
                          <a:pt x="1097" y="1723"/>
                          <a:pt x="1097" y="1723"/>
                          <a:pt x="1097" y="1723"/>
                        </a:cubicBezTo>
                        <a:cubicBezTo>
                          <a:pt x="1132" y="1714"/>
                          <a:pt x="1166" y="1702"/>
                          <a:pt x="1167" y="1701"/>
                        </a:cubicBezTo>
                        <a:cubicBezTo>
                          <a:pt x="1177" y="1698"/>
                          <a:pt x="1197" y="1690"/>
                          <a:pt x="1235" y="1673"/>
                        </a:cubicBezTo>
                        <a:cubicBezTo>
                          <a:pt x="1259" y="1662"/>
                          <a:pt x="1259" y="1662"/>
                          <a:pt x="1259" y="1662"/>
                        </a:cubicBezTo>
                        <a:cubicBezTo>
                          <a:pt x="1260" y="1529"/>
                          <a:pt x="1260" y="1529"/>
                          <a:pt x="1260" y="1529"/>
                        </a:cubicBezTo>
                        <a:cubicBezTo>
                          <a:pt x="1286" y="1512"/>
                          <a:pt x="1312" y="1491"/>
                          <a:pt x="1339" y="1466"/>
                        </a:cubicBezTo>
                        <a:cubicBezTo>
                          <a:pt x="1463" y="1486"/>
                          <a:pt x="1463" y="1486"/>
                          <a:pt x="1463" y="1486"/>
                        </a:cubicBezTo>
                        <a:cubicBezTo>
                          <a:pt x="1478" y="1465"/>
                          <a:pt x="1478" y="1465"/>
                          <a:pt x="1478" y="1465"/>
                        </a:cubicBezTo>
                        <a:cubicBezTo>
                          <a:pt x="1501" y="1432"/>
                          <a:pt x="1513" y="1413"/>
                          <a:pt x="1518" y="1402"/>
                        </a:cubicBezTo>
                        <a:cubicBezTo>
                          <a:pt x="1519" y="1402"/>
                          <a:pt x="1519" y="1402"/>
                          <a:pt x="1519" y="1402"/>
                        </a:cubicBezTo>
                        <a:cubicBezTo>
                          <a:pt x="1519" y="1400"/>
                          <a:pt x="1538" y="1368"/>
                          <a:pt x="1552" y="1334"/>
                        </a:cubicBezTo>
                        <a:cubicBezTo>
                          <a:pt x="1562" y="1312"/>
                          <a:pt x="1562" y="1312"/>
                          <a:pt x="1562" y="1312"/>
                        </a:cubicBezTo>
                        <a:cubicBezTo>
                          <a:pt x="1489" y="1222"/>
                          <a:pt x="1489" y="1222"/>
                          <a:pt x="1489" y="1222"/>
                        </a:cubicBezTo>
                        <a:cubicBezTo>
                          <a:pt x="1501" y="1184"/>
                          <a:pt x="1508" y="1144"/>
                          <a:pt x="1510" y="1105"/>
                        </a:cubicBezTo>
                        <a:cubicBezTo>
                          <a:pt x="1609" y="1045"/>
                          <a:pt x="1609" y="1045"/>
                          <a:pt x="1609" y="1045"/>
                        </a:cubicBezTo>
                        <a:close/>
                        <a:moveTo>
                          <a:pt x="940" y="1436"/>
                        </a:moveTo>
                        <a:cubicBezTo>
                          <a:pt x="732" y="1436"/>
                          <a:pt x="564" y="1267"/>
                          <a:pt x="564" y="1059"/>
                        </a:cubicBezTo>
                        <a:cubicBezTo>
                          <a:pt x="564" y="850"/>
                          <a:pt x="732" y="680"/>
                          <a:pt x="940" y="680"/>
                        </a:cubicBezTo>
                        <a:cubicBezTo>
                          <a:pt x="1148" y="680"/>
                          <a:pt x="1318" y="850"/>
                          <a:pt x="1318" y="1059"/>
                        </a:cubicBezTo>
                        <a:cubicBezTo>
                          <a:pt x="1318" y="1267"/>
                          <a:pt x="1148" y="1436"/>
                          <a:pt x="940" y="143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2" name="Freeform 131"/>
                  <p:cNvSpPr>
                    <a:spLocks/>
                  </p:cNvSpPr>
                  <p:nvPr/>
                </p:nvSpPr>
                <p:spPr bwMode="auto">
                  <a:xfrm>
                    <a:off x="1243917" y="1973642"/>
                    <a:ext cx="1374775" cy="1360488"/>
                  </a:xfrm>
                  <a:custGeom>
                    <a:avLst/>
                    <a:gdLst>
                      <a:gd name="T0" fmla="*/ 1126 w 1927"/>
                      <a:gd name="T1" fmla="*/ 1 h 1907"/>
                      <a:gd name="T2" fmla="*/ 1126 w 1927"/>
                      <a:gd name="T3" fmla="*/ 11 h 1907"/>
                      <a:gd name="T4" fmla="*/ 1122 w 1927"/>
                      <a:gd name="T5" fmla="*/ 45 h 1907"/>
                      <a:gd name="T6" fmla="*/ 1687 w 1927"/>
                      <a:gd name="T7" fmla="*/ 384 h 1907"/>
                      <a:gd name="T8" fmla="*/ 1722 w 1927"/>
                      <a:gd name="T9" fmla="*/ 359 h 1907"/>
                      <a:gd name="T10" fmla="*/ 1645 w 1927"/>
                      <a:gd name="T11" fmla="*/ 270 h 1907"/>
                      <a:gd name="T12" fmla="*/ 1126 w 1927"/>
                      <a:gd name="T13" fmla="*/ 1 h 1907"/>
                      <a:gd name="T14" fmla="*/ 1875 w 1927"/>
                      <a:gd name="T15" fmla="*/ 640 h 1907"/>
                      <a:gd name="T16" fmla="*/ 1834 w 1927"/>
                      <a:gd name="T17" fmla="*/ 656 h 1907"/>
                      <a:gd name="T18" fmla="*/ 1883 w 1927"/>
                      <a:gd name="T19" fmla="*/ 953 h 1907"/>
                      <a:gd name="T20" fmla="*/ 1821 w 1927"/>
                      <a:gd name="T21" fmla="*/ 1286 h 1907"/>
                      <a:gd name="T22" fmla="*/ 1861 w 1927"/>
                      <a:gd name="T23" fmla="*/ 1305 h 1907"/>
                      <a:gd name="T24" fmla="*/ 1927 w 1927"/>
                      <a:gd name="T25" fmla="*/ 953 h 1907"/>
                      <a:gd name="T26" fmla="*/ 1875 w 1927"/>
                      <a:gd name="T27" fmla="*/ 640 h 1907"/>
                      <a:gd name="T28" fmla="*/ 811 w 1927"/>
                      <a:gd name="T29" fmla="*/ 44 h 1907"/>
                      <a:gd name="T30" fmla="*/ 807 w 1927"/>
                      <a:gd name="T31" fmla="*/ 11 h 1907"/>
                      <a:gd name="T32" fmla="*/ 808 w 1927"/>
                      <a:gd name="T33" fmla="*/ 0 h 1907"/>
                      <a:gd name="T34" fmla="*/ 283 w 1927"/>
                      <a:gd name="T35" fmla="*/ 270 h 1907"/>
                      <a:gd name="T36" fmla="*/ 207 w 1927"/>
                      <a:gd name="T37" fmla="*/ 356 h 1907"/>
                      <a:gd name="T38" fmla="*/ 244 w 1927"/>
                      <a:gd name="T39" fmla="*/ 380 h 1907"/>
                      <a:gd name="T40" fmla="*/ 811 w 1927"/>
                      <a:gd name="T41" fmla="*/ 44 h 1907"/>
                      <a:gd name="T42" fmla="*/ 1662 w 1927"/>
                      <a:gd name="T43" fmla="*/ 1552 h 1907"/>
                      <a:gd name="T44" fmla="*/ 1123 w 1927"/>
                      <a:gd name="T45" fmla="*/ 1861 h 1907"/>
                      <a:gd name="T46" fmla="*/ 1126 w 1927"/>
                      <a:gd name="T47" fmla="*/ 1891 h 1907"/>
                      <a:gd name="T48" fmla="*/ 1125 w 1927"/>
                      <a:gd name="T49" fmla="*/ 1906 h 1907"/>
                      <a:gd name="T50" fmla="*/ 1645 w 1927"/>
                      <a:gd name="T51" fmla="*/ 1636 h 1907"/>
                      <a:gd name="T52" fmla="*/ 1698 w 1927"/>
                      <a:gd name="T53" fmla="*/ 1579 h 1907"/>
                      <a:gd name="T54" fmla="*/ 1662 w 1927"/>
                      <a:gd name="T55" fmla="*/ 1552 h 1907"/>
                      <a:gd name="T56" fmla="*/ 269 w 1927"/>
                      <a:gd name="T57" fmla="*/ 1556 h 1907"/>
                      <a:gd name="T58" fmla="*/ 232 w 1927"/>
                      <a:gd name="T59" fmla="*/ 1582 h 1907"/>
                      <a:gd name="T60" fmla="*/ 283 w 1927"/>
                      <a:gd name="T61" fmla="*/ 1636 h 1907"/>
                      <a:gd name="T62" fmla="*/ 808 w 1927"/>
                      <a:gd name="T63" fmla="*/ 1907 h 1907"/>
                      <a:gd name="T64" fmla="*/ 807 w 1927"/>
                      <a:gd name="T65" fmla="*/ 1891 h 1907"/>
                      <a:gd name="T66" fmla="*/ 810 w 1927"/>
                      <a:gd name="T67" fmla="*/ 1862 h 1907"/>
                      <a:gd name="T68" fmla="*/ 269 w 1927"/>
                      <a:gd name="T69" fmla="*/ 1556 h 1907"/>
                      <a:gd name="T70" fmla="*/ 94 w 1927"/>
                      <a:gd name="T71" fmla="*/ 654 h 1907"/>
                      <a:gd name="T72" fmla="*/ 53 w 1927"/>
                      <a:gd name="T73" fmla="*/ 636 h 1907"/>
                      <a:gd name="T74" fmla="*/ 0 w 1927"/>
                      <a:gd name="T75" fmla="*/ 953 h 1907"/>
                      <a:gd name="T76" fmla="*/ 67 w 1927"/>
                      <a:gd name="T77" fmla="*/ 1309 h 1907"/>
                      <a:gd name="T78" fmla="*/ 107 w 1927"/>
                      <a:gd name="T79" fmla="*/ 1288 h 1907"/>
                      <a:gd name="T80" fmla="*/ 44 w 1927"/>
                      <a:gd name="T81" fmla="*/ 953 h 1907"/>
                      <a:gd name="T82" fmla="*/ 94 w 1927"/>
                      <a:gd name="T83" fmla="*/ 654 h 1907"/>
                      <a:gd name="T84" fmla="*/ 961 w 1927"/>
                      <a:gd name="T85" fmla="*/ 754 h 1907"/>
                      <a:gd name="T86" fmla="*/ 767 w 1927"/>
                      <a:gd name="T87" fmla="*/ 953 h 1907"/>
                      <a:gd name="T88" fmla="*/ 961 w 1927"/>
                      <a:gd name="T89" fmla="*/ 1151 h 1907"/>
                      <a:gd name="T90" fmla="*/ 1157 w 1927"/>
                      <a:gd name="T91" fmla="*/ 953 h 1907"/>
                      <a:gd name="T92" fmla="*/ 961 w 1927"/>
                      <a:gd name="T93" fmla="*/ 754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7" h="1907">
                        <a:moveTo>
                          <a:pt x="1126" y="1"/>
                        </a:moveTo>
                        <a:cubicBezTo>
                          <a:pt x="1126" y="11"/>
                          <a:pt x="1126" y="11"/>
                          <a:pt x="1126" y="11"/>
                        </a:cubicBezTo>
                        <a:cubicBezTo>
                          <a:pt x="1126" y="23"/>
                          <a:pt x="1125" y="34"/>
                          <a:pt x="1122" y="45"/>
                        </a:cubicBezTo>
                        <a:cubicBezTo>
                          <a:pt x="1351" y="85"/>
                          <a:pt x="1549" y="209"/>
                          <a:pt x="1687" y="384"/>
                        </a:cubicBezTo>
                        <a:cubicBezTo>
                          <a:pt x="1698" y="374"/>
                          <a:pt x="1709" y="366"/>
                          <a:pt x="1722" y="359"/>
                        </a:cubicBezTo>
                        <a:cubicBezTo>
                          <a:pt x="1699" y="328"/>
                          <a:pt x="1673" y="298"/>
                          <a:pt x="1645" y="270"/>
                        </a:cubicBezTo>
                        <a:cubicBezTo>
                          <a:pt x="1501" y="127"/>
                          <a:pt x="1322" y="34"/>
                          <a:pt x="1126" y="1"/>
                        </a:cubicBezTo>
                        <a:close/>
                        <a:moveTo>
                          <a:pt x="1875" y="640"/>
                        </a:moveTo>
                        <a:cubicBezTo>
                          <a:pt x="1862" y="647"/>
                          <a:pt x="1848" y="652"/>
                          <a:pt x="1834" y="656"/>
                        </a:cubicBezTo>
                        <a:cubicBezTo>
                          <a:pt x="1865" y="749"/>
                          <a:pt x="1883" y="849"/>
                          <a:pt x="1883" y="953"/>
                        </a:cubicBezTo>
                        <a:cubicBezTo>
                          <a:pt x="1883" y="1071"/>
                          <a:pt x="1861" y="1183"/>
                          <a:pt x="1821" y="1286"/>
                        </a:cubicBezTo>
                        <a:cubicBezTo>
                          <a:pt x="1835" y="1290"/>
                          <a:pt x="1849" y="1297"/>
                          <a:pt x="1861" y="1305"/>
                        </a:cubicBezTo>
                        <a:cubicBezTo>
                          <a:pt x="1904" y="1194"/>
                          <a:pt x="1927" y="1076"/>
                          <a:pt x="1927" y="953"/>
                        </a:cubicBezTo>
                        <a:cubicBezTo>
                          <a:pt x="1927" y="845"/>
                          <a:pt x="1909" y="739"/>
                          <a:pt x="1875" y="640"/>
                        </a:cubicBezTo>
                        <a:close/>
                        <a:moveTo>
                          <a:pt x="811" y="44"/>
                        </a:moveTo>
                        <a:cubicBezTo>
                          <a:pt x="808" y="33"/>
                          <a:pt x="807" y="22"/>
                          <a:pt x="807" y="11"/>
                        </a:cubicBezTo>
                        <a:cubicBezTo>
                          <a:pt x="807" y="7"/>
                          <a:pt x="807" y="4"/>
                          <a:pt x="808" y="0"/>
                        </a:cubicBezTo>
                        <a:cubicBezTo>
                          <a:pt x="610" y="32"/>
                          <a:pt x="427" y="125"/>
                          <a:pt x="283" y="270"/>
                        </a:cubicBezTo>
                        <a:cubicBezTo>
                          <a:pt x="255" y="297"/>
                          <a:pt x="230" y="326"/>
                          <a:pt x="207" y="356"/>
                        </a:cubicBezTo>
                        <a:cubicBezTo>
                          <a:pt x="220" y="362"/>
                          <a:pt x="233" y="370"/>
                          <a:pt x="244" y="380"/>
                        </a:cubicBezTo>
                        <a:cubicBezTo>
                          <a:pt x="382" y="206"/>
                          <a:pt x="583" y="83"/>
                          <a:pt x="811" y="44"/>
                        </a:cubicBezTo>
                        <a:close/>
                        <a:moveTo>
                          <a:pt x="1662" y="1552"/>
                        </a:moveTo>
                        <a:cubicBezTo>
                          <a:pt x="1526" y="1711"/>
                          <a:pt x="1338" y="1823"/>
                          <a:pt x="1123" y="1861"/>
                        </a:cubicBezTo>
                        <a:cubicBezTo>
                          <a:pt x="1125" y="1871"/>
                          <a:pt x="1126" y="1881"/>
                          <a:pt x="1126" y="1891"/>
                        </a:cubicBezTo>
                        <a:cubicBezTo>
                          <a:pt x="1126" y="1896"/>
                          <a:pt x="1126" y="1901"/>
                          <a:pt x="1125" y="1906"/>
                        </a:cubicBezTo>
                        <a:cubicBezTo>
                          <a:pt x="1322" y="1873"/>
                          <a:pt x="1501" y="1780"/>
                          <a:pt x="1645" y="1636"/>
                        </a:cubicBezTo>
                        <a:cubicBezTo>
                          <a:pt x="1663" y="1618"/>
                          <a:pt x="1681" y="1599"/>
                          <a:pt x="1698" y="1579"/>
                        </a:cubicBezTo>
                        <a:cubicBezTo>
                          <a:pt x="1684" y="1572"/>
                          <a:pt x="1672" y="1563"/>
                          <a:pt x="1662" y="1552"/>
                        </a:cubicBezTo>
                        <a:close/>
                        <a:moveTo>
                          <a:pt x="269" y="1556"/>
                        </a:moveTo>
                        <a:cubicBezTo>
                          <a:pt x="258" y="1566"/>
                          <a:pt x="245" y="1575"/>
                          <a:pt x="232" y="1582"/>
                        </a:cubicBezTo>
                        <a:cubicBezTo>
                          <a:pt x="248" y="1600"/>
                          <a:pt x="265" y="1619"/>
                          <a:pt x="283" y="1636"/>
                        </a:cubicBezTo>
                        <a:cubicBezTo>
                          <a:pt x="427" y="1781"/>
                          <a:pt x="610" y="1875"/>
                          <a:pt x="808" y="1907"/>
                        </a:cubicBezTo>
                        <a:cubicBezTo>
                          <a:pt x="807" y="1902"/>
                          <a:pt x="807" y="1896"/>
                          <a:pt x="807" y="1891"/>
                        </a:cubicBezTo>
                        <a:cubicBezTo>
                          <a:pt x="807" y="1881"/>
                          <a:pt x="808" y="1872"/>
                          <a:pt x="810" y="1862"/>
                        </a:cubicBezTo>
                        <a:cubicBezTo>
                          <a:pt x="595" y="1826"/>
                          <a:pt x="405" y="1715"/>
                          <a:pt x="269" y="1556"/>
                        </a:cubicBezTo>
                        <a:close/>
                        <a:moveTo>
                          <a:pt x="94" y="654"/>
                        </a:moveTo>
                        <a:cubicBezTo>
                          <a:pt x="79" y="650"/>
                          <a:pt x="66" y="644"/>
                          <a:pt x="53" y="636"/>
                        </a:cubicBezTo>
                        <a:cubicBezTo>
                          <a:pt x="18" y="736"/>
                          <a:pt x="0" y="843"/>
                          <a:pt x="0" y="953"/>
                        </a:cubicBezTo>
                        <a:cubicBezTo>
                          <a:pt x="0" y="1077"/>
                          <a:pt x="23" y="1197"/>
                          <a:pt x="67" y="1309"/>
                        </a:cubicBezTo>
                        <a:cubicBezTo>
                          <a:pt x="79" y="1300"/>
                          <a:pt x="92" y="1293"/>
                          <a:pt x="107" y="1288"/>
                        </a:cubicBezTo>
                        <a:cubicBezTo>
                          <a:pt x="66" y="1184"/>
                          <a:pt x="44" y="1071"/>
                          <a:pt x="44" y="953"/>
                        </a:cubicBezTo>
                        <a:cubicBezTo>
                          <a:pt x="44" y="849"/>
                          <a:pt x="61" y="748"/>
                          <a:pt x="94" y="654"/>
                        </a:cubicBezTo>
                        <a:close/>
                        <a:moveTo>
                          <a:pt x="961" y="754"/>
                        </a:moveTo>
                        <a:cubicBezTo>
                          <a:pt x="854" y="754"/>
                          <a:pt x="767" y="843"/>
                          <a:pt x="767" y="953"/>
                        </a:cubicBezTo>
                        <a:cubicBezTo>
                          <a:pt x="767" y="1062"/>
                          <a:pt x="854" y="1151"/>
                          <a:pt x="961" y="1151"/>
                        </a:cubicBezTo>
                        <a:cubicBezTo>
                          <a:pt x="1069" y="1151"/>
                          <a:pt x="1157" y="1062"/>
                          <a:pt x="1157" y="953"/>
                        </a:cubicBezTo>
                        <a:cubicBezTo>
                          <a:pt x="1157" y="843"/>
                          <a:pt x="1069" y="754"/>
                          <a:pt x="961" y="754"/>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3" name="Grupo 107"/>
              <p:cNvGrpSpPr/>
              <p:nvPr/>
            </p:nvGrpSpPr>
            <p:grpSpPr>
              <a:xfrm>
                <a:off x="783693" y="4970168"/>
                <a:ext cx="1036959" cy="1122694"/>
                <a:chOff x="783693" y="4970168"/>
                <a:chExt cx="1036959" cy="1122694"/>
              </a:xfrm>
            </p:grpSpPr>
            <p:sp>
              <p:nvSpPr>
                <p:cNvPr id="14" name="Rectangle: Rounded Corners 4"/>
                <p:cNvSpPr/>
                <p:nvPr/>
              </p:nvSpPr>
              <p:spPr>
                <a:xfrm>
                  <a:off x="848652"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Confiabilidad </a:t>
                  </a:r>
                  <a:br>
                    <a:rPr lang="es-CL" sz="855">
                      <a:solidFill>
                        <a:schemeClr val="tx1"/>
                      </a:solidFill>
                    </a:rPr>
                  </a:br>
                  <a:r>
                    <a:rPr lang="es-CL" sz="855">
                      <a:solidFill>
                        <a:schemeClr val="tx1"/>
                      </a:solidFill>
                    </a:rPr>
                    <a:t>de Procesos</a:t>
                  </a:r>
                </a:p>
              </p:txBody>
            </p:sp>
            <p:sp>
              <p:nvSpPr>
                <p:cNvPr id="15" name="Oval 20"/>
                <p:cNvSpPr>
                  <a:spLocks noChangeAspect="1" noChangeArrowheads="1"/>
                </p:cNvSpPr>
                <p:nvPr/>
              </p:nvSpPr>
              <p:spPr bwMode="auto">
                <a:xfrm>
                  <a:off x="783693"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14</a:t>
                  </a:r>
                </a:p>
              </p:txBody>
            </p:sp>
          </p:grpSp>
        </p:grpSp>
        <p:grpSp>
          <p:nvGrpSpPr>
            <p:cNvPr id="16" name="Grupo 112"/>
            <p:cNvGrpSpPr/>
            <p:nvPr/>
          </p:nvGrpSpPr>
          <p:grpSpPr>
            <a:xfrm>
              <a:off x="4827038" y="5176000"/>
              <a:ext cx="1036959" cy="1122694"/>
              <a:chOff x="3537698" y="4970168"/>
              <a:chExt cx="1036959" cy="1122694"/>
            </a:xfrm>
          </p:grpSpPr>
          <p:grpSp>
            <p:nvGrpSpPr>
              <p:cNvPr id="17" name="bcgIcons_Continuous testing "/>
              <p:cNvGrpSpPr>
                <a:grpSpLocks noChangeAspect="1"/>
              </p:cNvGrpSpPr>
              <p:nvPr/>
            </p:nvGrpSpPr>
            <p:grpSpPr>
              <a:xfrm>
                <a:off x="3872186" y="5141091"/>
                <a:ext cx="380413" cy="380413"/>
                <a:chOff x="5256341" y="2517774"/>
                <a:chExt cx="1646238" cy="1646238"/>
              </a:xfrm>
            </p:grpSpPr>
            <p:sp>
              <p:nvSpPr>
                <p:cNvPr id="18" name="AutoShape 107"/>
                <p:cNvSpPr>
                  <a:spLocks noChangeAspect="1" noChangeArrowheads="1" noTextEdit="1"/>
                </p:cNvSpPr>
                <p:nvPr/>
              </p:nvSpPr>
              <p:spPr bwMode="auto">
                <a:xfrm>
                  <a:off x="5256341" y="2517774"/>
                  <a:ext cx="1646238" cy="164623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9" name="Group 51"/>
                <p:cNvGrpSpPr/>
                <p:nvPr/>
              </p:nvGrpSpPr>
              <p:grpSpPr>
                <a:xfrm>
                  <a:off x="5432682" y="2692400"/>
                  <a:ext cx="1293556" cy="1296987"/>
                  <a:chOff x="5432682" y="2692400"/>
                  <a:chExt cx="1293556" cy="1296987"/>
                </a:xfrm>
              </p:grpSpPr>
              <p:sp>
                <p:nvSpPr>
                  <p:cNvPr id="20" name="Freeform 5"/>
                  <p:cNvSpPr>
                    <a:spLocks/>
                  </p:cNvSpPr>
                  <p:nvPr/>
                </p:nvSpPr>
                <p:spPr bwMode="auto">
                  <a:xfrm>
                    <a:off x="5432682" y="2753317"/>
                    <a:ext cx="1285289" cy="1236070"/>
                  </a:xfrm>
                  <a:custGeom>
                    <a:avLst/>
                    <a:gdLst>
                      <a:gd name="connsiteX0" fmla="*/ 233276 w 1285289"/>
                      <a:gd name="connsiteY0" fmla="*/ 991595 h 1236070"/>
                      <a:gd name="connsiteX1" fmla="*/ 630639 w 1285289"/>
                      <a:gd name="connsiteY1" fmla="*/ 1202571 h 1236070"/>
                      <a:gd name="connsiteX2" fmla="*/ 1078030 w 1285289"/>
                      <a:gd name="connsiteY2" fmla="*/ 1042201 h 1236070"/>
                      <a:gd name="connsiteX3" fmla="*/ 1008706 w 1285289"/>
                      <a:gd name="connsiteY3" fmla="*/ 1044339 h 1236070"/>
                      <a:gd name="connsiteX4" fmla="*/ 992268 w 1285289"/>
                      <a:gd name="connsiteY4" fmla="*/ 1029371 h 1236070"/>
                      <a:gd name="connsiteX5" fmla="*/ 1007991 w 1285289"/>
                      <a:gd name="connsiteY5" fmla="*/ 1012978 h 1236070"/>
                      <a:gd name="connsiteX6" fmla="*/ 1115908 w 1285289"/>
                      <a:gd name="connsiteY6" fmla="*/ 1010127 h 1236070"/>
                      <a:gd name="connsiteX7" fmla="*/ 1118052 w 1285289"/>
                      <a:gd name="connsiteY7" fmla="*/ 1010127 h 1236070"/>
                      <a:gd name="connsiteX8" fmla="*/ 1118767 w 1285289"/>
                      <a:gd name="connsiteY8" fmla="*/ 1010127 h 1236070"/>
                      <a:gd name="connsiteX9" fmla="*/ 1120911 w 1285289"/>
                      <a:gd name="connsiteY9" fmla="*/ 1010840 h 1236070"/>
                      <a:gd name="connsiteX10" fmla="*/ 1121626 w 1285289"/>
                      <a:gd name="connsiteY10" fmla="*/ 1010840 h 1236070"/>
                      <a:gd name="connsiteX11" fmla="*/ 1123770 w 1285289"/>
                      <a:gd name="connsiteY11" fmla="*/ 1012265 h 1236070"/>
                      <a:gd name="connsiteX12" fmla="*/ 1124484 w 1285289"/>
                      <a:gd name="connsiteY12" fmla="*/ 1012265 h 1236070"/>
                      <a:gd name="connsiteX13" fmla="*/ 1126628 w 1285289"/>
                      <a:gd name="connsiteY13" fmla="*/ 1013691 h 1236070"/>
                      <a:gd name="connsiteX14" fmla="*/ 1127343 w 1285289"/>
                      <a:gd name="connsiteY14" fmla="*/ 1014403 h 1236070"/>
                      <a:gd name="connsiteX15" fmla="*/ 1128772 w 1285289"/>
                      <a:gd name="connsiteY15" fmla="*/ 1015829 h 1236070"/>
                      <a:gd name="connsiteX16" fmla="*/ 1128772 w 1285289"/>
                      <a:gd name="connsiteY16" fmla="*/ 1016542 h 1236070"/>
                      <a:gd name="connsiteX17" fmla="*/ 1130202 w 1285289"/>
                      <a:gd name="connsiteY17" fmla="*/ 1018680 h 1236070"/>
                      <a:gd name="connsiteX18" fmla="*/ 1130202 w 1285289"/>
                      <a:gd name="connsiteY18" fmla="*/ 1019393 h 1236070"/>
                      <a:gd name="connsiteX19" fmla="*/ 1131631 w 1285289"/>
                      <a:gd name="connsiteY19" fmla="*/ 1021531 h 1236070"/>
                      <a:gd name="connsiteX20" fmla="*/ 1131631 w 1285289"/>
                      <a:gd name="connsiteY20" fmla="*/ 1022244 h 1236070"/>
                      <a:gd name="connsiteX21" fmla="*/ 1131631 w 1285289"/>
                      <a:gd name="connsiteY21" fmla="*/ 1024382 h 1236070"/>
                      <a:gd name="connsiteX22" fmla="*/ 1131631 w 1285289"/>
                      <a:gd name="connsiteY22" fmla="*/ 1025095 h 1236070"/>
                      <a:gd name="connsiteX23" fmla="*/ 1131631 w 1285289"/>
                      <a:gd name="connsiteY23" fmla="*/ 1026520 h 1236070"/>
                      <a:gd name="connsiteX24" fmla="*/ 1126628 w 1285289"/>
                      <a:gd name="connsiteY24" fmla="*/ 1132008 h 1236070"/>
                      <a:gd name="connsiteX25" fmla="*/ 1110905 w 1285289"/>
                      <a:gd name="connsiteY25" fmla="*/ 1147689 h 1236070"/>
                      <a:gd name="connsiteX26" fmla="*/ 1110191 w 1285289"/>
                      <a:gd name="connsiteY26" fmla="*/ 1147689 h 1236070"/>
                      <a:gd name="connsiteX27" fmla="*/ 1095182 w 1285289"/>
                      <a:gd name="connsiteY27" fmla="*/ 1130582 h 1236070"/>
                      <a:gd name="connsiteX28" fmla="*/ 1098041 w 1285289"/>
                      <a:gd name="connsiteY28" fmla="*/ 1066434 h 1236070"/>
                      <a:gd name="connsiteX29" fmla="*/ 905077 w 1285289"/>
                      <a:gd name="connsiteY29" fmla="*/ 1192592 h 1236070"/>
                      <a:gd name="connsiteX30" fmla="*/ 679952 w 1285289"/>
                      <a:gd name="connsiteY30" fmla="*/ 1236070 h 1236070"/>
                      <a:gd name="connsiteX31" fmla="*/ 627780 w 1285289"/>
                      <a:gd name="connsiteY31" fmla="*/ 1233932 h 1236070"/>
                      <a:gd name="connsiteX32" fmla="*/ 361918 w 1285289"/>
                      <a:gd name="connsiteY32" fmla="*/ 1146263 h 1236070"/>
                      <a:gd name="connsiteX33" fmla="*/ 206118 w 1285289"/>
                      <a:gd name="connsiteY33" fmla="*/ 1007988 h 1236070"/>
                      <a:gd name="connsiteX34" fmla="*/ 233276 w 1285289"/>
                      <a:gd name="connsiteY34" fmla="*/ 991595 h 1236070"/>
                      <a:gd name="connsiteX35" fmla="*/ 520755 w 1285289"/>
                      <a:gd name="connsiteY35" fmla="*/ 47032 h 1236070"/>
                      <a:gd name="connsiteX36" fmla="*/ 520755 w 1285289"/>
                      <a:gd name="connsiteY36" fmla="*/ 49891 h 1236070"/>
                      <a:gd name="connsiteX37" fmla="*/ 523619 w 1285289"/>
                      <a:gd name="connsiteY37" fmla="*/ 78479 h 1236070"/>
                      <a:gd name="connsiteX38" fmla="*/ 108403 w 1285289"/>
                      <a:gd name="connsiteY38" fmla="*/ 563049 h 1236070"/>
                      <a:gd name="connsiteX39" fmla="*/ 106255 w 1285289"/>
                      <a:gd name="connsiteY39" fmla="*/ 678831 h 1236070"/>
                      <a:gd name="connsiteX40" fmla="*/ 147061 w 1285289"/>
                      <a:gd name="connsiteY40" fmla="*/ 624513 h 1236070"/>
                      <a:gd name="connsiteX41" fmla="*/ 169253 w 1285289"/>
                      <a:gd name="connsiteY41" fmla="*/ 620940 h 1236070"/>
                      <a:gd name="connsiteX42" fmla="*/ 172833 w 1285289"/>
                      <a:gd name="connsiteY42" fmla="*/ 643096 h 1236070"/>
                      <a:gd name="connsiteX43" fmla="*/ 108403 w 1285289"/>
                      <a:gd name="connsiteY43" fmla="*/ 728860 h 1236070"/>
                      <a:gd name="connsiteX44" fmla="*/ 107687 w 1285289"/>
                      <a:gd name="connsiteY44" fmla="*/ 729575 h 1236070"/>
                      <a:gd name="connsiteX45" fmla="*/ 106255 w 1285289"/>
                      <a:gd name="connsiteY45" fmla="*/ 731719 h 1236070"/>
                      <a:gd name="connsiteX46" fmla="*/ 105539 w 1285289"/>
                      <a:gd name="connsiteY46" fmla="*/ 731719 h 1236070"/>
                      <a:gd name="connsiteX47" fmla="*/ 104107 w 1285289"/>
                      <a:gd name="connsiteY47" fmla="*/ 733148 h 1236070"/>
                      <a:gd name="connsiteX48" fmla="*/ 102676 w 1285289"/>
                      <a:gd name="connsiteY48" fmla="*/ 733863 h 1236070"/>
                      <a:gd name="connsiteX49" fmla="*/ 101244 w 1285289"/>
                      <a:gd name="connsiteY49" fmla="*/ 734578 h 1236070"/>
                      <a:gd name="connsiteX50" fmla="*/ 98380 w 1285289"/>
                      <a:gd name="connsiteY50" fmla="*/ 735292 h 1236070"/>
                      <a:gd name="connsiteX51" fmla="*/ 97664 w 1285289"/>
                      <a:gd name="connsiteY51" fmla="*/ 735292 h 1236070"/>
                      <a:gd name="connsiteX52" fmla="*/ 96949 w 1285289"/>
                      <a:gd name="connsiteY52" fmla="*/ 735292 h 1236070"/>
                      <a:gd name="connsiteX53" fmla="*/ 96949 w 1285289"/>
                      <a:gd name="connsiteY53" fmla="*/ 736007 h 1236070"/>
                      <a:gd name="connsiteX54" fmla="*/ 95517 w 1285289"/>
                      <a:gd name="connsiteY54" fmla="*/ 736007 h 1236070"/>
                      <a:gd name="connsiteX55" fmla="*/ 92653 w 1285289"/>
                      <a:gd name="connsiteY55" fmla="*/ 735292 h 1236070"/>
                      <a:gd name="connsiteX56" fmla="*/ 89790 w 1285289"/>
                      <a:gd name="connsiteY56" fmla="*/ 734578 h 1236070"/>
                      <a:gd name="connsiteX57" fmla="*/ 87642 w 1285289"/>
                      <a:gd name="connsiteY57" fmla="*/ 733863 h 1236070"/>
                      <a:gd name="connsiteX58" fmla="*/ 85494 w 1285289"/>
                      <a:gd name="connsiteY58" fmla="*/ 732434 h 1236070"/>
                      <a:gd name="connsiteX59" fmla="*/ 84778 w 1285289"/>
                      <a:gd name="connsiteY59" fmla="*/ 731719 h 1236070"/>
                      <a:gd name="connsiteX60" fmla="*/ 5315 w 1285289"/>
                      <a:gd name="connsiteY60" fmla="*/ 660963 h 1236070"/>
                      <a:gd name="connsiteX61" fmla="*/ 3883 w 1285289"/>
                      <a:gd name="connsiteY61" fmla="*/ 638807 h 1236070"/>
                      <a:gd name="connsiteX62" fmla="*/ 26075 w 1285289"/>
                      <a:gd name="connsiteY62" fmla="*/ 637378 h 1236070"/>
                      <a:gd name="connsiteX63" fmla="*/ 74756 w 1285289"/>
                      <a:gd name="connsiteY63" fmla="*/ 680975 h 1236070"/>
                      <a:gd name="connsiteX64" fmla="*/ 76904 w 1285289"/>
                      <a:gd name="connsiteY64" fmla="*/ 559475 h 1236070"/>
                      <a:gd name="connsiteX65" fmla="*/ 520755 w 1285289"/>
                      <a:gd name="connsiteY65" fmla="*/ 47032 h 1236070"/>
                      <a:gd name="connsiteX66" fmla="*/ 932443 w 1285289"/>
                      <a:gd name="connsiteY66" fmla="*/ 1029 h 1236070"/>
                      <a:gd name="connsiteX67" fmla="*/ 941187 w 1285289"/>
                      <a:gd name="connsiteY67" fmla="*/ 9230 h 1236070"/>
                      <a:gd name="connsiteX68" fmla="*/ 933335 w 1285289"/>
                      <a:gd name="connsiteY68" fmla="*/ 29910 h 1236070"/>
                      <a:gd name="connsiteX69" fmla="*/ 874090 w 1285289"/>
                      <a:gd name="connsiteY69" fmla="*/ 57009 h 1236070"/>
                      <a:gd name="connsiteX70" fmla="*/ 1283809 w 1285289"/>
                      <a:gd name="connsiteY70" fmla="*/ 671716 h 1236070"/>
                      <a:gd name="connsiteX71" fmla="*/ 1270960 w 1285289"/>
                      <a:gd name="connsiteY71" fmla="*/ 762995 h 1236070"/>
                      <a:gd name="connsiteX72" fmla="*/ 1242409 w 1285289"/>
                      <a:gd name="connsiteY72" fmla="*/ 745880 h 1236070"/>
                      <a:gd name="connsiteX73" fmla="*/ 1252402 w 1285289"/>
                      <a:gd name="connsiteY73" fmla="*/ 669577 h 1236070"/>
                      <a:gd name="connsiteX74" fmla="*/ 862669 w 1285289"/>
                      <a:gd name="connsiteY74" fmla="*/ 86247 h 1236070"/>
                      <a:gd name="connsiteX75" fmla="*/ 896932 w 1285289"/>
                      <a:gd name="connsiteY75" fmla="*/ 146149 h 1236070"/>
                      <a:gd name="connsiteX76" fmla="*/ 890507 w 1285289"/>
                      <a:gd name="connsiteY76" fmla="*/ 167542 h 1236070"/>
                      <a:gd name="connsiteX77" fmla="*/ 882656 w 1285289"/>
                      <a:gd name="connsiteY77" fmla="*/ 169681 h 1236070"/>
                      <a:gd name="connsiteX78" fmla="*/ 869094 w 1285289"/>
                      <a:gd name="connsiteY78" fmla="*/ 161837 h 1236070"/>
                      <a:gd name="connsiteX79" fmla="*/ 815559 w 1285289"/>
                      <a:gd name="connsiteY79" fmla="*/ 67706 h 1236070"/>
                      <a:gd name="connsiteX80" fmla="*/ 815559 w 1285289"/>
                      <a:gd name="connsiteY80" fmla="*/ 66993 h 1236070"/>
                      <a:gd name="connsiteX81" fmla="*/ 815559 w 1285289"/>
                      <a:gd name="connsiteY81" fmla="*/ 66279 h 1236070"/>
                      <a:gd name="connsiteX82" fmla="*/ 814845 w 1285289"/>
                      <a:gd name="connsiteY82" fmla="*/ 65566 h 1236070"/>
                      <a:gd name="connsiteX83" fmla="*/ 814845 w 1285289"/>
                      <a:gd name="connsiteY83" fmla="*/ 64853 h 1236070"/>
                      <a:gd name="connsiteX84" fmla="*/ 814845 w 1285289"/>
                      <a:gd name="connsiteY84" fmla="*/ 64140 h 1236070"/>
                      <a:gd name="connsiteX85" fmla="*/ 814131 w 1285289"/>
                      <a:gd name="connsiteY85" fmla="*/ 63427 h 1236070"/>
                      <a:gd name="connsiteX86" fmla="*/ 814131 w 1285289"/>
                      <a:gd name="connsiteY86" fmla="*/ 62714 h 1236070"/>
                      <a:gd name="connsiteX87" fmla="*/ 814131 w 1285289"/>
                      <a:gd name="connsiteY87" fmla="*/ 62001 h 1236070"/>
                      <a:gd name="connsiteX88" fmla="*/ 814131 w 1285289"/>
                      <a:gd name="connsiteY88" fmla="*/ 61288 h 1236070"/>
                      <a:gd name="connsiteX89" fmla="*/ 814131 w 1285289"/>
                      <a:gd name="connsiteY89" fmla="*/ 60574 h 1236070"/>
                      <a:gd name="connsiteX90" fmla="*/ 814131 w 1285289"/>
                      <a:gd name="connsiteY90" fmla="*/ 59861 h 1236070"/>
                      <a:gd name="connsiteX91" fmla="*/ 814131 w 1285289"/>
                      <a:gd name="connsiteY91" fmla="*/ 58435 h 1236070"/>
                      <a:gd name="connsiteX92" fmla="*/ 814131 w 1285289"/>
                      <a:gd name="connsiteY92" fmla="*/ 57722 h 1236070"/>
                      <a:gd name="connsiteX93" fmla="*/ 814131 w 1285289"/>
                      <a:gd name="connsiteY93" fmla="*/ 57009 h 1236070"/>
                      <a:gd name="connsiteX94" fmla="*/ 814131 w 1285289"/>
                      <a:gd name="connsiteY94" fmla="*/ 56296 h 1236070"/>
                      <a:gd name="connsiteX95" fmla="*/ 814845 w 1285289"/>
                      <a:gd name="connsiteY95" fmla="*/ 55583 h 1236070"/>
                      <a:gd name="connsiteX96" fmla="*/ 814845 w 1285289"/>
                      <a:gd name="connsiteY96" fmla="*/ 54870 h 1236070"/>
                      <a:gd name="connsiteX97" fmla="*/ 815559 w 1285289"/>
                      <a:gd name="connsiteY97" fmla="*/ 52017 h 1236070"/>
                      <a:gd name="connsiteX98" fmla="*/ 816273 w 1285289"/>
                      <a:gd name="connsiteY98" fmla="*/ 52017 h 1236070"/>
                      <a:gd name="connsiteX99" fmla="*/ 817700 w 1285289"/>
                      <a:gd name="connsiteY99" fmla="*/ 49878 h 1236070"/>
                      <a:gd name="connsiteX100" fmla="*/ 819842 w 1285289"/>
                      <a:gd name="connsiteY100" fmla="*/ 47738 h 1236070"/>
                      <a:gd name="connsiteX101" fmla="*/ 820555 w 1285289"/>
                      <a:gd name="connsiteY101" fmla="*/ 47738 h 1236070"/>
                      <a:gd name="connsiteX102" fmla="*/ 822697 w 1285289"/>
                      <a:gd name="connsiteY102" fmla="*/ 45599 h 1236070"/>
                      <a:gd name="connsiteX103" fmla="*/ 920487 w 1285289"/>
                      <a:gd name="connsiteY103" fmla="*/ 1386 h 1236070"/>
                      <a:gd name="connsiteX104" fmla="*/ 932443 w 1285289"/>
                      <a:gd name="connsiteY104" fmla="*/ 1029 h 123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85289" h="1236070">
                        <a:moveTo>
                          <a:pt x="233276" y="991595"/>
                        </a:moveTo>
                        <a:cubicBezTo>
                          <a:pt x="331187" y="1112763"/>
                          <a:pt x="472694" y="1189741"/>
                          <a:pt x="630639" y="1202571"/>
                        </a:cubicBezTo>
                        <a:cubicBezTo>
                          <a:pt x="797874" y="1216826"/>
                          <a:pt x="958678" y="1159093"/>
                          <a:pt x="1078030" y="1042201"/>
                        </a:cubicBezTo>
                        <a:cubicBezTo>
                          <a:pt x="1078030" y="1042201"/>
                          <a:pt x="1078030" y="1042201"/>
                          <a:pt x="1008706" y="1044339"/>
                        </a:cubicBezTo>
                        <a:cubicBezTo>
                          <a:pt x="1000130" y="1045052"/>
                          <a:pt x="992983" y="1037924"/>
                          <a:pt x="992268" y="1029371"/>
                        </a:cubicBezTo>
                        <a:cubicBezTo>
                          <a:pt x="992268" y="1020818"/>
                          <a:pt x="999415" y="1013691"/>
                          <a:pt x="1007991" y="1012978"/>
                        </a:cubicBezTo>
                        <a:cubicBezTo>
                          <a:pt x="1007991" y="1012978"/>
                          <a:pt x="1007991" y="1012978"/>
                          <a:pt x="1115908" y="1010127"/>
                        </a:cubicBezTo>
                        <a:cubicBezTo>
                          <a:pt x="1116623" y="1010127"/>
                          <a:pt x="1117338" y="1010127"/>
                          <a:pt x="1118052" y="1010127"/>
                        </a:cubicBezTo>
                        <a:cubicBezTo>
                          <a:pt x="1118052" y="1010127"/>
                          <a:pt x="1118052" y="1010127"/>
                          <a:pt x="1118767" y="1010127"/>
                        </a:cubicBezTo>
                        <a:cubicBezTo>
                          <a:pt x="1119482" y="1010127"/>
                          <a:pt x="1120196" y="1010127"/>
                          <a:pt x="1120911" y="1010840"/>
                        </a:cubicBezTo>
                        <a:cubicBezTo>
                          <a:pt x="1120911" y="1010840"/>
                          <a:pt x="1120911" y="1010840"/>
                          <a:pt x="1121626" y="1010840"/>
                        </a:cubicBezTo>
                        <a:cubicBezTo>
                          <a:pt x="1122340" y="1010840"/>
                          <a:pt x="1123055" y="1011552"/>
                          <a:pt x="1123770" y="1012265"/>
                        </a:cubicBezTo>
                        <a:cubicBezTo>
                          <a:pt x="1123770" y="1012265"/>
                          <a:pt x="1123770" y="1012265"/>
                          <a:pt x="1124484" y="1012265"/>
                        </a:cubicBezTo>
                        <a:cubicBezTo>
                          <a:pt x="1125199" y="1012265"/>
                          <a:pt x="1125914" y="1012978"/>
                          <a:pt x="1126628" y="1013691"/>
                        </a:cubicBezTo>
                        <a:cubicBezTo>
                          <a:pt x="1126628" y="1014403"/>
                          <a:pt x="1127343" y="1014403"/>
                          <a:pt x="1127343" y="1014403"/>
                        </a:cubicBezTo>
                        <a:cubicBezTo>
                          <a:pt x="1128058" y="1015116"/>
                          <a:pt x="1128058" y="1015829"/>
                          <a:pt x="1128772" y="1015829"/>
                        </a:cubicBezTo>
                        <a:cubicBezTo>
                          <a:pt x="1128772" y="1016542"/>
                          <a:pt x="1128772" y="1016542"/>
                          <a:pt x="1128772" y="1016542"/>
                        </a:cubicBezTo>
                        <a:cubicBezTo>
                          <a:pt x="1129487" y="1017254"/>
                          <a:pt x="1130202" y="1017967"/>
                          <a:pt x="1130202" y="1018680"/>
                        </a:cubicBezTo>
                        <a:cubicBezTo>
                          <a:pt x="1130202" y="1018680"/>
                          <a:pt x="1130202" y="1018680"/>
                          <a:pt x="1130202" y="1019393"/>
                        </a:cubicBezTo>
                        <a:cubicBezTo>
                          <a:pt x="1130917" y="1020105"/>
                          <a:pt x="1130917" y="1020818"/>
                          <a:pt x="1131631" y="1021531"/>
                        </a:cubicBezTo>
                        <a:cubicBezTo>
                          <a:pt x="1131631" y="1021531"/>
                          <a:pt x="1131631" y="1021531"/>
                          <a:pt x="1131631" y="1022244"/>
                        </a:cubicBezTo>
                        <a:cubicBezTo>
                          <a:pt x="1131631" y="1022956"/>
                          <a:pt x="1131631" y="1023669"/>
                          <a:pt x="1131631" y="1024382"/>
                        </a:cubicBezTo>
                        <a:cubicBezTo>
                          <a:pt x="1131631" y="1024382"/>
                          <a:pt x="1131631" y="1024382"/>
                          <a:pt x="1131631" y="1025095"/>
                        </a:cubicBezTo>
                        <a:cubicBezTo>
                          <a:pt x="1131631" y="1025095"/>
                          <a:pt x="1131631" y="1025807"/>
                          <a:pt x="1131631" y="1026520"/>
                        </a:cubicBezTo>
                        <a:cubicBezTo>
                          <a:pt x="1131631" y="1026520"/>
                          <a:pt x="1131631" y="1026520"/>
                          <a:pt x="1126628" y="1132008"/>
                        </a:cubicBezTo>
                        <a:cubicBezTo>
                          <a:pt x="1125914" y="1140561"/>
                          <a:pt x="1118767" y="1147689"/>
                          <a:pt x="1110905" y="1147689"/>
                        </a:cubicBezTo>
                        <a:cubicBezTo>
                          <a:pt x="1110191" y="1147689"/>
                          <a:pt x="1110191" y="1147689"/>
                          <a:pt x="1110191" y="1147689"/>
                        </a:cubicBezTo>
                        <a:cubicBezTo>
                          <a:pt x="1100900" y="1147689"/>
                          <a:pt x="1094468" y="1139135"/>
                          <a:pt x="1095182" y="1130582"/>
                        </a:cubicBezTo>
                        <a:cubicBezTo>
                          <a:pt x="1095182" y="1130582"/>
                          <a:pt x="1095182" y="1130582"/>
                          <a:pt x="1098041" y="1066434"/>
                        </a:cubicBezTo>
                        <a:cubicBezTo>
                          <a:pt x="1042296" y="1119891"/>
                          <a:pt x="976545" y="1163369"/>
                          <a:pt x="905077" y="1192592"/>
                        </a:cubicBezTo>
                        <a:cubicBezTo>
                          <a:pt x="833609" y="1221815"/>
                          <a:pt x="757852" y="1236070"/>
                          <a:pt x="679952" y="1236070"/>
                        </a:cubicBezTo>
                        <a:cubicBezTo>
                          <a:pt x="662799" y="1236070"/>
                          <a:pt x="645647" y="1235357"/>
                          <a:pt x="627780" y="1233932"/>
                        </a:cubicBezTo>
                        <a:cubicBezTo>
                          <a:pt x="532013" y="1226092"/>
                          <a:pt x="441963" y="1196156"/>
                          <a:pt x="361918" y="1146263"/>
                        </a:cubicBezTo>
                        <a:cubicBezTo>
                          <a:pt x="302600" y="1109200"/>
                          <a:pt x="249713" y="1062158"/>
                          <a:pt x="206118" y="1007988"/>
                        </a:cubicBezTo>
                        <a:cubicBezTo>
                          <a:pt x="216123" y="1003712"/>
                          <a:pt x="224699" y="998010"/>
                          <a:pt x="233276" y="991595"/>
                        </a:cubicBezTo>
                        <a:close/>
                        <a:moveTo>
                          <a:pt x="520755" y="47032"/>
                        </a:moveTo>
                        <a:cubicBezTo>
                          <a:pt x="520755" y="47747"/>
                          <a:pt x="520755" y="49176"/>
                          <a:pt x="520755" y="49891"/>
                        </a:cubicBezTo>
                        <a:cubicBezTo>
                          <a:pt x="520755" y="59897"/>
                          <a:pt x="521471" y="69188"/>
                          <a:pt x="523619" y="78479"/>
                        </a:cubicBezTo>
                        <a:cubicBezTo>
                          <a:pt x="303841" y="139944"/>
                          <a:pt x="136322" y="329340"/>
                          <a:pt x="108403" y="563049"/>
                        </a:cubicBezTo>
                        <a:cubicBezTo>
                          <a:pt x="104107" y="601643"/>
                          <a:pt x="103392" y="640237"/>
                          <a:pt x="106255" y="678831"/>
                        </a:cubicBezTo>
                        <a:cubicBezTo>
                          <a:pt x="106255" y="678831"/>
                          <a:pt x="106255" y="678831"/>
                          <a:pt x="147061" y="624513"/>
                        </a:cubicBezTo>
                        <a:cubicBezTo>
                          <a:pt x="152788" y="617366"/>
                          <a:pt x="162094" y="615937"/>
                          <a:pt x="169253" y="620940"/>
                        </a:cubicBezTo>
                        <a:cubicBezTo>
                          <a:pt x="176412" y="625943"/>
                          <a:pt x="177844" y="635949"/>
                          <a:pt x="172833" y="643096"/>
                        </a:cubicBezTo>
                        <a:cubicBezTo>
                          <a:pt x="172833" y="643096"/>
                          <a:pt x="172833" y="643096"/>
                          <a:pt x="108403" y="728860"/>
                        </a:cubicBezTo>
                        <a:cubicBezTo>
                          <a:pt x="108403" y="728860"/>
                          <a:pt x="108403" y="728860"/>
                          <a:pt x="107687" y="729575"/>
                        </a:cubicBezTo>
                        <a:cubicBezTo>
                          <a:pt x="106971" y="730290"/>
                          <a:pt x="106255" y="731004"/>
                          <a:pt x="106255" y="731719"/>
                        </a:cubicBezTo>
                        <a:cubicBezTo>
                          <a:pt x="105539" y="731719"/>
                          <a:pt x="105539" y="731719"/>
                          <a:pt x="105539" y="731719"/>
                        </a:cubicBezTo>
                        <a:cubicBezTo>
                          <a:pt x="104823" y="732434"/>
                          <a:pt x="104107" y="733148"/>
                          <a:pt x="104107" y="733148"/>
                        </a:cubicBezTo>
                        <a:cubicBezTo>
                          <a:pt x="103392" y="733148"/>
                          <a:pt x="103392" y="733863"/>
                          <a:pt x="102676" y="733863"/>
                        </a:cubicBezTo>
                        <a:cubicBezTo>
                          <a:pt x="101960" y="733863"/>
                          <a:pt x="101960" y="734578"/>
                          <a:pt x="101244" y="734578"/>
                        </a:cubicBezTo>
                        <a:cubicBezTo>
                          <a:pt x="100528" y="734578"/>
                          <a:pt x="99096" y="735292"/>
                          <a:pt x="98380" y="735292"/>
                        </a:cubicBezTo>
                        <a:cubicBezTo>
                          <a:pt x="98380" y="735292"/>
                          <a:pt x="98380" y="735292"/>
                          <a:pt x="97664" y="735292"/>
                        </a:cubicBezTo>
                        <a:cubicBezTo>
                          <a:pt x="97664" y="735292"/>
                          <a:pt x="97664" y="735292"/>
                          <a:pt x="96949" y="735292"/>
                        </a:cubicBezTo>
                        <a:cubicBezTo>
                          <a:pt x="96949" y="735292"/>
                          <a:pt x="96949" y="735292"/>
                          <a:pt x="96949" y="736007"/>
                        </a:cubicBezTo>
                        <a:cubicBezTo>
                          <a:pt x="96233" y="736007"/>
                          <a:pt x="96233" y="736007"/>
                          <a:pt x="95517" y="736007"/>
                        </a:cubicBezTo>
                        <a:cubicBezTo>
                          <a:pt x="94085" y="736007"/>
                          <a:pt x="93369" y="736007"/>
                          <a:pt x="92653" y="735292"/>
                        </a:cubicBezTo>
                        <a:cubicBezTo>
                          <a:pt x="91937" y="735292"/>
                          <a:pt x="90506" y="735292"/>
                          <a:pt x="89790" y="734578"/>
                        </a:cubicBezTo>
                        <a:cubicBezTo>
                          <a:pt x="89074" y="734578"/>
                          <a:pt x="88358" y="734578"/>
                          <a:pt x="87642" y="733863"/>
                        </a:cubicBezTo>
                        <a:cubicBezTo>
                          <a:pt x="86926" y="733148"/>
                          <a:pt x="86210" y="733148"/>
                          <a:pt x="85494" y="732434"/>
                        </a:cubicBezTo>
                        <a:cubicBezTo>
                          <a:pt x="85494" y="732434"/>
                          <a:pt x="84778" y="732434"/>
                          <a:pt x="84778" y="731719"/>
                        </a:cubicBezTo>
                        <a:cubicBezTo>
                          <a:pt x="84778" y="731719"/>
                          <a:pt x="84778" y="731719"/>
                          <a:pt x="5315" y="660963"/>
                        </a:cubicBezTo>
                        <a:cubicBezTo>
                          <a:pt x="-1128" y="655246"/>
                          <a:pt x="-1844" y="645954"/>
                          <a:pt x="3883" y="638807"/>
                        </a:cubicBezTo>
                        <a:cubicBezTo>
                          <a:pt x="9610" y="632375"/>
                          <a:pt x="19632" y="631660"/>
                          <a:pt x="26075" y="637378"/>
                        </a:cubicBezTo>
                        <a:cubicBezTo>
                          <a:pt x="26075" y="637378"/>
                          <a:pt x="26075" y="637378"/>
                          <a:pt x="74756" y="680975"/>
                        </a:cubicBezTo>
                        <a:cubicBezTo>
                          <a:pt x="71176" y="640237"/>
                          <a:pt x="72608" y="599499"/>
                          <a:pt x="76904" y="559475"/>
                        </a:cubicBezTo>
                        <a:cubicBezTo>
                          <a:pt x="106971" y="310758"/>
                          <a:pt x="286659" y="109926"/>
                          <a:pt x="520755" y="47032"/>
                        </a:cubicBezTo>
                        <a:close/>
                        <a:moveTo>
                          <a:pt x="932443" y="1029"/>
                        </a:moveTo>
                        <a:cubicBezTo>
                          <a:pt x="936190" y="2455"/>
                          <a:pt x="939402" y="5308"/>
                          <a:pt x="941187" y="9230"/>
                        </a:cubicBezTo>
                        <a:cubicBezTo>
                          <a:pt x="944756" y="17074"/>
                          <a:pt x="941187" y="26345"/>
                          <a:pt x="933335" y="29910"/>
                        </a:cubicBezTo>
                        <a:cubicBezTo>
                          <a:pt x="933335" y="29910"/>
                          <a:pt x="933335" y="29910"/>
                          <a:pt x="874090" y="57009"/>
                        </a:cubicBezTo>
                        <a:cubicBezTo>
                          <a:pt x="1132484" y="144009"/>
                          <a:pt x="1303081" y="395740"/>
                          <a:pt x="1283809" y="671716"/>
                        </a:cubicBezTo>
                        <a:cubicBezTo>
                          <a:pt x="1281667" y="702380"/>
                          <a:pt x="1277385" y="733044"/>
                          <a:pt x="1270960" y="762995"/>
                        </a:cubicBezTo>
                        <a:cubicBezTo>
                          <a:pt x="1261681" y="755864"/>
                          <a:pt x="1252402" y="750159"/>
                          <a:pt x="1242409" y="745880"/>
                        </a:cubicBezTo>
                        <a:cubicBezTo>
                          <a:pt x="1247405" y="720921"/>
                          <a:pt x="1250974" y="695249"/>
                          <a:pt x="1252402" y="669577"/>
                        </a:cubicBezTo>
                        <a:cubicBezTo>
                          <a:pt x="1270960" y="407150"/>
                          <a:pt x="1108215" y="168255"/>
                          <a:pt x="862669" y="86247"/>
                        </a:cubicBezTo>
                        <a:cubicBezTo>
                          <a:pt x="862669" y="86247"/>
                          <a:pt x="862669" y="86247"/>
                          <a:pt x="896932" y="146149"/>
                        </a:cubicBezTo>
                        <a:cubicBezTo>
                          <a:pt x="901214" y="153993"/>
                          <a:pt x="898359" y="163263"/>
                          <a:pt x="890507" y="167542"/>
                        </a:cubicBezTo>
                        <a:cubicBezTo>
                          <a:pt x="887652" y="168968"/>
                          <a:pt x="884797" y="169681"/>
                          <a:pt x="882656" y="169681"/>
                        </a:cubicBezTo>
                        <a:cubicBezTo>
                          <a:pt x="876945" y="169681"/>
                          <a:pt x="871949" y="166829"/>
                          <a:pt x="869094" y="161837"/>
                        </a:cubicBezTo>
                        <a:cubicBezTo>
                          <a:pt x="869094" y="161837"/>
                          <a:pt x="869094" y="161837"/>
                          <a:pt x="815559" y="67706"/>
                        </a:cubicBezTo>
                        <a:cubicBezTo>
                          <a:pt x="815559" y="67706"/>
                          <a:pt x="815559" y="67706"/>
                          <a:pt x="815559" y="66993"/>
                        </a:cubicBezTo>
                        <a:cubicBezTo>
                          <a:pt x="815559" y="66993"/>
                          <a:pt x="815559" y="66993"/>
                          <a:pt x="815559" y="66279"/>
                        </a:cubicBezTo>
                        <a:cubicBezTo>
                          <a:pt x="814845" y="66279"/>
                          <a:pt x="814845" y="66279"/>
                          <a:pt x="814845" y="65566"/>
                        </a:cubicBezTo>
                        <a:cubicBezTo>
                          <a:pt x="814845" y="65566"/>
                          <a:pt x="814845" y="65566"/>
                          <a:pt x="814845" y="64853"/>
                        </a:cubicBezTo>
                        <a:cubicBezTo>
                          <a:pt x="814845" y="64853"/>
                          <a:pt x="814845" y="64853"/>
                          <a:pt x="814845" y="64140"/>
                        </a:cubicBezTo>
                        <a:cubicBezTo>
                          <a:pt x="814131" y="64140"/>
                          <a:pt x="814131" y="63427"/>
                          <a:pt x="814131" y="63427"/>
                        </a:cubicBezTo>
                        <a:cubicBezTo>
                          <a:pt x="814131" y="63427"/>
                          <a:pt x="814131" y="63427"/>
                          <a:pt x="814131" y="62714"/>
                        </a:cubicBezTo>
                        <a:cubicBezTo>
                          <a:pt x="814131" y="62714"/>
                          <a:pt x="814131" y="62714"/>
                          <a:pt x="814131" y="62001"/>
                        </a:cubicBezTo>
                        <a:cubicBezTo>
                          <a:pt x="814131" y="62001"/>
                          <a:pt x="814131" y="62001"/>
                          <a:pt x="814131" y="61288"/>
                        </a:cubicBezTo>
                        <a:cubicBezTo>
                          <a:pt x="814131" y="61288"/>
                          <a:pt x="814131" y="61288"/>
                          <a:pt x="814131" y="60574"/>
                        </a:cubicBezTo>
                        <a:cubicBezTo>
                          <a:pt x="814131" y="59861"/>
                          <a:pt x="814131" y="59861"/>
                          <a:pt x="814131" y="59861"/>
                        </a:cubicBezTo>
                        <a:cubicBezTo>
                          <a:pt x="814131" y="59148"/>
                          <a:pt x="814131" y="59148"/>
                          <a:pt x="814131" y="58435"/>
                        </a:cubicBezTo>
                        <a:cubicBezTo>
                          <a:pt x="814131" y="58435"/>
                          <a:pt x="814131" y="58435"/>
                          <a:pt x="814131" y="57722"/>
                        </a:cubicBezTo>
                        <a:cubicBezTo>
                          <a:pt x="814131" y="57722"/>
                          <a:pt x="814131" y="57722"/>
                          <a:pt x="814131" y="57009"/>
                        </a:cubicBezTo>
                        <a:cubicBezTo>
                          <a:pt x="814131" y="57009"/>
                          <a:pt x="814131" y="57009"/>
                          <a:pt x="814131" y="56296"/>
                        </a:cubicBezTo>
                        <a:cubicBezTo>
                          <a:pt x="814131" y="55583"/>
                          <a:pt x="814845" y="55583"/>
                          <a:pt x="814845" y="55583"/>
                        </a:cubicBezTo>
                        <a:cubicBezTo>
                          <a:pt x="814845" y="55583"/>
                          <a:pt x="814845" y="55583"/>
                          <a:pt x="814845" y="54870"/>
                        </a:cubicBezTo>
                        <a:cubicBezTo>
                          <a:pt x="814845" y="54156"/>
                          <a:pt x="815559" y="53443"/>
                          <a:pt x="815559" y="52017"/>
                        </a:cubicBezTo>
                        <a:cubicBezTo>
                          <a:pt x="816273" y="52017"/>
                          <a:pt x="816273" y="52017"/>
                          <a:pt x="816273" y="52017"/>
                        </a:cubicBezTo>
                        <a:cubicBezTo>
                          <a:pt x="816273" y="51304"/>
                          <a:pt x="816986" y="50591"/>
                          <a:pt x="817700" y="49878"/>
                        </a:cubicBezTo>
                        <a:cubicBezTo>
                          <a:pt x="818414" y="49165"/>
                          <a:pt x="819128" y="48451"/>
                          <a:pt x="819842" y="47738"/>
                        </a:cubicBezTo>
                        <a:cubicBezTo>
                          <a:pt x="820555" y="47738"/>
                          <a:pt x="820555" y="47738"/>
                          <a:pt x="820555" y="47738"/>
                        </a:cubicBezTo>
                        <a:cubicBezTo>
                          <a:pt x="821269" y="47025"/>
                          <a:pt x="821983" y="46312"/>
                          <a:pt x="822697" y="45599"/>
                        </a:cubicBezTo>
                        <a:cubicBezTo>
                          <a:pt x="822697" y="45599"/>
                          <a:pt x="822697" y="45599"/>
                          <a:pt x="920487" y="1386"/>
                        </a:cubicBezTo>
                        <a:cubicBezTo>
                          <a:pt x="924413" y="-397"/>
                          <a:pt x="928696" y="-397"/>
                          <a:pt x="932443" y="1029"/>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21" name="Freeform 6"/>
                  <p:cNvSpPr>
                    <a:spLocks/>
                  </p:cNvSpPr>
                  <p:nvPr/>
                </p:nvSpPr>
                <p:spPr bwMode="auto">
                  <a:xfrm>
                    <a:off x="5468938" y="2692400"/>
                    <a:ext cx="1257300" cy="1049338"/>
                  </a:xfrm>
                  <a:custGeom>
                    <a:avLst/>
                    <a:gdLst>
                      <a:gd name="connsiteX0" fmla="*/ 1202365 w 1257300"/>
                      <a:gd name="connsiteY0" fmla="*/ 890162 h 1049338"/>
                      <a:gd name="connsiteX1" fmla="*/ 1194553 w 1257300"/>
                      <a:gd name="connsiteY1" fmla="*/ 893290 h 1049338"/>
                      <a:gd name="connsiteX2" fmla="*/ 1188871 w 1257300"/>
                      <a:gd name="connsiteY2" fmla="*/ 899010 h 1049338"/>
                      <a:gd name="connsiteX3" fmla="*/ 1131345 w 1257300"/>
                      <a:gd name="connsiteY3" fmla="*/ 956209 h 1049338"/>
                      <a:gd name="connsiteX4" fmla="*/ 1099386 w 1257300"/>
                      <a:gd name="connsiteY4" fmla="*/ 929754 h 1049338"/>
                      <a:gd name="connsiteX5" fmla="*/ 1083761 w 1257300"/>
                      <a:gd name="connsiteY5" fmla="*/ 931184 h 1049338"/>
                      <a:gd name="connsiteX6" fmla="*/ 1085182 w 1257300"/>
                      <a:gd name="connsiteY6" fmla="*/ 947629 h 1049338"/>
                      <a:gd name="connsiteX7" fmla="*/ 1124953 w 1257300"/>
                      <a:gd name="connsiteY7" fmla="*/ 979803 h 1049338"/>
                      <a:gd name="connsiteX8" fmla="*/ 1132055 w 1257300"/>
                      <a:gd name="connsiteY8" fmla="*/ 982663 h 1049338"/>
                      <a:gd name="connsiteX9" fmla="*/ 1139157 w 1257300"/>
                      <a:gd name="connsiteY9" fmla="*/ 979088 h 1049338"/>
                      <a:gd name="connsiteX10" fmla="*/ 1210177 w 1257300"/>
                      <a:gd name="connsiteY10" fmla="*/ 909735 h 1049338"/>
                      <a:gd name="connsiteX11" fmla="*/ 1212308 w 1257300"/>
                      <a:gd name="connsiteY11" fmla="*/ 896150 h 1049338"/>
                      <a:gd name="connsiteX12" fmla="*/ 1210177 w 1257300"/>
                      <a:gd name="connsiteY12" fmla="*/ 894005 h 1049338"/>
                      <a:gd name="connsiteX13" fmla="*/ 1202365 w 1257300"/>
                      <a:gd name="connsiteY13" fmla="*/ 890162 h 1049338"/>
                      <a:gd name="connsiteX14" fmla="*/ 111919 w 1257300"/>
                      <a:gd name="connsiteY14" fmla="*/ 877406 h 1049338"/>
                      <a:gd name="connsiteX15" fmla="*/ 111210 w 1257300"/>
                      <a:gd name="connsiteY15" fmla="*/ 893816 h 1049338"/>
                      <a:gd name="connsiteX16" fmla="*/ 140963 w 1257300"/>
                      <a:gd name="connsiteY16" fmla="*/ 927350 h 1049338"/>
                      <a:gd name="connsiteX17" fmla="*/ 57372 w 1257300"/>
                      <a:gd name="connsiteY17" fmla="*/ 927350 h 1049338"/>
                      <a:gd name="connsiteX18" fmla="*/ 46037 w 1257300"/>
                      <a:gd name="connsiteY18" fmla="*/ 938766 h 1049338"/>
                      <a:gd name="connsiteX19" fmla="*/ 57372 w 1257300"/>
                      <a:gd name="connsiteY19" fmla="*/ 950181 h 1049338"/>
                      <a:gd name="connsiteX20" fmla="*/ 140255 w 1257300"/>
                      <a:gd name="connsiteY20" fmla="*/ 950181 h 1049338"/>
                      <a:gd name="connsiteX21" fmla="*/ 111210 w 1257300"/>
                      <a:gd name="connsiteY21" fmla="*/ 980861 h 1049338"/>
                      <a:gd name="connsiteX22" fmla="*/ 111919 w 1257300"/>
                      <a:gd name="connsiteY22" fmla="*/ 997271 h 1049338"/>
                      <a:gd name="connsiteX23" fmla="*/ 119711 w 1257300"/>
                      <a:gd name="connsiteY23" fmla="*/ 1000125 h 1049338"/>
                      <a:gd name="connsiteX24" fmla="*/ 128212 w 1257300"/>
                      <a:gd name="connsiteY24" fmla="*/ 996558 h 1049338"/>
                      <a:gd name="connsiteX25" fmla="*/ 174258 w 1257300"/>
                      <a:gd name="connsiteY25" fmla="*/ 946614 h 1049338"/>
                      <a:gd name="connsiteX26" fmla="*/ 174967 w 1257300"/>
                      <a:gd name="connsiteY26" fmla="*/ 946614 h 1049338"/>
                      <a:gd name="connsiteX27" fmla="*/ 175675 w 1257300"/>
                      <a:gd name="connsiteY27" fmla="*/ 945187 h 1049338"/>
                      <a:gd name="connsiteX28" fmla="*/ 176383 w 1257300"/>
                      <a:gd name="connsiteY28" fmla="*/ 944473 h 1049338"/>
                      <a:gd name="connsiteX29" fmla="*/ 176383 w 1257300"/>
                      <a:gd name="connsiteY29" fmla="*/ 943760 h 1049338"/>
                      <a:gd name="connsiteX30" fmla="*/ 177092 w 1257300"/>
                      <a:gd name="connsiteY30" fmla="*/ 943046 h 1049338"/>
                      <a:gd name="connsiteX31" fmla="*/ 177092 w 1257300"/>
                      <a:gd name="connsiteY31" fmla="*/ 942333 h 1049338"/>
                      <a:gd name="connsiteX32" fmla="*/ 177092 w 1257300"/>
                      <a:gd name="connsiteY32" fmla="*/ 940906 h 1049338"/>
                      <a:gd name="connsiteX33" fmla="*/ 177800 w 1257300"/>
                      <a:gd name="connsiteY33" fmla="*/ 940906 h 1049338"/>
                      <a:gd name="connsiteX34" fmla="*/ 177800 w 1257300"/>
                      <a:gd name="connsiteY34" fmla="*/ 938766 h 1049338"/>
                      <a:gd name="connsiteX35" fmla="*/ 177800 w 1257300"/>
                      <a:gd name="connsiteY35" fmla="*/ 938052 h 1049338"/>
                      <a:gd name="connsiteX36" fmla="*/ 177800 w 1257300"/>
                      <a:gd name="connsiteY36" fmla="*/ 936625 h 1049338"/>
                      <a:gd name="connsiteX37" fmla="*/ 177092 w 1257300"/>
                      <a:gd name="connsiteY37" fmla="*/ 935912 h 1049338"/>
                      <a:gd name="connsiteX38" fmla="*/ 177092 w 1257300"/>
                      <a:gd name="connsiteY38" fmla="*/ 934485 h 1049338"/>
                      <a:gd name="connsiteX39" fmla="*/ 176383 w 1257300"/>
                      <a:gd name="connsiteY39" fmla="*/ 934485 h 1049338"/>
                      <a:gd name="connsiteX40" fmla="*/ 175675 w 1257300"/>
                      <a:gd name="connsiteY40" fmla="*/ 932344 h 1049338"/>
                      <a:gd name="connsiteX41" fmla="*/ 174967 w 1257300"/>
                      <a:gd name="connsiteY41" fmla="*/ 930917 h 1049338"/>
                      <a:gd name="connsiteX42" fmla="*/ 128212 w 1257300"/>
                      <a:gd name="connsiteY42" fmla="*/ 878120 h 1049338"/>
                      <a:gd name="connsiteX43" fmla="*/ 111919 w 1257300"/>
                      <a:gd name="connsiteY43" fmla="*/ 877406 h 1049338"/>
                      <a:gd name="connsiteX44" fmla="*/ 1146614 w 1257300"/>
                      <a:gd name="connsiteY44" fmla="*/ 825500 h 1049338"/>
                      <a:gd name="connsiteX45" fmla="*/ 1197700 w 1257300"/>
                      <a:gd name="connsiteY45" fmla="*/ 838363 h 1049338"/>
                      <a:gd name="connsiteX46" fmla="*/ 1224662 w 1257300"/>
                      <a:gd name="connsiteY46" fmla="*/ 857658 h 1049338"/>
                      <a:gd name="connsiteX47" fmla="*/ 1257300 w 1257300"/>
                      <a:gd name="connsiteY47" fmla="*/ 936982 h 1049338"/>
                      <a:gd name="connsiteX48" fmla="*/ 1146614 w 1257300"/>
                      <a:gd name="connsiteY48" fmla="*/ 1047750 h 1049338"/>
                      <a:gd name="connsiteX49" fmla="*/ 1036637 w 1257300"/>
                      <a:gd name="connsiteY49" fmla="*/ 936268 h 1049338"/>
                      <a:gd name="connsiteX50" fmla="*/ 1146614 w 1257300"/>
                      <a:gd name="connsiteY50" fmla="*/ 825500 h 1049338"/>
                      <a:gd name="connsiteX51" fmla="*/ 111919 w 1257300"/>
                      <a:gd name="connsiteY51" fmla="*/ 825500 h 1049338"/>
                      <a:gd name="connsiteX52" fmla="*/ 223838 w 1257300"/>
                      <a:gd name="connsiteY52" fmla="*/ 937777 h 1049338"/>
                      <a:gd name="connsiteX53" fmla="*/ 179358 w 1257300"/>
                      <a:gd name="connsiteY53" fmla="*/ 1026454 h 1049338"/>
                      <a:gd name="connsiteX54" fmla="*/ 151378 w 1257300"/>
                      <a:gd name="connsiteY54" fmla="*/ 1042187 h 1049338"/>
                      <a:gd name="connsiteX55" fmla="*/ 111919 w 1257300"/>
                      <a:gd name="connsiteY55" fmla="*/ 1049338 h 1049338"/>
                      <a:gd name="connsiteX56" fmla="*/ 0 w 1257300"/>
                      <a:gd name="connsiteY56" fmla="*/ 937062 h 1049338"/>
                      <a:gd name="connsiteX57" fmla="*/ 111919 w 1257300"/>
                      <a:gd name="connsiteY57" fmla="*/ 825500 h 1049338"/>
                      <a:gd name="connsiteX58" fmla="*/ 582076 w 1257300"/>
                      <a:gd name="connsiteY58" fmla="*/ 64618 h 1049338"/>
                      <a:gd name="connsiteX59" fmla="*/ 582076 w 1257300"/>
                      <a:gd name="connsiteY59" fmla="*/ 81074 h 1049338"/>
                      <a:gd name="connsiteX60" fmla="*/ 590528 w 1257300"/>
                      <a:gd name="connsiteY60" fmla="*/ 89660 h 1049338"/>
                      <a:gd name="connsiteX61" fmla="*/ 611657 w 1257300"/>
                      <a:gd name="connsiteY61" fmla="*/ 111841 h 1049338"/>
                      <a:gd name="connsiteX62" fmla="*/ 603206 w 1257300"/>
                      <a:gd name="connsiteY62" fmla="*/ 120427 h 1049338"/>
                      <a:gd name="connsiteX63" fmla="*/ 582076 w 1257300"/>
                      <a:gd name="connsiteY63" fmla="*/ 142607 h 1049338"/>
                      <a:gd name="connsiteX64" fmla="*/ 582076 w 1257300"/>
                      <a:gd name="connsiteY64" fmla="*/ 159063 h 1049338"/>
                      <a:gd name="connsiteX65" fmla="*/ 589824 w 1257300"/>
                      <a:gd name="connsiteY65" fmla="*/ 161925 h 1049338"/>
                      <a:gd name="connsiteX66" fmla="*/ 598275 w 1257300"/>
                      <a:gd name="connsiteY66" fmla="*/ 159063 h 1049338"/>
                      <a:gd name="connsiteX67" fmla="*/ 627857 w 1257300"/>
                      <a:gd name="connsiteY67" fmla="*/ 128297 h 1049338"/>
                      <a:gd name="connsiteX68" fmla="*/ 657438 w 1257300"/>
                      <a:gd name="connsiteY68" fmla="*/ 159063 h 1049338"/>
                      <a:gd name="connsiteX69" fmla="*/ 665890 w 1257300"/>
                      <a:gd name="connsiteY69" fmla="*/ 161925 h 1049338"/>
                      <a:gd name="connsiteX70" fmla="*/ 673637 w 1257300"/>
                      <a:gd name="connsiteY70" fmla="*/ 159063 h 1049338"/>
                      <a:gd name="connsiteX71" fmla="*/ 673637 w 1257300"/>
                      <a:gd name="connsiteY71" fmla="*/ 142607 h 1049338"/>
                      <a:gd name="connsiteX72" fmla="*/ 644056 w 1257300"/>
                      <a:gd name="connsiteY72" fmla="*/ 111841 h 1049338"/>
                      <a:gd name="connsiteX73" fmla="*/ 673637 w 1257300"/>
                      <a:gd name="connsiteY73" fmla="*/ 81074 h 1049338"/>
                      <a:gd name="connsiteX74" fmla="*/ 673637 w 1257300"/>
                      <a:gd name="connsiteY74" fmla="*/ 64618 h 1049338"/>
                      <a:gd name="connsiteX75" fmla="*/ 657438 w 1257300"/>
                      <a:gd name="connsiteY75" fmla="*/ 64618 h 1049338"/>
                      <a:gd name="connsiteX76" fmla="*/ 627857 w 1257300"/>
                      <a:gd name="connsiteY76" fmla="*/ 95384 h 1049338"/>
                      <a:gd name="connsiteX77" fmla="*/ 598275 w 1257300"/>
                      <a:gd name="connsiteY77" fmla="*/ 64618 h 1049338"/>
                      <a:gd name="connsiteX78" fmla="*/ 582076 w 1257300"/>
                      <a:gd name="connsiteY78" fmla="*/ 64618 h 1049338"/>
                      <a:gd name="connsiteX79" fmla="*/ 627856 w 1257300"/>
                      <a:gd name="connsiteY79" fmla="*/ 0 h 1049338"/>
                      <a:gd name="connsiteX80" fmla="*/ 739775 w 1257300"/>
                      <a:gd name="connsiteY80" fmla="*/ 111562 h 1049338"/>
                      <a:gd name="connsiteX81" fmla="*/ 627856 w 1257300"/>
                      <a:gd name="connsiteY81" fmla="*/ 223838 h 1049338"/>
                      <a:gd name="connsiteX82" fmla="*/ 518076 w 1257300"/>
                      <a:gd name="connsiteY82" fmla="*/ 133016 h 1049338"/>
                      <a:gd name="connsiteX83" fmla="*/ 515937 w 1257300"/>
                      <a:gd name="connsiteY83" fmla="*/ 110846 h 1049338"/>
                      <a:gd name="connsiteX84" fmla="*/ 516650 w 1257300"/>
                      <a:gd name="connsiteY84" fmla="*/ 100119 h 1049338"/>
                      <a:gd name="connsiteX85" fmla="*/ 627856 w 1257300"/>
                      <a:gd name="connsiteY85" fmla="*/ 0 h 104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57300" h="1049338">
                        <a:moveTo>
                          <a:pt x="1202365" y="890162"/>
                        </a:moveTo>
                        <a:cubicBezTo>
                          <a:pt x="1199524" y="890073"/>
                          <a:pt x="1196684" y="891145"/>
                          <a:pt x="1194553" y="893290"/>
                        </a:cubicBezTo>
                        <a:cubicBezTo>
                          <a:pt x="1194553" y="893290"/>
                          <a:pt x="1194553" y="893290"/>
                          <a:pt x="1188871" y="899010"/>
                        </a:cubicBezTo>
                        <a:cubicBezTo>
                          <a:pt x="1188871" y="899010"/>
                          <a:pt x="1188871" y="899010"/>
                          <a:pt x="1131345" y="956209"/>
                        </a:cubicBezTo>
                        <a:cubicBezTo>
                          <a:pt x="1131345" y="956209"/>
                          <a:pt x="1131345" y="956209"/>
                          <a:pt x="1099386" y="929754"/>
                        </a:cubicBezTo>
                        <a:cubicBezTo>
                          <a:pt x="1094414" y="925464"/>
                          <a:pt x="1087312" y="926179"/>
                          <a:pt x="1083761" y="931184"/>
                        </a:cubicBezTo>
                        <a:cubicBezTo>
                          <a:pt x="1079500" y="936189"/>
                          <a:pt x="1080210" y="943339"/>
                          <a:pt x="1085182" y="947629"/>
                        </a:cubicBezTo>
                        <a:cubicBezTo>
                          <a:pt x="1085182" y="947629"/>
                          <a:pt x="1085182" y="947629"/>
                          <a:pt x="1124953" y="979803"/>
                        </a:cubicBezTo>
                        <a:cubicBezTo>
                          <a:pt x="1127084" y="981233"/>
                          <a:pt x="1129214" y="982663"/>
                          <a:pt x="1132055" y="982663"/>
                        </a:cubicBezTo>
                        <a:cubicBezTo>
                          <a:pt x="1134186" y="982663"/>
                          <a:pt x="1137026" y="981233"/>
                          <a:pt x="1139157" y="979088"/>
                        </a:cubicBezTo>
                        <a:cubicBezTo>
                          <a:pt x="1139157" y="979088"/>
                          <a:pt x="1139157" y="979088"/>
                          <a:pt x="1210177" y="909735"/>
                        </a:cubicBezTo>
                        <a:cubicBezTo>
                          <a:pt x="1213728" y="906160"/>
                          <a:pt x="1214438" y="900440"/>
                          <a:pt x="1212308" y="896150"/>
                        </a:cubicBezTo>
                        <a:cubicBezTo>
                          <a:pt x="1211597" y="895435"/>
                          <a:pt x="1210887" y="894720"/>
                          <a:pt x="1210177" y="894005"/>
                        </a:cubicBezTo>
                        <a:cubicBezTo>
                          <a:pt x="1208047" y="891503"/>
                          <a:pt x="1205206" y="890251"/>
                          <a:pt x="1202365" y="890162"/>
                        </a:cubicBezTo>
                        <a:close/>
                        <a:moveTo>
                          <a:pt x="111919" y="877406"/>
                        </a:moveTo>
                        <a:cubicBezTo>
                          <a:pt x="107668" y="881687"/>
                          <a:pt x="106960" y="888822"/>
                          <a:pt x="111210" y="893816"/>
                        </a:cubicBezTo>
                        <a:cubicBezTo>
                          <a:pt x="111210" y="893816"/>
                          <a:pt x="111210" y="893816"/>
                          <a:pt x="140963" y="927350"/>
                        </a:cubicBezTo>
                        <a:cubicBezTo>
                          <a:pt x="140963" y="927350"/>
                          <a:pt x="140963" y="927350"/>
                          <a:pt x="57372" y="927350"/>
                        </a:cubicBezTo>
                        <a:cubicBezTo>
                          <a:pt x="50996" y="927350"/>
                          <a:pt x="46037" y="932344"/>
                          <a:pt x="46037" y="938766"/>
                        </a:cubicBezTo>
                        <a:cubicBezTo>
                          <a:pt x="46037" y="945187"/>
                          <a:pt x="50996" y="950181"/>
                          <a:pt x="57372" y="950181"/>
                        </a:cubicBezTo>
                        <a:cubicBezTo>
                          <a:pt x="57372" y="950181"/>
                          <a:pt x="57372" y="950181"/>
                          <a:pt x="140255" y="950181"/>
                        </a:cubicBezTo>
                        <a:cubicBezTo>
                          <a:pt x="140255" y="950181"/>
                          <a:pt x="140255" y="950181"/>
                          <a:pt x="111210" y="980861"/>
                        </a:cubicBezTo>
                        <a:cubicBezTo>
                          <a:pt x="106960" y="985142"/>
                          <a:pt x="106960" y="992990"/>
                          <a:pt x="111919" y="997271"/>
                        </a:cubicBezTo>
                        <a:cubicBezTo>
                          <a:pt x="114044" y="999412"/>
                          <a:pt x="116878" y="1000125"/>
                          <a:pt x="119711" y="1000125"/>
                        </a:cubicBezTo>
                        <a:cubicBezTo>
                          <a:pt x="122545" y="1000125"/>
                          <a:pt x="125378" y="998698"/>
                          <a:pt x="128212" y="996558"/>
                        </a:cubicBezTo>
                        <a:cubicBezTo>
                          <a:pt x="128212" y="996558"/>
                          <a:pt x="128212" y="996558"/>
                          <a:pt x="174258" y="946614"/>
                        </a:cubicBezTo>
                        <a:cubicBezTo>
                          <a:pt x="174967" y="946614"/>
                          <a:pt x="174967" y="946614"/>
                          <a:pt x="174967" y="946614"/>
                        </a:cubicBezTo>
                        <a:cubicBezTo>
                          <a:pt x="174967" y="945900"/>
                          <a:pt x="175675" y="945900"/>
                          <a:pt x="175675" y="945187"/>
                        </a:cubicBezTo>
                        <a:cubicBezTo>
                          <a:pt x="175675" y="945187"/>
                          <a:pt x="175675" y="945187"/>
                          <a:pt x="176383" y="944473"/>
                        </a:cubicBezTo>
                        <a:cubicBezTo>
                          <a:pt x="176383" y="944473"/>
                          <a:pt x="176383" y="944473"/>
                          <a:pt x="176383" y="943760"/>
                        </a:cubicBezTo>
                        <a:cubicBezTo>
                          <a:pt x="177092" y="943760"/>
                          <a:pt x="177092" y="943046"/>
                          <a:pt x="177092" y="943046"/>
                        </a:cubicBezTo>
                        <a:cubicBezTo>
                          <a:pt x="177092" y="943046"/>
                          <a:pt x="177092" y="943046"/>
                          <a:pt x="177092" y="942333"/>
                        </a:cubicBezTo>
                        <a:cubicBezTo>
                          <a:pt x="177092" y="942333"/>
                          <a:pt x="177092" y="941620"/>
                          <a:pt x="177092" y="940906"/>
                        </a:cubicBezTo>
                        <a:cubicBezTo>
                          <a:pt x="177800" y="940906"/>
                          <a:pt x="177800" y="940906"/>
                          <a:pt x="177800" y="940906"/>
                        </a:cubicBezTo>
                        <a:cubicBezTo>
                          <a:pt x="177800" y="940193"/>
                          <a:pt x="177800" y="939479"/>
                          <a:pt x="177800" y="938766"/>
                        </a:cubicBezTo>
                        <a:cubicBezTo>
                          <a:pt x="177800" y="938766"/>
                          <a:pt x="177800" y="938766"/>
                          <a:pt x="177800" y="938052"/>
                        </a:cubicBezTo>
                        <a:cubicBezTo>
                          <a:pt x="177800" y="938052"/>
                          <a:pt x="177800" y="937339"/>
                          <a:pt x="177800" y="936625"/>
                        </a:cubicBezTo>
                        <a:cubicBezTo>
                          <a:pt x="177092" y="936625"/>
                          <a:pt x="177092" y="936625"/>
                          <a:pt x="177092" y="935912"/>
                        </a:cubicBezTo>
                        <a:cubicBezTo>
                          <a:pt x="177092" y="935912"/>
                          <a:pt x="177092" y="935198"/>
                          <a:pt x="177092" y="934485"/>
                        </a:cubicBezTo>
                        <a:cubicBezTo>
                          <a:pt x="177092" y="934485"/>
                          <a:pt x="177092" y="934485"/>
                          <a:pt x="176383" y="934485"/>
                        </a:cubicBezTo>
                        <a:cubicBezTo>
                          <a:pt x="176383" y="933771"/>
                          <a:pt x="176383" y="933058"/>
                          <a:pt x="175675" y="932344"/>
                        </a:cubicBezTo>
                        <a:cubicBezTo>
                          <a:pt x="174967" y="931631"/>
                          <a:pt x="174967" y="931631"/>
                          <a:pt x="174967" y="930917"/>
                        </a:cubicBezTo>
                        <a:cubicBezTo>
                          <a:pt x="174967" y="930917"/>
                          <a:pt x="174967" y="930917"/>
                          <a:pt x="128212" y="878120"/>
                        </a:cubicBezTo>
                        <a:cubicBezTo>
                          <a:pt x="123962" y="873839"/>
                          <a:pt x="116878" y="873125"/>
                          <a:pt x="111919" y="877406"/>
                        </a:cubicBezTo>
                        <a:close/>
                        <a:moveTo>
                          <a:pt x="1146614" y="825500"/>
                        </a:moveTo>
                        <a:cubicBezTo>
                          <a:pt x="1165062" y="825500"/>
                          <a:pt x="1182800" y="829788"/>
                          <a:pt x="1197700" y="838363"/>
                        </a:cubicBezTo>
                        <a:cubicBezTo>
                          <a:pt x="1207633" y="843366"/>
                          <a:pt x="1216857" y="849798"/>
                          <a:pt x="1224662" y="857658"/>
                        </a:cubicBezTo>
                        <a:cubicBezTo>
                          <a:pt x="1245238" y="878383"/>
                          <a:pt x="1257300" y="906253"/>
                          <a:pt x="1257300" y="936982"/>
                        </a:cubicBezTo>
                        <a:cubicBezTo>
                          <a:pt x="1257300" y="997726"/>
                          <a:pt x="1207633" y="1047750"/>
                          <a:pt x="1146614" y="1047750"/>
                        </a:cubicBezTo>
                        <a:cubicBezTo>
                          <a:pt x="1086304" y="1047750"/>
                          <a:pt x="1036637" y="997726"/>
                          <a:pt x="1036637" y="936268"/>
                        </a:cubicBezTo>
                        <a:cubicBezTo>
                          <a:pt x="1036637" y="874810"/>
                          <a:pt x="1086304" y="825500"/>
                          <a:pt x="1146614" y="825500"/>
                        </a:cubicBezTo>
                        <a:close/>
                        <a:moveTo>
                          <a:pt x="111919" y="825500"/>
                        </a:moveTo>
                        <a:cubicBezTo>
                          <a:pt x="173618" y="825500"/>
                          <a:pt x="223838" y="875560"/>
                          <a:pt x="223838" y="937777"/>
                        </a:cubicBezTo>
                        <a:cubicBezTo>
                          <a:pt x="223838" y="974249"/>
                          <a:pt x="205903" y="1006430"/>
                          <a:pt x="179358" y="1026454"/>
                        </a:cubicBezTo>
                        <a:cubicBezTo>
                          <a:pt x="170748" y="1032890"/>
                          <a:pt x="161422" y="1037896"/>
                          <a:pt x="151378" y="1042187"/>
                        </a:cubicBezTo>
                        <a:cubicBezTo>
                          <a:pt x="139182" y="1046478"/>
                          <a:pt x="125550" y="1049338"/>
                          <a:pt x="111919" y="1049338"/>
                        </a:cubicBezTo>
                        <a:cubicBezTo>
                          <a:pt x="50220" y="1049338"/>
                          <a:pt x="0" y="999279"/>
                          <a:pt x="0" y="937062"/>
                        </a:cubicBezTo>
                        <a:cubicBezTo>
                          <a:pt x="0" y="874845"/>
                          <a:pt x="50220" y="825500"/>
                          <a:pt x="111919" y="825500"/>
                        </a:cubicBezTo>
                        <a:close/>
                        <a:moveTo>
                          <a:pt x="582076" y="64618"/>
                        </a:moveTo>
                        <a:cubicBezTo>
                          <a:pt x="577850" y="69627"/>
                          <a:pt x="577850" y="76781"/>
                          <a:pt x="582076" y="81074"/>
                        </a:cubicBezTo>
                        <a:cubicBezTo>
                          <a:pt x="582076" y="81074"/>
                          <a:pt x="582076" y="81074"/>
                          <a:pt x="590528" y="89660"/>
                        </a:cubicBezTo>
                        <a:cubicBezTo>
                          <a:pt x="590528" y="89660"/>
                          <a:pt x="590528" y="89660"/>
                          <a:pt x="611657" y="111841"/>
                        </a:cubicBezTo>
                        <a:cubicBezTo>
                          <a:pt x="611657" y="111841"/>
                          <a:pt x="611657" y="111841"/>
                          <a:pt x="603206" y="120427"/>
                        </a:cubicBezTo>
                        <a:cubicBezTo>
                          <a:pt x="603206" y="120427"/>
                          <a:pt x="603206" y="120427"/>
                          <a:pt x="582076" y="142607"/>
                        </a:cubicBezTo>
                        <a:cubicBezTo>
                          <a:pt x="577850" y="146900"/>
                          <a:pt x="577850" y="154055"/>
                          <a:pt x="582076" y="159063"/>
                        </a:cubicBezTo>
                        <a:cubicBezTo>
                          <a:pt x="584189" y="161210"/>
                          <a:pt x="587006" y="161925"/>
                          <a:pt x="589824" y="161925"/>
                        </a:cubicBezTo>
                        <a:cubicBezTo>
                          <a:pt x="592641" y="161925"/>
                          <a:pt x="595458" y="161210"/>
                          <a:pt x="598275" y="159063"/>
                        </a:cubicBezTo>
                        <a:cubicBezTo>
                          <a:pt x="598275" y="159063"/>
                          <a:pt x="598275" y="159063"/>
                          <a:pt x="627857" y="128297"/>
                        </a:cubicBezTo>
                        <a:cubicBezTo>
                          <a:pt x="627857" y="128297"/>
                          <a:pt x="627857" y="128297"/>
                          <a:pt x="657438" y="159063"/>
                        </a:cubicBezTo>
                        <a:cubicBezTo>
                          <a:pt x="660255" y="161210"/>
                          <a:pt x="663073" y="161925"/>
                          <a:pt x="665890" y="161925"/>
                        </a:cubicBezTo>
                        <a:cubicBezTo>
                          <a:pt x="668707" y="161925"/>
                          <a:pt x="671524" y="161210"/>
                          <a:pt x="673637" y="159063"/>
                        </a:cubicBezTo>
                        <a:cubicBezTo>
                          <a:pt x="677863" y="154055"/>
                          <a:pt x="677863" y="146900"/>
                          <a:pt x="673637" y="142607"/>
                        </a:cubicBezTo>
                        <a:cubicBezTo>
                          <a:pt x="673637" y="142607"/>
                          <a:pt x="673637" y="142607"/>
                          <a:pt x="644056" y="111841"/>
                        </a:cubicBezTo>
                        <a:cubicBezTo>
                          <a:pt x="644056" y="111841"/>
                          <a:pt x="644056" y="111841"/>
                          <a:pt x="673637" y="81074"/>
                        </a:cubicBezTo>
                        <a:cubicBezTo>
                          <a:pt x="677863" y="76781"/>
                          <a:pt x="677863" y="69627"/>
                          <a:pt x="673637" y="64618"/>
                        </a:cubicBezTo>
                        <a:cubicBezTo>
                          <a:pt x="669411" y="60325"/>
                          <a:pt x="662368" y="60325"/>
                          <a:pt x="657438" y="64618"/>
                        </a:cubicBezTo>
                        <a:cubicBezTo>
                          <a:pt x="657438" y="64618"/>
                          <a:pt x="657438" y="64618"/>
                          <a:pt x="627857" y="95384"/>
                        </a:cubicBezTo>
                        <a:cubicBezTo>
                          <a:pt x="627857" y="95384"/>
                          <a:pt x="627857" y="95384"/>
                          <a:pt x="598275" y="64618"/>
                        </a:cubicBezTo>
                        <a:cubicBezTo>
                          <a:pt x="593345" y="60325"/>
                          <a:pt x="586302" y="60325"/>
                          <a:pt x="582076" y="64618"/>
                        </a:cubicBezTo>
                        <a:close/>
                        <a:moveTo>
                          <a:pt x="627856" y="0"/>
                        </a:moveTo>
                        <a:cubicBezTo>
                          <a:pt x="689875" y="0"/>
                          <a:pt x="739775" y="50060"/>
                          <a:pt x="739775" y="111562"/>
                        </a:cubicBezTo>
                        <a:cubicBezTo>
                          <a:pt x="739775" y="173779"/>
                          <a:pt x="689875" y="223838"/>
                          <a:pt x="627856" y="223838"/>
                        </a:cubicBezTo>
                        <a:cubicBezTo>
                          <a:pt x="573679" y="223123"/>
                          <a:pt x="527343" y="184506"/>
                          <a:pt x="518076" y="133016"/>
                        </a:cubicBezTo>
                        <a:cubicBezTo>
                          <a:pt x="516650" y="125149"/>
                          <a:pt x="515937" y="117998"/>
                          <a:pt x="515937" y="110846"/>
                        </a:cubicBezTo>
                        <a:cubicBezTo>
                          <a:pt x="515937" y="107271"/>
                          <a:pt x="515937" y="103695"/>
                          <a:pt x="516650" y="100119"/>
                        </a:cubicBezTo>
                        <a:cubicBezTo>
                          <a:pt x="521640" y="43624"/>
                          <a:pt x="570115" y="0"/>
                          <a:pt x="62785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22" name="Grupo 109"/>
              <p:cNvGrpSpPr/>
              <p:nvPr/>
            </p:nvGrpSpPr>
            <p:grpSpPr>
              <a:xfrm>
                <a:off x="3537698" y="4970168"/>
                <a:ext cx="1036959" cy="1122694"/>
                <a:chOff x="3537698" y="4970168"/>
                <a:chExt cx="1036959" cy="1122694"/>
              </a:xfrm>
            </p:grpSpPr>
            <p:sp>
              <p:nvSpPr>
                <p:cNvPr id="23" name="Rectangle: Rounded Corners 120"/>
                <p:cNvSpPr/>
                <p:nvPr/>
              </p:nvSpPr>
              <p:spPr>
                <a:xfrm>
                  <a:off x="3602657"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Activos</a:t>
                  </a:r>
                </a:p>
              </p:txBody>
            </p:sp>
            <p:sp>
              <p:nvSpPr>
                <p:cNvPr id="24" name="Oval 20"/>
                <p:cNvSpPr>
                  <a:spLocks noChangeAspect="1" noChangeArrowheads="1"/>
                </p:cNvSpPr>
                <p:nvPr/>
              </p:nvSpPr>
              <p:spPr bwMode="auto">
                <a:xfrm>
                  <a:off x="3537698"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17</a:t>
                  </a:r>
                </a:p>
              </p:txBody>
            </p:sp>
          </p:grpSp>
        </p:grpSp>
        <p:grpSp>
          <p:nvGrpSpPr>
            <p:cNvPr id="25" name="Grupo 116"/>
            <p:cNvGrpSpPr/>
            <p:nvPr/>
          </p:nvGrpSpPr>
          <p:grpSpPr>
            <a:xfrm>
              <a:off x="8977874" y="5176000"/>
              <a:ext cx="1036959" cy="1122694"/>
              <a:chOff x="8918125" y="4970168"/>
              <a:chExt cx="1036959" cy="1122694"/>
            </a:xfrm>
          </p:grpSpPr>
          <p:sp>
            <p:nvSpPr>
              <p:cNvPr id="26" name="Rectangle: Rounded Corners 123"/>
              <p:cNvSpPr/>
              <p:nvPr/>
            </p:nvSpPr>
            <p:spPr>
              <a:xfrm>
                <a:off x="898308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Logística</a:t>
                </a:r>
              </a:p>
            </p:txBody>
          </p:sp>
          <p:grpSp>
            <p:nvGrpSpPr>
              <p:cNvPr id="27" name="bcgIcons_Long truck "/>
              <p:cNvGrpSpPr>
                <a:grpSpLocks noChangeAspect="1"/>
              </p:cNvGrpSpPr>
              <p:nvPr/>
            </p:nvGrpSpPr>
            <p:grpSpPr>
              <a:xfrm>
                <a:off x="9295141" y="5141091"/>
                <a:ext cx="380413" cy="380413"/>
                <a:chOff x="5273675" y="2606675"/>
                <a:chExt cx="1644650" cy="1644650"/>
              </a:xfrm>
            </p:grpSpPr>
            <p:sp>
              <p:nvSpPr>
                <p:cNvPr id="28"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9" name="Group 21"/>
                <p:cNvGrpSpPr>
                  <a:grpSpLocks/>
                </p:cNvGrpSpPr>
                <p:nvPr/>
              </p:nvGrpSpPr>
              <p:grpSpPr>
                <a:xfrm>
                  <a:off x="5341938" y="3120232"/>
                  <a:ext cx="1508125" cy="617537"/>
                  <a:chOff x="5341938" y="3201988"/>
                  <a:chExt cx="1508125" cy="617537"/>
                </a:xfrm>
              </p:grpSpPr>
              <p:sp>
                <p:nvSpPr>
                  <p:cNvPr id="30" name="Freeform 5"/>
                  <p:cNvSpPr>
                    <a:spLocks/>
                  </p:cNvSpPr>
                  <p:nvPr/>
                </p:nvSpPr>
                <p:spPr bwMode="auto">
                  <a:xfrm>
                    <a:off x="5341938" y="3201988"/>
                    <a:ext cx="1431214" cy="569913"/>
                  </a:xfrm>
                  <a:custGeom>
                    <a:avLst/>
                    <a:gdLst>
                      <a:gd name="connsiteX0" fmla="*/ 391682 w 1431214"/>
                      <a:gd name="connsiteY0" fmla="*/ 512762 h 569913"/>
                      <a:gd name="connsiteX1" fmla="*/ 420688 w 1431214"/>
                      <a:gd name="connsiteY1" fmla="*/ 541337 h 569913"/>
                      <a:gd name="connsiteX2" fmla="*/ 391682 w 1431214"/>
                      <a:gd name="connsiteY2" fmla="*/ 569912 h 569913"/>
                      <a:gd name="connsiteX3" fmla="*/ 361950 w 1431214"/>
                      <a:gd name="connsiteY3" fmla="*/ 541337 h 569913"/>
                      <a:gd name="connsiteX4" fmla="*/ 391682 w 1431214"/>
                      <a:gd name="connsiteY4" fmla="*/ 512762 h 569913"/>
                      <a:gd name="connsiteX5" fmla="*/ 158750 w 1431214"/>
                      <a:gd name="connsiteY5" fmla="*/ 512762 h 569913"/>
                      <a:gd name="connsiteX6" fmla="*/ 187325 w 1431214"/>
                      <a:gd name="connsiteY6" fmla="*/ 541337 h 569913"/>
                      <a:gd name="connsiteX7" fmla="*/ 158750 w 1431214"/>
                      <a:gd name="connsiteY7" fmla="*/ 569912 h 569913"/>
                      <a:gd name="connsiteX8" fmla="*/ 130175 w 1431214"/>
                      <a:gd name="connsiteY8" fmla="*/ 541337 h 569913"/>
                      <a:gd name="connsiteX9" fmla="*/ 158750 w 1431214"/>
                      <a:gd name="connsiteY9" fmla="*/ 512762 h 569913"/>
                      <a:gd name="connsiteX10" fmla="*/ 1316831 w 1431214"/>
                      <a:gd name="connsiteY10" fmla="*/ 511175 h 569913"/>
                      <a:gd name="connsiteX11" fmla="*/ 1346200 w 1431214"/>
                      <a:gd name="connsiteY11" fmla="*/ 540544 h 569913"/>
                      <a:gd name="connsiteX12" fmla="*/ 1316831 w 1431214"/>
                      <a:gd name="connsiteY12" fmla="*/ 569913 h 569913"/>
                      <a:gd name="connsiteX13" fmla="*/ 1287462 w 1431214"/>
                      <a:gd name="connsiteY13" fmla="*/ 540544 h 569913"/>
                      <a:gd name="connsiteX14" fmla="*/ 1316831 w 1431214"/>
                      <a:gd name="connsiteY14" fmla="*/ 511175 h 569913"/>
                      <a:gd name="connsiteX15" fmla="*/ 1023937 w 1431214"/>
                      <a:gd name="connsiteY15" fmla="*/ 511175 h 569913"/>
                      <a:gd name="connsiteX16" fmla="*/ 1052512 w 1431214"/>
                      <a:gd name="connsiteY16" fmla="*/ 540544 h 569913"/>
                      <a:gd name="connsiteX17" fmla="*/ 1023937 w 1431214"/>
                      <a:gd name="connsiteY17" fmla="*/ 569913 h 569913"/>
                      <a:gd name="connsiteX18" fmla="*/ 995362 w 1431214"/>
                      <a:gd name="connsiteY18" fmla="*/ 540544 h 569913"/>
                      <a:gd name="connsiteX19" fmla="*/ 1023937 w 1431214"/>
                      <a:gd name="connsiteY19" fmla="*/ 511175 h 569913"/>
                      <a:gd name="connsiteX20" fmla="*/ 1226474 w 1431214"/>
                      <a:gd name="connsiteY20" fmla="*/ 176212 h 569913"/>
                      <a:gd name="connsiteX21" fmla="*/ 1346617 w 1431214"/>
                      <a:gd name="connsiteY21" fmla="*/ 176212 h 569913"/>
                      <a:gd name="connsiteX22" fmla="*/ 1357991 w 1431214"/>
                      <a:gd name="connsiteY22" fmla="*/ 187611 h 569913"/>
                      <a:gd name="connsiteX23" fmla="*/ 1429082 w 1431214"/>
                      <a:gd name="connsiteY23" fmla="*/ 300176 h 569913"/>
                      <a:gd name="connsiteX24" fmla="*/ 1429082 w 1431214"/>
                      <a:gd name="connsiteY24" fmla="*/ 315137 h 569913"/>
                      <a:gd name="connsiteX25" fmla="*/ 1413442 w 1431214"/>
                      <a:gd name="connsiteY25" fmla="*/ 322262 h 569913"/>
                      <a:gd name="connsiteX26" fmla="*/ 1226474 w 1431214"/>
                      <a:gd name="connsiteY26" fmla="*/ 322262 h 569913"/>
                      <a:gd name="connsiteX27" fmla="*/ 1220787 w 1431214"/>
                      <a:gd name="connsiteY27" fmla="*/ 315850 h 569913"/>
                      <a:gd name="connsiteX28" fmla="*/ 1220787 w 1431214"/>
                      <a:gd name="connsiteY28" fmla="*/ 181911 h 569913"/>
                      <a:gd name="connsiteX29" fmla="*/ 1226474 w 1431214"/>
                      <a:gd name="connsiteY29" fmla="*/ 176212 h 569913"/>
                      <a:gd name="connsiteX30" fmla="*/ 17855 w 1431214"/>
                      <a:gd name="connsiteY30" fmla="*/ 0 h 569913"/>
                      <a:gd name="connsiteX31" fmla="*/ 1101333 w 1431214"/>
                      <a:gd name="connsiteY31" fmla="*/ 0 h 569913"/>
                      <a:gd name="connsiteX32" fmla="*/ 1119188 w 1431214"/>
                      <a:gd name="connsiteY32" fmla="*/ 17855 h 569913"/>
                      <a:gd name="connsiteX33" fmla="*/ 1119188 w 1431214"/>
                      <a:gd name="connsiteY33" fmla="*/ 377825 h 569913"/>
                      <a:gd name="connsiteX34" fmla="*/ 17855 w 1431214"/>
                      <a:gd name="connsiteY34" fmla="*/ 377825 h 569913"/>
                      <a:gd name="connsiteX35" fmla="*/ 0 w 1431214"/>
                      <a:gd name="connsiteY35" fmla="*/ 359255 h 569913"/>
                      <a:gd name="connsiteX36" fmla="*/ 0 w 1431214"/>
                      <a:gd name="connsiteY36" fmla="*/ 17855 h 569913"/>
                      <a:gd name="connsiteX37" fmla="*/ 17855 w 1431214"/>
                      <a:gd name="connsiteY37" fmla="*/ 0 h 56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31214" h="569913">
                        <a:moveTo>
                          <a:pt x="391682" y="512762"/>
                        </a:moveTo>
                        <a:cubicBezTo>
                          <a:pt x="407635" y="512762"/>
                          <a:pt x="420688" y="525621"/>
                          <a:pt x="420688" y="541337"/>
                        </a:cubicBezTo>
                        <a:cubicBezTo>
                          <a:pt x="420688" y="557768"/>
                          <a:pt x="407635" y="569912"/>
                          <a:pt x="391682" y="569912"/>
                        </a:cubicBezTo>
                        <a:cubicBezTo>
                          <a:pt x="374278" y="569912"/>
                          <a:pt x="361950" y="557768"/>
                          <a:pt x="361950" y="541337"/>
                        </a:cubicBezTo>
                        <a:cubicBezTo>
                          <a:pt x="361950" y="525621"/>
                          <a:pt x="374278" y="512762"/>
                          <a:pt x="391682" y="512762"/>
                        </a:cubicBezTo>
                        <a:close/>
                        <a:moveTo>
                          <a:pt x="158750" y="512762"/>
                        </a:moveTo>
                        <a:cubicBezTo>
                          <a:pt x="174532" y="512762"/>
                          <a:pt x="187325" y="525555"/>
                          <a:pt x="187325" y="541337"/>
                        </a:cubicBezTo>
                        <a:cubicBezTo>
                          <a:pt x="187325" y="557119"/>
                          <a:pt x="174532" y="569912"/>
                          <a:pt x="158750" y="569912"/>
                        </a:cubicBezTo>
                        <a:cubicBezTo>
                          <a:pt x="142968" y="569912"/>
                          <a:pt x="130175" y="557119"/>
                          <a:pt x="130175" y="541337"/>
                        </a:cubicBezTo>
                        <a:cubicBezTo>
                          <a:pt x="130175" y="525555"/>
                          <a:pt x="142968" y="512762"/>
                          <a:pt x="158750" y="512762"/>
                        </a:cubicBezTo>
                        <a:close/>
                        <a:moveTo>
                          <a:pt x="1316831" y="511175"/>
                        </a:moveTo>
                        <a:cubicBezTo>
                          <a:pt x="1333051" y="511175"/>
                          <a:pt x="1346200" y="524324"/>
                          <a:pt x="1346200" y="540544"/>
                        </a:cubicBezTo>
                        <a:cubicBezTo>
                          <a:pt x="1346200" y="556764"/>
                          <a:pt x="1333051" y="569913"/>
                          <a:pt x="1316831" y="569913"/>
                        </a:cubicBezTo>
                        <a:cubicBezTo>
                          <a:pt x="1300611" y="569913"/>
                          <a:pt x="1287462" y="556764"/>
                          <a:pt x="1287462" y="540544"/>
                        </a:cubicBezTo>
                        <a:cubicBezTo>
                          <a:pt x="1287462" y="524324"/>
                          <a:pt x="1300611" y="511175"/>
                          <a:pt x="1316831" y="511175"/>
                        </a:cubicBezTo>
                        <a:close/>
                        <a:moveTo>
                          <a:pt x="1023937" y="511175"/>
                        </a:moveTo>
                        <a:cubicBezTo>
                          <a:pt x="1039719" y="511175"/>
                          <a:pt x="1052512" y="524324"/>
                          <a:pt x="1052512" y="540544"/>
                        </a:cubicBezTo>
                        <a:cubicBezTo>
                          <a:pt x="1052512" y="556764"/>
                          <a:pt x="1039719" y="569913"/>
                          <a:pt x="1023937" y="569913"/>
                        </a:cubicBezTo>
                        <a:cubicBezTo>
                          <a:pt x="1008155" y="569913"/>
                          <a:pt x="995362" y="556764"/>
                          <a:pt x="995362" y="540544"/>
                        </a:cubicBezTo>
                        <a:cubicBezTo>
                          <a:pt x="995362" y="524324"/>
                          <a:pt x="1008155" y="511175"/>
                          <a:pt x="1023937" y="511175"/>
                        </a:cubicBezTo>
                        <a:close/>
                        <a:moveTo>
                          <a:pt x="1226474" y="176212"/>
                        </a:moveTo>
                        <a:cubicBezTo>
                          <a:pt x="1226474" y="176212"/>
                          <a:pt x="1226474" y="176212"/>
                          <a:pt x="1346617" y="176212"/>
                        </a:cubicBezTo>
                        <a:cubicBezTo>
                          <a:pt x="1352304" y="176212"/>
                          <a:pt x="1355148" y="181199"/>
                          <a:pt x="1357991" y="187611"/>
                        </a:cubicBezTo>
                        <a:cubicBezTo>
                          <a:pt x="1357991" y="187611"/>
                          <a:pt x="1357991" y="187611"/>
                          <a:pt x="1429082" y="300176"/>
                        </a:cubicBezTo>
                        <a:cubicBezTo>
                          <a:pt x="1431925" y="305163"/>
                          <a:pt x="1431925" y="311575"/>
                          <a:pt x="1429082" y="315137"/>
                        </a:cubicBezTo>
                        <a:cubicBezTo>
                          <a:pt x="1426238" y="320125"/>
                          <a:pt x="1416285" y="322262"/>
                          <a:pt x="1413442" y="322262"/>
                        </a:cubicBezTo>
                        <a:cubicBezTo>
                          <a:pt x="1413442" y="322262"/>
                          <a:pt x="1413442" y="322262"/>
                          <a:pt x="1226474" y="322262"/>
                        </a:cubicBezTo>
                        <a:cubicBezTo>
                          <a:pt x="1223631" y="322262"/>
                          <a:pt x="1220787" y="319412"/>
                          <a:pt x="1220787" y="315850"/>
                        </a:cubicBezTo>
                        <a:cubicBezTo>
                          <a:pt x="1220787" y="315850"/>
                          <a:pt x="1220787" y="315850"/>
                          <a:pt x="1220787" y="181911"/>
                        </a:cubicBezTo>
                        <a:cubicBezTo>
                          <a:pt x="1220787" y="179062"/>
                          <a:pt x="1223631" y="176212"/>
                          <a:pt x="1226474" y="176212"/>
                        </a:cubicBezTo>
                        <a:close/>
                        <a:moveTo>
                          <a:pt x="17855" y="0"/>
                        </a:moveTo>
                        <a:cubicBezTo>
                          <a:pt x="17855" y="0"/>
                          <a:pt x="17855" y="0"/>
                          <a:pt x="1101333" y="0"/>
                        </a:cubicBezTo>
                        <a:cubicBezTo>
                          <a:pt x="1110618" y="0"/>
                          <a:pt x="1119188" y="7856"/>
                          <a:pt x="1119188" y="17855"/>
                        </a:cubicBezTo>
                        <a:cubicBezTo>
                          <a:pt x="1119188" y="17855"/>
                          <a:pt x="1119188" y="17855"/>
                          <a:pt x="1119188" y="377825"/>
                        </a:cubicBezTo>
                        <a:cubicBezTo>
                          <a:pt x="1119188" y="377825"/>
                          <a:pt x="1119188" y="377825"/>
                          <a:pt x="17855" y="377825"/>
                        </a:cubicBezTo>
                        <a:cubicBezTo>
                          <a:pt x="7856" y="377825"/>
                          <a:pt x="0" y="369254"/>
                          <a:pt x="0" y="359255"/>
                        </a:cubicBezTo>
                        <a:cubicBezTo>
                          <a:pt x="0" y="359255"/>
                          <a:pt x="0" y="359255"/>
                          <a:pt x="0" y="17855"/>
                        </a:cubicBezTo>
                        <a:cubicBezTo>
                          <a:pt x="0" y="7856"/>
                          <a:pt x="7856" y="0"/>
                          <a:pt x="17855"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31" name="Freeform 6"/>
                  <p:cNvSpPr>
                    <a:spLocks/>
                  </p:cNvSpPr>
                  <p:nvPr/>
                </p:nvSpPr>
                <p:spPr bwMode="auto">
                  <a:xfrm>
                    <a:off x="5345113" y="3317875"/>
                    <a:ext cx="1504950" cy="501650"/>
                  </a:xfrm>
                  <a:custGeom>
                    <a:avLst/>
                    <a:gdLst>
                      <a:gd name="connsiteX0" fmla="*/ 1312069 w 1504950"/>
                      <a:gd name="connsiteY0" fmla="*/ 373063 h 501650"/>
                      <a:gd name="connsiteX1" fmla="*/ 1260475 w 1504950"/>
                      <a:gd name="connsiteY1" fmla="*/ 423863 h 501650"/>
                      <a:gd name="connsiteX2" fmla="*/ 1312069 w 1504950"/>
                      <a:gd name="connsiteY2" fmla="*/ 474663 h 501650"/>
                      <a:gd name="connsiteX3" fmla="*/ 1363663 w 1504950"/>
                      <a:gd name="connsiteY3" fmla="*/ 423863 h 501650"/>
                      <a:gd name="connsiteX4" fmla="*/ 1312069 w 1504950"/>
                      <a:gd name="connsiteY4" fmla="*/ 373063 h 501650"/>
                      <a:gd name="connsiteX5" fmla="*/ 1019969 w 1504950"/>
                      <a:gd name="connsiteY5" fmla="*/ 373063 h 501650"/>
                      <a:gd name="connsiteX6" fmla="*/ 968375 w 1504950"/>
                      <a:gd name="connsiteY6" fmla="*/ 423863 h 501650"/>
                      <a:gd name="connsiteX7" fmla="*/ 1019969 w 1504950"/>
                      <a:gd name="connsiteY7" fmla="*/ 474663 h 501650"/>
                      <a:gd name="connsiteX8" fmla="*/ 1071563 w 1504950"/>
                      <a:gd name="connsiteY8" fmla="*/ 423863 h 501650"/>
                      <a:gd name="connsiteX9" fmla="*/ 1019969 w 1504950"/>
                      <a:gd name="connsiteY9" fmla="*/ 373063 h 501650"/>
                      <a:gd name="connsiteX10" fmla="*/ 386556 w 1504950"/>
                      <a:gd name="connsiteY10" fmla="*/ 373063 h 501650"/>
                      <a:gd name="connsiteX11" fmla="*/ 334962 w 1504950"/>
                      <a:gd name="connsiteY11" fmla="*/ 423863 h 501650"/>
                      <a:gd name="connsiteX12" fmla="*/ 386556 w 1504950"/>
                      <a:gd name="connsiteY12" fmla="*/ 474663 h 501650"/>
                      <a:gd name="connsiteX13" fmla="*/ 438150 w 1504950"/>
                      <a:gd name="connsiteY13" fmla="*/ 423863 h 501650"/>
                      <a:gd name="connsiteX14" fmla="*/ 386556 w 1504950"/>
                      <a:gd name="connsiteY14" fmla="*/ 373063 h 501650"/>
                      <a:gd name="connsiteX15" fmla="*/ 153987 w 1504950"/>
                      <a:gd name="connsiteY15" fmla="*/ 373063 h 501650"/>
                      <a:gd name="connsiteX16" fmla="*/ 103187 w 1504950"/>
                      <a:gd name="connsiteY16" fmla="*/ 423863 h 501650"/>
                      <a:gd name="connsiteX17" fmla="*/ 153987 w 1504950"/>
                      <a:gd name="connsiteY17" fmla="*/ 474663 h 501650"/>
                      <a:gd name="connsiteX18" fmla="*/ 204787 w 1504950"/>
                      <a:gd name="connsiteY18" fmla="*/ 423863 h 501650"/>
                      <a:gd name="connsiteX19" fmla="*/ 153987 w 1504950"/>
                      <a:gd name="connsiteY19" fmla="*/ 373063 h 501650"/>
                      <a:gd name="connsiteX20" fmla="*/ 1311710 w 1504950"/>
                      <a:gd name="connsiteY20" fmla="*/ 346075 h 501650"/>
                      <a:gd name="connsiteX21" fmla="*/ 1390650 w 1504950"/>
                      <a:gd name="connsiteY21" fmla="*/ 423863 h 501650"/>
                      <a:gd name="connsiteX22" fmla="*/ 1314580 w 1504950"/>
                      <a:gd name="connsiteY22" fmla="*/ 501650 h 501650"/>
                      <a:gd name="connsiteX23" fmla="*/ 1233487 w 1504950"/>
                      <a:gd name="connsiteY23" fmla="*/ 423863 h 501650"/>
                      <a:gd name="connsiteX24" fmla="*/ 1311710 w 1504950"/>
                      <a:gd name="connsiteY24" fmla="*/ 346075 h 501650"/>
                      <a:gd name="connsiteX25" fmla="*/ 1020328 w 1504950"/>
                      <a:gd name="connsiteY25" fmla="*/ 346075 h 501650"/>
                      <a:gd name="connsiteX26" fmla="*/ 1098550 w 1504950"/>
                      <a:gd name="connsiteY26" fmla="*/ 423863 h 501650"/>
                      <a:gd name="connsiteX27" fmla="*/ 1022480 w 1504950"/>
                      <a:gd name="connsiteY27" fmla="*/ 501650 h 501650"/>
                      <a:gd name="connsiteX28" fmla="*/ 941387 w 1504950"/>
                      <a:gd name="connsiteY28" fmla="*/ 423863 h 501650"/>
                      <a:gd name="connsiteX29" fmla="*/ 1020328 w 1504950"/>
                      <a:gd name="connsiteY29" fmla="*/ 346075 h 501650"/>
                      <a:gd name="connsiteX30" fmla="*/ 387271 w 1504950"/>
                      <a:gd name="connsiteY30" fmla="*/ 346075 h 501650"/>
                      <a:gd name="connsiteX31" fmla="*/ 465138 w 1504950"/>
                      <a:gd name="connsiteY31" fmla="*/ 423507 h 501650"/>
                      <a:gd name="connsiteX32" fmla="*/ 389414 w 1504950"/>
                      <a:gd name="connsiteY32" fmla="*/ 501650 h 501650"/>
                      <a:gd name="connsiteX33" fmla="*/ 307975 w 1504950"/>
                      <a:gd name="connsiteY33" fmla="*/ 423507 h 501650"/>
                      <a:gd name="connsiteX34" fmla="*/ 387271 w 1504950"/>
                      <a:gd name="connsiteY34" fmla="*/ 346075 h 501650"/>
                      <a:gd name="connsiteX35" fmla="*/ 154343 w 1504950"/>
                      <a:gd name="connsiteY35" fmla="*/ 346075 h 501650"/>
                      <a:gd name="connsiteX36" fmla="*/ 231775 w 1504950"/>
                      <a:gd name="connsiteY36" fmla="*/ 423507 h 501650"/>
                      <a:gd name="connsiteX37" fmla="*/ 157184 w 1504950"/>
                      <a:gd name="connsiteY37" fmla="*/ 501650 h 501650"/>
                      <a:gd name="connsiteX38" fmla="*/ 76200 w 1504950"/>
                      <a:gd name="connsiteY38" fmla="*/ 423507 h 501650"/>
                      <a:gd name="connsiteX39" fmla="*/ 154343 w 1504950"/>
                      <a:gd name="connsiteY39" fmla="*/ 346075 h 501650"/>
                      <a:gd name="connsiteX40" fmla="*/ 17854 w 1504950"/>
                      <a:gd name="connsiteY40" fmla="*/ 277813 h 501650"/>
                      <a:gd name="connsiteX41" fmla="*/ 523484 w 1504950"/>
                      <a:gd name="connsiteY41" fmla="*/ 277813 h 501650"/>
                      <a:gd name="connsiteX42" fmla="*/ 541338 w 1504950"/>
                      <a:gd name="connsiteY42" fmla="*/ 296375 h 501650"/>
                      <a:gd name="connsiteX43" fmla="*/ 541338 w 1504950"/>
                      <a:gd name="connsiteY43" fmla="*/ 380615 h 501650"/>
                      <a:gd name="connsiteX44" fmla="*/ 523484 w 1504950"/>
                      <a:gd name="connsiteY44" fmla="*/ 398463 h 501650"/>
                      <a:gd name="connsiteX45" fmla="*/ 487062 w 1504950"/>
                      <a:gd name="connsiteY45" fmla="*/ 398463 h 501650"/>
                      <a:gd name="connsiteX46" fmla="*/ 387078 w 1504950"/>
                      <a:gd name="connsiteY46" fmla="*/ 321361 h 501650"/>
                      <a:gd name="connsiteX47" fmla="*/ 287095 w 1504950"/>
                      <a:gd name="connsiteY47" fmla="*/ 398463 h 501650"/>
                      <a:gd name="connsiteX48" fmla="*/ 254243 w 1504950"/>
                      <a:gd name="connsiteY48" fmla="*/ 398463 h 501650"/>
                      <a:gd name="connsiteX49" fmla="*/ 154260 w 1504950"/>
                      <a:gd name="connsiteY49" fmla="*/ 321361 h 501650"/>
                      <a:gd name="connsiteX50" fmla="*/ 54277 w 1504950"/>
                      <a:gd name="connsiteY50" fmla="*/ 398463 h 501650"/>
                      <a:gd name="connsiteX51" fmla="*/ 17854 w 1504950"/>
                      <a:gd name="connsiteY51" fmla="*/ 398463 h 501650"/>
                      <a:gd name="connsiteX52" fmla="*/ 0 w 1504950"/>
                      <a:gd name="connsiteY52" fmla="*/ 380615 h 501650"/>
                      <a:gd name="connsiteX53" fmla="*/ 0 w 1504950"/>
                      <a:gd name="connsiteY53" fmla="*/ 296375 h 501650"/>
                      <a:gd name="connsiteX54" fmla="*/ 17854 w 1504950"/>
                      <a:gd name="connsiteY54" fmla="*/ 277813 h 501650"/>
                      <a:gd name="connsiteX55" fmla="*/ 1163436 w 1504950"/>
                      <a:gd name="connsiteY55" fmla="*/ 0 h 501650"/>
                      <a:gd name="connsiteX56" fmla="*/ 1371345 w 1504950"/>
                      <a:gd name="connsiteY56" fmla="*/ 0 h 501650"/>
                      <a:gd name="connsiteX57" fmla="*/ 1387064 w 1504950"/>
                      <a:gd name="connsiteY57" fmla="*/ 8572 h 501650"/>
                      <a:gd name="connsiteX58" fmla="*/ 1502807 w 1504950"/>
                      <a:gd name="connsiteY58" fmla="*/ 185737 h 501650"/>
                      <a:gd name="connsiteX59" fmla="*/ 1504950 w 1504950"/>
                      <a:gd name="connsiteY59" fmla="*/ 195024 h 501650"/>
                      <a:gd name="connsiteX60" fmla="*/ 1504950 w 1504950"/>
                      <a:gd name="connsiteY60" fmla="*/ 370046 h 501650"/>
                      <a:gd name="connsiteX61" fmla="*/ 1474943 w 1504950"/>
                      <a:gd name="connsiteY61" fmla="*/ 400050 h 501650"/>
                      <a:gd name="connsiteX62" fmla="*/ 1412070 w 1504950"/>
                      <a:gd name="connsiteY62" fmla="*/ 400050 h 501650"/>
                      <a:gd name="connsiteX63" fmla="*/ 1395637 w 1504950"/>
                      <a:gd name="connsiteY63" fmla="*/ 363617 h 501650"/>
                      <a:gd name="connsiteX64" fmla="*/ 1468513 w 1504950"/>
                      <a:gd name="connsiteY64" fmla="*/ 363617 h 501650"/>
                      <a:gd name="connsiteX65" fmla="*/ 1468513 w 1504950"/>
                      <a:gd name="connsiteY65" fmla="*/ 200025 h 501650"/>
                      <a:gd name="connsiteX66" fmla="*/ 1361343 w 1504950"/>
                      <a:gd name="connsiteY66" fmla="*/ 37147 h 501650"/>
                      <a:gd name="connsiteX67" fmla="*/ 1169152 w 1504950"/>
                      <a:gd name="connsiteY67" fmla="*/ 37147 h 501650"/>
                      <a:gd name="connsiteX68" fmla="*/ 1169152 w 1504950"/>
                      <a:gd name="connsiteY68" fmla="*/ 363617 h 501650"/>
                      <a:gd name="connsiteX69" fmla="*/ 1229167 w 1504950"/>
                      <a:gd name="connsiteY69" fmla="*/ 363617 h 501650"/>
                      <a:gd name="connsiteX70" fmla="*/ 1212734 w 1504950"/>
                      <a:gd name="connsiteY70" fmla="*/ 400050 h 501650"/>
                      <a:gd name="connsiteX71" fmla="*/ 1132714 w 1504950"/>
                      <a:gd name="connsiteY71" fmla="*/ 399336 h 501650"/>
                      <a:gd name="connsiteX72" fmla="*/ 1119139 w 1504950"/>
                      <a:gd name="connsiteY72" fmla="*/ 399336 h 501650"/>
                      <a:gd name="connsiteX73" fmla="*/ 1019829 w 1504950"/>
                      <a:gd name="connsiteY73" fmla="*/ 321469 h 501650"/>
                      <a:gd name="connsiteX74" fmla="*/ 919804 w 1504950"/>
                      <a:gd name="connsiteY74" fmla="*/ 399336 h 501650"/>
                      <a:gd name="connsiteX75" fmla="*/ 886224 w 1504950"/>
                      <a:gd name="connsiteY75" fmla="*/ 399336 h 501650"/>
                      <a:gd name="connsiteX76" fmla="*/ 868362 w 1504950"/>
                      <a:gd name="connsiteY76" fmla="*/ 381476 h 501650"/>
                      <a:gd name="connsiteX77" fmla="*/ 868362 w 1504950"/>
                      <a:gd name="connsiteY77" fmla="*/ 297180 h 501650"/>
                      <a:gd name="connsiteX78" fmla="*/ 886224 w 1504950"/>
                      <a:gd name="connsiteY78" fmla="*/ 278606 h 501650"/>
                      <a:gd name="connsiteX79" fmla="*/ 1132714 w 1504950"/>
                      <a:gd name="connsiteY79" fmla="*/ 278606 h 501650"/>
                      <a:gd name="connsiteX80" fmla="*/ 1132714 w 1504950"/>
                      <a:gd name="connsiteY80" fmla="*/ 30004 h 501650"/>
                      <a:gd name="connsiteX81" fmla="*/ 1163436 w 1504950"/>
                      <a:gd name="connsiteY81" fmla="*/ 0 h 50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504950" h="501650">
                        <a:moveTo>
                          <a:pt x="1312069" y="373063"/>
                        </a:moveTo>
                        <a:cubicBezTo>
                          <a:pt x="1283574" y="373063"/>
                          <a:pt x="1260475" y="395807"/>
                          <a:pt x="1260475" y="423863"/>
                        </a:cubicBezTo>
                        <a:cubicBezTo>
                          <a:pt x="1260475" y="451919"/>
                          <a:pt x="1283574" y="474663"/>
                          <a:pt x="1312069" y="474663"/>
                        </a:cubicBezTo>
                        <a:cubicBezTo>
                          <a:pt x="1340564" y="474663"/>
                          <a:pt x="1363663" y="451919"/>
                          <a:pt x="1363663" y="423863"/>
                        </a:cubicBezTo>
                        <a:cubicBezTo>
                          <a:pt x="1363663" y="395807"/>
                          <a:pt x="1340564" y="373063"/>
                          <a:pt x="1312069" y="373063"/>
                        </a:cubicBezTo>
                        <a:close/>
                        <a:moveTo>
                          <a:pt x="1019969" y="373063"/>
                        </a:moveTo>
                        <a:cubicBezTo>
                          <a:pt x="991474" y="373063"/>
                          <a:pt x="968375" y="395807"/>
                          <a:pt x="968375" y="423863"/>
                        </a:cubicBezTo>
                        <a:cubicBezTo>
                          <a:pt x="968375" y="451919"/>
                          <a:pt x="991474" y="474663"/>
                          <a:pt x="1019969" y="474663"/>
                        </a:cubicBezTo>
                        <a:cubicBezTo>
                          <a:pt x="1048464" y="474663"/>
                          <a:pt x="1071563" y="451919"/>
                          <a:pt x="1071563" y="423863"/>
                        </a:cubicBezTo>
                        <a:cubicBezTo>
                          <a:pt x="1071563" y="395807"/>
                          <a:pt x="1048464" y="373063"/>
                          <a:pt x="1019969" y="373063"/>
                        </a:cubicBezTo>
                        <a:close/>
                        <a:moveTo>
                          <a:pt x="386556" y="373063"/>
                        </a:moveTo>
                        <a:cubicBezTo>
                          <a:pt x="358061" y="373063"/>
                          <a:pt x="334962" y="395807"/>
                          <a:pt x="334962" y="423863"/>
                        </a:cubicBezTo>
                        <a:cubicBezTo>
                          <a:pt x="334962" y="451919"/>
                          <a:pt x="358061" y="474663"/>
                          <a:pt x="386556" y="474663"/>
                        </a:cubicBezTo>
                        <a:cubicBezTo>
                          <a:pt x="415051" y="474663"/>
                          <a:pt x="438150" y="451919"/>
                          <a:pt x="438150" y="423863"/>
                        </a:cubicBezTo>
                        <a:cubicBezTo>
                          <a:pt x="438150" y="395807"/>
                          <a:pt x="415051" y="373063"/>
                          <a:pt x="386556" y="373063"/>
                        </a:cubicBezTo>
                        <a:close/>
                        <a:moveTo>
                          <a:pt x="153987" y="373063"/>
                        </a:moveTo>
                        <a:cubicBezTo>
                          <a:pt x="125931" y="373063"/>
                          <a:pt x="103187" y="395807"/>
                          <a:pt x="103187" y="423863"/>
                        </a:cubicBezTo>
                        <a:cubicBezTo>
                          <a:pt x="103187" y="451919"/>
                          <a:pt x="125931" y="474663"/>
                          <a:pt x="153987" y="474663"/>
                        </a:cubicBezTo>
                        <a:cubicBezTo>
                          <a:pt x="182043" y="474663"/>
                          <a:pt x="204787" y="451919"/>
                          <a:pt x="204787" y="423863"/>
                        </a:cubicBezTo>
                        <a:cubicBezTo>
                          <a:pt x="204787" y="395807"/>
                          <a:pt x="182043" y="373063"/>
                          <a:pt x="153987" y="373063"/>
                        </a:cubicBezTo>
                        <a:close/>
                        <a:moveTo>
                          <a:pt x="1311710" y="346075"/>
                        </a:moveTo>
                        <a:cubicBezTo>
                          <a:pt x="1355486" y="346075"/>
                          <a:pt x="1390650" y="381044"/>
                          <a:pt x="1390650" y="423863"/>
                        </a:cubicBezTo>
                        <a:cubicBezTo>
                          <a:pt x="1390650" y="466681"/>
                          <a:pt x="1357639" y="501650"/>
                          <a:pt x="1314580" y="501650"/>
                        </a:cubicBezTo>
                        <a:cubicBezTo>
                          <a:pt x="1270804" y="501650"/>
                          <a:pt x="1233487" y="466681"/>
                          <a:pt x="1233487" y="423863"/>
                        </a:cubicBezTo>
                        <a:cubicBezTo>
                          <a:pt x="1233487" y="381044"/>
                          <a:pt x="1268652" y="346075"/>
                          <a:pt x="1311710" y="346075"/>
                        </a:cubicBezTo>
                        <a:close/>
                        <a:moveTo>
                          <a:pt x="1020328" y="346075"/>
                        </a:moveTo>
                        <a:cubicBezTo>
                          <a:pt x="1063386" y="346075"/>
                          <a:pt x="1098550" y="381044"/>
                          <a:pt x="1098550" y="423863"/>
                        </a:cubicBezTo>
                        <a:cubicBezTo>
                          <a:pt x="1098550" y="466681"/>
                          <a:pt x="1066256" y="501650"/>
                          <a:pt x="1022480" y="501650"/>
                        </a:cubicBezTo>
                        <a:cubicBezTo>
                          <a:pt x="979422" y="501650"/>
                          <a:pt x="941387" y="466681"/>
                          <a:pt x="941387" y="423863"/>
                        </a:cubicBezTo>
                        <a:cubicBezTo>
                          <a:pt x="941387" y="381044"/>
                          <a:pt x="976552" y="346075"/>
                          <a:pt x="1020328" y="346075"/>
                        </a:cubicBezTo>
                        <a:close/>
                        <a:moveTo>
                          <a:pt x="387271" y="346075"/>
                        </a:moveTo>
                        <a:cubicBezTo>
                          <a:pt x="430134" y="346075"/>
                          <a:pt x="465138" y="380884"/>
                          <a:pt x="465138" y="423507"/>
                        </a:cubicBezTo>
                        <a:cubicBezTo>
                          <a:pt x="465138" y="466131"/>
                          <a:pt x="432991" y="501650"/>
                          <a:pt x="389414" y="501650"/>
                        </a:cubicBezTo>
                        <a:cubicBezTo>
                          <a:pt x="346552" y="501650"/>
                          <a:pt x="307975" y="466131"/>
                          <a:pt x="307975" y="423507"/>
                        </a:cubicBezTo>
                        <a:cubicBezTo>
                          <a:pt x="307975" y="380884"/>
                          <a:pt x="343694" y="346075"/>
                          <a:pt x="387271" y="346075"/>
                        </a:cubicBezTo>
                        <a:close/>
                        <a:moveTo>
                          <a:pt x="154343" y="346075"/>
                        </a:moveTo>
                        <a:cubicBezTo>
                          <a:pt x="197677" y="346075"/>
                          <a:pt x="231775" y="380884"/>
                          <a:pt x="231775" y="423507"/>
                        </a:cubicBezTo>
                        <a:cubicBezTo>
                          <a:pt x="231775" y="466131"/>
                          <a:pt x="199808" y="501650"/>
                          <a:pt x="157184" y="501650"/>
                        </a:cubicBezTo>
                        <a:cubicBezTo>
                          <a:pt x="113851" y="501650"/>
                          <a:pt x="76200" y="466131"/>
                          <a:pt x="76200" y="423507"/>
                        </a:cubicBezTo>
                        <a:cubicBezTo>
                          <a:pt x="76200" y="380884"/>
                          <a:pt x="111720" y="346075"/>
                          <a:pt x="154343" y="346075"/>
                        </a:cubicBezTo>
                        <a:close/>
                        <a:moveTo>
                          <a:pt x="17854" y="277813"/>
                        </a:moveTo>
                        <a:cubicBezTo>
                          <a:pt x="17854" y="277813"/>
                          <a:pt x="17854" y="277813"/>
                          <a:pt x="523484" y="277813"/>
                        </a:cubicBezTo>
                        <a:cubicBezTo>
                          <a:pt x="533482" y="277813"/>
                          <a:pt x="541338" y="286380"/>
                          <a:pt x="541338" y="296375"/>
                        </a:cubicBezTo>
                        <a:cubicBezTo>
                          <a:pt x="541338" y="296375"/>
                          <a:pt x="541338" y="296375"/>
                          <a:pt x="541338" y="380615"/>
                        </a:cubicBezTo>
                        <a:cubicBezTo>
                          <a:pt x="541338" y="391324"/>
                          <a:pt x="533482" y="398463"/>
                          <a:pt x="523484" y="398463"/>
                        </a:cubicBezTo>
                        <a:cubicBezTo>
                          <a:pt x="523484" y="398463"/>
                          <a:pt x="523484" y="398463"/>
                          <a:pt x="487062" y="398463"/>
                        </a:cubicBezTo>
                        <a:cubicBezTo>
                          <a:pt x="474921" y="354201"/>
                          <a:pt x="434927" y="321361"/>
                          <a:pt x="387078" y="321361"/>
                        </a:cubicBezTo>
                        <a:cubicBezTo>
                          <a:pt x="338515" y="321361"/>
                          <a:pt x="297808" y="354201"/>
                          <a:pt x="287095" y="398463"/>
                        </a:cubicBezTo>
                        <a:cubicBezTo>
                          <a:pt x="287095" y="398463"/>
                          <a:pt x="287095" y="398463"/>
                          <a:pt x="254243" y="398463"/>
                        </a:cubicBezTo>
                        <a:cubicBezTo>
                          <a:pt x="242103" y="354201"/>
                          <a:pt x="202823" y="321361"/>
                          <a:pt x="154260" y="321361"/>
                        </a:cubicBezTo>
                        <a:cubicBezTo>
                          <a:pt x="106411" y="321361"/>
                          <a:pt x="65704" y="354201"/>
                          <a:pt x="54277" y="398463"/>
                        </a:cubicBezTo>
                        <a:cubicBezTo>
                          <a:pt x="54277" y="398463"/>
                          <a:pt x="54277" y="398463"/>
                          <a:pt x="17854" y="398463"/>
                        </a:cubicBezTo>
                        <a:cubicBezTo>
                          <a:pt x="7856" y="398463"/>
                          <a:pt x="0" y="391324"/>
                          <a:pt x="0" y="380615"/>
                        </a:cubicBezTo>
                        <a:cubicBezTo>
                          <a:pt x="0" y="380615"/>
                          <a:pt x="0" y="380615"/>
                          <a:pt x="0" y="296375"/>
                        </a:cubicBezTo>
                        <a:cubicBezTo>
                          <a:pt x="0" y="286380"/>
                          <a:pt x="7856" y="277813"/>
                          <a:pt x="17854" y="277813"/>
                        </a:cubicBezTo>
                        <a:close/>
                        <a:moveTo>
                          <a:pt x="1163436" y="0"/>
                        </a:moveTo>
                        <a:cubicBezTo>
                          <a:pt x="1163436" y="0"/>
                          <a:pt x="1163436" y="0"/>
                          <a:pt x="1371345" y="0"/>
                        </a:cubicBezTo>
                        <a:cubicBezTo>
                          <a:pt x="1377776" y="0"/>
                          <a:pt x="1382777" y="2857"/>
                          <a:pt x="1387064" y="8572"/>
                        </a:cubicBezTo>
                        <a:cubicBezTo>
                          <a:pt x="1387064" y="8572"/>
                          <a:pt x="1387064" y="8572"/>
                          <a:pt x="1502807" y="185737"/>
                        </a:cubicBezTo>
                        <a:cubicBezTo>
                          <a:pt x="1504236" y="188595"/>
                          <a:pt x="1504950" y="192881"/>
                          <a:pt x="1504950" y="195024"/>
                        </a:cubicBezTo>
                        <a:cubicBezTo>
                          <a:pt x="1504950" y="195024"/>
                          <a:pt x="1504950" y="195024"/>
                          <a:pt x="1504950" y="370046"/>
                        </a:cubicBezTo>
                        <a:cubicBezTo>
                          <a:pt x="1504950" y="387191"/>
                          <a:pt x="1492090" y="400050"/>
                          <a:pt x="1474943" y="400050"/>
                        </a:cubicBezTo>
                        <a:cubicBezTo>
                          <a:pt x="1474943" y="400050"/>
                          <a:pt x="1474943" y="400050"/>
                          <a:pt x="1412070" y="400050"/>
                        </a:cubicBezTo>
                        <a:cubicBezTo>
                          <a:pt x="1408497" y="387191"/>
                          <a:pt x="1402782" y="374333"/>
                          <a:pt x="1395637" y="363617"/>
                        </a:cubicBezTo>
                        <a:cubicBezTo>
                          <a:pt x="1395637" y="363617"/>
                          <a:pt x="1395637" y="363617"/>
                          <a:pt x="1468513" y="363617"/>
                        </a:cubicBezTo>
                        <a:cubicBezTo>
                          <a:pt x="1468513" y="363617"/>
                          <a:pt x="1468513" y="363617"/>
                          <a:pt x="1468513" y="200025"/>
                        </a:cubicBezTo>
                        <a:cubicBezTo>
                          <a:pt x="1468513" y="200025"/>
                          <a:pt x="1468513" y="200025"/>
                          <a:pt x="1361343" y="37147"/>
                        </a:cubicBezTo>
                        <a:cubicBezTo>
                          <a:pt x="1361343" y="37147"/>
                          <a:pt x="1361343" y="37147"/>
                          <a:pt x="1169152" y="37147"/>
                        </a:cubicBezTo>
                        <a:cubicBezTo>
                          <a:pt x="1169152" y="37147"/>
                          <a:pt x="1169152" y="37147"/>
                          <a:pt x="1169152" y="363617"/>
                        </a:cubicBezTo>
                        <a:cubicBezTo>
                          <a:pt x="1169152" y="363617"/>
                          <a:pt x="1169152" y="363617"/>
                          <a:pt x="1229167" y="363617"/>
                        </a:cubicBezTo>
                        <a:cubicBezTo>
                          <a:pt x="1222022" y="374333"/>
                          <a:pt x="1215592" y="387191"/>
                          <a:pt x="1212734" y="400050"/>
                        </a:cubicBezTo>
                        <a:cubicBezTo>
                          <a:pt x="1212734" y="400050"/>
                          <a:pt x="1212734" y="400050"/>
                          <a:pt x="1132714" y="399336"/>
                        </a:cubicBezTo>
                        <a:cubicBezTo>
                          <a:pt x="1132714" y="399336"/>
                          <a:pt x="1132714" y="399336"/>
                          <a:pt x="1119139" y="399336"/>
                        </a:cubicBezTo>
                        <a:cubicBezTo>
                          <a:pt x="1108422" y="354330"/>
                          <a:pt x="1067698" y="321469"/>
                          <a:pt x="1019829" y="321469"/>
                        </a:cubicBezTo>
                        <a:cubicBezTo>
                          <a:pt x="971245" y="321469"/>
                          <a:pt x="930521" y="354330"/>
                          <a:pt x="919804" y="399336"/>
                        </a:cubicBezTo>
                        <a:cubicBezTo>
                          <a:pt x="919804" y="399336"/>
                          <a:pt x="919804" y="399336"/>
                          <a:pt x="886224" y="399336"/>
                        </a:cubicBezTo>
                        <a:cubicBezTo>
                          <a:pt x="876221" y="399336"/>
                          <a:pt x="868362" y="392192"/>
                          <a:pt x="868362" y="381476"/>
                        </a:cubicBezTo>
                        <a:cubicBezTo>
                          <a:pt x="868362" y="381476"/>
                          <a:pt x="868362" y="381476"/>
                          <a:pt x="868362" y="297180"/>
                        </a:cubicBezTo>
                        <a:cubicBezTo>
                          <a:pt x="868362" y="287179"/>
                          <a:pt x="876221" y="278606"/>
                          <a:pt x="886224" y="278606"/>
                        </a:cubicBezTo>
                        <a:cubicBezTo>
                          <a:pt x="886224" y="278606"/>
                          <a:pt x="886224" y="278606"/>
                          <a:pt x="1132714" y="278606"/>
                        </a:cubicBezTo>
                        <a:cubicBezTo>
                          <a:pt x="1132714" y="278606"/>
                          <a:pt x="1132714" y="278606"/>
                          <a:pt x="1132714" y="30004"/>
                        </a:cubicBezTo>
                        <a:cubicBezTo>
                          <a:pt x="1132714" y="13573"/>
                          <a:pt x="1147003" y="0"/>
                          <a:pt x="1163436"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32" name="Oval 20"/>
              <p:cNvSpPr>
                <a:spLocks noChangeAspect="1" noChangeArrowheads="1"/>
              </p:cNvSpPr>
              <p:nvPr/>
            </p:nvSpPr>
            <p:spPr bwMode="auto">
              <a:xfrm>
                <a:off x="891812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20</a:t>
                </a:r>
              </a:p>
            </p:txBody>
          </p:sp>
        </p:grpSp>
        <p:grpSp>
          <p:nvGrpSpPr>
            <p:cNvPr id="33" name="Grupo 121"/>
            <p:cNvGrpSpPr/>
            <p:nvPr/>
          </p:nvGrpSpPr>
          <p:grpSpPr>
            <a:xfrm>
              <a:off x="10361489" y="5176000"/>
              <a:ext cx="1036959" cy="1122694"/>
              <a:chOff x="10316397" y="4970168"/>
              <a:chExt cx="1036959" cy="1122694"/>
            </a:xfrm>
          </p:grpSpPr>
          <p:sp>
            <p:nvSpPr>
              <p:cNvPr id="34" name="Rectangle: Rounded Corners 124"/>
              <p:cNvSpPr/>
              <p:nvPr/>
            </p:nvSpPr>
            <p:spPr>
              <a:xfrm>
                <a:off x="10381356"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servicios generales</a:t>
                </a:r>
              </a:p>
            </p:txBody>
          </p:sp>
          <p:grpSp>
            <p:nvGrpSpPr>
              <p:cNvPr id="35" name="bcgIcons_Microservice"/>
              <p:cNvGrpSpPr>
                <a:grpSpLocks noChangeAspect="1"/>
              </p:cNvGrpSpPr>
              <p:nvPr/>
            </p:nvGrpSpPr>
            <p:grpSpPr>
              <a:xfrm>
                <a:off x="10650879" y="5141091"/>
                <a:ext cx="380413" cy="380413"/>
                <a:chOff x="1113742" y="1826004"/>
                <a:chExt cx="1644650" cy="1644650"/>
              </a:xfrm>
            </p:grpSpPr>
            <p:sp>
              <p:nvSpPr>
                <p:cNvPr id="36" name="AutoShape 154"/>
                <p:cNvSpPr>
                  <a:spLocks noChangeAspect="1"/>
                </p:cNvSpPr>
                <p:nvPr/>
              </p:nvSpPr>
              <p:spPr bwMode="auto">
                <a:xfrm>
                  <a:off x="1113742" y="1826004"/>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7" name="Group 31"/>
                <p:cNvGrpSpPr>
                  <a:grpSpLocks/>
                </p:cNvGrpSpPr>
                <p:nvPr/>
              </p:nvGrpSpPr>
              <p:grpSpPr>
                <a:xfrm>
                  <a:off x="1242174" y="1893980"/>
                  <a:ext cx="1386282" cy="1508097"/>
                  <a:chOff x="1242174" y="1893980"/>
                  <a:chExt cx="1386282" cy="1508097"/>
                </a:xfrm>
              </p:grpSpPr>
              <p:sp>
                <p:nvSpPr>
                  <p:cNvPr id="38" name="Freeform 156"/>
                  <p:cNvSpPr>
                    <a:spLocks/>
                  </p:cNvSpPr>
                  <p:nvPr/>
                </p:nvSpPr>
                <p:spPr bwMode="auto">
                  <a:xfrm>
                    <a:off x="1242174" y="1893980"/>
                    <a:ext cx="1386282" cy="1508097"/>
                  </a:xfrm>
                  <a:custGeom>
                    <a:avLst/>
                    <a:gdLst>
                      <a:gd name="T0" fmla="*/ 351 w 1942"/>
                      <a:gd name="T1" fmla="*/ 1341 h 2113"/>
                      <a:gd name="T2" fmla="*/ 196 w 1942"/>
                      <a:gd name="T3" fmla="*/ 1259 h 2113"/>
                      <a:gd name="T4" fmla="*/ 21 w 1942"/>
                      <a:gd name="T5" fmla="*/ 1377 h 2113"/>
                      <a:gd name="T6" fmla="*/ 174 w 1942"/>
                      <a:gd name="T7" fmla="*/ 1643 h 2113"/>
                      <a:gd name="T8" fmla="*/ 349 w 1942"/>
                      <a:gd name="T9" fmla="*/ 1566 h 2113"/>
                      <a:gd name="T10" fmla="*/ 416 w 1942"/>
                      <a:gd name="T11" fmla="*/ 1358 h 2113"/>
                      <a:gd name="T12" fmla="*/ 196 w 1942"/>
                      <a:gd name="T13" fmla="*/ 1605 h 2113"/>
                      <a:gd name="T14" fmla="*/ 196 w 1942"/>
                      <a:gd name="T15" fmla="*/ 1303 h 2113"/>
                      <a:gd name="T16" fmla="*/ 1124 w 1942"/>
                      <a:gd name="T17" fmla="*/ 80 h 2113"/>
                      <a:gd name="T18" fmla="*/ 952 w 1942"/>
                      <a:gd name="T19" fmla="*/ 6 h 2113"/>
                      <a:gd name="T20" fmla="*/ 796 w 1942"/>
                      <a:gd name="T21" fmla="*/ 270 h 2113"/>
                      <a:gd name="T22" fmla="*/ 951 w 1942"/>
                      <a:gd name="T23" fmla="*/ 425 h 2113"/>
                      <a:gd name="T24" fmla="*/ 995 w 1942"/>
                      <a:gd name="T25" fmla="*/ 379 h 2113"/>
                      <a:gd name="T26" fmla="*/ 1146 w 1942"/>
                      <a:gd name="T27" fmla="*/ 118 h 2113"/>
                      <a:gd name="T28" fmla="*/ 973 w 1942"/>
                      <a:gd name="T29" fmla="*/ 341 h 2113"/>
                      <a:gd name="T30" fmla="*/ 840 w 1942"/>
                      <a:gd name="T31" fmla="*/ 118 h 2113"/>
                      <a:gd name="T32" fmla="*/ 1102 w 1942"/>
                      <a:gd name="T33" fmla="*/ 270 h 2113"/>
                      <a:gd name="T34" fmla="*/ 1767 w 1942"/>
                      <a:gd name="T35" fmla="*/ 465 h 2113"/>
                      <a:gd name="T36" fmla="*/ 1593 w 1942"/>
                      <a:gd name="T37" fmla="*/ 583 h 2113"/>
                      <a:gd name="T38" fmla="*/ 1465 w 1942"/>
                      <a:gd name="T39" fmla="*/ 838 h 2113"/>
                      <a:gd name="T40" fmla="*/ 1615 w 1942"/>
                      <a:gd name="T41" fmla="*/ 774 h 2113"/>
                      <a:gd name="T42" fmla="*/ 1789 w 1942"/>
                      <a:gd name="T43" fmla="*/ 848 h 2113"/>
                      <a:gd name="T44" fmla="*/ 1942 w 1942"/>
                      <a:gd name="T45" fmla="*/ 583 h 2113"/>
                      <a:gd name="T46" fmla="*/ 1767 w 1942"/>
                      <a:gd name="T47" fmla="*/ 810 h 2113"/>
                      <a:gd name="T48" fmla="*/ 1767 w 1942"/>
                      <a:gd name="T49" fmla="*/ 509 h 2113"/>
                      <a:gd name="T50" fmla="*/ 152 w 1942"/>
                      <a:gd name="T51" fmla="*/ 848 h 2113"/>
                      <a:gd name="T52" fmla="*/ 326 w 1942"/>
                      <a:gd name="T53" fmla="*/ 774 h 2113"/>
                      <a:gd name="T54" fmla="*/ 406 w 1942"/>
                      <a:gd name="T55" fmla="*/ 783 h 2113"/>
                      <a:gd name="T56" fmla="*/ 349 w 1942"/>
                      <a:gd name="T57" fmla="*/ 583 h 2113"/>
                      <a:gd name="T58" fmla="*/ 174 w 1942"/>
                      <a:gd name="T59" fmla="*/ 465 h 2113"/>
                      <a:gd name="T60" fmla="*/ 0 w 1942"/>
                      <a:gd name="T61" fmla="*/ 583 h 2113"/>
                      <a:gd name="T62" fmla="*/ 152 w 1942"/>
                      <a:gd name="T63" fmla="*/ 848 h 2113"/>
                      <a:gd name="T64" fmla="*/ 305 w 1942"/>
                      <a:gd name="T65" fmla="*/ 583 h 2113"/>
                      <a:gd name="T66" fmla="*/ 44 w 1942"/>
                      <a:gd name="T67" fmla="*/ 736 h 2113"/>
                      <a:gd name="T68" fmla="*/ 1767 w 1942"/>
                      <a:gd name="T69" fmla="*/ 1265 h 2113"/>
                      <a:gd name="T70" fmla="*/ 1593 w 1942"/>
                      <a:gd name="T71" fmla="*/ 1339 h 2113"/>
                      <a:gd name="T72" fmla="*/ 1522 w 1942"/>
                      <a:gd name="T73" fmla="*/ 1356 h 2113"/>
                      <a:gd name="T74" fmla="*/ 1593 w 1942"/>
                      <a:gd name="T75" fmla="*/ 1566 h 2113"/>
                      <a:gd name="T76" fmla="*/ 1767 w 1942"/>
                      <a:gd name="T77" fmla="*/ 1643 h 2113"/>
                      <a:gd name="T78" fmla="*/ 1920 w 1942"/>
                      <a:gd name="T79" fmla="*/ 1377 h 2113"/>
                      <a:gd name="T80" fmla="*/ 1745 w 1942"/>
                      <a:gd name="T81" fmla="*/ 1605 h 2113"/>
                      <a:gd name="T82" fmla="*/ 1745 w 1942"/>
                      <a:gd name="T83" fmla="*/ 1303 h 2113"/>
                      <a:gd name="T84" fmla="*/ 1123 w 1942"/>
                      <a:gd name="T85" fmla="*/ 1805 h 2113"/>
                      <a:gd name="T86" fmla="*/ 970 w 1942"/>
                      <a:gd name="T87" fmla="*/ 1696 h 2113"/>
                      <a:gd name="T88" fmla="*/ 819 w 1942"/>
                      <a:gd name="T89" fmla="*/ 1804 h 2113"/>
                      <a:gd name="T90" fmla="*/ 819 w 1942"/>
                      <a:gd name="T91" fmla="*/ 2034 h 2113"/>
                      <a:gd name="T92" fmla="*/ 995 w 1942"/>
                      <a:gd name="T93" fmla="*/ 2107 h 2113"/>
                      <a:gd name="T94" fmla="*/ 1146 w 1942"/>
                      <a:gd name="T95" fmla="*/ 1844 h 2113"/>
                      <a:gd name="T96" fmla="*/ 973 w 1942"/>
                      <a:gd name="T97" fmla="*/ 2069 h 2113"/>
                      <a:gd name="T98" fmla="*/ 973 w 1942"/>
                      <a:gd name="T99" fmla="*/ 1773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2" h="2113">
                        <a:moveTo>
                          <a:pt x="410" y="1345"/>
                        </a:moveTo>
                        <a:cubicBezTo>
                          <a:pt x="406" y="1336"/>
                          <a:pt x="402" y="1326"/>
                          <a:pt x="398" y="1318"/>
                        </a:cubicBezTo>
                        <a:cubicBezTo>
                          <a:pt x="351" y="1341"/>
                          <a:pt x="351" y="1341"/>
                          <a:pt x="351" y="1341"/>
                        </a:cubicBezTo>
                        <a:cubicBezTo>
                          <a:pt x="350" y="1340"/>
                          <a:pt x="349" y="1339"/>
                          <a:pt x="348" y="1339"/>
                        </a:cubicBezTo>
                        <a:cubicBezTo>
                          <a:pt x="217" y="1265"/>
                          <a:pt x="217" y="1265"/>
                          <a:pt x="217" y="1265"/>
                        </a:cubicBezTo>
                        <a:cubicBezTo>
                          <a:pt x="211" y="1261"/>
                          <a:pt x="203" y="1259"/>
                          <a:pt x="196" y="1259"/>
                        </a:cubicBezTo>
                        <a:cubicBezTo>
                          <a:pt x="188" y="1259"/>
                          <a:pt x="181" y="1261"/>
                          <a:pt x="174" y="1265"/>
                        </a:cubicBezTo>
                        <a:cubicBezTo>
                          <a:pt x="43" y="1339"/>
                          <a:pt x="43" y="1339"/>
                          <a:pt x="43" y="1339"/>
                        </a:cubicBezTo>
                        <a:cubicBezTo>
                          <a:pt x="29" y="1346"/>
                          <a:pt x="21" y="1361"/>
                          <a:pt x="21" y="1377"/>
                        </a:cubicBezTo>
                        <a:cubicBezTo>
                          <a:pt x="21" y="1528"/>
                          <a:pt x="21" y="1528"/>
                          <a:pt x="21" y="1528"/>
                        </a:cubicBezTo>
                        <a:cubicBezTo>
                          <a:pt x="21" y="1544"/>
                          <a:pt x="29" y="1558"/>
                          <a:pt x="43" y="1566"/>
                        </a:cubicBezTo>
                        <a:cubicBezTo>
                          <a:pt x="174" y="1643"/>
                          <a:pt x="174" y="1643"/>
                          <a:pt x="174" y="1643"/>
                        </a:cubicBezTo>
                        <a:cubicBezTo>
                          <a:pt x="180" y="1647"/>
                          <a:pt x="188" y="1649"/>
                          <a:pt x="196" y="1649"/>
                        </a:cubicBezTo>
                        <a:cubicBezTo>
                          <a:pt x="204" y="1649"/>
                          <a:pt x="211" y="1647"/>
                          <a:pt x="218" y="1643"/>
                        </a:cubicBezTo>
                        <a:cubicBezTo>
                          <a:pt x="349" y="1566"/>
                          <a:pt x="349" y="1566"/>
                          <a:pt x="349" y="1566"/>
                        </a:cubicBezTo>
                        <a:cubicBezTo>
                          <a:pt x="363" y="1558"/>
                          <a:pt x="371" y="1544"/>
                          <a:pt x="371" y="1528"/>
                        </a:cubicBezTo>
                        <a:cubicBezTo>
                          <a:pt x="371" y="1380"/>
                          <a:pt x="371" y="1380"/>
                          <a:pt x="371" y="1380"/>
                        </a:cubicBezTo>
                        <a:cubicBezTo>
                          <a:pt x="416" y="1358"/>
                          <a:pt x="416" y="1358"/>
                          <a:pt x="416" y="1358"/>
                        </a:cubicBezTo>
                        <a:cubicBezTo>
                          <a:pt x="410" y="1345"/>
                          <a:pt x="410" y="1345"/>
                          <a:pt x="410" y="1345"/>
                        </a:cubicBezTo>
                        <a:close/>
                        <a:moveTo>
                          <a:pt x="327" y="1528"/>
                        </a:moveTo>
                        <a:cubicBezTo>
                          <a:pt x="196" y="1605"/>
                          <a:pt x="196" y="1605"/>
                          <a:pt x="196" y="1605"/>
                        </a:cubicBezTo>
                        <a:cubicBezTo>
                          <a:pt x="65" y="1528"/>
                          <a:pt x="65" y="1528"/>
                          <a:pt x="65" y="1528"/>
                        </a:cubicBezTo>
                        <a:cubicBezTo>
                          <a:pt x="65" y="1377"/>
                          <a:pt x="65" y="1377"/>
                          <a:pt x="65" y="1377"/>
                        </a:cubicBezTo>
                        <a:cubicBezTo>
                          <a:pt x="196" y="1303"/>
                          <a:pt x="196" y="1303"/>
                          <a:pt x="196" y="1303"/>
                        </a:cubicBezTo>
                        <a:cubicBezTo>
                          <a:pt x="327" y="1377"/>
                          <a:pt x="327" y="1377"/>
                          <a:pt x="327" y="1377"/>
                        </a:cubicBezTo>
                        <a:lnTo>
                          <a:pt x="327" y="1528"/>
                        </a:lnTo>
                        <a:close/>
                        <a:moveTo>
                          <a:pt x="1124" y="80"/>
                        </a:moveTo>
                        <a:cubicBezTo>
                          <a:pt x="995" y="6"/>
                          <a:pt x="995" y="6"/>
                          <a:pt x="995" y="6"/>
                        </a:cubicBezTo>
                        <a:cubicBezTo>
                          <a:pt x="989" y="2"/>
                          <a:pt x="981" y="0"/>
                          <a:pt x="973" y="0"/>
                        </a:cubicBezTo>
                        <a:cubicBezTo>
                          <a:pt x="966" y="0"/>
                          <a:pt x="959" y="2"/>
                          <a:pt x="952" y="6"/>
                        </a:cubicBezTo>
                        <a:cubicBezTo>
                          <a:pt x="819" y="79"/>
                          <a:pt x="819" y="79"/>
                          <a:pt x="819" y="79"/>
                        </a:cubicBezTo>
                        <a:cubicBezTo>
                          <a:pt x="805" y="87"/>
                          <a:pt x="796" y="102"/>
                          <a:pt x="796" y="118"/>
                        </a:cubicBezTo>
                        <a:cubicBezTo>
                          <a:pt x="796" y="270"/>
                          <a:pt x="796" y="270"/>
                          <a:pt x="796" y="270"/>
                        </a:cubicBezTo>
                        <a:cubicBezTo>
                          <a:pt x="796" y="287"/>
                          <a:pt x="805" y="302"/>
                          <a:pt x="819" y="309"/>
                        </a:cubicBezTo>
                        <a:cubicBezTo>
                          <a:pt x="951" y="379"/>
                          <a:pt x="951" y="379"/>
                          <a:pt x="951" y="379"/>
                        </a:cubicBezTo>
                        <a:cubicBezTo>
                          <a:pt x="951" y="425"/>
                          <a:pt x="951" y="425"/>
                          <a:pt x="951" y="425"/>
                        </a:cubicBezTo>
                        <a:cubicBezTo>
                          <a:pt x="956" y="417"/>
                          <a:pt x="956" y="417"/>
                          <a:pt x="956" y="417"/>
                        </a:cubicBezTo>
                        <a:cubicBezTo>
                          <a:pt x="995" y="419"/>
                          <a:pt x="995" y="419"/>
                          <a:pt x="995" y="419"/>
                        </a:cubicBezTo>
                        <a:cubicBezTo>
                          <a:pt x="995" y="379"/>
                          <a:pt x="995" y="379"/>
                          <a:pt x="995" y="379"/>
                        </a:cubicBezTo>
                        <a:cubicBezTo>
                          <a:pt x="1123" y="308"/>
                          <a:pt x="1123" y="308"/>
                          <a:pt x="1123" y="308"/>
                        </a:cubicBezTo>
                        <a:cubicBezTo>
                          <a:pt x="1137" y="301"/>
                          <a:pt x="1146" y="286"/>
                          <a:pt x="1146" y="270"/>
                        </a:cubicBezTo>
                        <a:cubicBezTo>
                          <a:pt x="1146" y="118"/>
                          <a:pt x="1146" y="118"/>
                          <a:pt x="1146" y="118"/>
                        </a:cubicBezTo>
                        <a:cubicBezTo>
                          <a:pt x="1146" y="103"/>
                          <a:pt x="1138" y="88"/>
                          <a:pt x="1124" y="80"/>
                        </a:cubicBezTo>
                        <a:close/>
                        <a:moveTo>
                          <a:pt x="1102" y="270"/>
                        </a:moveTo>
                        <a:cubicBezTo>
                          <a:pt x="973" y="341"/>
                          <a:pt x="973" y="341"/>
                          <a:pt x="973" y="341"/>
                        </a:cubicBezTo>
                        <a:cubicBezTo>
                          <a:pt x="973" y="341"/>
                          <a:pt x="973" y="341"/>
                          <a:pt x="973" y="341"/>
                        </a:cubicBezTo>
                        <a:cubicBezTo>
                          <a:pt x="840" y="270"/>
                          <a:pt x="840" y="270"/>
                          <a:pt x="840" y="270"/>
                        </a:cubicBezTo>
                        <a:cubicBezTo>
                          <a:pt x="840" y="118"/>
                          <a:pt x="840" y="118"/>
                          <a:pt x="840" y="118"/>
                        </a:cubicBezTo>
                        <a:cubicBezTo>
                          <a:pt x="973" y="44"/>
                          <a:pt x="973" y="44"/>
                          <a:pt x="973" y="44"/>
                        </a:cubicBezTo>
                        <a:cubicBezTo>
                          <a:pt x="1102" y="118"/>
                          <a:pt x="1102" y="118"/>
                          <a:pt x="1102" y="118"/>
                        </a:cubicBezTo>
                        <a:lnTo>
                          <a:pt x="1102" y="270"/>
                        </a:lnTo>
                        <a:close/>
                        <a:moveTo>
                          <a:pt x="1920" y="544"/>
                        </a:moveTo>
                        <a:cubicBezTo>
                          <a:pt x="1789" y="470"/>
                          <a:pt x="1789" y="470"/>
                          <a:pt x="1789" y="470"/>
                        </a:cubicBezTo>
                        <a:cubicBezTo>
                          <a:pt x="1782" y="467"/>
                          <a:pt x="1774" y="465"/>
                          <a:pt x="1767" y="465"/>
                        </a:cubicBezTo>
                        <a:cubicBezTo>
                          <a:pt x="1760" y="465"/>
                          <a:pt x="1752" y="467"/>
                          <a:pt x="1745" y="471"/>
                        </a:cubicBezTo>
                        <a:cubicBezTo>
                          <a:pt x="1615" y="544"/>
                          <a:pt x="1615" y="544"/>
                          <a:pt x="1615" y="544"/>
                        </a:cubicBezTo>
                        <a:cubicBezTo>
                          <a:pt x="1602" y="552"/>
                          <a:pt x="1593" y="567"/>
                          <a:pt x="1593" y="583"/>
                        </a:cubicBezTo>
                        <a:cubicBezTo>
                          <a:pt x="1593" y="733"/>
                          <a:pt x="1593" y="733"/>
                          <a:pt x="1593" y="733"/>
                        </a:cubicBezTo>
                        <a:cubicBezTo>
                          <a:pt x="1495" y="781"/>
                          <a:pt x="1495" y="781"/>
                          <a:pt x="1495" y="781"/>
                        </a:cubicBezTo>
                        <a:cubicBezTo>
                          <a:pt x="1465" y="838"/>
                          <a:pt x="1465" y="838"/>
                          <a:pt x="1465" y="838"/>
                        </a:cubicBezTo>
                        <a:cubicBezTo>
                          <a:pt x="1465" y="840"/>
                          <a:pt x="1466" y="842"/>
                          <a:pt x="1467" y="843"/>
                        </a:cubicBezTo>
                        <a:cubicBezTo>
                          <a:pt x="1613" y="772"/>
                          <a:pt x="1613" y="772"/>
                          <a:pt x="1613" y="772"/>
                        </a:cubicBezTo>
                        <a:cubicBezTo>
                          <a:pt x="1614" y="773"/>
                          <a:pt x="1614" y="774"/>
                          <a:pt x="1615" y="774"/>
                        </a:cubicBezTo>
                        <a:cubicBezTo>
                          <a:pt x="1745" y="848"/>
                          <a:pt x="1745" y="848"/>
                          <a:pt x="1745" y="848"/>
                        </a:cubicBezTo>
                        <a:cubicBezTo>
                          <a:pt x="1752" y="852"/>
                          <a:pt x="1760" y="854"/>
                          <a:pt x="1767" y="854"/>
                        </a:cubicBezTo>
                        <a:cubicBezTo>
                          <a:pt x="1774" y="854"/>
                          <a:pt x="1782" y="852"/>
                          <a:pt x="1789" y="848"/>
                        </a:cubicBezTo>
                        <a:cubicBezTo>
                          <a:pt x="1920" y="774"/>
                          <a:pt x="1920" y="774"/>
                          <a:pt x="1920" y="774"/>
                        </a:cubicBezTo>
                        <a:cubicBezTo>
                          <a:pt x="1934" y="767"/>
                          <a:pt x="1942" y="752"/>
                          <a:pt x="1942" y="736"/>
                        </a:cubicBezTo>
                        <a:cubicBezTo>
                          <a:pt x="1942" y="583"/>
                          <a:pt x="1942" y="583"/>
                          <a:pt x="1942" y="583"/>
                        </a:cubicBezTo>
                        <a:cubicBezTo>
                          <a:pt x="1942" y="567"/>
                          <a:pt x="1934" y="552"/>
                          <a:pt x="1920" y="544"/>
                        </a:cubicBezTo>
                        <a:close/>
                        <a:moveTo>
                          <a:pt x="1898" y="736"/>
                        </a:moveTo>
                        <a:cubicBezTo>
                          <a:pt x="1767" y="810"/>
                          <a:pt x="1767" y="810"/>
                          <a:pt x="1767" y="810"/>
                        </a:cubicBezTo>
                        <a:cubicBezTo>
                          <a:pt x="1637" y="736"/>
                          <a:pt x="1637" y="736"/>
                          <a:pt x="1637" y="736"/>
                        </a:cubicBezTo>
                        <a:cubicBezTo>
                          <a:pt x="1637" y="583"/>
                          <a:pt x="1637" y="583"/>
                          <a:pt x="1637" y="583"/>
                        </a:cubicBezTo>
                        <a:cubicBezTo>
                          <a:pt x="1767" y="509"/>
                          <a:pt x="1767" y="509"/>
                          <a:pt x="1767" y="509"/>
                        </a:cubicBezTo>
                        <a:cubicBezTo>
                          <a:pt x="1898" y="583"/>
                          <a:pt x="1898" y="583"/>
                          <a:pt x="1898" y="583"/>
                        </a:cubicBezTo>
                        <a:lnTo>
                          <a:pt x="1898" y="736"/>
                        </a:lnTo>
                        <a:close/>
                        <a:moveTo>
                          <a:pt x="152" y="848"/>
                        </a:moveTo>
                        <a:cubicBezTo>
                          <a:pt x="159" y="852"/>
                          <a:pt x="166" y="854"/>
                          <a:pt x="174" y="854"/>
                        </a:cubicBezTo>
                        <a:cubicBezTo>
                          <a:pt x="181" y="854"/>
                          <a:pt x="189" y="852"/>
                          <a:pt x="195" y="848"/>
                        </a:cubicBezTo>
                        <a:cubicBezTo>
                          <a:pt x="326" y="774"/>
                          <a:pt x="326" y="774"/>
                          <a:pt x="326" y="774"/>
                        </a:cubicBezTo>
                        <a:cubicBezTo>
                          <a:pt x="327" y="774"/>
                          <a:pt x="328" y="773"/>
                          <a:pt x="329" y="772"/>
                        </a:cubicBezTo>
                        <a:cubicBezTo>
                          <a:pt x="396" y="805"/>
                          <a:pt x="396" y="805"/>
                          <a:pt x="396" y="805"/>
                        </a:cubicBezTo>
                        <a:cubicBezTo>
                          <a:pt x="399" y="798"/>
                          <a:pt x="402" y="790"/>
                          <a:pt x="406" y="783"/>
                        </a:cubicBezTo>
                        <a:cubicBezTo>
                          <a:pt x="413" y="765"/>
                          <a:pt x="413" y="765"/>
                          <a:pt x="413" y="765"/>
                        </a:cubicBezTo>
                        <a:cubicBezTo>
                          <a:pt x="349" y="733"/>
                          <a:pt x="349" y="733"/>
                          <a:pt x="349" y="733"/>
                        </a:cubicBezTo>
                        <a:cubicBezTo>
                          <a:pt x="349" y="583"/>
                          <a:pt x="349" y="583"/>
                          <a:pt x="349" y="583"/>
                        </a:cubicBezTo>
                        <a:cubicBezTo>
                          <a:pt x="349" y="567"/>
                          <a:pt x="340" y="552"/>
                          <a:pt x="326" y="544"/>
                        </a:cubicBezTo>
                        <a:cubicBezTo>
                          <a:pt x="195" y="470"/>
                          <a:pt x="195" y="470"/>
                          <a:pt x="195" y="470"/>
                        </a:cubicBezTo>
                        <a:cubicBezTo>
                          <a:pt x="189" y="467"/>
                          <a:pt x="181" y="465"/>
                          <a:pt x="174" y="465"/>
                        </a:cubicBezTo>
                        <a:cubicBezTo>
                          <a:pt x="166" y="465"/>
                          <a:pt x="159" y="467"/>
                          <a:pt x="152" y="471"/>
                        </a:cubicBezTo>
                        <a:cubicBezTo>
                          <a:pt x="22" y="544"/>
                          <a:pt x="22" y="544"/>
                          <a:pt x="22" y="544"/>
                        </a:cubicBezTo>
                        <a:cubicBezTo>
                          <a:pt x="8" y="552"/>
                          <a:pt x="0" y="567"/>
                          <a:pt x="0" y="583"/>
                        </a:cubicBezTo>
                        <a:cubicBezTo>
                          <a:pt x="0" y="736"/>
                          <a:pt x="0" y="736"/>
                          <a:pt x="0" y="736"/>
                        </a:cubicBezTo>
                        <a:cubicBezTo>
                          <a:pt x="0" y="752"/>
                          <a:pt x="8" y="766"/>
                          <a:pt x="22" y="774"/>
                        </a:cubicBezTo>
                        <a:lnTo>
                          <a:pt x="152" y="848"/>
                        </a:lnTo>
                        <a:close/>
                        <a:moveTo>
                          <a:pt x="44" y="583"/>
                        </a:moveTo>
                        <a:cubicBezTo>
                          <a:pt x="174" y="509"/>
                          <a:pt x="174" y="509"/>
                          <a:pt x="174" y="509"/>
                        </a:cubicBezTo>
                        <a:cubicBezTo>
                          <a:pt x="305" y="583"/>
                          <a:pt x="305" y="583"/>
                          <a:pt x="305" y="583"/>
                        </a:cubicBezTo>
                        <a:cubicBezTo>
                          <a:pt x="305" y="736"/>
                          <a:pt x="305" y="736"/>
                          <a:pt x="305" y="736"/>
                        </a:cubicBezTo>
                        <a:cubicBezTo>
                          <a:pt x="174" y="810"/>
                          <a:pt x="174" y="810"/>
                          <a:pt x="174" y="810"/>
                        </a:cubicBezTo>
                        <a:cubicBezTo>
                          <a:pt x="44" y="736"/>
                          <a:pt x="44" y="736"/>
                          <a:pt x="44" y="736"/>
                        </a:cubicBezTo>
                        <a:lnTo>
                          <a:pt x="44" y="583"/>
                        </a:lnTo>
                        <a:close/>
                        <a:moveTo>
                          <a:pt x="1898" y="1339"/>
                        </a:moveTo>
                        <a:cubicBezTo>
                          <a:pt x="1767" y="1265"/>
                          <a:pt x="1767" y="1265"/>
                          <a:pt x="1767" y="1265"/>
                        </a:cubicBezTo>
                        <a:cubicBezTo>
                          <a:pt x="1760" y="1261"/>
                          <a:pt x="1752" y="1259"/>
                          <a:pt x="1745" y="1259"/>
                        </a:cubicBezTo>
                        <a:cubicBezTo>
                          <a:pt x="1738" y="1259"/>
                          <a:pt x="1730" y="1261"/>
                          <a:pt x="1723" y="1265"/>
                        </a:cubicBezTo>
                        <a:cubicBezTo>
                          <a:pt x="1593" y="1339"/>
                          <a:pt x="1593" y="1339"/>
                          <a:pt x="1593" y="1339"/>
                        </a:cubicBezTo>
                        <a:cubicBezTo>
                          <a:pt x="1592" y="1339"/>
                          <a:pt x="1592" y="1340"/>
                          <a:pt x="1591" y="1341"/>
                        </a:cubicBezTo>
                        <a:cubicBezTo>
                          <a:pt x="1484" y="1289"/>
                          <a:pt x="1484" y="1289"/>
                          <a:pt x="1484" y="1289"/>
                        </a:cubicBezTo>
                        <a:cubicBezTo>
                          <a:pt x="1522" y="1356"/>
                          <a:pt x="1522" y="1356"/>
                          <a:pt x="1522" y="1356"/>
                        </a:cubicBezTo>
                        <a:cubicBezTo>
                          <a:pt x="1571" y="1380"/>
                          <a:pt x="1571" y="1380"/>
                          <a:pt x="1571" y="1380"/>
                        </a:cubicBezTo>
                        <a:cubicBezTo>
                          <a:pt x="1571" y="1528"/>
                          <a:pt x="1571" y="1528"/>
                          <a:pt x="1571" y="1528"/>
                        </a:cubicBezTo>
                        <a:cubicBezTo>
                          <a:pt x="1571" y="1543"/>
                          <a:pt x="1579" y="1558"/>
                          <a:pt x="1593" y="1566"/>
                        </a:cubicBezTo>
                        <a:cubicBezTo>
                          <a:pt x="1723" y="1643"/>
                          <a:pt x="1723" y="1643"/>
                          <a:pt x="1723" y="1643"/>
                        </a:cubicBezTo>
                        <a:cubicBezTo>
                          <a:pt x="1730" y="1647"/>
                          <a:pt x="1737" y="1649"/>
                          <a:pt x="1745" y="1649"/>
                        </a:cubicBezTo>
                        <a:cubicBezTo>
                          <a:pt x="1753" y="1649"/>
                          <a:pt x="1760" y="1647"/>
                          <a:pt x="1767" y="1643"/>
                        </a:cubicBezTo>
                        <a:cubicBezTo>
                          <a:pt x="1898" y="1566"/>
                          <a:pt x="1898" y="1566"/>
                          <a:pt x="1898" y="1566"/>
                        </a:cubicBezTo>
                        <a:cubicBezTo>
                          <a:pt x="1912" y="1558"/>
                          <a:pt x="1920" y="1544"/>
                          <a:pt x="1920" y="1528"/>
                        </a:cubicBezTo>
                        <a:cubicBezTo>
                          <a:pt x="1920" y="1377"/>
                          <a:pt x="1920" y="1377"/>
                          <a:pt x="1920" y="1377"/>
                        </a:cubicBezTo>
                        <a:cubicBezTo>
                          <a:pt x="1920" y="1361"/>
                          <a:pt x="1912" y="1346"/>
                          <a:pt x="1898" y="1339"/>
                        </a:cubicBezTo>
                        <a:close/>
                        <a:moveTo>
                          <a:pt x="1876" y="1528"/>
                        </a:moveTo>
                        <a:cubicBezTo>
                          <a:pt x="1745" y="1605"/>
                          <a:pt x="1745" y="1605"/>
                          <a:pt x="1745" y="1605"/>
                        </a:cubicBezTo>
                        <a:cubicBezTo>
                          <a:pt x="1615" y="1528"/>
                          <a:pt x="1615" y="1528"/>
                          <a:pt x="1615" y="1528"/>
                        </a:cubicBezTo>
                        <a:cubicBezTo>
                          <a:pt x="1615" y="1377"/>
                          <a:pt x="1615" y="1377"/>
                          <a:pt x="1615" y="1377"/>
                        </a:cubicBezTo>
                        <a:cubicBezTo>
                          <a:pt x="1745" y="1303"/>
                          <a:pt x="1745" y="1303"/>
                          <a:pt x="1745" y="1303"/>
                        </a:cubicBezTo>
                        <a:cubicBezTo>
                          <a:pt x="1876" y="1377"/>
                          <a:pt x="1876" y="1377"/>
                          <a:pt x="1876" y="1377"/>
                        </a:cubicBezTo>
                        <a:lnTo>
                          <a:pt x="1876" y="1528"/>
                        </a:lnTo>
                        <a:close/>
                        <a:moveTo>
                          <a:pt x="1123" y="1805"/>
                        </a:moveTo>
                        <a:cubicBezTo>
                          <a:pt x="995" y="1735"/>
                          <a:pt x="995" y="1735"/>
                          <a:pt x="995" y="1735"/>
                        </a:cubicBezTo>
                        <a:cubicBezTo>
                          <a:pt x="995" y="1693"/>
                          <a:pt x="995" y="1693"/>
                          <a:pt x="995" y="1693"/>
                        </a:cubicBezTo>
                        <a:cubicBezTo>
                          <a:pt x="970" y="1696"/>
                          <a:pt x="970" y="1696"/>
                          <a:pt x="970" y="1696"/>
                        </a:cubicBezTo>
                        <a:cubicBezTo>
                          <a:pt x="951" y="1666"/>
                          <a:pt x="951" y="1666"/>
                          <a:pt x="951" y="1666"/>
                        </a:cubicBezTo>
                        <a:cubicBezTo>
                          <a:pt x="951" y="1735"/>
                          <a:pt x="951" y="1735"/>
                          <a:pt x="951" y="1735"/>
                        </a:cubicBezTo>
                        <a:cubicBezTo>
                          <a:pt x="819" y="1804"/>
                          <a:pt x="819" y="1804"/>
                          <a:pt x="819" y="1804"/>
                        </a:cubicBezTo>
                        <a:cubicBezTo>
                          <a:pt x="805" y="1812"/>
                          <a:pt x="796" y="1827"/>
                          <a:pt x="796" y="1843"/>
                        </a:cubicBezTo>
                        <a:cubicBezTo>
                          <a:pt x="796" y="1996"/>
                          <a:pt x="796" y="1996"/>
                          <a:pt x="796" y="1996"/>
                        </a:cubicBezTo>
                        <a:cubicBezTo>
                          <a:pt x="796" y="2012"/>
                          <a:pt x="805" y="2026"/>
                          <a:pt x="819" y="2034"/>
                        </a:cubicBezTo>
                        <a:cubicBezTo>
                          <a:pt x="952" y="2108"/>
                          <a:pt x="952" y="2108"/>
                          <a:pt x="952" y="2108"/>
                        </a:cubicBezTo>
                        <a:cubicBezTo>
                          <a:pt x="959" y="2111"/>
                          <a:pt x="966" y="2113"/>
                          <a:pt x="973" y="2113"/>
                        </a:cubicBezTo>
                        <a:cubicBezTo>
                          <a:pt x="981" y="2113"/>
                          <a:pt x="989" y="2111"/>
                          <a:pt x="995" y="2107"/>
                        </a:cubicBezTo>
                        <a:cubicBezTo>
                          <a:pt x="1124" y="2033"/>
                          <a:pt x="1124" y="2033"/>
                          <a:pt x="1124" y="2033"/>
                        </a:cubicBezTo>
                        <a:cubicBezTo>
                          <a:pt x="1138" y="2025"/>
                          <a:pt x="1146" y="2011"/>
                          <a:pt x="1146" y="1995"/>
                        </a:cubicBezTo>
                        <a:cubicBezTo>
                          <a:pt x="1146" y="1844"/>
                          <a:pt x="1146" y="1844"/>
                          <a:pt x="1146" y="1844"/>
                        </a:cubicBezTo>
                        <a:cubicBezTo>
                          <a:pt x="1146" y="1828"/>
                          <a:pt x="1137" y="1813"/>
                          <a:pt x="1123" y="1805"/>
                        </a:cubicBezTo>
                        <a:close/>
                        <a:moveTo>
                          <a:pt x="1102" y="1995"/>
                        </a:moveTo>
                        <a:cubicBezTo>
                          <a:pt x="973" y="2069"/>
                          <a:pt x="973" y="2069"/>
                          <a:pt x="973" y="2069"/>
                        </a:cubicBezTo>
                        <a:cubicBezTo>
                          <a:pt x="840" y="1996"/>
                          <a:pt x="840" y="1996"/>
                          <a:pt x="840" y="1996"/>
                        </a:cubicBezTo>
                        <a:cubicBezTo>
                          <a:pt x="840" y="1843"/>
                          <a:pt x="840" y="1843"/>
                          <a:pt x="840" y="1843"/>
                        </a:cubicBezTo>
                        <a:cubicBezTo>
                          <a:pt x="973" y="1773"/>
                          <a:pt x="973" y="1773"/>
                          <a:pt x="973" y="1773"/>
                        </a:cubicBezTo>
                        <a:cubicBezTo>
                          <a:pt x="1102" y="1844"/>
                          <a:pt x="1102" y="1844"/>
                          <a:pt x="1102" y="1844"/>
                        </a:cubicBezTo>
                        <a:lnTo>
                          <a:pt x="1102" y="1995"/>
                        </a:lnTo>
                        <a:close/>
                      </a:path>
                    </a:pathLst>
                  </a:custGeom>
                  <a:solidFill>
                    <a:schemeClr val="accent1"/>
                  </a:solidFill>
                  <a:ln>
                    <a:noFill/>
                  </a:ln>
                </p:spPr>
                <p:txBody>
                  <a:bodyPr vert="horz" wrap="square" lIns="78181" tIns="39091" rIns="78181" bIns="39091" numCol="1" anchor="t" anchorCtr="0" compatLnSpc="1">
                    <a:prstTxWarp prst="textNoShape">
                      <a:avLst/>
                    </a:prstTxWarp>
                  </a:bodyPr>
                  <a:lstStyle/>
                  <a:p>
                    <a:endParaRPr lang="es-CL"/>
                  </a:p>
                </p:txBody>
              </p:sp>
              <p:sp>
                <p:nvSpPr>
                  <p:cNvPr id="39" name="Freeform 157"/>
                  <p:cNvSpPr>
                    <a:spLocks/>
                  </p:cNvSpPr>
                  <p:nvPr/>
                </p:nvSpPr>
                <p:spPr bwMode="auto">
                  <a:xfrm>
                    <a:off x="1305036" y="1961655"/>
                    <a:ext cx="1260557" cy="1373349"/>
                  </a:xfrm>
                  <a:custGeom>
                    <a:avLst/>
                    <a:gdLst>
                      <a:gd name="T0" fmla="*/ 0 w 1766"/>
                      <a:gd name="T1" fmla="*/ 513 h 1924"/>
                      <a:gd name="T2" fmla="*/ 173 w 1766"/>
                      <a:gd name="T3" fmla="*/ 615 h 1924"/>
                      <a:gd name="T4" fmla="*/ 1571 w 1766"/>
                      <a:gd name="T5" fmla="*/ 1408 h 1924"/>
                      <a:gd name="T6" fmla="*/ 1744 w 1766"/>
                      <a:gd name="T7" fmla="*/ 1308 h 1924"/>
                      <a:gd name="T8" fmla="*/ 970 w 1766"/>
                      <a:gd name="T9" fmla="*/ 149 h 1924"/>
                      <a:gd name="T10" fmla="*/ 796 w 1766"/>
                      <a:gd name="T11" fmla="*/ 49 h 1924"/>
                      <a:gd name="T12" fmla="*/ 970 w 1766"/>
                      <a:gd name="T13" fmla="*/ 149 h 1924"/>
                      <a:gd name="T14" fmla="*/ 1593 w 1766"/>
                      <a:gd name="T15" fmla="*/ 615 h 1924"/>
                      <a:gd name="T16" fmla="*/ 1766 w 1766"/>
                      <a:gd name="T17" fmla="*/ 513 h 1924"/>
                      <a:gd name="T18" fmla="*/ 21 w 1766"/>
                      <a:gd name="T19" fmla="*/ 1408 h 1924"/>
                      <a:gd name="T20" fmla="*/ 195 w 1766"/>
                      <a:gd name="T21" fmla="*/ 1308 h 1924"/>
                      <a:gd name="T22" fmla="*/ 882 w 1766"/>
                      <a:gd name="T23" fmla="*/ 763 h 1924"/>
                      <a:gd name="T24" fmla="*/ 1078 w 1766"/>
                      <a:gd name="T25" fmla="*/ 962 h 1924"/>
                      <a:gd name="T26" fmla="*/ 796 w 1766"/>
                      <a:gd name="T27" fmla="*/ 1875 h 1924"/>
                      <a:gd name="T28" fmla="*/ 970 w 1766"/>
                      <a:gd name="T29" fmla="*/ 1775 h 1924"/>
                      <a:gd name="T30" fmla="*/ 1468 w 1766"/>
                      <a:gd name="T31" fmla="*/ 942 h 1924"/>
                      <a:gd name="T32" fmla="*/ 1464 w 1766"/>
                      <a:gd name="T33" fmla="*/ 1040 h 1924"/>
                      <a:gd name="T34" fmla="*/ 1385 w 1766"/>
                      <a:gd name="T35" fmla="*/ 1264 h 1924"/>
                      <a:gd name="T36" fmla="*/ 1335 w 1766"/>
                      <a:gd name="T37" fmla="*/ 1335 h 1924"/>
                      <a:gd name="T38" fmla="*/ 1172 w 1766"/>
                      <a:gd name="T39" fmla="*/ 1365 h 1924"/>
                      <a:gd name="T40" fmla="*/ 1054 w 1766"/>
                      <a:gd name="T41" fmla="*/ 1529 h 1924"/>
                      <a:gd name="T42" fmla="*/ 905 w 1766"/>
                      <a:gd name="T43" fmla="*/ 1554 h 1924"/>
                      <a:gd name="T44" fmla="*/ 767 w 1766"/>
                      <a:gd name="T45" fmla="*/ 1438 h 1924"/>
                      <a:gd name="T46" fmla="*/ 598 w 1766"/>
                      <a:gd name="T47" fmla="*/ 1479 h 1924"/>
                      <a:gd name="T48" fmla="*/ 542 w 1766"/>
                      <a:gd name="T49" fmla="*/ 1444 h 1924"/>
                      <a:gd name="T50" fmla="*/ 483 w 1766"/>
                      <a:gd name="T51" fmla="*/ 1251 h 1924"/>
                      <a:gd name="T52" fmla="*/ 337 w 1766"/>
                      <a:gd name="T53" fmla="*/ 1172 h 1924"/>
                      <a:gd name="T54" fmla="*/ 334 w 1766"/>
                      <a:gd name="T55" fmla="*/ 1161 h 1924"/>
                      <a:gd name="T56" fmla="*/ 389 w 1766"/>
                      <a:gd name="T57" fmla="*/ 1019 h 1924"/>
                      <a:gd name="T58" fmla="*/ 315 w 1766"/>
                      <a:gd name="T59" fmla="*/ 829 h 1924"/>
                      <a:gd name="T60" fmla="*/ 358 w 1766"/>
                      <a:gd name="T61" fmla="*/ 706 h 1924"/>
                      <a:gd name="T62" fmla="*/ 535 w 1766"/>
                      <a:gd name="T63" fmla="*/ 612 h 1924"/>
                      <a:gd name="T64" fmla="*/ 572 w 1766"/>
                      <a:gd name="T65" fmla="*/ 461 h 1924"/>
                      <a:gd name="T66" fmla="*/ 665 w 1766"/>
                      <a:gd name="T67" fmla="*/ 411 h 1924"/>
                      <a:gd name="T68" fmla="*/ 893 w 1766"/>
                      <a:gd name="T69" fmla="*/ 367 h 1924"/>
                      <a:gd name="T70" fmla="*/ 1043 w 1766"/>
                      <a:gd name="T71" fmla="*/ 389 h 1924"/>
                      <a:gd name="T72" fmla="*/ 1153 w 1766"/>
                      <a:gd name="T73" fmla="*/ 554 h 1924"/>
                      <a:gd name="T74" fmla="*/ 1328 w 1766"/>
                      <a:gd name="T75" fmla="*/ 574 h 1924"/>
                      <a:gd name="T76" fmla="*/ 1327 w 1766"/>
                      <a:gd name="T77" fmla="*/ 742 h 1924"/>
                      <a:gd name="T78" fmla="*/ 1465 w 1766"/>
                      <a:gd name="T79" fmla="*/ 888 h 1924"/>
                      <a:gd name="T80" fmla="*/ 1468 w 1766"/>
                      <a:gd name="T81" fmla="*/ 942 h 1924"/>
                      <a:gd name="T82" fmla="*/ 825 w 1766"/>
                      <a:gd name="T83" fmla="*/ 1330 h 1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66" h="1924">
                        <a:moveTo>
                          <a:pt x="86" y="664"/>
                        </a:moveTo>
                        <a:cubicBezTo>
                          <a:pt x="86" y="664"/>
                          <a:pt x="86" y="664"/>
                          <a:pt x="0" y="615"/>
                        </a:cubicBezTo>
                        <a:cubicBezTo>
                          <a:pt x="0" y="615"/>
                          <a:pt x="0" y="615"/>
                          <a:pt x="0" y="513"/>
                        </a:cubicBezTo>
                        <a:cubicBezTo>
                          <a:pt x="0" y="513"/>
                          <a:pt x="0" y="513"/>
                          <a:pt x="86" y="464"/>
                        </a:cubicBezTo>
                        <a:cubicBezTo>
                          <a:pt x="86" y="464"/>
                          <a:pt x="86" y="464"/>
                          <a:pt x="173" y="513"/>
                        </a:cubicBezTo>
                        <a:cubicBezTo>
                          <a:pt x="173" y="513"/>
                          <a:pt x="173" y="513"/>
                          <a:pt x="173" y="615"/>
                        </a:cubicBezTo>
                        <a:lnTo>
                          <a:pt x="86" y="664"/>
                        </a:lnTo>
                        <a:close/>
                        <a:moveTo>
                          <a:pt x="1571" y="1308"/>
                        </a:moveTo>
                        <a:cubicBezTo>
                          <a:pt x="1571" y="1408"/>
                          <a:pt x="1571" y="1408"/>
                          <a:pt x="1571" y="1408"/>
                        </a:cubicBezTo>
                        <a:cubicBezTo>
                          <a:pt x="1657" y="1459"/>
                          <a:pt x="1657" y="1459"/>
                          <a:pt x="1657" y="1459"/>
                        </a:cubicBezTo>
                        <a:cubicBezTo>
                          <a:pt x="1744" y="1408"/>
                          <a:pt x="1744" y="1408"/>
                          <a:pt x="1744" y="1408"/>
                        </a:cubicBezTo>
                        <a:cubicBezTo>
                          <a:pt x="1744" y="1308"/>
                          <a:pt x="1744" y="1308"/>
                          <a:pt x="1744" y="1308"/>
                        </a:cubicBezTo>
                        <a:cubicBezTo>
                          <a:pt x="1657" y="1259"/>
                          <a:pt x="1657" y="1259"/>
                          <a:pt x="1657" y="1259"/>
                        </a:cubicBezTo>
                        <a:lnTo>
                          <a:pt x="1571" y="1308"/>
                        </a:lnTo>
                        <a:close/>
                        <a:moveTo>
                          <a:pt x="970" y="149"/>
                        </a:moveTo>
                        <a:cubicBezTo>
                          <a:pt x="970" y="49"/>
                          <a:pt x="970" y="49"/>
                          <a:pt x="970" y="49"/>
                        </a:cubicBezTo>
                        <a:cubicBezTo>
                          <a:pt x="885" y="0"/>
                          <a:pt x="885" y="0"/>
                          <a:pt x="885" y="0"/>
                        </a:cubicBezTo>
                        <a:cubicBezTo>
                          <a:pt x="796" y="49"/>
                          <a:pt x="796" y="49"/>
                          <a:pt x="796" y="49"/>
                        </a:cubicBezTo>
                        <a:cubicBezTo>
                          <a:pt x="796" y="149"/>
                          <a:pt x="796" y="149"/>
                          <a:pt x="796" y="149"/>
                        </a:cubicBezTo>
                        <a:cubicBezTo>
                          <a:pt x="885" y="196"/>
                          <a:pt x="885" y="196"/>
                          <a:pt x="885" y="196"/>
                        </a:cubicBezTo>
                        <a:lnTo>
                          <a:pt x="970" y="149"/>
                        </a:lnTo>
                        <a:close/>
                        <a:moveTo>
                          <a:pt x="1679" y="464"/>
                        </a:moveTo>
                        <a:cubicBezTo>
                          <a:pt x="1593" y="513"/>
                          <a:pt x="1593" y="513"/>
                          <a:pt x="1593" y="513"/>
                        </a:cubicBezTo>
                        <a:cubicBezTo>
                          <a:pt x="1593" y="615"/>
                          <a:pt x="1593" y="615"/>
                          <a:pt x="1593" y="615"/>
                        </a:cubicBezTo>
                        <a:cubicBezTo>
                          <a:pt x="1679" y="664"/>
                          <a:pt x="1679" y="664"/>
                          <a:pt x="1679" y="664"/>
                        </a:cubicBezTo>
                        <a:cubicBezTo>
                          <a:pt x="1766" y="615"/>
                          <a:pt x="1766" y="615"/>
                          <a:pt x="1766" y="615"/>
                        </a:cubicBezTo>
                        <a:cubicBezTo>
                          <a:pt x="1766" y="513"/>
                          <a:pt x="1766" y="513"/>
                          <a:pt x="1766" y="513"/>
                        </a:cubicBezTo>
                        <a:lnTo>
                          <a:pt x="1679" y="464"/>
                        </a:lnTo>
                        <a:close/>
                        <a:moveTo>
                          <a:pt x="21" y="1308"/>
                        </a:moveTo>
                        <a:cubicBezTo>
                          <a:pt x="21" y="1408"/>
                          <a:pt x="21" y="1408"/>
                          <a:pt x="21" y="1408"/>
                        </a:cubicBezTo>
                        <a:cubicBezTo>
                          <a:pt x="108" y="1459"/>
                          <a:pt x="108" y="1459"/>
                          <a:pt x="108" y="1459"/>
                        </a:cubicBezTo>
                        <a:cubicBezTo>
                          <a:pt x="195" y="1408"/>
                          <a:pt x="195" y="1408"/>
                          <a:pt x="195" y="1408"/>
                        </a:cubicBezTo>
                        <a:cubicBezTo>
                          <a:pt x="195" y="1308"/>
                          <a:pt x="195" y="1308"/>
                          <a:pt x="195" y="1308"/>
                        </a:cubicBezTo>
                        <a:cubicBezTo>
                          <a:pt x="108" y="1259"/>
                          <a:pt x="108" y="1259"/>
                          <a:pt x="108" y="1259"/>
                        </a:cubicBezTo>
                        <a:lnTo>
                          <a:pt x="21" y="1308"/>
                        </a:lnTo>
                        <a:close/>
                        <a:moveTo>
                          <a:pt x="882" y="763"/>
                        </a:moveTo>
                        <a:cubicBezTo>
                          <a:pt x="775" y="763"/>
                          <a:pt x="688" y="852"/>
                          <a:pt x="688" y="962"/>
                        </a:cubicBezTo>
                        <a:cubicBezTo>
                          <a:pt x="688" y="1071"/>
                          <a:pt x="775" y="1160"/>
                          <a:pt x="882" y="1160"/>
                        </a:cubicBezTo>
                        <a:cubicBezTo>
                          <a:pt x="990" y="1160"/>
                          <a:pt x="1078" y="1071"/>
                          <a:pt x="1078" y="962"/>
                        </a:cubicBezTo>
                        <a:cubicBezTo>
                          <a:pt x="1078" y="852"/>
                          <a:pt x="990" y="763"/>
                          <a:pt x="882" y="763"/>
                        </a:cubicBezTo>
                        <a:close/>
                        <a:moveTo>
                          <a:pt x="796" y="1775"/>
                        </a:moveTo>
                        <a:cubicBezTo>
                          <a:pt x="796" y="1875"/>
                          <a:pt x="796" y="1875"/>
                          <a:pt x="796" y="1875"/>
                        </a:cubicBezTo>
                        <a:cubicBezTo>
                          <a:pt x="885" y="1924"/>
                          <a:pt x="885" y="1924"/>
                          <a:pt x="885" y="1924"/>
                        </a:cubicBezTo>
                        <a:cubicBezTo>
                          <a:pt x="970" y="1875"/>
                          <a:pt x="970" y="1875"/>
                          <a:pt x="970" y="1875"/>
                        </a:cubicBezTo>
                        <a:cubicBezTo>
                          <a:pt x="970" y="1775"/>
                          <a:pt x="970" y="1775"/>
                          <a:pt x="970" y="1775"/>
                        </a:cubicBezTo>
                        <a:cubicBezTo>
                          <a:pt x="885" y="1728"/>
                          <a:pt x="885" y="1728"/>
                          <a:pt x="885" y="1728"/>
                        </a:cubicBezTo>
                        <a:lnTo>
                          <a:pt x="796" y="1775"/>
                        </a:lnTo>
                        <a:close/>
                        <a:moveTo>
                          <a:pt x="1468" y="942"/>
                        </a:moveTo>
                        <a:cubicBezTo>
                          <a:pt x="1468" y="942"/>
                          <a:pt x="1468" y="942"/>
                          <a:pt x="1469" y="953"/>
                        </a:cubicBezTo>
                        <a:cubicBezTo>
                          <a:pt x="1469" y="954"/>
                          <a:pt x="1469" y="987"/>
                          <a:pt x="1466" y="1017"/>
                        </a:cubicBezTo>
                        <a:cubicBezTo>
                          <a:pt x="1466" y="1017"/>
                          <a:pt x="1466" y="1017"/>
                          <a:pt x="1464" y="1040"/>
                        </a:cubicBezTo>
                        <a:cubicBezTo>
                          <a:pt x="1464" y="1040"/>
                          <a:pt x="1464" y="1040"/>
                          <a:pt x="1370" y="1078"/>
                        </a:cubicBezTo>
                        <a:cubicBezTo>
                          <a:pt x="1363" y="1111"/>
                          <a:pt x="1351" y="1144"/>
                          <a:pt x="1335" y="1175"/>
                        </a:cubicBezTo>
                        <a:cubicBezTo>
                          <a:pt x="1335" y="1175"/>
                          <a:pt x="1335" y="1175"/>
                          <a:pt x="1385" y="1264"/>
                        </a:cubicBezTo>
                        <a:cubicBezTo>
                          <a:pt x="1385" y="1264"/>
                          <a:pt x="1385" y="1264"/>
                          <a:pt x="1374" y="1281"/>
                        </a:cubicBezTo>
                        <a:cubicBezTo>
                          <a:pt x="1357" y="1309"/>
                          <a:pt x="1336" y="1334"/>
                          <a:pt x="1336" y="1335"/>
                        </a:cubicBezTo>
                        <a:cubicBezTo>
                          <a:pt x="1336" y="1335"/>
                          <a:pt x="1336" y="1335"/>
                          <a:pt x="1335" y="1335"/>
                        </a:cubicBezTo>
                        <a:cubicBezTo>
                          <a:pt x="1329" y="1344"/>
                          <a:pt x="1316" y="1359"/>
                          <a:pt x="1292" y="1384"/>
                        </a:cubicBezTo>
                        <a:cubicBezTo>
                          <a:pt x="1292" y="1384"/>
                          <a:pt x="1292" y="1384"/>
                          <a:pt x="1276" y="1400"/>
                        </a:cubicBezTo>
                        <a:cubicBezTo>
                          <a:pt x="1276" y="1400"/>
                          <a:pt x="1276" y="1400"/>
                          <a:pt x="1172" y="1365"/>
                        </a:cubicBezTo>
                        <a:cubicBezTo>
                          <a:pt x="1145" y="1383"/>
                          <a:pt x="1120" y="1397"/>
                          <a:pt x="1095" y="1408"/>
                        </a:cubicBezTo>
                        <a:cubicBezTo>
                          <a:pt x="1095" y="1408"/>
                          <a:pt x="1095" y="1408"/>
                          <a:pt x="1076" y="1522"/>
                        </a:cubicBezTo>
                        <a:cubicBezTo>
                          <a:pt x="1076" y="1522"/>
                          <a:pt x="1076" y="1522"/>
                          <a:pt x="1054" y="1529"/>
                        </a:cubicBezTo>
                        <a:cubicBezTo>
                          <a:pt x="1019" y="1538"/>
                          <a:pt x="1000" y="1542"/>
                          <a:pt x="990" y="1543"/>
                        </a:cubicBezTo>
                        <a:cubicBezTo>
                          <a:pt x="989" y="1544"/>
                          <a:pt x="958" y="1549"/>
                          <a:pt x="927" y="1552"/>
                        </a:cubicBezTo>
                        <a:cubicBezTo>
                          <a:pt x="927" y="1552"/>
                          <a:pt x="927" y="1552"/>
                          <a:pt x="905" y="1554"/>
                        </a:cubicBezTo>
                        <a:cubicBezTo>
                          <a:pt x="905" y="1554"/>
                          <a:pt x="905" y="1554"/>
                          <a:pt x="841" y="1451"/>
                        </a:cubicBezTo>
                        <a:cubicBezTo>
                          <a:pt x="829" y="1449"/>
                          <a:pt x="818" y="1448"/>
                          <a:pt x="805" y="1445"/>
                        </a:cubicBezTo>
                        <a:cubicBezTo>
                          <a:pt x="793" y="1444"/>
                          <a:pt x="780" y="1441"/>
                          <a:pt x="767" y="1438"/>
                        </a:cubicBezTo>
                        <a:cubicBezTo>
                          <a:pt x="767" y="1438"/>
                          <a:pt x="767" y="1438"/>
                          <a:pt x="675" y="1517"/>
                        </a:cubicBezTo>
                        <a:cubicBezTo>
                          <a:pt x="675" y="1517"/>
                          <a:pt x="675" y="1517"/>
                          <a:pt x="654" y="1507"/>
                        </a:cubicBezTo>
                        <a:cubicBezTo>
                          <a:pt x="627" y="1495"/>
                          <a:pt x="598" y="1480"/>
                          <a:pt x="598" y="1479"/>
                        </a:cubicBezTo>
                        <a:cubicBezTo>
                          <a:pt x="598" y="1479"/>
                          <a:pt x="598" y="1479"/>
                          <a:pt x="597" y="1479"/>
                        </a:cubicBezTo>
                        <a:cubicBezTo>
                          <a:pt x="597" y="1479"/>
                          <a:pt x="597" y="1479"/>
                          <a:pt x="596" y="1478"/>
                        </a:cubicBezTo>
                        <a:cubicBezTo>
                          <a:pt x="595" y="1477"/>
                          <a:pt x="568" y="1461"/>
                          <a:pt x="542" y="1444"/>
                        </a:cubicBezTo>
                        <a:cubicBezTo>
                          <a:pt x="542" y="1444"/>
                          <a:pt x="542" y="1444"/>
                          <a:pt x="523" y="1431"/>
                        </a:cubicBezTo>
                        <a:cubicBezTo>
                          <a:pt x="523" y="1431"/>
                          <a:pt x="523" y="1431"/>
                          <a:pt x="541" y="1317"/>
                        </a:cubicBezTo>
                        <a:cubicBezTo>
                          <a:pt x="518" y="1295"/>
                          <a:pt x="500" y="1274"/>
                          <a:pt x="483" y="1251"/>
                        </a:cubicBezTo>
                        <a:cubicBezTo>
                          <a:pt x="483" y="1251"/>
                          <a:pt x="483" y="1251"/>
                          <a:pt x="372" y="1252"/>
                        </a:cubicBezTo>
                        <a:cubicBezTo>
                          <a:pt x="372" y="1252"/>
                          <a:pt x="372" y="1252"/>
                          <a:pt x="362" y="1232"/>
                        </a:cubicBezTo>
                        <a:cubicBezTo>
                          <a:pt x="349" y="1203"/>
                          <a:pt x="338" y="1173"/>
                          <a:pt x="337" y="1172"/>
                        </a:cubicBezTo>
                        <a:cubicBezTo>
                          <a:pt x="337" y="1172"/>
                          <a:pt x="337" y="1172"/>
                          <a:pt x="334" y="1163"/>
                        </a:cubicBezTo>
                        <a:cubicBezTo>
                          <a:pt x="334" y="1163"/>
                          <a:pt x="334" y="1163"/>
                          <a:pt x="334" y="1162"/>
                        </a:cubicBezTo>
                        <a:cubicBezTo>
                          <a:pt x="334" y="1162"/>
                          <a:pt x="334" y="1162"/>
                          <a:pt x="334" y="1161"/>
                        </a:cubicBezTo>
                        <a:cubicBezTo>
                          <a:pt x="329" y="1150"/>
                          <a:pt x="323" y="1130"/>
                          <a:pt x="317" y="1110"/>
                        </a:cubicBezTo>
                        <a:cubicBezTo>
                          <a:pt x="317" y="1110"/>
                          <a:pt x="317" y="1110"/>
                          <a:pt x="311" y="1089"/>
                        </a:cubicBezTo>
                        <a:cubicBezTo>
                          <a:pt x="311" y="1089"/>
                          <a:pt x="311" y="1089"/>
                          <a:pt x="389" y="1019"/>
                        </a:cubicBezTo>
                        <a:cubicBezTo>
                          <a:pt x="384" y="985"/>
                          <a:pt x="384" y="951"/>
                          <a:pt x="387" y="917"/>
                        </a:cubicBezTo>
                        <a:cubicBezTo>
                          <a:pt x="387" y="917"/>
                          <a:pt x="387" y="917"/>
                          <a:pt x="308" y="851"/>
                        </a:cubicBezTo>
                        <a:cubicBezTo>
                          <a:pt x="308" y="851"/>
                          <a:pt x="308" y="851"/>
                          <a:pt x="315" y="829"/>
                        </a:cubicBezTo>
                        <a:cubicBezTo>
                          <a:pt x="321" y="804"/>
                          <a:pt x="329" y="779"/>
                          <a:pt x="332" y="769"/>
                        </a:cubicBezTo>
                        <a:cubicBezTo>
                          <a:pt x="334" y="767"/>
                          <a:pt x="334" y="767"/>
                          <a:pt x="334" y="767"/>
                        </a:cubicBezTo>
                        <a:cubicBezTo>
                          <a:pt x="334" y="765"/>
                          <a:pt x="344" y="734"/>
                          <a:pt x="358" y="706"/>
                        </a:cubicBezTo>
                        <a:cubicBezTo>
                          <a:pt x="358" y="706"/>
                          <a:pt x="358" y="706"/>
                          <a:pt x="366" y="686"/>
                        </a:cubicBezTo>
                        <a:cubicBezTo>
                          <a:pt x="366" y="686"/>
                          <a:pt x="366" y="686"/>
                          <a:pt x="474" y="683"/>
                        </a:cubicBezTo>
                        <a:cubicBezTo>
                          <a:pt x="494" y="655"/>
                          <a:pt x="514" y="632"/>
                          <a:pt x="535" y="612"/>
                        </a:cubicBezTo>
                        <a:cubicBezTo>
                          <a:pt x="535" y="612"/>
                          <a:pt x="535" y="612"/>
                          <a:pt x="515" y="502"/>
                        </a:cubicBezTo>
                        <a:cubicBezTo>
                          <a:pt x="515" y="502"/>
                          <a:pt x="515" y="502"/>
                          <a:pt x="533" y="489"/>
                        </a:cubicBezTo>
                        <a:cubicBezTo>
                          <a:pt x="547" y="478"/>
                          <a:pt x="562" y="469"/>
                          <a:pt x="572" y="461"/>
                        </a:cubicBezTo>
                        <a:cubicBezTo>
                          <a:pt x="572" y="461"/>
                          <a:pt x="572" y="461"/>
                          <a:pt x="599" y="445"/>
                        </a:cubicBezTo>
                        <a:cubicBezTo>
                          <a:pt x="610" y="439"/>
                          <a:pt x="626" y="430"/>
                          <a:pt x="644" y="421"/>
                        </a:cubicBezTo>
                        <a:cubicBezTo>
                          <a:pt x="644" y="421"/>
                          <a:pt x="644" y="421"/>
                          <a:pt x="665" y="411"/>
                        </a:cubicBezTo>
                        <a:cubicBezTo>
                          <a:pt x="665" y="411"/>
                          <a:pt x="665" y="411"/>
                          <a:pt x="759" y="489"/>
                        </a:cubicBezTo>
                        <a:cubicBezTo>
                          <a:pt x="784" y="484"/>
                          <a:pt x="808" y="480"/>
                          <a:pt x="831" y="477"/>
                        </a:cubicBezTo>
                        <a:cubicBezTo>
                          <a:pt x="831" y="477"/>
                          <a:pt x="831" y="477"/>
                          <a:pt x="893" y="367"/>
                        </a:cubicBezTo>
                        <a:cubicBezTo>
                          <a:pt x="893" y="367"/>
                          <a:pt x="893" y="367"/>
                          <a:pt x="916" y="368"/>
                        </a:cubicBezTo>
                        <a:cubicBezTo>
                          <a:pt x="947" y="371"/>
                          <a:pt x="978" y="376"/>
                          <a:pt x="980" y="376"/>
                        </a:cubicBezTo>
                        <a:cubicBezTo>
                          <a:pt x="983" y="377"/>
                          <a:pt x="1013" y="382"/>
                          <a:pt x="1043" y="389"/>
                        </a:cubicBezTo>
                        <a:cubicBezTo>
                          <a:pt x="1043" y="389"/>
                          <a:pt x="1043" y="389"/>
                          <a:pt x="1064" y="395"/>
                        </a:cubicBezTo>
                        <a:cubicBezTo>
                          <a:pt x="1064" y="395"/>
                          <a:pt x="1064" y="395"/>
                          <a:pt x="1089" y="519"/>
                        </a:cubicBezTo>
                        <a:cubicBezTo>
                          <a:pt x="1111" y="529"/>
                          <a:pt x="1132" y="541"/>
                          <a:pt x="1153" y="554"/>
                        </a:cubicBezTo>
                        <a:cubicBezTo>
                          <a:pt x="1153" y="554"/>
                          <a:pt x="1153" y="554"/>
                          <a:pt x="1268" y="511"/>
                        </a:cubicBezTo>
                        <a:cubicBezTo>
                          <a:pt x="1268" y="511"/>
                          <a:pt x="1268" y="511"/>
                          <a:pt x="1284" y="527"/>
                        </a:cubicBezTo>
                        <a:cubicBezTo>
                          <a:pt x="1305" y="547"/>
                          <a:pt x="1326" y="571"/>
                          <a:pt x="1328" y="574"/>
                        </a:cubicBezTo>
                        <a:cubicBezTo>
                          <a:pt x="1331" y="578"/>
                          <a:pt x="1351" y="601"/>
                          <a:pt x="1368" y="626"/>
                        </a:cubicBezTo>
                        <a:cubicBezTo>
                          <a:pt x="1368" y="626"/>
                          <a:pt x="1368" y="626"/>
                          <a:pt x="1380" y="644"/>
                        </a:cubicBezTo>
                        <a:cubicBezTo>
                          <a:pt x="1380" y="644"/>
                          <a:pt x="1380" y="644"/>
                          <a:pt x="1327" y="742"/>
                        </a:cubicBezTo>
                        <a:cubicBezTo>
                          <a:pt x="1342" y="771"/>
                          <a:pt x="1354" y="799"/>
                          <a:pt x="1362" y="829"/>
                        </a:cubicBezTo>
                        <a:cubicBezTo>
                          <a:pt x="1362" y="829"/>
                          <a:pt x="1362" y="829"/>
                          <a:pt x="1462" y="866"/>
                        </a:cubicBezTo>
                        <a:cubicBezTo>
                          <a:pt x="1462" y="866"/>
                          <a:pt x="1462" y="866"/>
                          <a:pt x="1465" y="888"/>
                        </a:cubicBezTo>
                        <a:cubicBezTo>
                          <a:pt x="1467" y="907"/>
                          <a:pt x="1467" y="927"/>
                          <a:pt x="1468" y="939"/>
                        </a:cubicBezTo>
                        <a:cubicBezTo>
                          <a:pt x="1468" y="940"/>
                          <a:pt x="1467" y="941"/>
                          <a:pt x="1467" y="941"/>
                        </a:cubicBezTo>
                        <a:cubicBezTo>
                          <a:pt x="1467" y="941"/>
                          <a:pt x="1467" y="941"/>
                          <a:pt x="1468" y="942"/>
                        </a:cubicBezTo>
                        <a:close/>
                        <a:moveTo>
                          <a:pt x="947" y="584"/>
                        </a:moveTo>
                        <a:cubicBezTo>
                          <a:pt x="742" y="550"/>
                          <a:pt x="548" y="691"/>
                          <a:pt x="514" y="897"/>
                        </a:cubicBezTo>
                        <a:cubicBezTo>
                          <a:pt x="481" y="1102"/>
                          <a:pt x="620" y="1296"/>
                          <a:pt x="825" y="1330"/>
                        </a:cubicBezTo>
                        <a:cubicBezTo>
                          <a:pt x="1030" y="1364"/>
                          <a:pt x="1225" y="1224"/>
                          <a:pt x="1258" y="1019"/>
                        </a:cubicBezTo>
                        <a:cubicBezTo>
                          <a:pt x="1292" y="813"/>
                          <a:pt x="1152" y="617"/>
                          <a:pt x="947" y="584"/>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sp>
            <p:nvSpPr>
              <p:cNvPr id="40" name="Oval 20"/>
              <p:cNvSpPr>
                <a:spLocks noChangeAspect="1" noChangeArrowheads="1"/>
              </p:cNvSpPr>
              <p:nvPr/>
            </p:nvSpPr>
            <p:spPr bwMode="auto">
              <a:xfrm>
                <a:off x="10316397"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21</a:t>
                </a:r>
              </a:p>
            </p:txBody>
          </p:sp>
        </p:grpSp>
        <p:grpSp>
          <p:nvGrpSpPr>
            <p:cNvPr id="41" name="Grupo 111"/>
            <p:cNvGrpSpPr/>
            <p:nvPr/>
          </p:nvGrpSpPr>
          <p:grpSpPr>
            <a:xfrm>
              <a:off x="2124773" y="5176000"/>
              <a:ext cx="1036959" cy="1122694"/>
              <a:chOff x="2150066" y="4970168"/>
              <a:chExt cx="1036959" cy="1122694"/>
            </a:xfrm>
          </p:grpSpPr>
          <p:grpSp>
            <p:nvGrpSpPr>
              <p:cNvPr id="42" name="bcgIcons_Business optimization "/>
              <p:cNvGrpSpPr>
                <a:grpSpLocks noChangeAspect="1"/>
              </p:cNvGrpSpPr>
              <p:nvPr/>
            </p:nvGrpSpPr>
            <p:grpSpPr>
              <a:xfrm>
                <a:off x="2516446" y="5141091"/>
                <a:ext cx="380413" cy="380413"/>
                <a:chOff x="5273675" y="2606675"/>
                <a:chExt cx="1644650" cy="1644650"/>
              </a:xfrm>
            </p:grpSpPr>
            <p:sp>
              <p:nvSpPr>
                <p:cNvPr id="43" name="AutoShape 3"/>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4" name="Group 46"/>
                <p:cNvGrpSpPr/>
                <p:nvPr/>
              </p:nvGrpSpPr>
              <p:grpSpPr>
                <a:xfrm>
                  <a:off x="5448499" y="2803525"/>
                  <a:ext cx="1295201" cy="1277938"/>
                  <a:chOff x="5448499" y="2803525"/>
                  <a:chExt cx="1295201" cy="1277938"/>
                </a:xfrm>
              </p:grpSpPr>
              <p:sp>
                <p:nvSpPr>
                  <p:cNvPr id="45" name="Freeform 10"/>
                  <p:cNvSpPr>
                    <a:spLocks/>
                  </p:cNvSpPr>
                  <p:nvPr/>
                </p:nvSpPr>
                <p:spPr bwMode="auto">
                  <a:xfrm>
                    <a:off x="5448499" y="3108325"/>
                    <a:ext cx="1295201" cy="973138"/>
                  </a:xfrm>
                  <a:custGeom>
                    <a:avLst/>
                    <a:gdLst>
                      <a:gd name="connsiteX0" fmla="*/ 848020 w 1295201"/>
                      <a:gd name="connsiteY0" fmla="*/ 647700 h 973138"/>
                      <a:gd name="connsiteX1" fmla="*/ 874350 w 1295201"/>
                      <a:gd name="connsiteY1" fmla="*/ 647700 h 973138"/>
                      <a:gd name="connsiteX2" fmla="*/ 874350 w 1295201"/>
                      <a:gd name="connsiteY2" fmla="*/ 666232 h 973138"/>
                      <a:gd name="connsiteX3" fmla="*/ 907086 w 1295201"/>
                      <a:gd name="connsiteY3" fmla="*/ 676210 h 973138"/>
                      <a:gd name="connsiteX4" fmla="*/ 897834 w 1295201"/>
                      <a:gd name="connsiteY4" fmla="*/ 701157 h 973138"/>
                      <a:gd name="connsiteX5" fmla="*/ 863676 w 1295201"/>
                      <a:gd name="connsiteY5" fmla="*/ 689753 h 973138"/>
                      <a:gd name="connsiteX6" fmla="*/ 847308 w 1295201"/>
                      <a:gd name="connsiteY6" fmla="*/ 695455 h 973138"/>
                      <a:gd name="connsiteX7" fmla="*/ 841615 w 1295201"/>
                      <a:gd name="connsiteY7" fmla="*/ 708997 h 973138"/>
                      <a:gd name="connsiteX8" fmla="*/ 873639 w 1295201"/>
                      <a:gd name="connsiteY8" fmla="*/ 738220 h 973138"/>
                      <a:gd name="connsiteX9" fmla="*/ 899258 w 1295201"/>
                      <a:gd name="connsiteY9" fmla="*/ 753188 h 973138"/>
                      <a:gd name="connsiteX10" fmla="*/ 909932 w 1295201"/>
                      <a:gd name="connsiteY10" fmla="*/ 768868 h 973138"/>
                      <a:gd name="connsiteX11" fmla="*/ 914202 w 1295201"/>
                      <a:gd name="connsiteY11" fmla="*/ 788113 h 973138"/>
                      <a:gd name="connsiteX12" fmla="*/ 904239 w 1295201"/>
                      <a:gd name="connsiteY12" fmla="*/ 815910 h 973138"/>
                      <a:gd name="connsiteX13" fmla="*/ 874350 w 1295201"/>
                      <a:gd name="connsiteY13" fmla="*/ 831591 h 973138"/>
                      <a:gd name="connsiteX14" fmla="*/ 874350 w 1295201"/>
                      <a:gd name="connsiteY14" fmla="*/ 857250 h 973138"/>
                      <a:gd name="connsiteX15" fmla="*/ 848020 w 1295201"/>
                      <a:gd name="connsiteY15" fmla="*/ 857250 h 973138"/>
                      <a:gd name="connsiteX16" fmla="*/ 848020 w 1295201"/>
                      <a:gd name="connsiteY16" fmla="*/ 833729 h 973138"/>
                      <a:gd name="connsiteX17" fmla="*/ 811014 w 1295201"/>
                      <a:gd name="connsiteY17" fmla="*/ 822325 h 973138"/>
                      <a:gd name="connsiteX18" fmla="*/ 822401 w 1295201"/>
                      <a:gd name="connsiteY18" fmla="*/ 795953 h 973138"/>
                      <a:gd name="connsiteX19" fmla="*/ 857983 w 1295201"/>
                      <a:gd name="connsiteY19" fmla="*/ 808070 h 973138"/>
                      <a:gd name="connsiteX20" fmla="*/ 884313 w 1295201"/>
                      <a:gd name="connsiteY20" fmla="*/ 790251 h 973138"/>
                      <a:gd name="connsiteX21" fmla="*/ 877197 w 1295201"/>
                      <a:gd name="connsiteY21" fmla="*/ 774571 h 973138"/>
                      <a:gd name="connsiteX22" fmla="*/ 851578 w 1295201"/>
                      <a:gd name="connsiteY22" fmla="*/ 757464 h 973138"/>
                      <a:gd name="connsiteX23" fmla="*/ 825959 w 1295201"/>
                      <a:gd name="connsiteY23" fmla="*/ 742497 h 973138"/>
                      <a:gd name="connsiteX24" fmla="*/ 815284 w 1295201"/>
                      <a:gd name="connsiteY24" fmla="*/ 728241 h 973138"/>
                      <a:gd name="connsiteX25" fmla="*/ 811726 w 1295201"/>
                      <a:gd name="connsiteY25" fmla="*/ 709710 h 973138"/>
                      <a:gd name="connsiteX26" fmla="*/ 821689 w 1295201"/>
                      <a:gd name="connsiteY26" fmla="*/ 683338 h 973138"/>
                      <a:gd name="connsiteX27" fmla="*/ 848020 w 1295201"/>
                      <a:gd name="connsiteY27" fmla="*/ 667657 h 973138"/>
                      <a:gd name="connsiteX28" fmla="*/ 848020 w 1295201"/>
                      <a:gd name="connsiteY28" fmla="*/ 647700 h 973138"/>
                      <a:gd name="connsiteX29" fmla="*/ 463351 w 1295201"/>
                      <a:gd name="connsiteY29" fmla="*/ 565150 h 973138"/>
                      <a:gd name="connsiteX30" fmla="*/ 463351 w 1295201"/>
                      <a:gd name="connsiteY30" fmla="*/ 941388 h 973138"/>
                      <a:gd name="connsiteX31" fmla="*/ 1263451 w 1295201"/>
                      <a:gd name="connsiteY31" fmla="*/ 941388 h 973138"/>
                      <a:gd name="connsiteX32" fmla="*/ 1263451 w 1295201"/>
                      <a:gd name="connsiteY32" fmla="*/ 565150 h 973138"/>
                      <a:gd name="connsiteX33" fmla="*/ 463351 w 1295201"/>
                      <a:gd name="connsiteY33" fmla="*/ 565150 h 973138"/>
                      <a:gd name="connsiteX34" fmla="*/ 447303 w 1295201"/>
                      <a:gd name="connsiteY34" fmla="*/ 533400 h 973138"/>
                      <a:gd name="connsiteX35" fmla="*/ 1279499 w 1295201"/>
                      <a:gd name="connsiteY35" fmla="*/ 533400 h 973138"/>
                      <a:gd name="connsiteX36" fmla="*/ 1295201 w 1295201"/>
                      <a:gd name="connsiteY36" fmla="*/ 548440 h 973138"/>
                      <a:gd name="connsiteX37" fmla="*/ 1295201 w 1295201"/>
                      <a:gd name="connsiteY37" fmla="*/ 957382 h 973138"/>
                      <a:gd name="connsiteX38" fmla="*/ 1279499 w 1295201"/>
                      <a:gd name="connsiteY38" fmla="*/ 973138 h 973138"/>
                      <a:gd name="connsiteX39" fmla="*/ 447303 w 1295201"/>
                      <a:gd name="connsiteY39" fmla="*/ 973138 h 973138"/>
                      <a:gd name="connsiteX40" fmla="*/ 431601 w 1295201"/>
                      <a:gd name="connsiteY40" fmla="*/ 957382 h 973138"/>
                      <a:gd name="connsiteX41" fmla="*/ 431601 w 1295201"/>
                      <a:gd name="connsiteY41" fmla="*/ 548440 h 973138"/>
                      <a:gd name="connsiteX42" fmla="*/ 447303 w 1295201"/>
                      <a:gd name="connsiteY42" fmla="*/ 533400 h 973138"/>
                      <a:gd name="connsiteX43" fmla="*/ 98208 w 1295201"/>
                      <a:gd name="connsiteY43" fmla="*/ 284163 h 973138"/>
                      <a:gd name="connsiteX44" fmla="*/ 111778 w 1295201"/>
                      <a:gd name="connsiteY44" fmla="*/ 297725 h 973138"/>
                      <a:gd name="connsiteX45" fmla="*/ 190345 w 1295201"/>
                      <a:gd name="connsiteY45" fmla="*/ 376243 h 973138"/>
                      <a:gd name="connsiteX46" fmla="*/ 193202 w 1295201"/>
                      <a:gd name="connsiteY46" fmla="*/ 401939 h 973138"/>
                      <a:gd name="connsiteX47" fmla="*/ 178203 w 1295201"/>
                      <a:gd name="connsiteY47" fmla="*/ 409077 h 973138"/>
                      <a:gd name="connsiteX48" fmla="*/ 166775 w 1295201"/>
                      <a:gd name="connsiteY48" fmla="*/ 405508 h 973138"/>
                      <a:gd name="connsiteX49" fmla="*/ 117492 w 1295201"/>
                      <a:gd name="connsiteY49" fmla="*/ 356256 h 973138"/>
                      <a:gd name="connsiteX50" fmla="*/ 117492 w 1295201"/>
                      <a:gd name="connsiteY50" fmla="*/ 735282 h 973138"/>
                      <a:gd name="connsiteX51" fmla="*/ 400331 w 1295201"/>
                      <a:gd name="connsiteY51" fmla="*/ 735282 h 973138"/>
                      <a:gd name="connsiteX52" fmla="*/ 418902 w 1295201"/>
                      <a:gd name="connsiteY52" fmla="*/ 754554 h 973138"/>
                      <a:gd name="connsiteX53" fmla="*/ 400331 w 1295201"/>
                      <a:gd name="connsiteY53" fmla="*/ 773113 h 973138"/>
                      <a:gd name="connsiteX54" fmla="*/ 79637 w 1295201"/>
                      <a:gd name="connsiteY54" fmla="*/ 773113 h 973138"/>
                      <a:gd name="connsiteX55" fmla="*/ 79637 w 1295201"/>
                      <a:gd name="connsiteY55" fmla="*/ 356256 h 973138"/>
                      <a:gd name="connsiteX56" fmla="*/ 31783 w 1295201"/>
                      <a:gd name="connsiteY56" fmla="*/ 403367 h 973138"/>
                      <a:gd name="connsiteX57" fmla="*/ 5356 w 1295201"/>
                      <a:gd name="connsiteY57" fmla="*/ 403367 h 973138"/>
                      <a:gd name="connsiteX58" fmla="*/ 5356 w 1295201"/>
                      <a:gd name="connsiteY58" fmla="*/ 376957 h 973138"/>
                      <a:gd name="connsiteX59" fmla="*/ 98208 w 1295201"/>
                      <a:gd name="connsiteY59" fmla="*/ 284163 h 973138"/>
                      <a:gd name="connsiteX60" fmla="*/ 737502 w 1295201"/>
                      <a:gd name="connsiteY60" fmla="*/ 0 h 973138"/>
                      <a:gd name="connsiteX61" fmla="*/ 1058075 w 1295201"/>
                      <a:gd name="connsiteY61" fmla="*/ 0 h 973138"/>
                      <a:gd name="connsiteX62" fmla="*/ 1058075 w 1295201"/>
                      <a:gd name="connsiteY62" fmla="*/ 412272 h 973138"/>
                      <a:gd name="connsiteX63" fmla="*/ 1104483 w 1295201"/>
                      <a:gd name="connsiteY63" fmla="*/ 366701 h 973138"/>
                      <a:gd name="connsiteX64" fmla="*/ 1130900 w 1295201"/>
                      <a:gd name="connsiteY64" fmla="*/ 367413 h 973138"/>
                      <a:gd name="connsiteX65" fmla="*/ 1130900 w 1295201"/>
                      <a:gd name="connsiteY65" fmla="*/ 393759 h 973138"/>
                      <a:gd name="connsiteX66" fmla="*/ 1055219 w 1295201"/>
                      <a:gd name="connsiteY66" fmla="*/ 467811 h 973138"/>
                      <a:gd name="connsiteX67" fmla="*/ 1049507 w 1295201"/>
                      <a:gd name="connsiteY67" fmla="*/ 473508 h 973138"/>
                      <a:gd name="connsiteX68" fmla="*/ 1038797 w 1295201"/>
                      <a:gd name="connsiteY68" fmla="*/ 484188 h 973138"/>
                      <a:gd name="connsiteX69" fmla="*/ 1025232 w 1295201"/>
                      <a:gd name="connsiteY69" fmla="*/ 470659 h 973138"/>
                      <a:gd name="connsiteX70" fmla="*/ 948123 w 1295201"/>
                      <a:gd name="connsiteY70" fmla="*/ 394471 h 973138"/>
                      <a:gd name="connsiteX71" fmla="*/ 944554 w 1295201"/>
                      <a:gd name="connsiteY71" fmla="*/ 368837 h 973138"/>
                      <a:gd name="connsiteX72" fmla="*/ 970970 w 1295201"/>
                      <a:gd name="connsiteY72" fmla="*/ 365277 h 973138"/>
                      <a:gd name="connsiteX73" fmla="*/ 1020948 w 1295201"/>
                      <a:gd name="connsiteY73" fmla="*/ 413696 h 973138"/>
                      <a:gd name="connsiteX74" fmla="*/ 1020948 w 1295201"/>
                      <a:gd name="connsiteY74" fmla="*/ 37026 h 973138"/>
                      <a:gd name="connsiteX75" fmla="*/ 737502 w 1295201"/>
                      <a:gd name="connsiteY75" fmla="*/ 37026 h 973138"/>
                      <a:gd name="connsiteX76" fmla="*/ 718939 w 1295201"/>
                      <a:gd name="connsiteY76" fmla="*/ 18513 h 973138"/>
                      <a:gd name="connsiteX77" fmla="*/ 737502 w 1295201"/>
                      <a:gd name="connsiteY77" fmla="*/ 0 h 97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95201" h="973138">
                        <a:moveTo>
                          <a:pt x="848020" y="647700"/>
                        </a:moveTo>
                        <a:cubicBezTo>
                          <a:pt x="874350" y="647700"/>
                          <a:pt x="874350" y="647700"/>
                          <a:pt x="874350" y="647700"/>
                        </a:cubicBezTo>
                        <a:cubicBezTo>
                          <a:pt x="874350" y="666232"/>
                          <a:pt x="874350" y="666232"/>
                          <a:pt x="874350" y="666232"/>
                        </a:cubicBezTo>
                        <a:cubicBezTo>
                          <a:pt x="889295" y="667657"/>
                          <a:pt x="899969" y="671221"/>
                          <a:pt x="907086" y="676210"/>
                        </a:cubicBezTo>
                        <a:cubicBezTo>
                          <a:pt x="897834" y="701157"/>
                          <a:pt x="897834" y="701157"/>
                          <a:pt x="897834" y="701157"/>
                        </a:cubicBezTo>
                        <a:cubicBezTo>
                          <a:pt x="886448" y="694029"/>
                          <a:pt x="875062" y="689753"/>
                          <a:pt x="863676" y="689753"/>
                        </a:cubicBezTo>
                        <a:cubicBezTo>
                          <a:pt x="856559" y="689753"/>
                          <a:pt x="851578" y="691891"/>
                          <a:pt x="847308" y="695455"/>
                        </a:cubicBezTo>
                        <a:cubicBezTo>
                          <a:pt x="843750" y="699018"/>
                          <a:pt x="841615" y="704008"/>
                          <a:pt x="841615" y="708997"/>
                        </a:cubicBezTo>
                        <a:cubicBezTo>
                          <a:pt x="841615" y="718976"/>
                          <a:pt x="852289" y="728241"/>
                          <a:pt x="873639" y="738220"/>
                        </a:cubicBezTo>
                        <a:cubicBezTo>
                          <a:pt x="885737" y="743209"/>
                          <a:pt x="894276" y="748199"/>
                          <a:pt x="899258" y="753188"/>
                        </a:cubicBezTo>
                        <a:cubicBezTo>
                          <a:pt x="904239" y="757464"/>
                          <a:pt x="907086" y="763166"/>
                          <a:pt x="909932" y="768868"/>
                        </a:cubicBezTo>
                        <a:cubicBezTo>
                          <a:pt x="912779" y="775283"/>
                          <a:pt x="914202" y="780985"/>
                          <a:pt x="914202" y="788113"/>
                        </a:cubicBezTo>
                        <a:cubicBezTo>
                          <a:pt x="914202" y="798804"/>
                          <a:pt x="910644" y="808070"/>
                          <a:pt x="904239" y="815910"/>
                        </a:cubicBezTo>
                        <a:cubicBezTo>
                          <a:pt x="897123" y="823038"/>
                          <a:pt x="887160" y="828740"/>
                          <a:pt x="874350" y="831591"/>
                        </a:cubicBezTo>
                        <a:cubicBezTo>
                          <a:pt x="874350" y="857250"/>
                          <a:pt x="874350" y="857250"/>
                          <a:pt x="874350" y="857250"/>
                        </a:cubicBezTo>
                        <a:cubicBezTo>
                          <a:pt x="848020" y="857250"/>
                          <a:pt x="848020" y="857250"/>
                          <a:pt x="848020" y="857250"/>
                        </a:cubicBezTo>
                        <a:cubicBezTo>
                          <a:pt x="848020" y="833729"/>
                          <a:pt x="848020" y="833729"/>
                          <a:pt x="848020" y="833729"/>
                        </a:cubicBezTo>
                        <a:cubicBezTo>
                          <a:pt x="835210" y="832304"/>
                          <a:pt x="822401" y="828740"/>
                          <a:pt x="811014" y="822325"/>
                        </a:cubicBezTo>
                        <a:cubicBezTo>
                          <a:pt x="822401" y="795953"/>
                          <a:pt x="822401" y="795953"/>
                          <a:pt x="822401" y="795953"/>
                        </a:cubicBezTo>
                        <a:cubicBezTo>
                          <a:pt x="834498" y="804506"/>
                          <a:pt x="845885" y="808070"/>
                          <a:pt x="857983" y="808070"/>
                        </a:cubicBezTo>
                        <a:cubicBezTo>
                          <a:pt x="875062" y="808070"/>
                          <a:pt x="884313" y="802368"/>
                          <a:pt x="884313" y="790251"/>
                        </a:cubicBezTo>
                        <a:cubicBezTo>
                          <a:pt x="884313" y="784549"/>
                          <a:pt x="882178" y="778847"/>
                          <a:pt x="877197" y="774571"/>
                        </a:cubicBezTo>
                        <a:cubicBezTo>
                          <a:pt x="872927" y="769581"/>
                          <a:pt x="864387" y="763879"/>
                          <a:pt x="851578" y="757464"/>
                        </a:cubicBezTo>
                        <a:cubicBezTo>
                          <a:pt x="838768" y="751050"/>
                          <a:pt x="830229" y="746060"/>
                          <a:pt x="825959" y="742497"/>
                        </a:cubicBezTo>
                        <a:cubicBezTo>
                          <a:pt x="820977" y="738220"/>
                          <a:pt x="817419" y="733231"/>
                          <a:pt x="815284" y="728241"/>
                        </a:cubicBezTo>
                        <a:cubicBezTo>
                          <a:pt x="812438" y="722539"/>
                          <a:pt x="811726" y="716125"/>
                          <a:pt x="811726" y="709710"/>
                        </a:cubicBezTo>
                        <a:cubicBezTo>
                          <a:pt x="811726" y="699018"/>
                          <a:pt x="814572" y="690465"/>
                          <a:pt x="821689" y="683338"/>
                        </a:cubicBezTo>
                        <a:cubicBezTo>
                          <a:pt x="828094" y="675498"/>
                          <a:pt x="836633" y="669796"/>
                          <a:pt x="848020" y="667657"/>
                        </a:cubicBezTo>
                        <a:cubicBezTo>
                          <a:pt x="848020" y="647700"/>
                          <a:pt x="848020" y="647700"/>
                          <a:pt x="848020" y="647700"/>
                        </a:cubicBezTo>
                        <a:close/>
                        <a:moveTo>
                          <a:pt x="463351" y="565150"/>
                        </a:moveTo>
                        <a:cubicBezTo>
                          <a:pt x="463351" y="565150"/>
                          <a:pt x="463351" y="565150"/>
                          <a:pt x="463351" y="941388"/>
                        </a:cubicBezTo>
                        <a:cubicBezTo>
                          <a:pt x="463351" y="941388"/>
                          <a:pt x="463351" y="941388"/>
                          <a:pt x="1263451" y="941388"/>
                        </a:cubicBezTo>
                        <a:cubicBezTo>
                          <a:pt x="1263451" y="941388"/>
                          <a:pt x="1263451" y="941388"/>
                          <a:pt x="1263451" y="565150"/>
                        </a:cubicBezTo>
                        <a:cubicBezTo>
                          <a:pt x="1263451" y="565150"/>
                          <a:pt x="1263451" y="565150"/>
                          <a:pt x="463351" y="565150"/>
                        </a:cubicBezTo>
                        <a:close/>
                        <a:moveTo>
                          <a:pt x="447303" y="533400"/>
                        </a:moveTo>
                        <a:cubicBezTo>
                          <a:pt x="1279499" y="533400"/>
                          <a:pt x="1279499" y="533400"/>
                          <a:pt x="1279499" y="533400"/>
                        </a:cubicBezTo>
                        <a:cubicBezTo>
                          <a:pt x="1288064" y="533400"/>
                          <a:pt x="1295201" y="539846"/>
                          <a:pt x="1295201" y="548440"/>
                        </a:cubicBezTo>
                        <a:cubicBezTo>
                          <a:pt x="1295201" y="957382"/>
                          <a:pt x="1295201" y="957382"/>
                          <a:pt x="1295201" y="957382"/>
                        </a:cubicBezTo>
                        <a:cubicBezTo>
                          <a:pt x="1295201" y="965976"/>
                          <a:pt x="1288064" y="973138"/>
                          <a:pt x="1279499" y="973138"/>
                        </a:cubicBezTo>
                        <a:cubicBezTo>
                          <a:pt x="447303" y="973138"/>
                          <a:pt x="447303" y="973138"/>
                          <a:pt x="447303" y="973138"/>
                        </a:cubicBezTo>
                        <a:cubicBezTo>
                          <a:pt x="438738" y="973138"/>
                          <a:pt x="431601" y="965976"/>
                          <a:pt x="431601" y="957382"/>
                        </a:cubicBezTo>
                        <a:cubicBezTo>
                          <a:pt x="431601" y="548440"/>
                          <a:pt x="431601" y="548440"/>
                          <a:pt x="431601" y="548440"/>
                        </a:cubicBezTo>
                        <a:cubicBezTo>
                          <a:pt x="431601" y="539846"/>
                          <a:pt x="438738" y="533400"/>
                          <a:pt x="447303" y="533400"/>
                        </a:cubicBezTo>
                        <a:close/>
                        <a:moveTo>
                          <a:pt x="98208" y="284163"/>
                        </a:moveTo>
                        <a:cubicBezTo>
                          <a:pt x="98208" y="284163"/>
                          <a:pt x="98208" y="284163"/>
                          <a:pt x="111778" y="297725"/>
                        </a:cubicBezTo>
                        <a:cubicBezTo>
                          <a:pt x="139633" y="325563"/>
                          <a:pt x="184631" y="371246"/>
                          <a:pt x="190345" y="376243"/>
                        </a:cubicBezTo>
                        <a:cubicBezTo>
                          <a:pt x="197487" y="382667"/>
                          <a:pt x="198916" y="393374"/>
                          <a:pt x="193202" y="401939"/>
                        </a:cubicBezTo>
                        <a:cubicBezTo>
                          <a:pt x="189630" y="406222"/>
                          <a:pt x="183916" y="409077"/>
                          <a:pt x="178203" y="409077"/>
                        </a:cubicBezTo>
                        <a:cubicBezTo>
                          <a:pt x="173917" y="409077"/>
                          <a:pt x="170346" y="407650"/>
                          <a:pt x="166775" y="405508"/>
                        </a:cubicBezTo>
                        <a:cubicBezTo>
                          <a:pt x="165346" y="404795"/>
                          <a:pt x="163203" y="402653"/>
                          <a:pt x="117492" y="356256"/>
                        </a:cubicBezTo>
                        <a:cubicBezTo>
                          <a:pt x="117492" y="356256"/>
                          <a:pt x="117492" y="356256"/>
                          <a:pt x="117492" y="735282"/>
                        </a:cubicBezTo>
                        <a:cubicBezTo>
                          <a:pt x="117492" y="735282"/>
                          <a:pt x="117492" y="735282"/>
                          <a:pt x="400331" y="735282"/>
                        </a:cubicBezTo>
                        <a:cubicBezTo>
                          <a:pt x="411045" y="735282"/>
                          <a:pt x="418902" y="743848"/>
                          <a:pt x="418902" y="754554"/>
                        </a:cubicBezTo>
                        <a:cubicBezTo>
                          <a:pt x="418902" y="764548"/>
                          <a:pt x="411045" y="773113"/>
                          <a:pt x="400331" y="773113"/>
                        </a:cubicBezTo>
                        <a:cubicBezTo>
                          <a:pt x="400331" y="773113"/>
                          <a:pt x="400331" y="773113"/>
                          <a:pt x="79637" y="773113"/>
                        </a:cubicBezTo>
                        <a:cubicBezTo>
                          <a:pt x="79637" y="773113"/>
                          <a:pt x="79637" y="773113"/>
                          <a:pt x="79637" y="356256"/>
                        </a:cubicBezTo>
                        <a:cubicBezTo>
                          <a:pt x="79637" y="356256"/>
                          <a:pt x="79637" y="356256"/>
                          <a:pt x="31783" y="403367"/>
                        </a:cubicBezTo>
                        <a:cubicBezTo>
                          <a:pt x="24641" y="411219"/>
                          <a:pt x="12499" y="411219"/>
                          <a:pt x="5356" y="403367"/>
                        </a:cubicBezTo>
                        <a:cubicBezTo>
                          <a:pt x="-1786" y="396229"/>
                          <a:pt x="-1786" y="384095"/>
                          <a:pt x="5356" y="376957"/>
                        </a:cubicBezTo>
                        <a:cubicBezTo>
                          <a:pt x="5356" y="376957"/>
                          <a:pt x="5356" y="376957"/>
                          <a:pt x="98208" y="284163"/>
                        </a:cubicBezTo>
                        <a:close/>
                        <a:moveTo>
                          <a:pt x="737502" y="0"/>
                        </a:moveTo>
                        <a:cubicBezTo>
                          <a:pt x="737502" y="0"/>
                          <a:pt x="737502" y="0"/>
                          <a:pt x="1058075" y="0"/>
                        </a:cubicBezTo>
                        <a:cubicBezTo>
                          <a:pt x="1058075" y="0"/>
                          <a:pt x="1058075" y="0"/>
                          <a:pt x="1058075" y="412272"/>
                        </a:cubicBezTo>
                        <a:cubicBezTo>
                          <a:pt x="1058075" y="412272"/>
                          <a:pt x="1058075" y="412272"/>
                          <a:pt x="1104483" y="366701"/>
                        </a:cubicBezTo>
                        <a:cubicBezTo>
                          <a:pt x="1111622" y="359581"/>
                          <a:pt x="1123760" y="359581"/>
                          <a:pt x="1130900" y="367413"/>
                        </a:cubicBezTo>
                        <a:cubicBezTo>
                          <a:pt x="1138039" y="374534"/>
                          <a:pt x="1138039" y="386638"/>
                          <a:pt x="1130900" y="393759"/>
                        </a:cubicBezTo>
                        <a:cubicBezTo>
                          <a:pt x="1130900" y="393759"/>
                          <a:pt x="1130900" y="393759"/>
                          <a:pt x="1055219" y="467811"/>
                        </a:cubicBezTo>
                        <a:cubicBezTo>
                          <a:pt x="1053791" y="470659"/>
                          <a:pt x="1051649" y="472083"/>
                          <a:pt x="1049507" y="473508"/>
                        </a:cubicBezTo>
                        <a:cubicBezTo>
                          <a:pt x="1049507" y="473508"/>
                          <a:pt x="1049507" y="473508"/>
                          <a:pt x="1038797" y="484188"/>
                        </a:cubicBezTo>
                        <a:cubicBezTo>
                          <a:pt x="1038797" y="484188"/>
                          <a:pt x="1038797" y="484188"/>
                          <a:pt x="1025232" y="470659"/>
                        </a:cubicBezTo>
                        <a:cubicBezTo>
                          <a:pt x="998101" y="444314"/>
                          <a:pt x="953121" y="399455"/>
                          <a:pt x="948123" y="394471"/>
                        </a:cubicBezTo>
                        <a:cubicBezTo>
                          <a:pt x="940270" y="388063"/>
                          <a:pt x="938842" y="377382"/>
                          <a:pt x="944554" y="368837"/>
                        </a:cubicBezTo>
                        <a:cubicBezTo>
                          <a:pt x="950979" y="361005"/>
                          <a:pt x="962403" y="358869"/>
                          <a:pt x="970970" y="365277"/>
                        </a:cubicBezTo>
                        <a:cubicBezTo>
                          <a:pt x="972398" y="365989"/>
                          <a:pt x="974540" y="367413"/>
                          <a:pt x="1020948" y="413696"/>
                        </a:cubicBezTo>
                        <a:cubicBezTo>
                          <a:pt x="1020948" y="413696"/>
                          <a:pt x="1020948" y="413696"/>
                          <a:pt x="1020948" y="37026"/>
                        </a:cubicBezTo>
                        <a:cubicBezTo>
                          <a:pt x="1020948" y="37026"/>
                          <a:pt x="1020948" y="37026"/>
                          <a:pt x="737502" y="37026"/>
                        </a:cubicBezTo>
                        <a:cubicBezTo>
                          <a:pt x="727507" y="37026"/>
                          <a:pt x="718939" y="29194"/>
                          <a:pt x="718939" y="18513"/>
                        </a:cubicBezTo>
                        <a:cubicBezTo>
                          <a:pt x="718939" y="8545"/>
                          <a:pt x="727507" y="0"/>
                          <a:pt x="737502"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46" name="Freeform 11"/>
                  <p:cNvSpPr>
                    <a:spLocks/>
                  </p:cNvSpPr>
                  <p:nvPr/>
                </p:nvSpPr>
                <p:spPr bwMode="auto">
                  <a:xfrm>
                    <a:off x="5476367" y="2803525"/>
                    <a:ext cx="1199071" cy="1208088"/>
                  </a:xfrm>
                  <a:custGeom>
                    <a:avLst/>
                    <a:gdLst>
                      <a:gd name="connsiteX0" fmla="*/ 878957 w 1199071"/>
                      <a:gd name="connsiteY0" fmla="*/ 901700 h 1208088"/>
                      <a:gd name="connsiteX1" fmla="*/ 1146793 w 1199071"/>
                      <a:gd name="connsiteY1" fmla="*/ 901700 h 1208088"/>
                      <a:gd name="connsiteX2" fmla="*/ 1148941 w 1199071"/>
                      <a:gd name="connsiteY2" fmla="*/ 903122 h 1208088"/>
                      <a:gd name="connsiteX3" fmla="*/ 1146793 w 1199071"/>
                      <a:gd name="connsiteY3" fmla="*/ 914496 h 1208088"/>
                      <a:gd name="connsiteX4" fmla="*/ 1184032 w 1199071"/>
                      <a:gd name="connsiteY4" fmla="*/ 950751 h 1208088"/>
                      <a:gd name="connsiteX5" fmla="*/ 1196923 w 1199071"/>
                      <a:gd name="connsiteY5" fmla="*/ 947907 h 1208088"/>
                      <a:gd name="connsiteX6" fmla="*/ 1199071 w 1199071"/>
                      <a:gd name="connsiteY6" fmla="*/ 950040 h 1208088"/>
                      <a:gd name="connsiteX7" fmla="*/ 1199071 w 1199071"/>
                      <a:gd name="connsiteY7" fmla="*/ 1160459 h 1208088"/>
                      <a:gd name="connsiteX8" fmla="*/ 1196923 w 1199071"/>
                      <a:gd name="connsiteY8" fmla="*/ 1161881 h 1208088"/>
                      <a:gd name="connsiteX9" fmla="*/ 1184032 w 1199071"/>
                      <a:gd name="connsiteY9" fmla="*/ 1159748 h 1208088"/>
                      <a:gd name="connsiteX10" fmla="*/ 1146793 w 1199071"/>
                      <a:gd name="connsiteY10" fmla="*/ 1195292 h 1208088"/>
                      <a:gd name="connsiteX11" fmla="*/ 1148225 w 1199071"/>
                      <a:gd name="connsiteY11" fmla="*/ 1205956 h 1208088"/>
                      <a:gd name="connsiteX12" fmla="*/ 1146793 w 1199071"/>
                      <a:gd name="connsiteY12" fmla="*/ 1208088 h 1208088"/>
                      <a:gd name="connsiteX13" fmla="*/ 878957 w 1199071"/>
                      <a:gd name="connsiteY13" fmla="*/ 1208088 h 1208088"/>
                      <a:gd name="connsiteX14" fmla="*/ 878241 w 1199071"/>
                      <a:gd name="connsiteY14" fmla="*/ 1205245 h 1208088"/>
                      <a:gd name="connsiteX15" fmla="*/ 952003 w 1199071"/>
                      <a:gd name="connsiteY15" fmla="*/ 1055250 h 1208088"/>
                      <a:gd name="connsiteX16" fmla="*/ 878241 w 1199071"/>
                      <a:gd name="connsiteY16" fmla="*/ 903833 h 1208088"/>
                      <a:gd name="connsiteX17" fmla="*/ 878957 w 1199071"/>
                      <a:gd name="connsiteY17" fmla="*/ 901700 h 1208088"/>
                      <a:gd name="connsiteX18" fmla="*/ 518927 w 1199071"/>
                      <a:gd name="connsiteY18" fmla="*/ 901700 h 1208088"/>
                      <a:gd name="connsiteX19" fmla="*/ 786633 w 1199071"/>
                      <a:gd name="connsiteY19" fmla="*/ 901700 h 1208088"/>
                      <a:gd name="connsiteX20" fmla="*/ 788065 w 1199071"/>
                      <a:gd name="connsiteY20" fmla="*/ 903833 h 1208088"/>
                      <a:gd name="connsiteX21" fmla="*/ 713622 w 1199071"/>
                      <a:gd name="connsiteY21" fmla="*/ 1055250 h 1208088"/>
                      <a:gd name="connsiteX22" fmla="*/ 788065 w 1199071"/>
                      <a:gd name="connsiteY22" fmla="*/ 1205245 h 1208088"/>
                      <a:gd name="connsiteX23" fmla="*/ 786633 w 1199071"/>
                      <a:gd name="connsiteY23" fmla="*/ 1208088 h 1208088"/>
                      <a:gd name="connsiteX24" fmla="*/ 519643 w 1199071"/>
                      <a:gd name="connsiteY24" fmla="*/ 1208088 h 1208088"/>
                      <a:gd name="connsiteX25" fmla="*/ 518211 w 1199071"/>
                      <a:gd name="connsiteY25" fmla="*/ 1205956 h 1208088"/>
                      <a:gd name="connsiteX26" fmla="*/ 519643 w 1199071"/>
                      <a:gd name="connsiteY26" fmla="*/ 1195292 h 1208088"/>
                      <a:gd name="connsiteX27" fmla="*/ 483137 w 1199071"/>
                      <a:gd name="connsiteY27" fmla="*/ 1159748 h 1208088"/>
                      <a:gd name="connsiteX28" fmla="*/ 470969 w 1199071"/>
                      <a:gd name="connsiteY28" fmla="*/ 1161170 h 1208088"/>
                      <a:gd name="connsiteX29" fmla="*/ 468821 w 1199071"/>
                      <a:gd name="connsiteY29" fmla="*/ 1159748 h 1208088"/>
                      <a:gd name="connsiteX30" fmla="*/ 468821 w 1199071"/>
                      <a:gd name="connsiteY30" fmla="*/ 950040 h 1208088"/>
                      <a:gd name="connsiteX31" fmla="*/ 470969 w 1199071"/>
                      <a:gd name="connsiteY31" fmla="*/ 948618 h 1208088"/>
                      <a:gd name="connsiteX32" fmla="*/ 483137 w 1199071"/>
                      <a:gd name="connsiteY32" fmla="*/ 950751 h 1208088"/>
                      <a:gd name="connsiteX33" fmla="*/ 519643 w 1199071"/>
                      <a:gd name="connsiteY33" fmla="*/ 914496 h 1208088"/>
                      <a:gd name="connsiteX34" fmla="*/ 518211 w 1199071"/>
                      <a:gd name="connsiteY34" fmla="*/ 903122 h 1208088"/>
                      <a:gd name="connsiteX35" fmla="*/ 518927 w 1199071"/>
                      <a:gd name="connsiteY35" fmla="*/ 901700 h 1208088"/>
                      <a:gd name="connsiteX36" fmla="*/ 326025 w 1199071"/>
                      <a:gd name="connsiteY36" fmla="*/ 182184 h 1208088"/>
                      <a:gd name="connsiteX37" fmla="*/ 273872 w 1199071"/>
                      <a:gd name="connsiteY37" fmla="*/ 193386 h 1208088"/>
                      <a:gd name="connsiteX38" fmla="*/ 204469 w 1199071"/>
                      <a:gd name="connsiteY38" fmla="*/ 370489 h 1208088"/>
                      <a:gd name="connsiteX39" fmla="*/ 381196 w 1199071"/>
                      <a:gd name="connsiteY39" fmla="*/ 440904 h 1208088"/>
                      <a:gd name="connsiteX40" fmla="*/ 449884 w 1199071"/>
                      <a:gd name="connsiteY40" fmla="*/ 263801 h 1208088"/>
                      <a:gd name="connsiteX41" fmla="*/ 326025 w 1199071"/>
                      <a:gd name="connsiteY41" fmla="*/ 182184 h 1208088"/>
                      <a:gd name="connsiteX42" fmla="*/ 423813 w 1199071"/>
                      <a:gd name="connsiteY42" fmla="*/ 0 h 1208088"/>
                      <a:gd name="connsiteX43" fmla="*/ 543626 w 1199071"/>
                      <a:gd name="connsiteY43" fmla="*/ 68477 h 1208088"/>
                      <a:gd name="connsiteX44" fmla="*/ 540060 w 1199071"/>
                      <a:gd name="connsiteY44" fmla="*/ 124115 h 1208088"/>
                      <a:gd name="connsiteX45" fmla="*/ 574293 w 1199071"/>
                      <a:gd name="connsiteY45" fmla="*/ 171193 h 1208088"/>
                      <a:gd name="connsiteX46" fmla="*/ 597828 w 1199071"/>
                      <a:gd name="connsiteY46" fmla="*/ 221837 h 1208088"/>
                      <a:gd name="connsiteX47" fmla="*/ 647750 w 1199071"/>
                      <a:gd name="connsiteY47" fmla="*/ 244663 h 1208088"/>
                      <a:gd name="connsiteX48" fmla="*/ 649176 w 1199071"/>
                      <a:gd name="connsiteY48" fmla="*/ 382331 h 1208088"/>
                      <a:gd name="connsiteX49" fmla="*/ 600680 w 1199071"/>
                      <a:gd name="connsiteY49" fmla="*/ 404443 h 1208088"/>
                      <a:gd name="connsiteX50" fmla="*/ 541487 w 1199071"/>
                      <a:gd name="connsiteY50" fmla="*/ 509298 h 1208088"/>
                      <a:gd name="connsiteX51" fmla="*/ 548618 w 1199071"/>
                      <a:gd name="connsiteY51" fmla="*/ 564223 h 1208088"/>
                      <a:gd name="connsiteX52" fmla="*/ 493704 w 1199071"/>
                      <a:gd name="connsiteY52" fmla="*/ 605594 h 1208088"/>
                      <a:gd name="connsiteX53" fmla="*/ 431658 w 1199071"/>
                      <a:gd name="connsiteY53" fmla="*/ 633413 h 1208088"/>
                      <a:gd name="connsiteX54" fmla="*/ 387441 w 1199071"/>
                      <a:gd name="connsiteY54" fmla="*/ 600601 h 1208088"/>
                      <a:gd name="connsiteX55" fmla="*/ 269054 w 1199071"/>
                      <a:gd name="connsiteY55" fmla="*/ 599888 h 1208088"/>
                      <a:gd name="connsiteX56" fmla="*/ 225550 w 1199071"/>
                      <a:gd name="connsiteY56" fmla="*/ 633413 h 1208088"/>
                      <a:gd name="connsiteX57" fmla="*/ 107163 w 1199071"/>
                      <a:gd name="connsiteY57" fmla="*/ 562083 h 1208088"/>
                      <a:gd name="connsiteX58" fmla="*/ 114295 w 1199071"/>
                      <a:gd name="connsiteY58" fmla="*/ 507159 h 1208088"/>
                      <a:gd name="connsiteX59" fmla="*/ 82202 w 1199071"/>
                      <a:gd name="connsiteY59" fmla="*/ 461507 h 1208088"/>
                      <a:gd name="connsiteX60" fmla="*/ 57241 w 1199071"/>
                      <a:gd name="connsiteY60" fmla="*/ 407296 h 1208088"/>
                      <a:gd name="connsiteX61" fmla="*/ 7319 w 1199071"/>
                      <a:gd name="connsiteY61" fmla="*/ 386610 h 1208088"/>
                      <a:gd name="connsiteX62" fmla="*/ 8745 w 1199071"/>
                      <a:gd name="connsiteY62" fmla="*/ 243950 h 1208088"/>
                      <a:gd name="connsiteX63" fmla="*/ 58667 w 1199071"/>
                      <a:gd name="connsiteY63" fmla="*/ 221124 h 1208088"/>
                      <a:gd name="connsiteX64" fmla="*/ 113582 w 1199071"/>
                      <a:gd name="connsiteY64" fmla="*/ 127681 h 1208088"/>
                      <a:gd name="connsiteX65" fmla="*/ 106450 w 1199071"/>
                      <a:gd name="connsiteY65" fmla="*/ 72044 h 1208088"/>
                      <a:gd name="connsiteX66" fmla="*/ 163504 w 1199071"/>
                      <a:gd name="connsiteY66" fmla="*/ 29959 h 1208088"/>
                      <a:gd name="connsiteX67" fmla="*/ 227690 w 1199071"/>
                      <a:gd name="connsiteY67" fmla="*/ 713 h 1208088"/>
                      <a:gd name="connsiteX68" fmla="*/ 272620 w 1199071"/>
                      <a:gd name="connsiteY68" fmla="*/ 33525 h 1208088"/>
                      <a:gd name="connsiteX69" fmla="*/ 379596 w 1199071"/>
                      <a:gd name="connsiteY69" fmla="*/ 33525 h 1208088"/>
                      <a:gd name="connsiteX70" fmla="*/ 423813 w 1199071"/>
                      <a:gd name="connsiteY70" fmla="*/ 0 h 12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99071" h="1208088">
                        <a:moveTo>
                          <a:pt x="878957" y="901700"/>
                        </a:moveTo>
                        <a:cubicBezTo>
                          <a:pt x="878957" y="901700"/>
                          <a:pt x="878957" y="901700"/>
                          <a:pt x="1146793" y="901700"/>
                        </a:cubicBezTo>
                        <a:cubicBezTo>
                          <a:pt x="1148225" y="901700"/>
                          <a:pt x="1148941" y="902411"/>
                          <a:pt x="1148941" y="903122"/>
                        </a:cubicBezTo>
                        <a:cubicBezTo>
                          <a:pt x="1147509" y="906676"/>
                          <a:pt x="1146793" y="910942"/>
                          <a:pt x="1146793" y="914496"/>
                        </a:cubicBezTo>
                        <a:cubicBezTo>
                          <a:pt x="1146793" y="934400"/>
                          <a:pt x="1163264" y="950751"/>
                          <a:pt x="1184032" y="950751"/>
                        </a:cubicBezTo>
                        <a:cubicBezTo>
                          <a:pt x="1188329" y="950751"/>
                          <a:pt x="1193342" y="950040"/>
                          <a:pt x="1196923" y="947907"/>
                        </a:cubicBezTo>
                        <a:cubicBezTo>
                          <a:pt x="1198355" y="947907"/>
                          <a:pt x="1199071" y="948618"/>
                          <a:pt x="1199071" y="950040"/>
                        </a:cubicBezTo>
                        <a:cubicBezTo>
                          <a:pt x="1199071" y="950040"/>
                          <a:pt x="1199071" y="950040"/>
                          <a:pt x="1199071" y="1160459"/>
                        </a:cubicBezTo>
                        <a:cubicBezTo>
                          <a:pt x="1199071" y="1161170"/>
                          <a:pt x="1198355" y="1161881"/>
                          <a:pt x="1196923" y="1161881"/>
                        </a:cubicBezTo>
                        <a:cubicBezTo>
                          <a:pt x="1193342" y="1160459"/>
                          <a:pt x="1188329" y="1159748"/>
                          <a:pt x="1184032" y="1159748"/>
                        </a:cubicBezTo>
                        <a:cubicBezTo>
                          <a:pt x="1163264" y="1159748"/>
                          <a:pt x="1146793" y="1176099"/>
                          <a:pt x="1146793" y="1195292"/>
                        </a:cubicBezTo>
                        <a:cubicBezTo>
                          <a:pt x="1146793" y="1198847"/>
                          <a:pt x="1146793" y="1202401"/>
                          <a:pt x="1148225" y="1205956"/>
                        </a:cubicBezTo>
                        <a:cubicBezTo>
                          <a:pt x="1148941" y="1206666"/>
                          <a:pt x="1148225" y="1208088"/>
                          <a:pt x="1146793" y="1208088"/>
                        </a:cubicBezTo>
                        <a:cubicBezTo>
                          <a:pt x="1146793" y="1208088"/>
                          <a:pt x="1146793" y="1208088"/>
                          <a:pt x="878957" y="1208088"/>
                        </a:cubicBezTo>
                        <a:cubicBezTo>
                          <a:pt x="877524" y="1208088"/>
                          <a:pt x="876808" y="1205956"/>
                          <a:pt x="878241" y="1205245"/>
                        </a:cubicBezTo>
                        <a:cubicBezTo>
                          <a:pt x="915480" y="1178942"/>
                          <a:pt x="952003" y="1121361"/>
                          <a:pt x="952003" y="1055250"/>
                        </a:cubicBezTo>
                        <a:cubicBezTo>
                          <a:pt x="952003" y="988427"/>
                          <a:pt x="915480" y="930135"/>
                          <a:pt x="878241" y="903833"/>
                        </a:cubicBezTo>
                        <a:cubicBezTo>
                          <a:pt x="876808" y="903122"/>
                          <a:pt x="877524" y="901700"/>
                          <a:pt x="878957" y="901700"/>
                        </a:cubicBezTo>
                        <a:close/>
                        <a:moveTo>
                          <a:pt x="518927" y="901700"/>
                        </a:moveTo>
                        <a:cubicBezTo>
                          <a:pt x="518927" y="901700"/>
                          <a:pt x="518927" y="901700"/>
                          <a:pt x="786633" y="901700"/>
                        </a:cubicBezTo>
                        <a:cubicBezTo>
                          <a:pt x="788780" y="901700"/>
                          <a:pt x="789496" y="903122"/>
                          <a:pt x="788065" y="903833"/>
                        </a:cubicBezTo>
                        <a:cubicBezTo>
                          <a:pt x="750128" y="930135"/>
                          <a:pt x="713622" y="988427"/>
                          <a:pt x="713622" y="1055250"/>
                        </a:cubicBezTo>
                        <a:cubicBezTo>
                          <a:pt x="713622" y="1121361"/>
                          <a:pt x="750128" y="1178942"/>
                          <a:pt x="788065" y="1205245"/>
                        </a:cubicBezTo>
                        <a:cubicBezTo>
                          <a:pt x="789496" y="1205956"/>
                          <a:pt x="788780" y="1208088"/>
                          <a:pt x="786633" y="1208088"/>
                        </a:cubicBezTo>
                        <a:cubicBezTo>
                          <a:pt x="786633" y="1208088"/>
                          <a:pt x="786633" y="1208088"/>
                          <a:pt x="519643" y="1208088"/>
                        </a:cubicBezTo>
                        <a:cubicBezTo>
                          <a:pt x="518927" y="1208088"/>
                          <a:pt x="518211" y="1206666"/>
                          <a:pt x="518211" y="1205956"/>
                        </a:cubicBezTo>
                        <a:cubicBezTo>
                          <a:pt x="518927" y="1202401"/>
                          <a:pt x="519643" y="1198847"/>
                          <a:pt x="519643" y="1195292"/>
                        </a:cubicBezTo>
                        <a:cubicBezTo>
                          <a:pt x="519643" y="1176099"/>
                          <a:pt x="503895" y="1159748"/>
                          <a:pt x="483137" y="1159748"/>
                        </a:cubicBezTo>
                        <a:cubicBezTo>
                          <a:pt x="478842" y="1159748"/>
                          <a:pt x="474548" y="1160459"/>
                          <a:pt x="470969" y="1161170"/>
                        </a:cubicBezTo>
                        <a:cubicBezTo>
                          <a:pt x="470253" y="1161881"/>
                          <a:pt x="468821" y="1161170"/>
                          <a:pt x="468821" y="1159748"/>
                        </a:cubicBezTo>
                        <a:cubicBezTo>
                          <a:pt x="468821" y="1159748"/>
                          <a:pt x="468821" y="1159748"/>
                          <a:pt x="468821" y="950040"/>
                        </a:cubicBezTo>
                        <a:cubicBezTo>
                          <a:pt x="468821" y="948618"/>
                          <a:pt x="470253" y="947907"/>
                          <a:pt x="470969" y="948618"/>
                        </a:cubicBezTo>
                        <a:cubicBezTo>
                          <a:pt x="474548" y="950040"/>
                          <a:pt x="478842" y="950751"/>
                          <a:pt x="483137" y="950751"/>
                        </a:cubicBezTo>
                        <a:cubicBezTo>
                          <a:pt x="503895" y="950751"/>
                          <a:pt x="519643" y="934400"/>
                          <a:pt x="519643" y="914496"/>
                        </a:cubicBezTo>
                        <a:cubicBezTo>
                          <a:pt x="519643" y="910942"/>
                          <a:pt x="518927" y="906676"/>
                          <a:pt x="518211" y="903122"/>
                        </a:cubicBezTo>
                        <a:cubicBezTo>
                          <a:pt x="517495" y="902411"/>
                          <a:pt x="518211" y="901700"/>
                          <a:pt x="518927" y="901700"/>
                        </a:cubicBezTo>
                        <a:close/>
                        <a:moveTo>
                          <a:pt x="326025" y="182184"/>
                        </a:moveTo>
                        <a:cubicBezTo>
                          <a:pt x="308574" y="182317"/>
                          <a:pt x="290865" y="185918"/>
                          <a:pt x="273872" y="193386"/>
                        </a:cubicBezTo>
                        <a:cubicBezTo>
                          <a:pt x="205900" y="222548"/>
                          <a:pt x="175134" y="301497"/>
                          <a:pt x="204469" y="370489"/>
                        </a:cubicBezTo>
                        <a:cubicBezTo>
                          <a:pt x="233805" y="438770"/>
                          <a:pt x="313224" y="471488"/>
                          <a:pt x="381196" y="440904"/>
                        </a:cubicBezTo>
                        <a:cubicBezTo>
                          <a:pt x="449168" y="412454"/>
                          <a:pt x="479934" y="332081"/>
                          <a:pt x="449884" y="263801"/>
                        </a:cubicBezTo>
                        <a:cubicBezTo>
                          <a:pt x="428419" y="212590"/>
                          <a:pt x="378379" y="181784"/>
                          <a:pt x="326025" y="182184"/>
                        </a:cubicBezTo>
                        <a:close/>
                        <a:moveTo>
                          <a:pt x="423813" y="0"/>
                        </a:moveTo>
                        <a:cubicBezTo>
                          <a:pt x="467317" y="13553"/>
                          <a:pt x="510107" y="37805"/>
                          <a:pt x="543626" y="68477"/>
                        </a:cubicBezTo>
                        <a:cubicBezTo>
                          <a:pt x="543626" y="68477"/>
                          <a:pt x="543626" y="68477"/>
                          <a:pt x="540060" y="124115"/>
                        </a:cubicBezTo>
                        <a:cubicBezTo>
                          <a:pt x="552898" y="138381"/>
                          <a:pt x="565021" y="154074"/>
                          <a:pt x="574293" y="171193"/>
                        </a:cubicBezTo>
                        <a:cubicBezTo>
                          <a:pt x="584277" y="188312"/>
                          <a:pt x="592122" y="205431"/>
                          <a:pt x="597828" y="221837"/>
                        </a:cubicBezTo>
                        <a:cubicBezTo>
                          <a:pt x="597828" y="221837"/>
                          <a:pt x="597828" y="221837"/>
                          <a:pt x="647750" y="244663"/>
                        </a:cubicBezTo>
                        <a:cubicBezTo>
                          <a:pt x="657021" y="290314"/>
                          <a:pt x="657734" y="338106"/>
                          <a:pt x="649176" y="382331"/>
                        </a:cubicBezTo>
                        <a:cubicBezTo>
                          <a:pt x="649176" y="382331"/>
                          <a:pt x="649176" y="382331"/>
                          <a:pt x="600680" y="404443"/>
                        </a:cubicBezTo>
                        <a:cubicBezTo>
                          <a:pt x="587843" y="442961"/>
                          <a:pt x="568587" y="479340"/>
                          <a:pt x="541487" y="509298"/>
                        </a:cubicBezTo>
                        <a:cubicBezTo>
                          <a:pt x="541487" y="509298"/>
                          <a:pt x="541487" y="509298"/>
                          <a:pt x="548618" y="564223"/>
                        </a:cubicBezTo>
                        <a:cubicBezTo>
                          <a:pt x="530789" y="579202"/>
                          <a:pt x="512247" y="592755"/>
                          <a:pt x="493704" y="605594"/>
                        </a:cubicBezTo>
                        <a:cubicBezTo>
                          <a:pt x="473022" y="616294"/>
                          <a:pt x="452340" y="625567"/>
                          <a:pt x="431658" y="633413"/>
                        </a:cubicBezTo>
                        <a:cubicBezTo>
                          <a:pt x="431658" y="633413"/>
                          <a:pt x="431658" y="633413"/>
                          <a:pt x="387441" y="600601"/>
                        </a:cubicBezTo>
                        <a:cubicBezTo>
                          <a:pt x="346790" y="609161"/>
                          <a:pt x="307565" y="609161"/>
                          <a:pt x="269054" y="599888"/>
                        </a:cubicBezTo>
                        <a:cubicBezTo>
                          <a:pt x="269054" y="599888"/>
                          <a:pt x="269054" y="599888"/>
                          <a:pt x="225550" y="633413"/>
                        </a:cubicBezTo>
                        <a:cubicBezTo>
                          <a:pt x="183473" y="617720"/>
                          <a:pt x="142822" y="594895"/>
                          <a:pt x="107163" y="562083"/>
                        </a:cubicBezTo>
                        <a:cubicBezTo>
                          <a:pt x="107163" y="562083"/>
                          <a:pt x="107163" y="562083"/>
                          <a:pt x="114295" y="507159"/>
                        </a:cubicBezTo>
                        <a:cubicBezTo>
                          <a:pt x="102171" y="493606"/>
                          <a:pt x="91473" y="478626"/>
                          <a:pt x="82202" y="461507"/>
                        </a:cubicBezTo>
                        <a:cubicBezTo>
                          <a:pt x="71504" y="445101"/>
                          <a:pt x="62946" y="425842"/>
                          <a:pt x="57241" y="407296"/>
                        </a:cubicBezTo>
                        <a:cubicBezTo>
                          <a:pt x="57241" y="407296"/>
                          <a:pt x="57241" y="407296"/>
                          <a:pt x="7319" y="386610"/>
                        </a:cubicBezTo>
                        <a:cubicBezTo>
                          <a:pt x="-2666" y="337392"/>
                          <a:pt x="-2666" y="289601"/>
                          <a:pt x="8745" y="243950"/>
                        </a:cubicBezTo>
                        <a:cubicBezTo>
                          <a:pt x="8745" y="243950"/>
                          <a:pt x="8745" y="243950"/>
                          <a:pt x="58667" y="221124"/>
                        </a:cubicBezTo>
                        <a:cubicBezTo>
                          <a:pt x="70078" y="187599"/>
                          <a:pt x="89334" y="156213"/>
                          <a:pt x="113582" y="127681"/>
                        </a:cubicBezTo>
                        <a:cubicBezTo>
                          <a:pt x="113582" y="127681"/>
                          <a:pt x="113582" y="127681"/>
                          <a:pt x="106450" y="72044"/>
                        </a:cubicBezTo>
                        <a:cubicBezTo>
                          <a:pt x="122853" y="57064"/>
                          <a:pt x="142822" y="42085"/>
                          <a:pt x="163504" y="29959"/>
                        </a:cubicBezTo>
                        <a:cubicBezTo>
                          <a:pt x="184899" y="17833"/>
                          <a:pt x="205581" y="8560"/>
                          <a:pt x="227690" y="713"/>
                        </a:cubicBezTo>
                        <a:cubicBezTo>
                          <a:pt x="227690" y="713"/>
                          <a:pt x="227690" y="713"/>
                          <a:pt x="272620" y="33525"/>
                        </a:cubicBezTo>
                        <a:cubicBezTo>
                          <a:pt x="307565" y="26392"/>
                          <a:pt x="343937" y="25679"/>
                          <a:pt x="379596" y="33525"/>
                        </a:cubicBezTo>
                        <a:cubicBezTo>
                          <a:pt x="379596" y="33525"/>
                          <a:pt x="379596" y="33525"/>
                          <a:pt x="423813"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47" name="Grupo 108"/>
              <p:cNvGrpSpPr/>
              <p:nvPr/>
            </p:nvGrpSpPr>
            <p:grpSpPr>
              <a:xfrm>
                <a:off x="2150066" y="4970168"/>
                <a:ext cx="1036959" cy="1122694"/>
                <a:chOff x="2150066" y="4970168"/>
                <a:chExt cx="1036959" cy="1122694"/>
              </a:xfrm>
            </p:grpSpPr>
            <p:sp>
              <p:nvSpPr>
                <p:cNvPr id="48" name="Rectangle: Rounded Corners 122"/>
                <p:cNvSpPr/>
                <p:nvPr/>
              </p:nvSpPr>
              <p:spPr>
                <a:xfrm>
                  <a:off x="2215025"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Mantenimiento</a:t>
                  </a:r>
                </a:p>
              </p:txBody>
            </p:sp>
            <p:sp>
              <p:nvSpPr>
                <p:cNvPr id="49" name="Oval 70"/>
                <p:cNvSpPr>
                  <a:spLocks noChangeAspect="1" noChangeArrowheads="1"/>
                </p:cNvSpPr>
                <p:nvPr/>
              </p:nvSpPr>
              <p:spPr bwMode="auto">
                <a:xfrm>
                  <a:off x="2150066"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15</a:t>
                  </a:r>
                </a:p>
              </p:txBody>
            </p:sp>
          </p:grpSp>
        </p:grpSp>
        <p:grpSp>
          <p:nvGrpSpPr>
            <p:cNvPr id="50" name="Grupo 114"/>
            <p:cNvGrpSpPr/>
            <p:nvPr/>
          </p:nvGrpSpPr>
          <p:grpSpPr>
            <a:xfrm>
              <a:off x="7594262" y="5176000"/>
              <a:ext cx="1036959" cy="1122694"/>
              <a:chOff x="6259815" y="4970168"/>
              <a:chExt cx="1036959" cy="1122694"/>
            </a:xfrm>
          </p:grpSpPr>
          <p:sp>
            <p:nvSpPr>
              <p:cNvPr id="51" name="Rectangle: Rounded Corners 119"/>
              <p:cNvSpPr/>
              <p:nvPr/>
            </p:nvSpPr>
            <p:spPr>
              <a:xfrm>
                <a:off x="632477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a:t>
                </a:r>
                <a:br>
                  <a:rPr lang="es-CL" sz="855">
                    <a:solidFill>
                      <a:schemeClr val="tx1"/>
                    </a:solidFill>
                  </a:rPr>
                </a:br>
                <a:r>
                  <a:rPr lang="es-CL" sz="855">
                    <a:solidFill>
                      <a:schemeClr val="tx1"/>
                    </a:solidFill>
                  </a:rPr>
                  <a:t>Proyectos</a:t>
                </a:r>
              </a:p>
            </p:txBody>
          </p:sp>
          <p:grpSp>
            <p:nvGrpSpPr>
              <p:cNvPr id="52" name="bcgIcons_Tool Kit "/>
              <p:cNvGrpSpPr>
                <a:grpSpLocks noChangeAspect="1"/>
              </p:cNvGrpSpPr>
              <p:nvPr/>
            </p:nvGrpSpPr>
            <p:grpSpPr>
              <a:xfrm>
                <a:off x="6583479" y="5141091"/>
                <a:ext cx="380780" cy="380413"/>
                <a:chOff x="5273675" y="2606675"/>
                <a:chExt cx="1646238" cy="1644650"/>
              </a:xfrm>
            </p:grpSpPr>
            <p:sp>
              <p:nvSpPr>
                <p:cNvPr id="53" name="AutoShape 11"/>
                <p:cNvSpPr>
                  <a:spLocks noChangeAspect="1"/>
                </p:cNvSpPr>
                <p:nvPr/>
              </p:nvSpPr>
              <p:spPr bwMode="auto">
                <a:xfrm>
                  <a:off x="5273675"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54" name="Group 36"/>
                <p:cNvGrpSpPr>
                  <a:grpSpLocks/>
                </p:cNvGrpSpPr>
                <p:nvPr/>
              </p:nvGrpSpPr>
              <p:grpSpPr>
                <a:xfrm>
                  <a:off x="5457825" y="2841625"/>
                  <a:ext cx="1275150" cy="1190625"/>
                  <a:chOff x="5457825" y="2841625"/>
                  <a:chExt cx="1275150" cy="1190625"/>
                </a:xfrm>
              </p:grpSpPr>
              <p:sp>
                <p:nvSpPr>
                  <p:cNvPr id="55" name="Freeform 9"/>
                  <p:cNvSpPr>
                    <a:spLocks/>
                  </p:cNvSpPr>
                  <p:nvPr/>
                </p:nvSpPr>
                <p:spPr bwMode="auto">
                  <a:xfrm>
                    <a:off x="5457825" y="2841625"/>
                    <a:ext cx="1191771" cy="1190625"/>
                  </a:xfrm>
                  <a:custGeom>
                    <a:avLst/>
                    <a:gdLst>
                      <a:gd name="connsiteX0" fmla="*/ 695044 w 1191771"/>
                      <a:gd name="connsiteY0" fmla="*/ 746141 h 1190625"/>
                      <a:gd name="connsiteX1" fmla="*/ 683590 w 1191771"/>
                      <a:gd name="connsiteY1" fmla="*/ 750948 h 1190625"/>
                      <a:gd name="connsiteX2" fmla="*/ 683590 w 1191771"/>
                      <a:gd name="connsiteY2" fmla="*/ 773027 h 1190625"/>
                      <a:gd name="connsiteX3" fmla="*/ 992129 w 1191771"/>
                      <a:gd name="connsiteY3" fmla="*/ 1079990 h 1190625"/>
                      <a:gd name="connsiteX4" fmla="*/ 1003582 w 1191771"/>
                      <a:gd name="connsiteY4" fmla="*/ 1084263 h 1190625"/>
                      <a:gd name="connsiteX5" fmla="*/ 1014320 w 1191771"/>
                      <a:gd name="connsiteY5" fmla="*/ 1079990 h 1190625"/>
                      <a:gd name="connsiteX6" fmla="*/ 1014320 w 1191771"/>
                      <a:gd name="connsiteY6" fmla="*/ 1057911 h 1190625"/>
                      <a:gd name="connsiteX7" fmla="*/ 706498 w 1191771"/>
                      <a:gd name="connsiteY7" fmla="*/ 750948 h 1190625"/>
                      <a:gd name="connsiteX8" fmla="*/ 695044 w 1191771"/>
                      <a:gd name="connsiteY8" fmla="*/ 746141 h 1190625"/>
                      <a:gd name="connsiteX9" fmla="*/ 763137 w 1191771"/>
                      <a:gd name="connsiteY9" fmla="*/ 679291 h 1190625"/>
                      <a:gd name="connsiteX10" fmla="*/ 751826 w 1191771"/>
                      <a:gd name="connsiteY10" fmla="*/ 683573 h 1190625"/>
                      <a:gd name="connsiteX11" fmla="*/ 751826 w 1191771"/>
                      <a:gd name="connsiteY11" fmla="*/ 705698 h 1190625"/>
                      <a:gd name="connsiteX12" fmla="*/ 1058936 w 1191771"/>
                      <a:gd name="connsiteY12" fmla="*/ 1013306 h 1190625"/>
                      <a:gd name="connsiteX13" fmla="*/ 1069624 w 1191771"/>
                      <a:gd name="connsiteY13" fmla="*/ 1017588 h 1190625"/>
                      <a:gd name="connsiteX14" fmla="*/ 1081025 w 1191771"/>
                      <a:gd name="connsiteY14" fmla="*/ 1013306 h 1190625"/>
                      <a:gd name="connsiteX15" fmla="*/ 1081025 w 1191771"/>
                      <a:gd name="connsiteY15" fmla="*/ 991181 h 1190625"/>
                      <a:gd name="connsiteX16" fmla="*/ 773915 w 1191771"/>
                      <a:gd name="connsiteY16" fmla="*/ 683573 h 1190625"/>
                      <a:gd name="connsiteX17" fmla="*/ 763137 w 1191771"/>
                      <a:gd name="connsiteY17" fmla="*/ 679291 h 1190625"/>
                      <a:gd name="connsiteX18" fmla="*/ 672309 w 1191771"/>
                      <a:gd name="connsiteY18" fmla="*/ 509588 h 1190625"/>
                      <a:gd name="connsiteX19" fmla="*/ 511175 w 1191771"/>
                      <a:gd name="connsiteY19" fmla="*/ 672130 h 1190625"/>
                      <a:gd name="connsiteX20" fmla="*/ 553241 w 1191771"/>
                      <a:gd name="connsiteY20" fmla="*/ 714376 h 1190625"/>
                      <a:gd name="connsiteX21" fmla="*/ 714375 w 1191771"/>
                      <a:gd name="connsiteY21" fmla="*/ 551835 h 1190625"/>
                      <a:gd name="connsiteX22" fmla="*/ 672309 w 1191771"/>
                      <a:gd name="connsiteY22" fmla="*/ 509588 h 1190625"/>
                      <a:gd name="connsiteX23" fmla="*/ 673000 w 1191771"/>
                      <a:gd name="connsiteY23" fmla="*/ 479425 h 1190625"/>
                      <a:gd name="connsiteX24" fmla="*/ 694428 w 1191771"/>
                      <a:gd name="connsiteY24" fmla="*/ 488708 h 1190625"/>
                      <a:gd name="connsiteX25" fmla="*/ 738001 w 1191771"/>
                      <a:gd name="connsiteY25" fmla="*/ 530837 h 1190625"/>
                      <a:gd name="connsiteX26" fmla="*/ 746572 w 1191771"/>
                      <a:gd name="connsiteY26" fmla="*/ 552259 h 1190625"/>
                      <a:gd name="connsiteX27" fmla="*/ 738001 w 1191771"/>
                      <a:gd name="connsiteY27" fmla="*/ 574395 h 1190625"/>
                      <a:gd name="connsiteX28" fmla="*/ 733715 w 1191771"/>
                      <a:gd name="connsiteY28" fmla="*/ 578679 h 1190625"/>
                      <a:gd name="connsiteX29" fmla="*/ 778715 w 1191771"/>
                      <a:gd name="connsiteY29" fmla="*/ 578679 h 1190625"/>
                      <a:gd name="connsiteX30" fmla="*/ 790144 w 1191771"/>
                      <a:gd name="connsiteY30" fmla="*/ 582963 h 1190625"/>
                      <a:gd name="connsiteX31" fmla="*/ 809430 w 1191771"/>
                      <a:gd name="connsiteY31" fmla="*/ 602243 h 1190625"/>
                      <a:gd name="connsiteX32" fmla="*/ 1180864 w 1191771"/>
                      <a:gd name="connsiteY32" fmla="*/ 973552 h 1190625"/>
                      <a:gd name="connsiteX33" fmla="*/ 1182293 w 1191771"/>
                      <a:gd name="connsiteY33" fmla="*/ 1043530 h 1190625"/>
                      <a:gd name="connsiteX34" fmla="*/ 1124435 w 1191771"/>
                      <a:gd name="connsiteY34" fmla="*/ 1123504 h 1190625"/>
                      <a:gd name="connsiteX35" fmla="*/ 1044434 w 1191771"/>
                      <a:gd name="connsiteY35" fmla="*/ 1181342 h 1190625"/>
                      <a:gd name="connsiteX36" fmla="*/ 1005147 w 1191771"/>
                      <a:gd name="connsiteY36" fmla="*/ 1190625 h 1190625"/>
                      <a:gd name="connsiteX37" fmla="*/ 974433 w 1191771"/>
                      <a:gd name="connsiteY37" fmla="*/ 1179200 h 1190625"/>
                      <a:gd name="connsiteX38" fmla="*/ 602999 w 1191771"/>
                      <a:gd name="connsiteY38" fmla="*/ 808605 h 1190625"/>
                      <a:gd name="connsiteX39" fmla="*/ 582998 w 1191771"/>
                      <a:gd name="connsiteY39" fmla="*/ 788611 h 1190625"/>
                      <a:gd name="connsiteX40" fmla="*/ 578712 w 1191771"/>
                      <a:gd name="connsiteY40" fmla="*/ 777901 h 1190625"/>
                      <a:gd name="connsiteX41" fmla="*/ 577284 w 1191771"/>
                      <a:gd name="connsiteY41" fmla="*/ 734343 h 1190625"/>
                      <a:gd name="connsiteX42" fmla="*/ 575141 w 1191771"/>
                      <a:gd name="connsiteY42" fmla="*/ 736485 h 1190625"/>
                      <a:gd name="connsiteX43" fmla="*/ 553712 w 1191771"/>
                      <a:gd name="connsiteY43" fmla="*/ 745768 h 1190625"/>
                      <a:gd name="connsiteX44" fmla="*/ 531569 w 1191771"/>
                      <a:gd name="connsiteY44" fmla="*/ 736485 h 1190625"/>
                      <a:gd name="connsiteX45" fmla="*/ 488711 w 1191771"/>
                      <a:gd name="connsiteY45" fmla="*/ 693642 h 1190625"/>
                      <a:gd name="connsiteX46" fmla="*/ 479425 w 1191771"/>
                      <a:gd name="connsiteY46" fmla="*/ 672220 h 1190625"/>
                      <a:gd name="connsiteX47" fmla="*/ 480140 w 1191771"/>
                      <a:gd name="connsiteY47" fmla="*/ 665080 h 1190625"/>
                      <a:gd name="connsiteX48" fmla="*/ 488711 w 1191771"/>
                      <a:gd name="connsiteY48" fmla="*/ 650085 h 1190625"/>
                      <a:gd name="connsiteX49" fmla="*/ 651571 w 1191771"/>
                      <a:gd name="connsiteY49" fmla="*/ 488708 h 1190625"/>
                      <a:gd name="connsiteX50" fmla="*/ 665857 w 1191771"/>
                      <a:gd name="connsiteY50" fmla="*/ 480139 h 1190625"/>
                      <a:gd name="connsiteX51" fmla="*/ 673000 w 1191771"/>
                      <a:gd name="connsiteY51" fmla="*/ 479425 h 1190625"/>
                      <a:gd name="connsiteX52" fmla="*/ 52387 w 1191771"/>
                      <a:gd name="connsiteY52" fmla="*/ 0 h 1190625"/>
                      <a:gd name="connsiteX53" fmla="*/ 180975 w 1191771"/>
                      <a:gd name="connsiteY53" fmla="*/ 65087 h 1190625"/>
                      <a:gd name="connsiteX54" fmla="*/ 190500 w 1191771"/>
                      <a:gd name="connsiteY54" fmla="*/ 120650 h 1190625"/>
                      <a:gd name="connsiteX55" fmla="*/ 582613 w 1191771"/>
                      <a:gd name="connsiteY55" fmla="*/ 511175 h 1190625"/>
                      <a:gd name="connsiteX56" fmla="*/ 511176 w 1191771"/>
                      <a:gd name="connsiteY56" fmla="*/ 584200 h 1190625"/>
                      <a:gd name="connsiteX57" fmla="*/ 115887 w 1191771"/>
                      <a:gd name="connsiteY57" fmla="*/ 188912 h 1190625"/>
                      <a:gd name="connsiteX58" fmla="*/ 66675 w 1191771"/>
                      <a:gd name="connsiteY58" fmla="*/ 182562 h 1190625"/>
                      <a:gd name="connsiteX59" fmla="*/ 0 w 1191771"/>
                      <a:gd name="connsiteY59" fmla="*/ 52387 h 1190625"/>
                      <a:gd name="connsiteX60" fmla="*/ 25400 w 1191771"/>
                      <a:gd name="connsiteY60" fmla="*/ 26987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91771" h="1190625">
                        <a:moveTo>
                          <a:pt x="695044" y="746141"/>
                        </a:moveTo>
                        <a:cubicBezTo>
                          <a:pt x="690928" y="746141"/>
                          <a:pt x="686812" y="747743"/>
                          <a:pt x="683590" y="750948"/>
                        </a:cubicBezTo>
                        <a:cubicBezTo>
                          <a:pt x="677863" y="757358"/>
                          <a:pt x="677863" y="767329"/>
                          <a:pt x="683590" y="773027"/>
                        </a:cubicBezTo>
                        <a:cubicBezTo>
                          <a:pt x="683590" y="773027"/>
                          <a:pt x="683590" y="773027"/>
                          <a:pt x="992129" y="1079990"/>
                        </a:cubicBezTo>
                        <a:cubicBezTo>
                          <a:pt x="994992" y="1082839"/>
                          <a:pt x="999287" y="1084263"/>
                          <a:pt x="1003582" y="1084263"/>
                        </a:cubicBezTo>
                        <a:cubicBezTo>
                          <a:pt x="1007162" y="1084263"/>
                          <a:pt x="1011457" y="1082839"/>
                          <a:pt x="1014320" y="1079990"/>
                        </a:cubicBezTo>
                        <a:cubicBezTo>
                          <a:pt x="1020763" y="1073580"/>
                          <a:pt x="1020763" y="1063609"/>
                          <a:pt x="1014320" y="1057911"/>
                        </a:cubicBezTo>
                        <a:cubicBezTo>
                          <a:pt x="1014320" y="1057911"/>
                          <a:pt x="1014320" y="1057911"/>
                          <a:pt x="706498" y="750948"/>
                        </a:cubicBezTo>
                        <a:cubicBezTo>
                          <a:pt x="703277" y="747743"/>
                          <a:pt x="699160" y="746141"/>
                          <a:pt x="695044" y="746141"/>
                        </a:cubicBezTo>
                        <a:close/>
                        <a:moveTo>
                          <a:pt x="763137" y="679291"/>
                        </a:moveTo>
                        <a:cubicBezTo>
                          <a:pt x="759129" y="679291"/>
                          <a:pt x="755032" y="680718"/>
                          <a:pt x="751826" y="683573"/>
                        </a:cubicBezTo>
                        <a:cubicBezTo>
                          <a:pt x="746125" y="689996"/>
                          <a:pt x="746125" y="699988"/>
                          <a:pt x="751826" y="705698"/>
                        </a:cubicBezTo>
                        <a:cubicBezTo>
                          <a:pt x="751826" y="705698"/>
                          <a:pt x="751826" y="705698"/>
                          <a:pt x="1058936" y="1013306"/>
                        </a:cubicBezTo>
                        <a:cubicBezTo>
                          <a:pt x="1061786" y="1016161"/>
                          <a:pt x="1066062" y="1017588"/>
                          <a:pt x="1069624" y="1017588"/>
                        </a:cubicBezTo>
                        <a:cubicBezTo>
                          <a:pt x="1073900" y="1017588"/>
                          <a:pt x="1078175" y="1016161"/>
                          <a:pt x="1081025" y="1013306"/>
                        </a:cubicBezTo>
                        <a:cubicBezTo>
                          <a:pt x="1087438" y="1006883"/>
                          <a:pt x="1087438" y="996891"/>
                          <a:pt x="1081025" y="991181"/>
                        </a:cubicBezTo>
                        <a:cubicBezTo>
                          <a:pt x="1081025" y="991181"/>
                          <a:pt x="1081025" y="991181"/>
                          <a:pt x="773915" y="683573"/>
                        </a:cubicBezTo>
                        <a:cubicBezTo>
                          <a:pt x="771065" y="680718"/>
                          <a:pt x="767146" y="679291"/>
                          <a:pt x="763137" y="679291"/>
                        </a:cubicBezTo>
                        <a:close/>
                        <a:moveTo>
                          <a:pt x="672309" y="509588"/>
                        </a:moveTo>
                        <a:cubicBezTo>
                          <a:pt x="672309" y="509588"/>
                          <a:pt x="672309" y="509588"/>
                          <a:pt x="511175" y="672130"/>
                        </a:cubicBezTo>
                        <a:cubicBezTo>
                          <a:pt x="511175" y="672130"/>
                          <a:pt x="511175" y="672130"/>
                          <a:pt x="553241" y="714376"/>
                        </a:cubicBezTo>
                        <a:cubicBezTo>
                          <a:pt x="553241" y="714376"/>
                          <a:pt x="553241" y="714376"/>
                          <a:pt x="714375" y="551835"/>
                        </a:cubicBezTo>
                        <a:cubicBezTo>
                          <a:pt x="714375" y="551835"/>
                          <a:pt x="714375" y="551835"/>
                          <a:pt x="672309" y="509588"/>
                        </a:cubicBezTo>
                        <a:close/>
                        <a:moveTo>
                          <a:pt x="673000" y="479425"/>
                        </a:moveTo>
                        <a:cubicBezTo>
                          <a:pt x="680857" y="479425"/>
                          <a:pt x="688714" y="482281"/>
                          <a:pt x="694428" y="488708"/>
                        </a:cubicBezTo>
                        <a:cubicBezTo>
                          <a:pt x="694428" y="488708"/>
                          <a:pt x="694428" y="488708"/>
                          <a:pt x="738001" y="530837"/>
                        </a:cubicBezTo>
                        <a:cubicBezTo>
                          <a:pt x="743715" y="536550"/>
                          <a:pt x="746572" y="544404"/>
                          <a:pt x="746572" y="552259"/>
                        </a:cubicBezTo>
                        <a:cubicBezTo>
                          <a:pt x="746572" y="560828"/>
                          <a:pt x="743715" y="568682"/>
                          <a:pt x="738001" y="574395"/>
                        </a:cubicBezTo>
                        <a:cubicBezTo>
                          <a:pt x="738001" y="574395"/>
                          <a:pt x="738001" y="574395"/>
                          <a:pt x="733715" y="578679"/>
                        </a:cubicBezTo>
                        <a:cubicBezTo>
                          <a:pt x="733715" y="578679"/>
                          <a:pt x="733715" y="578679"/>
                          <a:pt x="778715" y="578679"/>
                        </a:cubicBezTo>
                        <a:cubicBezTo>
                          <a:pt x="783001" y="578679"/>
                          <a:pt x="787287" y="580107"/>
                          <a:pt x="790144" y="582963"/>
                        </a:cubicBezTo>
                        <a:cubicBezTo>
                          <a:pt x="790144" y="582963"/>
                          <a:pt x="790144" y="582963"/>
                          <a:pt x="809430" y="602243"/>
                        </a:cubicBezTo>
                        <a:cubicBezTo>
                          <a:pt x="809430" y="602243"/>
                          <a:pt x="809430" y="602243"/>
                          <a:pt x="1180864" y="973552"/>
                        </a:cubicBezTo>
                        <a:cubicBezTo>
                          <a:pt x="1188721" y="982121"/>
                          <a:pt x="1200150" y="1002114"/>
                          <a:pt x="1182293" y="1043530"/>
                        </a:cubicBezTo>
                        <a:cubicBezTo>
                          <a:pt x="1170864" y="1069236"/>
                          <a:pt x="1150864" y="1097798"/>
                          <a:pt x="1124435" y="1123504"/>
                        </a:cubicBezTo>
                        <a:cubicBezTo>
                          <a:pt x="1098720" y="1149210"/>
                          <a:pt x="1070148" y="1169918"/>
                          <a:pt x="1044434" y="1181342"/>
                        </a:cubicBezTo>
                        <a:cubicBezTo>
                          <a:pt x="1028005" y="1188483"/>
                          <a:pt x="1015147" y="1190625"/>
                          <a:pt x="1005147" y="1190625"/>
                        </a:cubicBezTo>
                        <a:cubicBezTo>
                          <a:pt x="989433" y="1190625"/>
                          <a:pt x="979433" y="1184913"/>
                          <a:pt x="974433" y="1179200"/>
                        </a:cubicBezTo>
                        <a:cubicBezTo>
                          <a:pt x="974433" y="1179200"/>
                          <a:pt x="974433" y="1179200"/>
                          <a:pt x="602999" y="808605"/>
                        </a:cubicBezTo>
                        <a:cubicBezTo>
                          <a:pt x="602999" y="808605"/>
                          <a:pt x="602999" y="808605"/>
                          <a:pt x="582998" y="788611"/>
                        </a:cubicBezTo>
                        <a:cubicBezTo>
                          <a:pt x="580141" y="785755"/>
                          <a:pt x="578712" y="781471"/>
                          <a:pt x="578712" y="777901"/>
                        </a:cubicBezTo>
                        <a:cubicBezTo>
                          <a:pt x="578712" y="777901"/>
                          <a:pt x="578712" y="777901"/>
                          <a:pt x="577284" y="734343"/>
                        </a:cubicBezTo>
                        <a:cubicBezTo>
                          <a:pt x="577284" y="734343"/>
                          <a:pt x="577284" y="734343"/>
                          <a:pt x="575141" y="736485"/>
                        </a:cubicBezTo>
                        <a:cubicBezTo>
                          <a:pt x="569427" y="742912"/>
                          <a:pt x="561569" y="745768"/>
                          <a:pt x="553712" y="745768"/>
                        </a:cubicBezTo>
                        <a:cubicBezTo>
                          <a:pt x="545141" y="745768"/>
                          <a:pt x="537283" y="742912"/>
                          <a:pt x="531569" y="736485"/>
                        </a:cubicBezTo>
                        <a:cubicBezTo>
                          <a:pt x="531569" y="736485"/>
                          <a:pt x="531569" y="736485"/>
                          <a:pt x="488711" y="693642"/>
                        </a:cubicBezTo>
                        <a:cubicBezTo>
                          <a:pt x="482997" y="687930"/>
                          <a:pt x="479425" y="680075"/>
                          <a:pt x="479425" y="672220"/>
                        </a:cubicBezTo>
                        <a:cubicBezTo>
                          <a:pt x="479425" y="669364"/>
                          <a:pt x="480140" y="667222"/>
                          <a:pt x="480140" y="665080"/>
                        </a:cubicBezTo>
                        <a:cubicBezTo>
                          <a:pt x="481568" y="659367"/>
                          <a:pt x="484425" y="654369"/>
                          <a:pt x="488711" y="650085"/>
                        </a:cubicBezTo>
                        <a:cubicBezTo>
                          <a:pt x="488711" y="650085"/>
                          <a:pt x="488711" y="650085"/>
                          <a:pt x="651571" y="488708"/>
                        </a:cubicBezTo>
                        <a:cubicBezTo>
                          <a:pt x="655142" y="484424"/>
                          <a:pt x="660142" y="481567"/>
                          <a:pt x="665857" y="480139"/>
                        </a:cubicBezTo>
                        <a:cubicBezTo>
                          <a:pt x="667999" y="479425"/>
                          <a:pt x="670857" y="479425"/>
                          <a:pt x="673000" y="479425"/>
                        </a:cubicBezTo>
                        <a:close/>
                        <a:moveTo>
                          <a:pt x="52387" y="0"/>
                        </a:moveTo>
                        <a:lnTo>
                          <a:pt x="180975" y="65087"/>
                        </a:lnTo>
                        <a:lnTo>
                          <a:pt x="190500" y="120650"/>
                        </a:lnTo>
                        <a:lnTo>
                          <a:pt x="582613" y="511175"/>
                        </a:lnTo>
                        <a:lnTo>
                          <a:pt x="511176" y="584200"/>
                        </a:lnTo>
                        <a:lnTo>
                          <a:pt x="115887" y="188912"/>
                        </a:lnTo>
                        <a:lnTo>
                          <a:pt x="66675" y="182562"/>
                        </a:lnTo>
                        <a:lnTo>
                          <a:pt x="0" y="52387"/>
                        </a:lnTo>
                        <a:lnTo>
                          <a:pt x="25400" y="26987"/>
                        </a:lnTo>
                        <a:close/>
                      </a:path>
                    </a:pathLst>
                  </a:custGeom>
                  <a:solidFill>
                    <a:schemeClr val="accent1"/>
                  </a:solidFill>
                  <a:ln>
                    <a:noFill/>
                  </a:ln>
                </p:spPr>
                <p:txBody>
                  <a:bodyPr vert="horz" wrap="square" lIns="78181" tIns="39091" rIns="78181" bIns="39091" numCol="1" anchor="t" anchorCtr="0" compatLnSpc="1">
                    <a:prstTxWarp prst="textNoShape">
                      <a:avLst/>
                    </a:prstTxWarp>
                    <a:noAutofit/>
                  </a:bodyPr>
                  <a:lstStyle/>
                  <a:p>
                    <a:endParaRPr lang="es-CL"/>
                  </a:p>
                </p:txBody>
              </p:sp>
              <p:sp>
                <p:nvSpPr>
                  <p:cNvPr id="56" name="Freeform 10"/>
                  <p:cNvSpPr>
                    <a:spLocks/>
                  </p:cNvSpPr>
                  <p:nvPr/>
                </p:nvSpPr>
                <p:spPr bwMode="auto">
                  <a:xfrm>
                    <a:off x="5562348" y="2844682"/>
                    <a:ext cx="1170627" cy="1170556"/>
                  </a:xfrm>
                  <a:custGeom>
                    <a:avLst/>
                    <a:gdLst>
                      <a:gd name="connsiteX0" fmla="*/ 94183 w 1170627"/>
                      <a:gd name="connsiteY0" fmla="*/ 1020022 h 1170556"/>
                      <a:gd name="connsiteX1" fmla="*/ 53247 w 1170627"/>
                      <a:gd name="connsiteY1" fmla="*/ 1036496 h 1170556"/>
                      <a:gd name="connsiteX2" fmla="*/ 53247 w 1170627"/>
                      <a:gd name="connsiteY2" fmla="*/ 1117979 h 1170556"/>
                      <a:gd name="connsiteX3" fmla="*/ 134584 w 1170627"/>
                      <a:gd name="connsiteY3" fmla="*/ 1117979 h 1170556"/>
                      <a:gd name="connsiteX4" fmla="*/ 134584 w 1170627"/>
                      <a:gd name="connsiteY4" fmla="*/ 1036496 h 1170556"/>
                      <a:gd name="connsiteX5" fmla="*/ 94183 w 1170627"/>
                      <a:gd name="connsiteY5" fmla="*/ 1020022 h 1170556"/>
                      <a:gd name="connsiteX6" fmla="*/ 348104 w 1170627"/>
                      <a:gd name="connsiteY6" fmla="*/ 690681 h 1170556"/>
                      <a:gd name="connsiteX7" fmla="*/ 362370 w 1170627"/>
                      <a:gd name="connsiteY7" fmla="*/ 712744 h 1170556"/>
                      <a:gd name="connsiteX8" fmla="*/ 405170 w 1170627"/>
                      <a:gd name="connsiteY8" fmla="*/ 756159 h 1170556"/>
                      <a:gd name="connsiteX9" fmla="*/ 442976 w 1170627"/>
                      <a:gd name="connsiteY9" fmla="*/ 773952 h 1170556"/>
                      <a:gd name="connsiteX10" fmla="*/ 442976 w 1170627"/>
                      <a:gd name="connsiteY10" fmla="*/ 775376 h 1170556"/>
                      <a:gd name="connsiteX11" fmla="*/ 456529 w 1170627"/>
                      <a:gd name="connsiteY11" fmla="*/ 808115 h 1170556"/>
                      <a:gd name="connsiteX12" fmla="*/ 476502 w 1170627"/>
                      <a:gd name="connsiteY12" fmla="*/ 828043 h 1170556"/>
                      <a:gd name="connsiteX13" fmla="*/ 472936 w 1170627"/>
                      <a:gd name="connsiteY13" fmla="*/ 831601 h 1170556"/>
                      <a:gd name="connsiteX14" fmla="*/ 160499 w 1170627"/>
                      <a:gd name="connsiteY14" fmla="*/ 1143334 h 1170556"/>
                      <a:gd name="connsiteX15" fmla="*/ 27820 w 1170627"/>
                      <a:gd name="connsiteY15" fmla="*/ 1143334 h 1170556"/>
                      <a:gd name="connsiteX16" fmla="*/ 27820 w 1170627"/>
                      <a:gd name="connsiteY16" fmla="*/ 1010242 h 1170556"/>
                      <a:gd name="connsiteX17" fmla="*/ 343824 w 1170627"/>
                      <a:gd name="connsiteY17" fmla="*/ 694240 h 1170556"/>
                      <a:gd name="connsiteX18" fmla="*/ 348104 w 1170627"/>
                      <a:gd name="connsiteY18" fmla="*/ 690681 h 1170556"/>
                      <a:gd name="connsiteX19" fmla="*/ 672546 w 1170627"/>
                      <a:gd name="connsiteY19" fmla="*/ 363655 h 1170556"/>
                      <a:gd name="connsiteX20" fmla="*/ 728206 w 1170627"/>
                      <a:gd name="connsiteY20" fmla="*/ 441522 h 1170556"/>
                      <a:gd name="connsiteX21" fmla="*/ 806702 w 1170627"/>
                      <a:gd name="connsiteY21" fmla="*/ 496529 h 1170556"/>
                      <a:gd name="connsiteX22" fmla="*/ 728920 w 1170627"/>
                      <a:gd name="connsiteY22" fmla="*/ 574396 h 1170556"/>
                      <a:gd name="connsiteX23" fmla="*/ 724638 w 1170627"/>
                      <a:gd name="connsiteY23" fmla="*/ 577968 h 1170556"/>
                      <a:gd name="connsiteX24" fmla="*/ 705371 w 1170627"/>
                      <a:gd name="connsiteY24" fmla="*/ 558680 h 1170556"/>
                      <a:gd name="connsiteX25" fmla="*/ 671832 w 1170627"/>
                      <a:gd name="connsiteY25" fmla="*/ 545107 h 1170556"/>
                      <a:gd name="connsiteX26" fmla="*/ 671118 w 1170627"/>
                      <a:gd name="connsiteY26" fmla="*/ 545107 h 1170556"/>
                      <a:gd name="connsiteX27" fmla="*/ 653278 w 1170627"/>
                      <a:gd name="connsiteY27" fmla="*/ 506530 h 1170556"/>
                      <a:gd name="connsiteX28" fmla="*/ 610462 w 1170627"/>
                      <a:gd name="connsiteY28" fmla="*/ 463668 h 1170556"/>
                      <a:gd name="connsiteX29" fmla="*/ 587627 w 1170627"/>
                      <a:gd name="connsiteY29" fmla="*/ 448666 h 1170556"/>
                      <a:gd name="connsiteX30" fmla="*/ 591195 w 1170627"/>
                      <a:gd name="connsiteY30" fmla="*/ 445094 h 1170556"/>
                      <a:gd name="connsiteX31" fmla="*/ 672546 w 1170627"/>
                      <a:gd name="connsiteY31" fmla="*/ 363655 h 1170556"/>
                      <a:gd name="connsiteX32" fmla="*/ 945094 w 1170627"/>
                      <a:gd name="connsiteY32" fmla="*/ 808 h 1170556"/>
                      <a:gd name="connsiteX33" fmla="*/ 1012386 w 1170627"/>
                      <a:gd name="connsiteY33" fmla="*/ 16195 h 1170556"/>
                      <a:gd name="connsiteX34" fmla="*/ 906911 w 1170627"/>
                      <a:gd name="connsiteY34" fmla="*/ 121812 h 1170556"/>
                      <a:gd name="connsiteX35" fmla="*/ 824954 w 1170627"/>
                      <a:gd name="connsiteY35" fmla="*/ 203879 h 1170556"/>
                      <a:gd name="connsiteX36" fmla="*/ 854886 w 1170627"/>
                      <a:gd name="connsiteY36" fmla="*/ 315205 h 1170556"/>
                      <a:gd name="connsiteX37" fmla="*/ 967488 w 1170627"/>
                      <a:gd name="connsiteY37" fmla="*/ 345891 h 1170556"/>
                      <a:gd name="connsiteX38" fmla="*/ 1049445 w 1170627"/>
                      <a:gd name="connsiteY38" fmla="*/ 263110 h 1170556"/>
                      <a:gd name="connsiteX39" fmla="*/ 1154920 w 1170627"/>
                      <a:gd name="connsiteY39" fmla="*/ 158207 h 1170556"/>
                      <a:gd name="connsiteX40" fmla="*/ 1099331 w 1170627"/>
                      <a:gd name="connsiteY40" fmla="*/ 417254 h 1170556"/>
                      <a:gd name="connsiteX41" fmla="*/ 752975 w 1170627"/>
                      <a:gd name="connsiteY41" fmla="*/ 417254 h 1170556"/>
                      <a:gd name="connsiteX42" fmla="*/ 752975 w 1170627"/>
                      <a:gd name="connsiteY42" fmla="*/ 71858 h 1170556"/>
                      <a:gd name="connsiteX43" fmla="*/ 945094 w 1170627"/>
                      <a:gd name="connsiteY43" fmla="*/ 808 h 117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70627" h="1170556">
                        <a:moveTo>
                          <a:pt x="94183" y="1020022"/>
                        </a:moveTo>
                        <a:cubicBezTo>
                          <a:pt x="79467" y="1020022"/>
                          <a:pt x="64663" y="1025514"/>
                          <a:pt x="53247" y="1036496"/>
                        </a:cubicBezTo>
                        <a:cubicBezTo>
                          <a:pt x="30415" y="1059170"/>
                          <a:pt x="30415" y="1095306"/>
                          <a:pt x="53247" y="1117979"/>
                        </a:cubicBezTo>
                        <a:cubicBezTo>
                          <a:pt x="76078" y="1139944"/>
                          <a:pt x="112466" y="1139944"/>
                          <a:pt x="134584" y="1117979"/>
                        </a:cubicBezTo>
                        <a:cubicBezTo>
                          <a:pt x="157415" y="1095306"/>
                          <a:pt x="157415" y="1059170"/>
                          <a:pt x="134584" y="1036496"/>
                        </a:cubicBezTo>
                        <a:cubicBezTo>
                          <a:pt x="123525" y="1025514"/>
                          <a:pt x="108898" y="1020022"/>
                          <a:pt x="94183" y="1020022"/>
                        </a:cubicBezTo>
                        <a:close/>
                        <a:moveTo>
                          <a:pt x="348104" y="690681"/>
                        </a:moveTo>
                        <a:cubicBezTo>
                          <a:pt x="350957" y="698510"/>
                          <a:pt x="355950" y="706339"/>
                          <a:pt x="362370" y="712744"/>
                        </a:cubicBezTo>
                        <a:cubicBezTo>
                          <a:pt x="362370" y="712744"/>
                          <a:pt x="362370" y="712744"/>
                          <a:pt x="405170" y="756159"/>
                        </a:cubicBezTo>
                        <a:cubicBezTo>
                          <a:pt x="415156" y="766123"/>
                          <a:pt x="428709" y="772529"/>
                          <a:pt x="442976" y="773952"/>
                        </a:cubicBezTo>
                        <a:cubicBezTo>
                          <a:pt x="442976" y="773952"/>
                          <a:pt x="442976" y="773952"/>
                          <a:pt x="442976" y="775376"/>
                        </a:cubicBezTo>
                        <a:cubicBezTo>
                          <a:pt x="443689" y="788186"/>
                          <a:pt x="447969" y="799574"/>
                          <a:pt x="456529" y="808115"/>
                        </a:cubicBezTo>
                        <a:cubicBezTo>
                          <a:pt x="456529" y="808115"/>
                          <a:pt x="456529" y="808115"/>
                          <a:pt x="476502" y="828043"/>
                        </a:cubicBezTo>
                        <a:cubicBezTo>
                          <a:pt x="476502" y="828043"/>
                          <a:pt x="476502" y="828043"/>
                          <a:pt x="472936" y="831601"/>
                        </a:cubicBezTo>
                        <a:cubicBezTo>
                          <a:pt x="472936" y="831601"/>
                          <a:pt x="472936" y="831601"/>
                          <a:pt x="160499" y="1143334"/>
                        </a:cubicBezTo>
                        <a:cubicBezTo>
                          <a:pt x="124119" y="1179631"/>
                          <a:pt x="64200" y="1179631"/>
                          <a:pt x="27820" y="1143334"/>
                        </a:cubicBezTo>
                        <a:cubicBezTo>
                          <a:pt x="-9273" y="1106324"/>
                          <a:pt x="-9273" y="1047252"/>
                          <a:pt x="27820" y="1010242"/>
                        </a:cubicBezTo>
                        <a:cubicBezTo>
                          <a:pt x="27820" y="1010242"/>
                          <a:pt x="27820" y="1010242"/>
                          <a:pt x="343824" y="694240"/>
                        </a:cubicBezTo>
                        <a:cubicBezTo>
                          <a:pt x="343824" y="694240"/>
                          <a:pt x="343824" y="694240"/>
                          <a:pt x="348104" y="690681"/>
                        </a:cubicBezTo>
                        <a:close/>
                        <a:moveTo>
                          <a:pt x="672546" y="363655"/>
                        </a:moveTo>
                        <a:cubicBezTo>
                          <a:pt x="686104" y="392230"/>
                          <a:pt x="704658" y="418662"/>
                          <a:pt x="728206" y="441522"/>
                        </a:cubicBezTo>
                        <a:cubicBezTo>
                          <a:pt x="751755" y="465096"/>
                          <a:pt x="778158" y="483670"/>
                          <a:pt x="806702" y="496529"/>
                        </a:cubicBezTo>
                        <a:cubicBezTo>
                          <a:pt x="806702" y="496529"/>
                          <a:pt x="806702" y="496529"/>
                          <a:pt x="728920" y="574396"/>
                        </a:cubicBezTo>
                        <a:cubicBezTo>
                          <a:pt x="728920" y="574396"/>
                          <a:pt x="728920" y="574396"/>
                          <a:pt x="724638" y="577968"/>
                        </a:cubicBezTo>
                        <a:cubicBezTo>
                          <a:pt x="724638" y="577968"/>
                          <a:pt x="724638" y="577968"/>
                          <a:pt x="705371" y="558680"/>
                        </a:cubicBezTo>
                        <a:cubicBezTo>
                          <a:pt x="696808" y="550107"/>
                          <a:pt x="684677" y="545107"/>
                          <a:pt x="671832" y="545107"/>
                        </a:cubicBezTo>
                        <a:cubicBezTo>
                          <a:pt x="671832" y="545107"/>
                          <a:pt x="671832" y="545107"/>
                          <a:pt x="671118" y="545107"/>
                        </a:cubicBezTo>
                        <a:cubicBezTo>
                          <a:pt x="669691" y="530105"/>
                          <a:pt x="663269" y="516531"/>
                          <a:pt x="653278" y="506530"/>
                        </a:cubicBezTo>
                        <a:cubicBezTo>
                          <a:pt x="653278" y="506530"/>
                          <a:pt x="653278" y="506530"/>
                          <a:pt x="610462" y="463668"/>
                        </a:cubicBezTo>
                        <a:cubicBezTo>
                          <a:pt x="603326" y="456524"/>
                          <a:pt x="596190" y="452238"/>
                          <a:pt x="587627" y="448666"/>
                        </a:cubicBezTo>
                        <a:cubicBezTo>
                          <a:pt x="587627" y="448666"/>
                          <a:pt x="587627" y="448666"/>
                          <a:pt x="591195" y="445094"/>
                        </a:cubicBezTo>
                        <a:cubicBezTo>
                          <a:pt x="591195" y="445094"/>
                          <a:pt x="591195" y="445094"/>
                          <a:pt x="672546" y="363655"/>
                        </a:cubicBezTo>
                        <a:close/>
                        <a:moveTo>
                          <a:pt x="945094" y="808"/>
                        </a:moveTo>
                        <a:cubicBezTo>
                          <a:pt x="967978" y="2681"/>
                          <a:pt x="990649" y="7810"/>
                          <a:pt x="1012386" y="16195"/>
                        </a:cubicBezTo>
                        <a:cubicBezTo>
                          <a:pt x="1012386" y="16195"/>
                          <a:pt x="1012386" y="16195"/>
                          <a:pt x="906911" y="121812"/>
                        </a:cubicBezTo>
                        <a:cubicBezTo>
                          <a:pt x="906911" y="121812"/>
                          <a:pt x="906911" y="121812"/>
                          <a:pt x="824954" y="203879"/>
                        </a:cubicBezTo>
                        <a:cubicBezTo>
                          <a:pt x="824954" y="203879"/>
                          <a:pt x="824954" y="203879"/>
                          <a:pt x="854886" y="315205"/>
                        </a:cubicBezTo>
                        <a:cubicBezTo>
                          <a:pt x="854886" y="315205"/>
                          <a:pt x="854886" y="315205"/>
                          <a:pt x="967488" y="345891"/>
                        </a:cubicBezTo>
                        <a:cubicBezTo>
                          <a:pt x="967488" y="345891"/>
                          <a:pt x="967488" y="345891"/>
                          <a:pt x="1049445" y="263110"/>
                        </a:cubicBezTo>
                        <a:cubicBezTo>
                          <a:pt x="1049445" y="263110"/>
                          <a:pt x="1049445" y="263110"/>
                          <a:pt x="1154920" y="158207"/>
                        </a:cubicBezTo>
                        <a:cubicBezTo>
                          <a:pt x="1187702" y="245983"/>
                          <a:pt x="1169173" y="347318"/>
                          <a:pt x="1099331" y="417254"/>
                        </a:cubicBezTo>
                        <a:cubicBezTo>
                          <a:pt x="1003834" y="512880"/>
                          <a:pt x="848472" y="512880"/>
                          <a:pt x="752975" y="417254"/>
                        </a:cubicBezTo>
                        <a:cubicBezTo>
                          <a:pt x="657477" y="321628"/>
                          <a:pt x="657477" y="167484"/>
                          <a:pt x="752975" y="71858"/>
                        </a:cubicBezTo>
                        <a:cubicBezTo>
                          <a:pt x="805890" y="18871"/>
                          <a:pt x="876444" y="-4812"/>
                          <a:pt x="945094" y="808"/>
                        </a:cubicBezTo>
                        <a:close/>
                      </a:path>
                    </a:pathLst>
                  </a:custGeom>
                  <a:solidFill>
                    <a:schemeClr val="tx2"/>
                  </a:solidFill>
                  <a:ln>
                    <a:noFill/>
                  </a:ln>
                </p:spPr>
                <p:txBody>
                  <a:bodyPr vert="horz" wrap="square" lIns="78181" tIns="39091" rIns="78181" bIns="39091" numCol="1" anchor="t" anchorCtr="0" compatLnSpc="1">
                    <a:prstTxWarp prst="textNoShape">
                      <a:avLst/>
                    </a:prstTxWarp>
                    <a:noAutofit/>
                  </a:bodyPr>
                  <a:lstStyle/>
                  <a:p>
                    <a:endParaRPr lang="es-CL"/>
                  </a:p>
                </p:txBody>
              </p:sp>
            </p:grpSp>
          </p:grpSp>
          <p:sp>
            <p:nvSpPr>
              <p:cNvPr id="57" name="Oval 20"/>
              <p:cNvSpPr>
                <a:spLocks noChangeAspect="1" noChangeArrowheads="1"/>
              </p:cNvSpPr>
              <p:nvPr/>
            </p:nvSpPr>
            <p:spPr bwMode="auto">
              <a:xfrm>
                <a:off x="625981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19</a:t>
                </a:r>
              </a:p>
            </p:txBody>
          </p:sp>
        </p:grpSp>
        <p:grpSp>
          <p:nvGrpSpPr>
            <p:cNvPr id="58" name="Grupo 113"/>
            <p:cNvGrpSpPr/>
            <p:nvPr/>
          </p:nvGrpSpPr>
          <p:grpSpPr>
            <a:xfrm>
              <a:off x="6210650" y="5176000"/>
              <a:ext cx="1036959" cy="1122694"/>
              <a:chOff x="4861544" y="4970168"/>
              <a:chExt cx="1036959" cy="1122694"/>
            </a:xfrm>
          </p:grpSpPr>
          <p:sp>
            <p:nvSpPr>
              <p:cNvPr id="59" name="Rectangle: Rounded Corners 125"/>
              <p:cNvSpPr/>
              <p:nvPr/>
            </p:nvSpPr>
            <p:spPr>
              <a:xfrm>
                <a:off x="4926503"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de compras y contratos</a:t>
                </a:r>
              </a:p>
            </p:txBody>
          </p:sp>
          <p:sp>
            <p:nvSpPr>
              <p:cNvPr id="60" name="Oval 20"/>
              <p:cNvSpPr>
                <a:spLocks noChangeAspect="1" noChangeArrowheads="1"/>
              </p:cNvSpPr>
              <p:nvPr/>
            </p:nvSpPr>
            <p:spPr bwMode="auto">
              <a:xfrm>
                <a:off x="4861544"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18</a:t>
                </a:r>
              </a:p>
            </p:txBody>
          </p:sp>
          <p:grpSp>
            <p:nvGrpSpPr>
              <p:cNvPr id="61" name="bcgIcons_Sale "/>
              <p:cNvGrpSpPr>
                <a:grpSpLocks noChangeAspect="1"/>
              </p:cNvGrpSpPr>
              <p:nvPr/>
            </p:nvGrpSpPr>
            <p:grpSpPr bwMode="auto">
              <a:xfrm>
                <a:off x="5228101" y="5141091"/>
                <a:ext cx="380061" cy="380413"/>
                <a:chOff x="1682" y="0"/>
                <a:chExt cx="4316" cy="4320"/>
              </a:xfrm>
            </p:grpSpPr>
            <p:sp>
              <p:nvSpPr>
                <p:cNvPr id="62"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3" name="Freeform 5"/>
                <p:cNvSpPr>
                  <a:spLocks/>
                </p:cNvSpPr>
                <p:nvPr/>
              </p:nvSpPr>
              <p:spPr bwMode="auto">
                <a:xfrm>
                  <a:off x="2394" y="677"/>
                  <a:ext cx="2894" cy="2966"/>
                </a:xfrm>
                <a:custGeom>
                  <a:avLst/>
                  <a:gdLst>
                    <a:gd name="T0" fmla="*/ 704 w 1545"/>
                    <a:gd name="T1" fmla="*/ 1582 h 1582"/>
                    <a:gd name="T2" fmla="*/ 674 w 1545"/>
                    <a:gd name="T3" fmla="*/ 1571 h 1582"/>
                    <a:gd name="T4" fmla="*/ 15 w 1545"/>
                    <a:gd name="T5" fmla="*/ 959 h 1582"/>
                    <a:gd name="T6" fmla="*/ 1 w 1545"/>
                    <a:gd name="T7" fmla="*/ 929 h 1582"/>
                    <a:gd name="T8" fmla="*/ 12 w 1545"/>
                    <a:gd name="T9" fmla="*/ 897 h 1582"/>
                    <a:gd name="T10" fmla="*/ 717 w 1545"/>
                    <a:gd name="T11" fmla="*/ 136 h 1582"/>
                    <a:gd name="T12" fmla="*/ 727 w 1545"/>
                    <a:gd name="T13" fmla="*/ 130 h 1582"/>
                    <a:gd name="T14" fmla="*/ 1136 w 1545"/>
                    <a:gd name="T15" fmla="*/ 4 h 1582"/>
                    <a:gd name="T16" fmla="*/ 1139 w 1545"/>
                    <a:gd name="T17" fmla="*/ 3 h 1582"/>
                    <a:gd name="T18" fmla="*/ 1180 w 1545"/>
                    <a:gd name="T19" fmla="*/ 13 h 1582"/>
                    <a:gd name="T20" fmla="*/ 1529 w 1545"/>
                    <a:gd name="T21" fmla="*/ 336 h 1582"/>
                    <a:gd name="T22" fmla="*/ 1542 w 1545"/>
                    <a:gd name="T23" fmla="*/ 379 h 1582"/>
                    <a:gd name="T24" fmla="*/ 1542 w 1545"/>
                    <a:gd name="T25" fmla="*/ 380 h 1582"/>
                    <a:gd name="T26" fmla="*/ 1447 w 1545"/>
                    <a:gd name="T27" fmla="*/ 797 h 1582"/>
                    <a:gd name="T28" fmla="*/ 1441 w 1545"/>
                    <a:gd name="T29" fmla="*/ 807 h 1582"/>
                    <a:gd name="T30" fmla="*/ 736 w 1545"/>
                    <a:gd name="T31" fmla="*/ 1568 h 1582"/>
                    <a:gd name="T32" fmla="*/ 706 w 1545"/>
                    <a:gd name="T33" fmla="*/ 1582 h 1582"/>
                    <a:gd name="T34" fmla="*/ 704 w 1545"/>
                    <a:gd name="T35" fmla="*/ 1582 h 1582"/>
                    <a:gd name="T36" fmla="*/ 704 w 1545"/>
                    <a:gd name="T37" fmla="*/ 1538 h 1582"/>
                    <a:gd name="T38" fmla="*/ 704 w 1545"/>
                    <a:gd name="T39" fmla="*/ 1538 h 1582"/>
                    <a:gd name="T40" fmla="*/ 704 w 1545"/>
                    <a:gd name="T41" fmla="*/ 1538 h 1582"/>
                    <a:gd name="T42" fmla="*/ 746 w 1545"/>
                    <a:gd name="T43" fmla="*/ 171 h 1582"/>
                    <a:gd name="T44" fmla="*/ 45 w 1545"/>
                    <a:gd name="T45" fmla="*/ 927 h 1582"/>
                    <a:gd name="T46" fmla="*/ 704 w 1545"/>
                    <a:gd name="T47" fmla="*/ 1538 h 1582"/>
                    <a:gd name="T48" fmla="*/ 1405 w 1545"/>
                    <a:gd name="T49" fmla="*/ 782 h 1582"/>
                    <a:gd name="T50" fmla="*/ 1499 w 1545"/>
                    <a:gd name="T51" fmla="*/ 371 h 1582"/>
                    <a:gd name="T52" fmla="*/ 1499 w 1545"/>
                    <a:gd name="T53" fmla="*/ 369 h 1582"/>
                    <a:gd name="T54" fmla="*/ 1151 w 1545"/>
                    <a:gd name="T55" fmla="*/ 46 h 1582"/>
                    <a:gd name="T56" fmla="*/ 1147 w 1545"/>
                    <a:gd name="T57" fmla="*/ 46 h 1582"/>
                    <a:gd name="T58" fmla="*/ 746 w 1545"/>
                    <a:gd name="T59" fmla="*/ 171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5" h="1582">
                      <a:moveTo>
                        <a:pt x="704" y="1582"/>
                      </a:moveTo>
                      <a:cubicBezTo>
                        <a:pt x="693" y="1582"/>
                        <a:pt x="682" y="1578"/>
                        <a:pt x="674" y="1571"/>
                      </a:cubicBezTo>
                      <a:cubicBezTo>
                        <a:pt x="15" y="959"/>
                        <a:pt x="15" y="959"/>
                        <a:pt x="15" y="959"/>
                      </a:cubicBezTo>
                      <a:cubicBezTo>
                        <a:pt x="6" y="951"/>
                        <a:pt x="1" y="941"/>
                        <a:pt x="1" y="929"/>
                      </a:cubicBezTo>
                      <a:cubicBezTo>
                        <a:pt x="0" y="917"/>
                        <a:pt x="4" y="906"/>
                        <a:pt x="12" y="897"/>
                      </a:cubicBezTo>
                      <a:cubicBezTo>
                        <a:pt x="717" y="136"/>
                        <a:pt x="717" y="136"/>
                        <a:pt x="717" y="136"/>
                      </a:cubicBezTo>
                      <a:cubicBezTo>
                        <a:pt x="720" y="134"/>
                        <a:pt x="723" y="132"/>
                        <a:pt x="727" y="130"/>
                      </a:cubicBezTo>
                      <a:cubicBezTo>
                        <a:pt x="1136" y="4"/>
                        <a:pt x="1136" y="4"/>
                        <a:pt x="1136" y="4"/>
                      </a:cubicBezTo>
                      <a:cubicBezTo>
                        <a:pt x="1137" y="3"/>
                        <a:pt x="1138" y="3"/>
                        <a:pt x="1139" y="3"/>
                      </a:cubicBezTo>
                      <a:cubicBezTo>
                        <a:pt x="1150" y="1"/>
                        <a:pt x="1166" y="0"/>
                        <a:pt x="1180" y="13"/>
                      </a:cubicBezTo>
                      <a:cubicBezTo>
                        <a:pt x="1529" y="336"/>
                        <a:pt x="1529" y="336"/>
                        <a:pt x="1529" y="336"/>
                      </a:cubicBezTo>
                      <a:cubicBezTo>
                        <a:pt x="1540" y="347"/>
                        <a:pt x="1545" y="363"/>
                        <a:pt x="1542" y="379"/>
                      </a:cubicBezTo>
                      <a:cubicBezTo>
                        <a:pt x="1542" y="380"/>
                        <a:pt x="1542" y="380"/>
                        <a:pt x="1542" y="380"/>
                      </a:cubicBezTo>
                      <a:cubicBezTo>
                        <a:pt x="1447" y="797"/>
                        <a:pt x="1447" y="797"/>
                        <a:pt x="1447" y="797"/>
                      </a:cubicBezTo>
                      <a:cubicBezTo>
                        <a:pt x="1446" y="801"/>
                        <a:pt x="1444" y="805"/>
                        <a:pt x="1441" y="807"/>
                      </a:cubicBezTo>
                      <a:cubicBezTo>
                        <a:pt x="736" y="1568"/>
                        <a:pt x="736" y="1568"/>
                        <a:pt x="736" y="1568"/>
                      </a:cubicBezTo>
                      <a:cubicBezTo>
                        <a:pt x="728" y="1577"/>
                        <a:pt x="718" y="1582"/>
                        <a:pt x="706" y="1582"/>
                      </a:cubicBezTo>
                      <a:cubicBezTo>
                        <a:pt x="705" y="1582"/>
                        <a:pt x="705" y="1582"/>
                        <a:pt x="704" y="1582"/>
                      </a:cubicBezTo>
                      <a:close/>
                      <a:moveTo>
                        <a:pt x="704" y="1538"/>
                      </a:moveTo>
                      <a:cubicBezTo>
                        <a:pt x="704" y="1538"/>
                        <a:pt x="704" y="1538"/>
                        <a:pt x="704" y="1538"/>
                      </a:cubicBezTo>
                      <a:cubicBezTo>
                        <a:pt x="704" y="1538"/>
                        <a:pt x="704" y="1538"/>
                        <a:pt x="704" y="1538"/>
                      </a:cubicBezTo>
                      <a:close/>
                      <a:moveTo>
                        <a:pt x="746" y="171"/>
                      </a:moveTo>
                      <a:cubicBezTo>
                        <a:pt x="45" y="927"/>
                        <a:pt x="45" y="927"/>
                        <a:pt x="45" y="927"/>
                      </a:cubicBezTo>
                      <a:cubicBezTo>
                        <a:pt x="704" y="1538"/>
                        <a:pt x="704" y="1538"/>
                        <a:pt x="704" y="1538"/>
                      </a:cubicBezTo>
                      <a:cubicBezTo>
                        <a:pt x="1405" y="782"/>
                        <a:pt x="1405" y="782"/>
                        <a:pt x="1405" y="782"/>
                      </a:cubicBezTo>
                      <a:cubicBezTo>
                        <a:pt x="1499" y="371"/>
                        <a:pt x="1499" y="371"/>
                        <a:pt x="1499" y="371"/>
                      </a:cubicBezTo>
                      <a:cubicBezTo>
                        <a:pt x="1499" y="370"/>
                        <a:pt x="1499" y="369"/>
                        <a:pt x="1499" y="369"/>
                      </a:cubicBezTo>
                      <a:cubicBezTo>
                        <a:pt x="1151" y="46"/>
                        <a:pt x="1151" y="46"/>
                        <a:pt x="1151" y="46"/>
                      </a:cubicBezTo>
                      <a:cubicBezTo>
                        <a:pt x="1150" y="46"/>
                        <a:pt x="1149" y="46"/>
                        <a:pt x="1147" y="46"/>
                      </a:cubicBezTo>
                      <a:lnTo>
                        <a:pt x="746" y="171"/>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4" name="Freeform 6"/>
                <p:cNvSpPr>
                  <a:spLocks/>
                </p:cNvSpPr>
                <p:nvPr/>
              </p:nvSpPr>
              <p:spPr bwMode="auto">
                <a:xfrm>
                  <a:off x="2589" y="849"/>
                  <a:ext cx="2527" cy="2601"/>
                </a:xfrm>
                <a:custGeom>
                  <a:avLst/>
                  <a:gdLst>
                    <a:gd name="T0" fmla="*/ 524 w 1349"/>
                    <a:gd name="T1" fmla="*/ 640 h 1387"/>
                    <a:gd name="T2" fmla="*/ 520 w 1349"/>
                    <a:gd name="T3" fmla="*/ 541 h 1387"/>
                    <a:gd name="T4" fmla="*/ 571 w 1349"/>
                    <a:gd name="T5" fmla="*/ 519 h 1387"/>
                    <a:gd name="T6" fmla="*/ 619 w 1349"/>
                    <a:gd name="T7" fmla="*/ 537 h 1387"/>
                    <a:gd name="T8" fmla="*/ 641 w 1349"/>
                    <a:gd name="T9" fmla="*/ 586 h 1387"/>
                    <a:gd name="T10" fmla="*/ 622 w 1349"/>
                    <a:gd name="T11" fmla="*/ 636 h 1387"/>
                    <a:gd name="T12" fmla="*/ 524 w 1349"/>
                    <a:gd name="T13" fmla="*/ 640 h 1387"/>
                    <a:gd name="T14" fmla="*/ 589 w 1349"/>
                    <a:gd name="T15" fmla="*/ 955 h 1387"/>
                    <a:gd name="T16" fmla="*/ 537 w 1349"/>
                    <a:gd name="T17" fmla="*/ 977 h 1387"/>
                    <a:gd name="T18" fmla="*/ 519 w 1349"/>
                    <a:gd name="T19" fmla="*/ 1028 h 1387"/>
                    <a:gd name="T20" fmla="*/ 541 w 1349"/>
                    <a:gd name="T21" fmla="*/ 1076 h 1387"/>
                    <a:gd name="T22" fmla="*/ 640 w 1349"/>
                    <a:gd name="T23" fmla="*/ 1072 h 1387"/>
                    <a:gd name="T24" fmla="*/ 636 w 1349"/>
                    <a:gd name="T25" fmla="*/ 974 h 1387"/>
                    <a:gd name="T26" fmla="*/ 589 w 1349"/>
                    <a:gd name="T27" fmla="*/ 955 h 1387"/>
                    <a:gd name="T28" fmla="*/ 1349 w 1349"/>
                    <a:gd name="T29" fmla="*/ 292 h 1387"/>
                    <a:gd name="T30" fmla="*/ 1263 w 1349"/>
                    <a:gd name="T31" fmla="*/ 669 h 1387"/>
                    <a:gd name="T32" fmla="*/ 598 w 1349"/>
                    <a:gd name="T33" fmla="*/ 1387 h 1387"/>
                    <a:gd name="T34" fmla="*/ 0 w 1349"/>
                    <a:gd name="T35" fmla="*/ 833 h 1387"/>
                    <a:gd name="T36" fmla="*/ 665 w 1349"/>
                    <a:gd name="T37" fmla="*/ 115 h 1387"/>
                    <a:gd name="T38" fmla="*/ 1035 w 1349"/>
                    <a:gd name="T39" fmla="*/ 0 h 1387"/>
                    <a:gd name="T40" fmla="*/ 1349 w 1349"/>
                    <a:gd name="T41" fmla="*/ 292 h 1387"/>
                    <a:gd name="T42" fmla="*/ 494 w 1349"/>
                    <a:gd name="T43" fmla="*/ 672 h 1387"/>
                    <a:gd name="T44" fmla="*/ 571 w 1349"/>
                    <a:gd name="T45" fmla="*/ 703 h 1387"/>
                    <a:gd name="T46" fmla="*/ 655 w 1349"/>
                    <a:gd name="T47" fmla="*/ 666 h 1387"/>
                    <a:gd name="T48" fmla="*/ 685 w 1349"/>
                    <a:gd name="T49" fmla="*/ 584 h 1387"/>
                    <a:gd name="T50" fmla="*/ 649 w 1349"/>
                    <a:gd name="T51" fmla="*/ 505 h 1387"/>
                    <a:gd name="T52" fmla="*/ 567 w 1349"/>
                    <a:gd name="T53" fmla="*/ 475 h 1387"/>
                    <a:gd name="T54" fmla="*/ 488 w 1349"/>
                    <a:gd name="T55" fmla="*/ 511 h 1387"/>
                    <a:gd name="T56" fmla="*/ 494 w 1349"/>
                    <a:gd name="T57" fmla="*/ 672 h 1387"/>
                    <a:gd name="T58" fmla="*/ 666 w 1349"/>
                    <a:gd name="T59" fmla="*/ 941 h 1387"/>
                    <a:gd name="T60" fmla="*/ 505 w 1349"/>
                    <a:gd name="T61" fmla="*/ 947 h 1387"/>
                    <a:gd name="T62" fmla="*/ 475 w 1349"/>
                    <a:gd name="T63" fmla="*/ 1029 h 1387"/>
                    <a:gd name="T64" fmla="*/ 511 w 1349"/>
                    <a:gd name="T65" fmla="*/ 1108 h 1387"/>
                    <a:gd name="T66" fmla="*/ 589 w 1349"/>
                    <a:gd name="T67" fmla="*/ 1139 h 1387"/>
                    <a:gd name="T68" fmla="*/ 593 w 1349"/>
                    <a:gd name="T69" fmla="*/ 1139 h 1387"/>
                    <a:gd name="T70" fmla="*/ 672 w 1349"/>
                    <a:gd name="T71" fmla="*/ 1102 h 1387"/>
                    <a:gd name="T72" fmla="*/ 666 w 1349"/>
                    <a:gd name="T73" fmla="*/ 941 h 1387"/>
                    <a:gd name="T74" fmla="*/ 945 w 1349"/>
                    <a:gd name="T75" fmla="*/ 766 h 1387"/>
                    <a:gd name="T76" fmla="*/ 921 w 1349"/>
                    <a:gd name="T77" fmla="*/ 746 h 1387"/>
                    <a:gd name="T78" fmla="*/ 248 w 1349"/>
                    <a:gd name="T79" fmla="*/ 809 h 1387"/>
                    <a:gd name="T80" fmla="*/ 228 w 1349"/>
                    <a:gd name="T81" fmla="*/ 833 h 1387"/>
                    <a:gd name="T82" fmla="*/ 250 w 1349"/>
                    <a:gd name="T83" fmla="*/ 853 h 1387"/>
                    <a:gd name="T84" fmla="*/ 252 w 1349"/>
                    <a:gd name="T85" fmla="*/ 853 h 1387"/>
                    <a:gd name="T86" fmla="*/ 925 w 1349"/>
                    <a:gd name="T87" fmla="*/ 790 h 1387"/>
                    <a:gd name="T88" fmla="*/ 945 w 1349"/>
                    <a:gd name="T89" fmla="*/ 766 h 1387"/>
                    <a:gd name="T90" fmla="*/ 1137 w 1349"/>
                    <a:gd name="T91" fmla="*/ 206 h 1387"/>
                    <a:gd name="T92" fmla="*/ 1018 w 1349"/>
                    <a:gd name="T93" fmla="*/ 210 h 1387"/>
                    <a:gd name="T94" fmla="*/ 1023 w 1349"/>
                    <a:gd name="T95" fmla="*/ 329 h 1387"/>
                    <a:gd name="T96" fmla="*/ 1141 w 1349"/>
                    <a:gd name="T97" fmla="*/ 325 h 1387"/>
                    <a:gd name="T98" fmla="*/ 1137 w 1349"/>
                    <a:gd name="T99" fmla="*/ 206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49" h="1387">
                      <a:moveTo>
                        <a:pt x="524" y="640"/>
                      </a:moveTo>
                      <a:cubicBezTo>
                        <a:pt x="495" y="614"/>
                        <a:pt x="494" y="569"/>
                        <a:pt x="520" y="541"/>
                      </a:cubicBezTo>
                      <a:cubicBezTo>
                        <a:pt x="534" y="526"/>
                        <a:pt x="552" y="519"/>
                        <a:pt x="571" y="519"/>
                      </a:cubicBezTo>
                      <a:cubicBezTo>
                        <a:pt x="588" y="519"/>
                        <a:pt x="605" y="525"/>
                        <a:pt x="619" y="537"/>
                      </a:cubicBezTo>
                      <a:cubicBezTo>
                        <a:pt x="632" y="550"/>
                        <a:pt x="640" y="567"/>
                        <a:pt x="641" y="586"/>
                      </a:cubicBezTo>
                      <a:cubicBezTo>
                        <a:pt x="642" y="605"/>
                        <a:pt x="635" y="623"/>
                        <a:pt x="622" y="636"/>
                      </a:cubicBezTo>
                      <a:cubicBezTo>
                        <a:pt x="596" y="665"/>
                        <a:pt x="552" y="666"/>
                        <a:pt x="524" y="640"/>
                      </a:cubicBezTo>
                      <a:close/>
                      <a:moveTo>
                        <a:pt x="589" y="955"/>
                      </a:moveTo>
                      <a:cubicBezTo>
                        <a:pt x="570" y="955"/>
                        <a:pt x="551" y="962"/>
                        <a:pt x="537" y="977"/>
                      </a:cubicBezTo>
                      <a:cubicBezTo>
                        <a:pt x="525" y="991"/>
                        <a:pt x="518" y="1009"/>
                        <a:pt x="519" y="1028"/>
                      </a:cubicBezTo>
                      <a:cubicBezTo>
                        <a:pt x="519" y="1046"/>
                        <a:pt x="527" y="1064"/>
                        <a:pt x="541" y="1076"/>
                      </a:cubicBezTo>
                      <a:cubicBezTo>
                        <a:pt x="569" y="1102"/>
                        <a:pt x="614" y="1101"/>
                        <a:pt x="640" y="1072"/>
                      </a:cubicBezTo>
                      <a:cubicBezTo>
                        <a:pt x="666" y="1044"/>
                        <a:pt x="665" y="1000"/>
                        <a:pt x="636" y="974"/>
                      </a:cubicBezTo>
                      <a:cubicBezTo>
                        <a:pt x="623" y="961"/>
                        <a:pt x="606" y="955"/>
                        <a:pt x="589" y="955"/>
                      </a:cubicBezTo>
                      <a:close/>
                      <a:moveTo>
                        <a:pt x="1349" y="292"/>
                      </a:moveTo>
                      <a:cubicBezTo>
                        <a:pt x="1263" y="669"/>
                        <a:pt x="1263" y="669"/>
                        <a:pt x="1263" y="669"/>
                      </a:cubicBezTo>
                      <a:cubicBezTo>
                        <a:pt x="598" y="1387"/>
                        <a:pt x="598" y="1387"/>
                        <a:pt x="598" y="1387"/>
                      </a:cubicBezTo>
                      <a:cubicBezTo>
                        <a:pt x="0" y="833"/>
                        <a:pt x="0" y="833"/>
                        <a:pt x="0" y="833"/>
                      </a:cubicBezTo>
                      <a:cubicBezTo>
                        <a:pt x="665" y="115"/>
                        <a:pt x="665" y="115"/>
                        <a:pt x="665" y="115"/>
                      </a:cubicBezTo>
                      <a:cubicBezTo>
                        <a:pt x="1035" y="0"/>
                        <a:pt x="1035" y="0"/>
                        <a:pt x="1035" y="0"/>
                      </a:cubicBezTo>
                      <a:lnTo>
                        <a:pt x="1349" y="292"/>
                      </a:lnTo>
                      <a:close/>
                      <a:moveTo>
                        <a:pt x="494" y="672"/>
                      </a:moveTo>
                      <a:cubicBezTo>
                        <a:pt x="516" y="693"/>
                        <a:pt x="543" y="703"/>
                        <a:pt x="571" y="703"/>
                      </a:cubicBezTo>
                      <a:cubicBezTo>
                        <a:pt x="602" y="703"/>
                        <a:pt x="632" y="690"/>
                        <a:pt x="655" y="666"/>
                      </a:cubicBezTo>
                      <a:cubicBezTo>
                        <a:pt x="675" y="644"/>
                        <a:pt x="686" y="615"/>
                        <a:pt x="685" y="584"/>
                      </a:cubicBezTo>
                      <a:cubicBezTo>
                        <a:pt x="684" y="554"/>
                        <a:pt x="671" y="526"/>
                        <a:pt x="649" y="505"/>
                      </a:cubicBezTo>
                      <a:cubicBezTo>
                        <a:pt x="626" y="484"/>
                        <a:pt x="597" y="474"/>
                        <a:pt x="567" y="475"/>
                      </a:cubicBezTo>
                      <a:cubicBezTo>
                        <a:pt x="536" y="476"/>
                        <a:pt x="508" y="489"/>
                        <a:pt x="488" y="511"/>
                      </a:cubicBezTo>
                      <a:cubicBezTo>
                        <a:pt x="445" y="557"/>
                        <a:pt x="448" y="630"/>
                        <a:pt x="494" y="672"/>
                      </a:cubicBezTo>
                      <a:close/>
                      <a:moveTo>
                        <a:pt x="666" y="941"/>
                      </a:moveTo>
                      <a:cubicBezTo>
                        <a:pt x="620" y="899"/>
                        <a:pt x="548" y="901"/>
                        <a:pt x="505" y="947"/>
                      </a:cubicBezTo>
                      <a:cubicBezTo>
                        <a:pt x="484" y="970"/>
                        <a:pt x="474" y="999"/>
                        <a:pt x="475" y="1029"/>
                      </a:cubicBezTo>
                      <a:cubicBezTo>
                        <a:pt x="476" y="1060"/>
                        <a:pt x="489" y="1088"/>
                        <a:pt x="511" y="1108"/>
                      </a:cubicBezTo>
                      <a:cubicBezTo>
                        <a:pt x="532" y="1128"/>
                        <a:pt x="560" y="1139"/>
                        <a:pt x="589" y="1139"/>
                      </a:cubicBezTo>
                      <a:cubicBezTo>
                        <a:pt x="590" y="1139"/>
                        <a:pt x="592" y="1139"/>
                        <a:pt x="593" y="1139"/>
                      </a:cubicBezTo>
                      <a:cubicBezTo>
                        <a:pt x="623" y="1138"/>
                        <a:pt x="652" y="1125"/>
                        <a:pt x="672" y="1102"/>
                      </a:cubicBezTo>
                      <a:cubicBezTo>
                        <a:pt x="715" y="1056"/>
                        <a:pt x="712" y="984"/>
                        <a:pt x="666" y="941"/>
                      </a:cubicBezTo>
                      <a:close/>
                      <a:moveTo>
                        <a:pt x="945" y="766"/>
                      </a:moveTo>
                      <a:cubicBezTo>
                        <a:pt x="944" y="754"/>
                        <a:pt x="933" y="745"/>
                        <a:pt x="921" y="746"/>
                      </a:cubicBezTo>
                      <a:cubicBezTo>
                        <a:pt x="248" y="809"/>
                        <a:pt x="248" y="809"/>
                        <a:pt x="248" y="809"/>
                      </a:cubicBezTo>
                      <a:cubicBezTo>
                        <a:pt x="236" y="810"/>
                        <a:pt x="227" y="821"/>
                        <a:pt x="228" y="833"/>
                      </a:cubicBezTo>
                      <a:cubicBezTo>
                        <a:pt x="229" y="845"/>
                        <a:pt x="239" y="853"/>
                        <a:pt x="250" y="853"/>
                      </a:cubicBezTo>
                      <a:cubicBezTo>
                        <a:pt x="251" y="853"/>
                        <a:pt x="251" y="853"/>
                        <a:pt x="252" y="853"/>
                      </a:cubicBezTo>
                      <a:cubicBezTo>
                        <a:pt x="925" y="790"/>
                        <a:pt x="925" y="790"/>
                        <a:pt x="925" y="790"/>
                      </a:cubicBezTo>
                      <a:cubicBezTo>
                        <a:pt x="937" y="789"/>
                        <a:pt x="946" y="778"/>
                        <a:pt x="945" y="766"/>
                      </a:cubicBezTo>
                      <a:close/>
                      <a:moveTo>
                        <a:pt x="1137" y="206"/>
                      </a:moveTo>
                      <a:cubicBezTo>
                        <a:pt x="1103" y="174"/>
                        <a:pt x="1050" y="176"/>
                        <a:pt x="1018" y="210"/>
                      </a:cubicBezTo>
                      <a:cubicBezTo>
                        <a:pt x="987" y="244"/>
                        <a:pt x="989" y="298"/>
                        <a:pt x="1023" y="329"/>
                      </a:cubicBezTo>
                      <a:cubicBezTo>
                        <a:pt x="1057" y="361"/>
                        <a:pt x="1110" y="359"/>
                        <a:pt x="1141" y="325"/>
                      </a:cubicBezTo>
                      <a:cubicBezTo>
                        <a:pt x="1173" y="290"/>
                        <a:pt x="1171" y="237"/>
                        <a:pt x="1137" y="20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65" name="Grupo 150"/>
            <p:cNvGrpSpPr/>
            <p:nvPr/>
          </p:nvGrpSpPr>
          <p:grpSpPr>
            <a:xfrm>
              <a:off x="3508385" y="5240778"/>
              <a:ext cx="972000" cy="1057733"/>
              <a:chOff x="3194451" y="5038757"/>
              <a:chExt cx="972000" cy="1057733"/>
            </a:xfrm>
          </p:grpSpPr>
          <p:sp>
            <p:nvSpPr>
              <p:cNvPr id="66" name="Rectangle: Rounded Corners 120"/>
              <p:cNvSpPr/>
              <p:nvPr/>
            </p:nvSpPr>
            <p:spPr>
              <a:xfrm>
                <a:off x="3194451" y="5038757"/>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PGP</a:t>
                </a:r>
              </a:p>
            </p:txBody>
          </p:sp>
          <p:grpSp>
            <p:nvGrpSpPr>
              <p:cNvPr id="67" name="bcgIcons_Management gender-neutral "/>
              <p:cNvGrpSpPr>
                <a:grpSpLocks noChangeAspect="1"/>
              </p:cNvGrpSpPr>
              <p:nvPr/>
            </p:nvGrpSpPr>
            <p:grpSpPr>
              <a:xfrm>
                <a:off x="3480725" y="5139393"/>
                <a:ext cx="380413" cy="380413"/>
                <a:chOff x="5273675" y="2606675"/>
                <a:chExt cx="1644650" cy="1644650"/>
              </a:xfrm>
            </p:grpSpPr>
            <p:sp>
              <p:nvSpPr>
                <p:cNvPr id="68"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69" name="Group 41"/>
                <p:cNvGrpSpPr>
                  <a:grpSpLocks/>
                </p:cNvGrpSpPr>
                <p:nvPr/>
              </p:nvGrpSpPr>
              <p:grpSpPr>
                <a:xfrm>
                  <a:off x="5480050" y="2773363"/>
                  <a:ext cx="1233488" cy="1271587"/>
                  <a:chOff x="5480050" y="2773363"/>
                  <a:chExt cx="1233488" cy="1271587"/>
                </a:xfrm>
              </p:grpSpPr>
              <p:sp>
                <p:nvSpPr>
                  <p:cNvPr id="70" name="Freeform 13"/>
                  <p:cNvSpPr>
                    <a:spLocks/>
                  </p:cNvSpPr>
                  <p:nvPr/>
                </p:nvSpPr>
                <p:spPr bwMode="auto">
                  <a:xfrm>
                    <a:off x="5480050" y="3114675"/>
                    <a:ext cx="1233488" cy="930275"/>
                  </a:xfrm>
                  <a:custGeom>
                    <a:avLst/>
                    <a:gdLst>
                      <a:gd name="connsiteX0" fmla="*/ 928688 w 1233488"/>
                      <a:gd name="connsiteY0" fmla="*/ 747713 h 930275"/>
                      <a:gd name="connsiteX1" fmla="*/ 928688 w 1233488"/>
                      <a:gd name="connsiteY1" fmla="*/ 898526 h 930275"/>
                      <a:gd name="connsiteX2" fmla="*/ 1201738 w 1233488"/>
                      <a:gd name="connsiteY2" fmla="*/ 898526 h 930275"/>
                      <a:gd name="connsiteX3" fmla="*/ 1201738 w 1233488"/>
                      <a:gd name="connsiteY3" fmla="*/ 747713 h 930275"/>
                      <a:gd name="connsiteX4" fmla="*/ 1065213 w 1233488"/>
                      <a:gd name="connsiteY4" fmla="*/ 747713 h 930275"/>
                      <a:gd name="connsiteX5" fmla="*/ 477838 w 1233488"/>
                      <a:gd name="connsiteY5" fmla="*/ 747713 h 930275"/>
                      <a:gd name="connsiteX6" fmla="*/ 477838 w 1233488"/>
                      <a:gd name="connsiteY6" fmla="*/ 898526 h 930275"/>
                      <a:gd name="connsiteX7" fmla="*/ 752476 w 1233488"/>
                      <a:gd name="connsiteY7" fmla="*/ 898526 h 930275"/>
                      <a:gd name="connsiteX8" fmla="*/ 752476 w 1233488"/>
                      <a:gd name="connsiteY8" fmla="*/ 747713 h 930275"/>
                      <a:gd name="connsiteX9" fmla="*/ 615951 w 1233488"/>
                      <a:gd name="connsiteY9" fmla="*/ 747713 h 930275"/>
                      <a:gd name="connsiteX10" fmla="*/ 31750 w 1233488"/>
                      <a:gd name="connsiteY10" fmla="*/ 747713 h 930275"/>
                      <a:gd name="connsiteX11" fmla="*/ 31750 w 1233488"/>
                      <a:gd name="connsiteY11" fmla="*/ 898526 h 930275"/>
                      <a:gd name="connsiteX12" fmla="*/ 304800 w 1233488"/>
                      <a:gd name="connsiteY12" fmla="*/ 898526 h 930275"/>
                      <a:gd name="connsiteX13" fmla="*/ 304800 w 1233488"/>
                      <a:gd name="connsiteY13" fmla="*/ 747713 h 930275"/>
                      <a:gd name="connsiteX14" fmla="*/ 168275 w 1233488"/>
                      <a:gd name="connsiteY14" fmla="*/ 747713 h 930275"/>
                      <a:gd name="connsiteX15" fmla="*/ 599612 w 1233488"/>
                      <a:gd name="connsiteY15" fmla="*/ 498475 h 930275"/>
                      <a:gd name="connsiteX16" fmla="*/ 631021 w 1233488"/>
                      <a:gd name="connsiteY16" fmla="*/ 498475 h 930275"/>
                      <a:gd name="connsiteX17" fmla="*/ 631021 w 1233488"/>
                      <a:gd name="connsiteY17" fmla="*/ 591259 h 930275"/>
                      <a:gd name="connsiteX18" fmla="*/ 1065740 w 1233488"/>
                      <a:gd name="connsiteY18" fmla="*/ 591259 h 930275"/>
                      <a:gd name="connsiteX19" fmla="*/ 1081444 w 1233488"/>
                      <a:gd name="connsiteY19" fmla="*/ 606960 h 930275"/>
                      <a:gd name="connsiteX20" fmla="*/ 1081444 w 1233488"/>
                      <a:gd name="connsiteY20" fmla="*/ 716873 h 930275"/>
                      <a:gd name="connsiteX21" fmla="*/ 1217784 w 1233488"/>
                      <a:gd name="connsiteY21" fmla="*/ 716873 h 930275"/>
                      <a:gd name="connsiteX22" fmla="*/ 1233488 w 1233488"/>
                      <a:gd name="connsiteY22" fmla="*/ 732575 h 930275"/>
                      <a:gd name="connsiteX23" fmla="*/ 1233488 w 1233488"/>
                      <a:gd name="connsiteY23" fmla="*/ 914573 h 930275"/>
                      <a:gd name="connsiteX24" fmla="*/ 1217784 w 1233488"/>
                      <a:gd name="connsiteY24" fmla="*/ 930275 h 930275"/>
                      <a:gd name="connsiteX25" fmla="*/ 912981 w 1233488"/>
                      <a:gd name="connsiteY25" fmla="*/ 930275 h 930275"/>
                      <a:gd name="connsiteX26" fmla="*/ 897277 w 1233488"/>
                      <a:gd name="connsiteY26" fmla="*/ 914573 h 930275"/>
                      <a:gd name="connsiteX27" fmla="*/ 897277 w 1233488"/>
                      <a:gd name="connsiteY27" fmla="*/ 732575 h 930275"/>
                      <a:gd name="connsiteX28" fmla="*/ 912981 w 1233488"/>
                      <a:gd name="connsiteY28" fmla="*/ 716873 h 930275"/>
                      <a:gd name="connsiteX29" fmla="*/ 1050035 w 1233488"/>
                      <a:gd name="connsiteY29" fmla="*/ 716873 h 930275"/>
                      <a:gd name="connsiteX30" fmla="*/ 1050035 w 1233488"/>
                      <a:gd name="connsiteY30" fmla="*/ 622662 h 930275"/>
                      <a:gd name="connsiteX31" fmla="*/ 631021 w 1233488"/>
                      <a:gd name="connsiteY31" fmla="*/ 622662 h 930275"/>
                      <a:gd name="connsiteX32" fmla="*/ 631021 w 1233488"/>
                      <a:gd name="connsiteY32" fmla="*/ 716873 h 930275"/>
                      <a:gd name="connsiteX33" fmla="*/ 767361 w 1233488"/>
                      <a:gd name="connsiteY33" fmla="*/ 716873 h 930275"/>
                      <a:gd name="connsiteX34" fmla="*/ 783065 w 1233488"/>
                      <a:gd name="connsiteY34" fmla="*/ 732575 h 930275"/>
                      <a:gd name="connsiteX35" fmla="*/ 783065 w 1233488"/>
                      <a:gd name="connsiteY35" fmla="*/ 914573 h 930275"/>
                      <a:gd name="connsiteX36" fmla="*/ 767361 w 1233488"/>
                      <a:gd name="connsiteY36" fmla="*/ 930275 h 930275"/>
                      <a:gd name="connsiteX37" fmla="*/ 462558 w 1233488"/>
                      <a:gd name="connsiteY37" fmla="*/ 930275 h 930275"/>
                      <a:gd name="connsiteX38" fmla="*/ 446854 w 1233488"/>
                      <a:gd name="connsiteY38" fmla="*/ 914573 h 930275"/>
                      <a:gd name="connsiteX39" fmla="*/ 446854 w 1233488"/>
                      <a:gd name="connsiteY39" fmla="*/ 732575 h 930275"/>
                      <a:gd name="connsiteX40" fmla="*/ 462558 w 1233488"/>
                      <a:gd name="connsiteY40" fmla="*/ 716873 h 930275"/>
                      <a:gd name="connsiteX41" fmla="*/ 599612 w 1233488"/>
                      <a:gd name="connsiteY41" fmla="*/ 716873 h 930275"/>
                      <a:gd name="connsiteX42" fmla="*/ 599612 w 1233488"/>
                      <a:gd name="connsiteY42" fmla="*/ 622662 h 930275"/>
                      <a:gd name="connsiteX43" fmla="*/ 183453 w 1233488"/>
                      <a:gd name="connsiteY43" fmla="*/ 622662 h 930275"/>
                      <a:gd name="connsiteX44" fmla="*/ 183453 w 1233488"/>
                      <a:gd name="connsiteY44" fmla="*/ 716873 h 930275"/>
                      <a:gd name="connsiteX45" fmla="*/ 320507 w 1233488"/>
                      <a:gd name="connsiteY45" fmla="*/ 716873 h 930275"/>
                      <a:gd name="connsiteX46" fmla="*/ 336211 w 1233488"/>
                      <a:gd name="connsiteY46" fmla="*/ 732575 h 930275"/>
                      <a:gd name="connsiteX47" fmla="*/ 336211 w 1233488"/>
                      <a:gd name="connsiteY47" fmla="*/ 914573 h 930275"/>
                      <a:gd name="connsiteX48" fmla="*/ 320507 w 1233488"/>
                      <a:gd name="connsiteY48" fmla="*/ 930275 h 930275"/>
                      <a:gd name="connsiteX49" fmla="*/ 15704 w 1233488"/>
                      <a:gd name="connsiteY49" fmla="*/ 930275 h 930275"/>
                      <a:gd name="connsiteX50" fmla="*/ 0 w 1233488"/>
                      <a:gd name="connsiteY50" fmla="*/ 914573 h 930275"/>
                      <a:gd name="connsiteX51" fmla="*/ 0 w 1233488"/>
                      <a:gd name="connsiteY51" fmla="*/ 732575 h 930275"/>
                      <a:gd name="connsiteX52" fmla="*/ 15704 w 1233488"/>
                      <a:gd name="connsiteY52" fmla="*/ 716873 h 930275"/>
                      <a:gd name="connsiteX53" fmla="*/ 152045 w 1233488"/>
                      <a:gd name="connsiteY53" fmla="*/ 716873 h 930275"/>
                      <a:gd name="connsiteX54" fmla="*/ 152045 w 1233488"/>
                      <a:gd name="connsiteY54" fmla="*/ 606960 h 930275"/>
                      <a:gd name="connsiteX55" fmla="*/ 167749 w 1233488"/>
                      <a:gd name="connsiteY55" fmla="*/ 591259 h 930275"/>
                      <a:gd name="connsiteX56" fmla="*/ 599612 w 1233488"/>
                      <a:gd name="connsiteY56" fmla="*/ 591259 h 930275"/>
                      <a:gd name="connsiteX57" fmla="*/ 599612 w 1233488"/>
                      <a:gd name="connsiteY57" fmla="*/ 498475 h 930275"/>
                      <a:gd name="connsiteX58" fmla="*/ 480296 w 1233488"/>
                      <a:gd name="connsiteY58" fmla="*/ 276225 h 930275"/>
                      <a:gd name="connsiteX59" fmla="*/ 613094 w 1233488"/>
                      <a:gd name="connsiteY59" fmla="*/ 384270 h 930275"/>
                      <a:gd name="connsiteX60" fmla="*/ 618806 w 1233488"/>
                      <a:gd name="connsiteY60" fmla="*/ 384270 h 930275"/>
                      <a:gd name="connsiteX61" fmla="*/ 751604 w 1233488"/>
                      <a:gd name="connsiteY61" fmla="*/ 276225 h 930275"/>
                      <a:gd name="connsiteX62" fmla="*/ 931525 w 1233488"/>
                      <a:gd name="connsiteY62" fmla="*/ 306790 h 930275"/>
                      <a:gd name="connsiteX63" fmla="*/ 1032908 w 1233488"/>
                      <a:gd name="connsiteY63" fmla="*/ 453219 h 930275"/>
                      <a:gd name="connsiteX64" fmla="*/ 1022913 w 1233488"/>
                      <a:gd name="connsiteY64" fmla="*/ 466725 h 930275"/>
                      <a:gd name="connsiteX65" fmla="*/ 630230 w 1233488"/>
                      <a:gd name="connsiteY65" fmla="*/ 466725 h 930275"/>
                      <a:gd name="connsiteX66" fmla="*/ 598815 w 1233488"/>
                      <a:gd name="connsiteY66" fmla="*/ 466725 h 930275"/>
                      <a:gd name="connsiteX67" fmla="*/ 208988 w 1233488"/>
                      <a:gd name="connsiteY67" fmla="*/ 466725 h 930275"/>
                      <a:gd name="connsiteX68" fmla="*/ 198992 w 1233488"/>
                      <a:gd name="connsiteY68" fmla="*/ 453219 h 930275"/>
                      <a:gd name="connsiteX69" fmla="*/ 300376 w 1233488"/>
                      <a:gd name="connsiteY69" fmla="*/ 306790 h 930275"/>
                      <a:gd name="connsiteX70" fmla="*/ 480296 w 1233488"/>
                      <a:gd name="connsiteY70" fmla="*/ 276225 h 930275"/>
                      <a:gd name="connsiteX71" fmla="*/ 395288 w 1233488"/>
                      <a:gd name="connsiteY71" fmla="*/ 0 h 930275"/>
                      <a:gd name="connsiteX72" fmla="*/ 413842 w 1233488"/>
                      <a:gd name="connsiteY72" fmla="*/ 5716 h 930275"/>
                      <a:gd name="connsiteX73" fmla="*/ 420264 w 1233488"/>
                      <a:gd name="connsiteY73" fmla="*/ 5002 h 930275"/>
                      <a:gd name="connsiteX74" fmla="*/ 440959 w 1233488"/>
                      <a:gd name="connsiteY74" fmla="*/ 28583 h 930275"/>
                      <a:gd name="connsiteX75" fmla="*/ 445954 w 1233488"/>
                      <a:gd name="connsiteY75" fmla="*/ 34300 h 930275"/>
                      <a:gd name="connsiteX76" fmla="*/ 512319 w 1233488"/>
                      <a:gd name="connsiteY76" fmla="*/ 174357 h 930275"/>
                      <a:gd name="connsiteX77" fmla="*/ 616504 w 1233488"/>
                      <a:gd name="connsiteY77" fmla="*/ 226521 h 930275"/>
                      <a:gd name="connsiteX78" fmla="*/ 720690 w 1233488"/>
                      <a:gd name="connsiteY78" fmla="*/ 174357 h 930275"/>
                      <a:gd name="connsiteX79" fmla="*/ 787054 w 1233488"/>
                      <a:gd name="connsiteY79" fmla="*/ 34300 h 930275"/>
                      <a:gd name="connsiteX80" fmla="*/ 792049 w 1233488"/>
                      <a:gd name="connsiteY80" fmla="*/ 28583 h 930275"/>
                      <a:gd name="connsiteX81" fmla="*/ 798472 w 1233488"/>
                      <a:gd name="connsiteY81" fmla="*/ 24296 h 930275"/>
                      <a:gd name="connsiteX82" fmla="*/ 832011 w 1233488"/>
                      <a:gd name="connsiteY82" fmla="*/ 15006 h 930275"/>
                      <a:gd name="connsiteX83" fmla="*/ 832725 w 1233488"/>
                      <a:gd name="connsiteY83" fmla="*/ 14291 h 930275"/>
                      <a:gd name="connsiteX84" fmla="*/ 833438 w 1233488"/>
                      <a:gd name="connsiteY84" fmla="*/ 14291 h 930275"/>
                      <a:gd name="connsiteX85" fmla="*/ 806321 w 1233488"/>
                      <a:gd name="connsiteY85" fmla="*/ 46447 h 930275"/>
                      <a:gd name="connsiteX86" fmla="*/ 735675 w 1233488"/>
                      <a:gd name="connsiteY86" fmla="*/ 191507 h 930275"/>
                      <a:gd name="connsiteX87" fmla="*/ 727112 w 1233488"/>
                      <a:gd name="connsiteY87" fmla="*/ 197938 h 930275"/>
                      <a:gd name="connsiteX88" fmla="*/ 727112 w 1233488"/>
                      <a:gd name="connsiteY88" fmla="*/ 257248 h 930275"/>
                      <a:gd name="connsiteX89" fmla="*/ 726398 w 1233488"/>
                      <a:gd name="connsiteY89" fmla="*/ 257963 h 930275"/>
                      <a:gd name="connsiteX90" fmla="*/ 704277 w 1233488"/>
                      <a:gd name="connsiteY90" fmla="*/ 279400 h 930275"/>
                      <a:gd name="connsiteX91" fmla="*/ 704277 w 1233488"/>
                      <a:gd name="connsiteY91" fmla="*/ 214373 h 930275"/>
                      <a:gd name="connsiteX92" fmla="*/ 616504 w 1233488"/>
                      <a:gd name="connsiteY92" fmla="*/ 249388 h 930275"/>
                      <a:gd name="connsiteX93" fmla="*/ 528731 w 1233488"/>
                      <a:gd name="connsiteY93" fmla="*/ 214373 h 930275"/>
                      <a:gd name="connsiteX94" fmla="*/ 528731 w 1233488"/>
                      <a:gd name="connsiteY94" fmla="*/ 279400 h 930275"/>
                      <a:gd name="connsiteX95" fmla="*/ 506610 w 1233488"/>
                      <a:gd name="connsiteY95" fmla="*/ 257963 h 930275"/>
                      <a:gd name="connsiteX96" fmla="*/ 505896 w 1233488"/>
                      <a:gd name="connsiteY96" fmla="*/ 257248 h 930275"/>
                      <a:gd name="connsiteX97" fmla="*/ 505896 w 1233488"/>
                      <a:gd name="connsiteY97" fmla="*/ 197938 h 930275"/>
                      <a:gd name="connsiteX98" fmla="*/ 497333 w 1233488"/>
                      <a:gd name="connsiteY98" fmla="*/ 191507 h 930275"/>
                      <a:gd name="connsiteX99" fmla="*/ 426687 w 1233488"/>
                      <a:gd name="connsiteY99" fmla="*/ 46447 h 930275"/>
                      <a:gd name="connsiteX100" fmla="*/ 395288 w 1233488"/>
                      <a:gd name="connsiteY100"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233488" h="930275">
                        <a:moveTo>
                          <a:pt x="928688" y="747713"/>
                        </a:moveTo>
                        <a:lnTo>
                          <a:pt x="928688" y="898526"/>
                        </a:lnTo>
                        <a:lnTo>
                          <a:pt x="1201738" y="898526"/>
                        </a:lnTo>
                        <a:lnTo>
                          <a:pt x="1201738" y="747713"/>
                        </a:lnTo>
                        <a:lnTo>
                          <a:pt x="1065213" y="747713"/>
                        </a:lnTo>
                        <a:close/>
                        <a:moveTo>
                          <a:pt x="477838" y="747713"/>
                        </a:moveTo>
                        <a:lnTo>
                          <a:pt x="477838" y="898526"/>
                        </a:lnTo>
                        <a:lnTo>
                          <a:pt x="752476" y="898526"/>
                        </a:lnTo>
                        <a:lnTo>
                          <a:pt x="752476" y="747713"/>
                        </a:lnTo>
                        <a:lnTo>
                          <a:pt x="615951" y="747713"/>
                        </a:lnTo>
                        <a:close/>
                        <a:moveTo>
                          <a:pt x="31750" y="747713"/>
                        </a:moveTo>
                        <a:lnTo>
                          <a:pt x="31750" y="898526"/>
                        </a:lnTo>
                        <a:lnTo>
                          <a:pt x="304800" y="898526"/>
                        </a:lnTo>
                        <a:lnTo>
                          <a:pt x="304800" y="747713"/>
                        </a:lnTo>
                        <a:lnTo>
                          <a:pt x="168275" y="747713"/>
                        </a:lnTo>
                        <a:close/>
                        <a:moveTo>
                          <a:pt x="599612" y="498475"/>
                        </a:moveTo>
                        <a:cubicBezTo>
                          <a:pt x="599612" y="498475"/>
                          <a:pt x="599612" y="498475"/>
                          <a:pt x="631021" y="498475"/>
                        </a:cubicBezTo>
                        <a:cubicBezTo>
                          <a:pt x="631021" y="498475"/>
                          <a:pt x="631021" y="498475"/>
                          <a:pt x="631021" y="591259"/>
                        </a:cubicBezTo>
                        <a:cubicBezTo>
                          <a:pt x="631021" y="591259"/>
                          <a:pt x="631021" y="591259"/>
                          <a:pt x="1065740" y="591259"/>
                        </a:cubicBezTo>
                        <a:cubicBezTo>
                          <a:pt x="1074305" y="591259"/>
                          <a:pt x="1081444" y="598396"/>
                          <a:pt x="1081444" y="606960"/>
                        </a:cubicBezTo>
                        <a:cubicBezTo>
                          <a:pt x="1081444" y="606960"/>
                          <a:pt x="1081444" y="606960"/>
                          <a:pt x="1081444" y="716873"/>
                        </a:cubicBezTo>
                        <a:cubicBezTo>
                          <a:pt x="1081444" y="716873"/>
                          <a:pt x="1081444" y="716873"/>
                          <a:pt x="1217784" y="716873"/>
                        </a:cubicBezTo>
                        <a:cubicBezTo>
                          <a:pt x="1226350" y="716873"/>
                          <a:pt x="1233488" y="724010"/>
                          <a:pt x="1233488" y="732575"/>
                        </a:cubicBezTo>
                        <a:cubicBezTo>
                          <a:pt x="1233488" y="732575"/>
                          <a:pt x="1233488" y="732575"/>
                          <a:pt x="1233488" y="914573"/>
                        </a:cubicBezTo>
                        <a:cubicBezTo>
                          <a:pt x="1233488" y="923138"/>
                          <a:pt x="1226350" y="930275"/>
                          <a:pt x="1217784" y="930275"/>
                        </a:cubicBezTo>
                        <a:cubicBezTo>
                          <a:pt x="1217784" y="930275"/>
                          <a:pt x="1217784" y="930275"/>
                          <a:pt x="912981" y="930275"/>
                        </a:cubicBezTo>
                        <a:cubicBezTo>
                          <a:pt x="904415" y="930275"/>
                          <a:pt x="897277" y="923138"/>
                          <a:pt x="897277" y="914573"/>
                        </a:cubicBezTo>
                        <a:cubicBezTo>
                          <a:pt x="897277" y="914573"/>
                          <a:pt x="897277" y="914573"/>
                          <a:pt x="897277" y="732575"/>
                        </a:cubicBezTo>
                        <a:cubicBezTo>
                          <a:pt x="897277" y="724010"/>
                          <a:pt x="904415" y="716873"/>
                          <a:pt x="912981" y="716873"/>
                        </a:cubicBezTo>
                        <a:cubicBezTo>
                          <a:pt x="912981" y="716873"/>
                          <a:pt x="912981" y="716873"/>
                          <a:pt x="1050035" y="716873"/>
                        </a:cubicBezTo>
                        <a:cubicBezTo>
                          <a:pt x="1050035" y="716873"/>
                          <a:pt x="1050035" y="716873"/>
                          <a:pt x="1050035" y="622662"/>
                        </a:cubicBezTo>
                        <a:cubicBezTo>
                          <a:pt x="1050035" y="622662"/>
                          <a:pt x="1050035" y="622662"/>
                          <a:pt x="631021" y="622662"/>
                        </a:cubicBezTo>
                        <a:cubicBezTo>
                          <a:pt x="631021" y="622662"/>
                          <a:pt x="631021" y="622662"/>
                          <a:pt x="631021" y="716873"/>
                        </a:cubicBezTo>
                        <a:cubicBezTo>
                          <a:pt x="631021" y="716873"/>
                          <a:pt x="631021" y="716873"/>
                          <a:pt x="767361" y="716873"/>
                        </a:cubicBezTo>
                        <a:cubicBezTo>
                          <a:pt x="775927" y="716873"/>
                          <a:pt x="783065" y="724010"/>
                          <a:pt x="783065" y="732575"/>
                        </a:cubicBezTo>
                        <a:cubicBezTo>
                          <a:pt x="783065" y="732575"/>
                          <a:pt x="783065" y="732575"/>
                          <a:pt x="783065" y="914573"/>
                        </a:cubicBezTo>
                        <a:cubicBezTo>
                          <a:pt x="783065" y="923138"/>
                          <a:pt x="775927" y="930275"/>
                          <a:pt x="767361" y="930275"/>
                        </a:cubicBezTo>
                        <a:cubicBezTo>
                          <a:pt x="767361" y="930275"/>
                          <a:pt x="767361" y="930275"/>
                          <a:pt x="462558" y="930275"/>
                        </a:cubicBezTo>
                        <a:cubicBezTo>
                          <a:pt x="453992" y="930275"/>
                          <a:pt x="446854" y="923138"/>
                          <a:pt x="446854" y="914573"/>
                        </a:cubicBezTo>
                        <a:cubicBezTo>
                          <a:pt x="446854" y="914573"/>
                          <a:pt x="446854" y="914573"/>
                          <a:pt x="446854" y="732575"/>
                        </a:cubicBezTo>
                        <a:cubicBezTo>
                          <a:pt x="446854" y="724010"/>
                          <a:pt x="453992" y="716873"/>
                          <a:pt x="462558" y="716873"/>
                        </a:cubicBezTo>
                        <a:cubicBezTo>
                          <a:pt x="462558" y="716873"/>
                          <a:pt x="462558" y="716873"/>
                          <a:pt x="599612" y="716873"/>
                        </a:cubicBezTo>
                        <a:cubicBezTo>
                          <a:pt x="599612" y="716873"/>
                          <a:pt x="599612" y="716873"/>
                          <a:pt x="599612" y="622662"/>
                        </a:cubicBezTo>
                        <a:cubicBezTo>
                          <a:pt x="599612" y="622662"/>
                          <a:pt x="599612" y="622662"/>
                          <a:pt x="183453" y="622662"/>
                        </a:cubicBezTo>
                        <a:cubicBezTo>
                          <a:pt x="183453" y="622662"/>
                          <a:pt x="183453" y="622662"/>
                          <a:pt x="183453" y="716873"/>
                        </a:cubicBezTo>
                        <a:cubicBezTo>
                          <a:pt x="183453" y="716873"/>
                          <a:pt x="183453" y="716873"/>
                          <a:pt x="320507" y="716873"/>
                        </a:cubicBezTo>
                        <a:cubicBezTo>
                          <a:pt x="329073" y="716873"/>
                          <a:pt x="336211" y="724010"/>
                          <a:pt x="336211" y="732575"/>
                        </a:cubicBezTo>
                        <a:cubicBezTo>
                          <a:pt x="336211" y="732575"/>
                          <a:pt x="336211" y="732575"/>
                          <a:pt x="336211" y="914573"/>
                        </a:cubicBezTo>
                        <a:cubicBezTo>
                          <a:pt x="336211" y="923138"/>
                          <a:pt x="329073" y="930275"/>
                          <a:pt x="320507" y="930275"/>
                        </a:cubicBezTo>
                        <a:cubicBezTo>
                          <a:pt x="320507" y="930275"/>
                          <a:pt x="320507" y="930275"/>
                          <a:pt x="15704" y="930275"/>
                        </a:cubicBezTo>
                        <a:cubicBezTo>
                          <a:pt x="7138" y="930275"/>
                          <a:pt x="0" y="923138"/>
                          <a:pt x="0" y="914573"/>
                        </a:cubicBezTo>
                        <a:cubicBezTo>
                          <a:pt x="0" y="914573"/>
                          <a:pt x="0" y="914573"/>
                          <a:pt x="0" y="732575"/>
                        </a:cubicBezTo>
                        <a:cubicBezTo>
                          <a:pt x="0" y="724010"/>
                          <a:pt x="7138" y="716873"/>
                          <a:pt x="15704" y="716873"/>
                        </a:cubicBezTo>
                        <a:cubicBezTo>
                          <a:pt x="15704" y="716873"/>
                          <a:pt x="15704" y="716873"/>
                          <a:pt x="152045" y="716873"/>
                        </a:cubicBezTo>
                        <a:cubicBezTo>
                          <a:pt x="152045" y="716873"/>
                          <a:pt x="152045" y="716873"/>
                          <a:pt x="152045" y="606960"/>
                        </a:cubicBezTo>
                        <a:cubicBezTo>
                          <a:pt x="152045" y="598396"/>
                          <a:pt x="159183" y="591259"/>
                          <a:pt x="167749" y="591259"/>
                        </a:cubicBezTo>
                        <a:cubicBezTo>
                          <a:pt x="167749" y="591259"/>
                          <a:pt x="167749" y="591259"/>
                          <a:pt x="599612" y="591259"/>
                        </a:cubicBezTo>
                        <a:cubicBezTo>
                          <a:pt x="599612" y="591259"/>
                          <a:pt x="599612" y="591259"/>
                          <a:pt x="599612" y="498475"/>
                        </a:cubicBezTo>
                        <a:close/>
                        <a:moveTo>
                          <a:pt x="480296" y="276225"/>
                        </a:moveTo>
                        <a:cubicBezTo>
                          <a:pt x="480296" y="276225"/>
                          <a:pt x="570256" y="350150"/>
                          <a:pt x="613094" y="384270"/>
                        </a:cubicBezTo>
                        <a:cubicBezTo>
                          <a:pt x="614522" y="385691"/>
                          <a:pt x="617378" y="385691"/>
                          <a:pt x="618806" y="384270"/>
                        </a:cubicBezTo>
                        <a:cubicBezTo>
                          <a:pt x="676638" y="338066"/>
                          <a:pt x="751604" y="276225"/>
                          <a:pt x="751604" y="276225"/>
                        </a:cubicBezTo>
                        <a:cubicBezTo>
                          <a:pt x="751604" y="276225"/>
                          <a:pt x="868695" y="277647"/>
                          <a:pt x="931525" y="306790"/>
                        </a:cubicBezTo>
                        <a:cubicBezTo>
                          <a:pt x="982930" y="329536"/>
                          <a:pt x="1020057" y="419100"/>
                          <a:pt x="1032908" y="453219"/>
                        </a:cubicBezTo>
                        <a:cubicBezTo>
                          <a:pt x="1035050" y="459617"/>
                          <a:pt x="1030052" y="466725"/>
                          <a:pt x="1022913" y="466725"/>
                        </a:cubicBezTo>
                        <a:cubicBezTo>
                          <a:pt x="1022913" y="466725"/>
                          <a:pt x="1022913" y="466725"/>
                          <a:pt x="630230" y="466725"/>
                        </a:cubicBezTo>
                        <a:cubicBezTo>
                          <a:pt x="630230" y="466725"/>
                          <a:pt x="630230" y="466725"/>
                          <a:pt x="598815" y="466725"/>
                        </a:cubicBezTo>
                        <a:cubicBezTo>
                          <a:pt x="598815" y="466725"/>
                          <a:pt x="598815" y="466725"/>
                          <a:pt x="208988" y="466725"/>
                        </a:cubicBezTo>
                        <a:cubicBezTo>
                          <a:pt x="201848" y="466725"/>
                          <a:pt x="196850" y="459617"/>
                          <a:pt x="198992" y="453219"/>
                        </a:cubicBezTo>
                        <a:cubicBezTo>
                          <a:pt x="211844" y="419100"/>
                          <a:pt x="248970" y="329536"/>
                          <a:pt x="300376" y="306790"/>
                        </a:cubicBezTo>
                        <a:cubicBezTo>
                          <a:pt x="363205" y="277647"/>
                          <a:pt x="480296" y="276225"/>
                          <a:pt x="480296" y="276225"/>
                        </a:cubicBezTo>
                        <a:close/>
                        <a:moveTo>
                          <a:pt x="395288" y="0"/>
                        </a:moveTo>
                        <a:cubicBezTo>
                          <a:pt x="401711" y="4287"/>
                          <a:pt x="408847" y="5716"/>
                          <a:pt x="413842" y="5716"/>
                        </a:cubicBezTo>
                        <a:cubicBezTo>
                          <a:pt x="415269" y="5716"/>
                          <a:pt x="418123" y="5716"/>
                          <a:pt x="420264" y="5002"/>
                        </a:cubicBezTo>
                        <a:cubicBezTo>
                          <a:pt x="423832" y="13577"/>
                          <a:pt x="429541" y="22866"/>
                          <a:pt x="440959" y="28583"/>
                        </a:cubicBezTo>
                        <a:cubicBezTo>
                          <a:pt x="443099" y="29298"/>
                          <a:pt x="445240" y="31441"/>
                          <a:pt x="445954" y="34300"/>
                        </a:cubicBezTo>
                        <a:cubicBezTo>
                          <a:pt x="464507" y="82176"/>
                          <a:pt x="499474" y="162209"/>
                          <a:pt x="512319" y="174357"/>
                        </a:cubicBezTo>
                        <a:cubicBezTo>
                          <a:pt x="532299" y="191507"/>
                          <a:pt x="587246" y="226521"/>
                          <a:pt x="616504" y="226521"/>
                        </a:cubicBezTo>
                        <a:cubicBezTo>
                          <a:pt x="645762" y="226521"/>
                          <a:pt x="700709" y="191507"/>
                          <a:pt x="720690" y="174357"/>
                        </a:cubicBezTo>
                        <a:cubicBezTo>
                          <a:pt x="733534" y="162209"/>
                          <a:pt x="767787" y="82176"/>
                          <a:pt x="787054" y="34300"/>
                        </a:cubicBezTo>
                        <a:cubicBezTo>
                          <a:pt x="787768" y="31441"/>
                          <a:pt x="789909" y="29298"/>
                          <a:pt x="792049" y="28583"/>
                        </a:cubicBezTo>
                        <a:cubicBezTo>
                          <a:pt x="794904" y="27154"/>
                          <a:pt x="797045" y="25725"/>
                          <a:pt x="798472" y="24296"/>
                        </a:cubicBezTo>
                        <a:cubicBezTo>
                          <a:pt x="811317" y="22866"/>
                          <a:pt x="823448" y="18579"/>
                          <a:pt x="832011" y="15006"/>
                        </a:cubicBezTo>
                        <a:cubicBezTo>
                          <a:pt x="832011" y="15006"/>
                          <a:pt x="832011" y="15006"/>
                          <a:pt x="832725" y="14291"/>
                        </a:cubicBezTo>
                        <a:cubicBezTo>
                          <a:pt x="833438" y="14291"/>
                          <a:pt x="833438" y="14291"/>
                          <a:pt x="833438" y="14291"/>
                        </a:cubicBezTo>
                        <a:cubicBezTo>
                          <a:pt x="829157" y="25010"/>
                          <a:pt x="820593" y="37873"/>
                          <a:pt x="806321" y="46447"/>
                        </a:cubicBezTo>
                        <a:cubicBezTo>
                          <a:pt x="795617" y="75031"/>
                          <a:pt x="755656" y="173642"/>
                          <a:pt x="735675" y="191507"/>
                        </a:cubicBezTo>
                        <a:cubicBezTo>
                          <a:pt x="732821" y="192936"/>
                          <a:pt x="730680" y="195794"/>
                          <a:pt x="727112" y="197938"/>
                        </a:cubicBezTo>
                        <a:cubicBezTo>
                          <a:pt x="727112" y="197938"/>
                          <a:pt x="727112" y="197938"/>
                          <a:pt x="727112" y="257248"/>
                        </a:cubicBezTo>
                        <a:cubicBezTo>
                          <a:pt x="727112" y="257248"/>
                          <a:pt x="727112" y="257248"/>
                          <a:pt x="726398" y="257963"/>
                        </a:cubicBezTo>
                        <a:cubicBezTo>
                          <a:pt x="725685" y="258677"/>
                          <a:pt x="718549" y="268681"/>
                          <a:pt x="704277" y="279400"/>
                        </a:cubicBezTo>
                        <a:cubicBezTo>
                          <a:pt x="704277" y="279400"/>
                          <a:pt x="704277" y="279400"/>
                          <a:pt x="704277" y="214373"/>
                        </a:cubicBezTo>
                        <a:cubicBezTo>
                          <a:pt x="677160" y="231523"/>
                          <a:pt x="642194" y="249388"/>
                          <a:pt x="616504" y="249388"/>
                        </a:cubicBezTo>
                        <a:cubicBezTo>
                          <a:pt x="590814" y="249388"/>
                          <a:pt x="555848" y="231523"/>
                          <a:pt x="528731" y="214373"/>
                        </a:cubicBezTo>
                        <a:cubicBezTo>
                          <a:pt x="528731" y="214373"/>
                          <a:pt x="528731" y="214373"/>
                          <a:pt x="528731" y="279400"/>
                        </a:cubicBezTo>
                        <a:cubicBezTo>
                          <a:pt x="514459" y="268681"/>
                          <a:pt x="507323" y="258677"/>
                          <a:pt x="506610" y="257963"/>
                        </a:cubicBezTo>
                        <a:cubicBezTo>
                          <a:pt x="506610" y="257963"/>
                          <a:pt x="506610" y="257963"/>
                          <a:pt x="505896" y="257248"/>
                        </a:cubicBezTo>
                        <a:cubicBezTo>
                          <a:pt x="505896" y="257248"/>
                          <a:pt x="505896" y="257248"/>
                          <a:pt x="505896" y="197938"/>
                        </a:cubicBezTo>
                        <a:cubicBezTo>
                          <a:pt x="502328" y="195794"/>
                          <a:pt x="499474" y="192936"/>
                          <a:pt x="497333" y="191507"/>
                        </a:cubicBezTo>
                        <a:cubicBezTo>
                          <a:pt x="477352" y="173642"/>
                          <a:pt x="437391" y="75031"/>
                          <a:pt x="426687" y="46447"/>
                        </a:cubicBezTo>
                        <a:cubicBezTo>
                          <a:pt x="405992" y="34300"/>
                          <a:pt x="398143" y="13577"/>
                          <a:pt x="395288"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71" name="Freeform 14"/>
                  <p:cNvSpPr>
                    <a:spLocks/>
                  </p:cNvSpPr>
                  <p:nvPr/>
                </p:nvSpPr>
                <p:spPr bwMode="auto">
                  <a:xfrm>
                    <a:off x="5543550" y="2773363"/>
                    <a:ext cx="1106488" cy="1209675"/>
                  </a:xfrm>
                  <a:custGeom>
                    <a:avLst/>
                    <a:gdLst>
                      <a:gd name="connsiteX0" fmla="*/ 904042 w 1106488"/>
                      <a:gd name="connsiteY0" fmla="*/ 1120775 h 1209675"/>
                      <a:gd name="connsiteX1" fmla="*/ 1099385 w 1106488"/>
                      <a:gd name="connsiteY1" fmla="*/ 1120775 h 1209675"/>
                      <a:gd name="connsiteX2" fmla="*/ 1106488 w 1106488"/>
                      <a:gd name="connsiteY2" fmla="*/ 1128003 h 1209675"/>
                      <a:gd name="connsiteX3" fmla="*/ 1106488 w 1106488"/>
                      <a:gd name="connsiteY3" fmla="*/ 1202447 h 1209675"/>
                      <a:gd name="connsiteX4" fmla="*/ 1099385 w 1106488"/>
                      <a:gd name="connsiteY4" fmla="*/ 1209675 h 1209675"/>
                      <a:gd name="connsiteX5" fmla="*/ 904042 w 1106488"/>
                      <a:gd name="connsiteY5" fmla="*/ 1209675 h 1209675"/>
                      <a:gd name="connsiteX6" fmla="*/ 896938 w 1106488"/>
                      <a:gd name="connsiteY6" fmla="*/ 1202447 h 1209675"/>
                      <a:gd name="connsiteX7" fmla="*/ 896938 w 1106488"/>
                      <a:gd name="connsiteY7" fmla="*/ 1128003 h 1209675"/>
                      <a:gd name="connsiteX8" fmla="*/ 904042 w 1106488"/>
                      <a:gd name="connsiteY8" fmla="*/ 1120775 h 1209675"/>
                      <a:gd name="connsiteX9" fmla="*/ 453245 w 1106488"/>
                      <a:gd name="connsiteY9" fmla="*/ 1120775 h 1209675"/>
                      <a:gd name="connsiteX10" fmla="*/ 650069 w 1106488"/>
                      <a:gd name="connsiteY10" fmla="*/ 1120775 h 1209675"/>
                      <a:gd name="connsiteX11" fmla="*/ 657226 w 1106488"/>
                      <a:gd name="connsiteY11" fmla="*/ 1128003 h 1209675"/>
                      <a:gd name="connsiteX12" fmla="*/ 657226 w 1106488"/>
                      <a:gd name="connsiteY12" fmla="*/ 1202447 h 1209675"/>
                      <a:gd name="connsiteX13" fmla="*/ 650069 w 1106488"/>
                      <a:gd name="connsiteY13" fmla="*/ 1209675 h 1209675"/>
                      <a:gd name="connsiteX14" fmla="*/ 453245 w 1106488"/>
                      <a:gd name="connsiteY14" fmla="*/ 1209675 h 1209675"/>
                      <a:gd name="connsiteX15" fmla="*/ 446088 w 1106488"/>
                      <a:gd name="connsiteY15" fmla="*/ 1202447 h 1209675"/>
                      <a:gd name="connsiteX16" fmla="*/ 446088 w 1106488"/>
                      <a:gd name="connsiteY16" fmla="*/ 1128003 h 1209675"/>
                      <a:gd name="connsiteX17" fmla="*/ 453245 w 1106488"/>
                      <a:gd name="connsiteY17" fmla="*/ 1120775 h 1209675"/>
                      <a:gd name="connsiteX18" fmla="*/ 7104 w 1106488"/>
                      <a:gd name="connsiteY18" fmla="*/ 1120775 h 1209675"/>
                      <a:gd name="connsiteX19" fmla="*/ 202447 w 1106488"/>
                      <a:gd name="connsiteY19" fmla="*/ 1120775 h 1209675"/>
                      <a:gd name="connsiteX20" fmla="*/ 209550 w 1106488"/>
                      <a:gd name="connsiteY20" fmla="*/ 1128003 h 1209675"/>
                      <a:gd name="connsiteX21" fmla="*/ 209550 w 1106488"/>
                      <a:gd name="connsiteY21" fmla="*/ 1202447 h 1209675"/>
                      <a:gd name="connsiteX22" fmla="*/ 202447 w 1106488"/>
                      <a:gd name="connsiteY22" fmla="*/ 1209675 h 1209675"/>
                      <a:gd name="connsiteX23" fmla="*/ 7104 w 1106488"/>
                      <a:gd name="connsiteY23" fmla="*/ 1209675 h 1209675"/>
                      <a:gd name="connsiteX24" fmla="*/ 0 w 1106488"/>
                      <a:gd name="connsiteY24" fmla="*/ 1202447 h 1209675"/>
                      <a:gd name="connsiteX25" fmla="*/ 0 w 1106488"/>
                      <a:gd name="connsiteY25" fmla="*/ 1128003 h 1209675"/>
                      <a:gd name="connsiteX26" fmla="*/ 7104 w 1106488"/>
                      <a:gd name="connsiteY26" fmla="*/ 1120775 h 1209675"/>
                      <a:gd name="connsiteX27" fmla="*/ 551667 w 1106488"/>
                      <a:gd name="connsiteY27" fmla="*/ 0 h 1209675"/>
                      <a:gd name="connsiteX28" fmla="*/ 769244 w 1106488"/>
                      <a:gd name="connsiteY28" fmla="*/ 220584 h 1209675"/>
                      <a:gd name="connsiteX29" fmla="*/ 768531 w 1106488"/>
                      <a:gd name="connsiteY29" fmla="*/ 262702 h 1209675"/>
                      <a:gd name="connsiteX30" fmla="*/ 784225 w 1106488"/>
                      <a:gd name="connsiteY30" fmla="*/ 310531 h 1209675"/>
                      <a:gd name="connsiteX31" fmla="*/ 764251 w 1106488"/>
                      <a:gd name="connsiteY31" fmla="*/ 322667 h 1209675"/>
                      <a:gd name="connsiteX32" fmla="*/ 756404 w 1106488"/>
                      <a:gd name="connsiteY32" fmla="*/ 326236 h 1209675"/>
                      <a:gd name="connsiteX33" fmla="*/ 754977 w 1106488"/>
                      <a:gd name="connsiteY33" fmla="*/ 326950 h 1209675"/>
                      <a:gd name="connsiteX34" fmla="*/ 729296 w 1106488"/>
                      <a:gd name="connsiteY34" fmla="*/ 333375 h 1209675"/>
                      <a:gd name="connsiteX35" fmla="*/ 717168 w 1106488"/>
                      <a:gd name="connsiteY35" fmla="*/ 330519 h 1209675"/>
                      <a:gd name="connsiteX36" fmla="*/ 477476 w 1106488"/>
                      <a:gd name="connsiteY36" fmla="*/ 174897 h 1209675"/>
                      <a:gd name="connsiteX37" fmla="*/ 469629 w 1106488"/>
                      <a:gd name="connsiteY37" fmla="*/ 174183 h 1209675"/>
                      <a:gd name="connsiteX38" fmla="*/ 431107 w 1106488"/>
                      <a:gd name="connsiteY38" fmla="*/ 185605 h 1209675"/>
                      <a:gd name="connsiteX39" fmla="*/ 357630 w 1106488"/>
                      <a:gd name="connsiteY39" fmla="*/ 309103 h 1209675"/>
                      <a:gd name="connsiteX40" fmla="*/ 350496 w 1106488"/>
                      <a:gd name="connsiteY40" fmla="*/ 314814 h 1209675"/>
                      <a:gd name="connsiteX41" fmla="*/ 345503 w 1106488"/>
                      <a:gd name="connsiteY41" fmla="*/ 311959 h 1209675"/>
                      <a:gd name="connsiteX42" fmla="*/ 343362 w 1106488"/>
                      <a:gd name="connsiteY42" fmla="*/ 309103 h 1209675"/>
                      <a:gd name="connsiteX43" fmla="*/ 333375 w 1106488"/>
                      <a:gd name="connsiteY43" fmla="*/ 220584 h 1209675"/>
                      <a:gd name="connsiteX44" fmla="*/ 551667 w 1106488"/>
                      <a:gd name="connsiteY44"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06488" h="1209675">
                        <a:moveTo>
                          <a:pt x="904042" y="1120775"/>
                        </a:moveTo>
                        <a:cubicBezTo>
                          <a:pt x="904042" y="1120775"/>
                          <a:pt x="904042" y="1120775"/>
                          <a:pt x="1099385" y="1120775"/>
                        </a:cubicBezTo>
                        <a:cubicBezTo>
                          <a:pt x="1103647" y="1120775"/>
                          <a:pt x="1106488" y="1124389"/>
                          <a:pt x="1106488" y="1128003"/>
                        </a:cubicBezTo>
                        <a:cubicBezTo>
                          <a:pt x="1106488" y="1128003"/>
                          <a:pt x="1106488" y="1128003"/>
                          <a:pt x="1106488" y="1202447"/>
                        </a:cubicBezTo>
                        <a:cubicBezTo>
                          <a:pt x="1106488" y="1206784"/>
                          <a:pt x="1103647" y="1209675"/>
                          <a:pt x="1099385" y="1209675"/>
                        </a:cubicBezTo>
                        <a:cubicBezTo>
                          <a:pt x="1099385" y="1209675"/>
                          <a:pt x="1099385" y="1209675"/>
                          <a:pt x="904042" y="1209675"/>
                        </a:cubicBezTo>
                        <a:cubicBezTo>
                          <a:pt x="899780" y="1209675"/>
                          <a:pt x="896938" y="1206784"/>
                          <a:pt x="896938" y="1202447"/>
                        </a:cubicBezTo>
                        <a:cubicBezTo>
                          <a:pt x="896938" y="1202447"/>
                          <a:pt x="896938" y="1202447"/>
                          <a:pt x="896938" y="1128003"/>
                        </a:cubicBezTo>
                        <a:cubicBezTo>
                          <a:pt x="896938" y="1124389"/>
                          <a:pt x="899780" y="1120775"/>
                          <a:pt x="904042" y="1120775"/>
                        </a:cubicBezTo>
                        <a:close/>
                        <a:moveTo>
                          <a:pt x="453245" y="1120775"/>
                        </a:moveTo>
                        <a:cubicBezTo>
                          <a:pt x="453245" y="1120775"/>
                          <a:pt x="453245" y="1120775"/>
                          <a:pt x="650069" y="1120775"/>
                        </a:cubicBezTo>
                        <a:cubicBezTo>
                          <a:pt x="654363" y="1120775"/>
                          <a:pt x="657226" y="1124389"/>
                          <a:pt x="657226" y="1128003"/>
                        </a:cubicBezTo>
                        <a:cubicBezTo>
                          <a:pt x="657226" y="1128003"/>
                          <a:pt x="657226" y="1128003"/>
                          <a:pt x="657226" y="1202447"/>
                        </a:cubicBezTo>
                        <a:cubicBezTo>
                          <a:pt x="657226" y="1206784"/>
                          <a:pt x="654363" y="1209675"/>
                          <a:pt x="650069" y="1209675"/>
                        </a:cubicBezTo>
                        <a:cubicBezTo>
                          <a:pt x="650069" y="1209675"/>
                          <a:pt x="650069" y="1209675"/>
                          <a:pt x="453245" y="1209675"/>
                        </a:cubicBezTo>
                        <a:cubicBezTo>
                          <a:pt x="448951" y="1209675"/>
                          <a:pt x="446088" y="1206784"/>
                          <a:pt x="446088" y="1202447"/>
                        </a:cubicBezTo>
                        <a:cubicBezTo>
                          <a:pt x="446088" y="1202447"/>
                          <a:pt x="446088" y="1202447"/>
                          <a:pt x="446088" y="1128003"/>
                        </a:cubicBezTo>
                        <a:cubicBezTo>
                          <a:pt x="446088" y="1124389"/>
                          <a:pt x="448951" y="1120775"/>
                          <a:pt x="453245" y="1120775"/>
                        </a:cubicBezTo>
                        <a:close/>
                        <a:moveTo>
                          <a:pt x="7104" y="1120775"/>
                        </a:moveTo>
                        <a:cubicBezTo>
                          <a:pt x="7104" y="1120775"/>
                          <a:pt x="7104" y="1120775"/>
                          <a:pt x="202447" y="1120775"/>
                        </a:cubicBezTo>
                        <a:cubicBezTo>
                          <a:pt x="206709" y="1120775"/>
                          <a:pt x="209550" y="1124389"/>
                          <a:pt x="209550" y="1128003"/>
                        </a:cubicBezTo>
                        <a:cubicBezTo>
                          <a:pt x="209550" y="1128003"/>
                          <a:pt x="209550" y="1128003"/>
                          <a:pt x="209550" y="1202447"/>
                        </a:cubicBezTo>
                        <a:cubicBezTo>
                          <a:pt x="209550" y="1206784"/>
                          <a:pt x="206709" y="1209675"/>
                          <a:pt x="202447" y="1209675"/>
                        </a:cubicBezTo>
                        <a:cubicBezTo>
                          <a:pt x="202447" y="1209675"/>
                          <a:pt x="202447" y="1209675"/>
                          <a:pt x="7104" y="1209675"/>
                        </a:cubicBezTo>
                        <a:cubicBezTo>
                          <a:pt x="2842" y="1209675"/>
                          <a:pt x="0" y="1206784"/>
                          <a:pt x="0" y="1202447"/>
                        </a:cubicBezTo>
                        <a:cubicBezTo>
                          <a:pt x="0" y="1202447"/>
                          <a:pt x="0" y="1202447"/>
                          <a:pt x="0" y="1128003"/>
                        </a:cubicBezTo>
                        <a:cubicBezTo>
                          <a:pt x="0" y="1124389"/>
                          <a:pt x="2842" y="1120775"/>
                          <a:pt x="7104" y="1120775"/>
                        </a:cubicBezTo>
                        <a:close/>
                        <a:moveTo>
                          <a:pt x="551667" y="0"/>
                        </a:moveTo>
                        <a:cubicBezTo>
                          <a:pt x="674366" y="0"/>
                          <a:pt x="769244" y="99227"/>
                          <a:pt x="769244" y="220584"/>
                        </a:cubicBezTo>
                        <a:cubicBezTo>
                          <a:pt x="769244" y="235575"/>
                          <a:pt x="769244" y="249139"/>
                          <a:pt x="768531" y="262702"/>
                        </a:cubicBezTo>
                        <a:cubicBezTo>
                          <a:pt x="767104" y="274838"/>
                          <a:pt x="771385" y="292685"/>
                          <a:pt x="784225" y="310531"/>
                        </a:cubicBezTo>
                        <a:cubicBezTo>
                          <a:pt x="784225" y="310531"/>
                          <a:pt x="775665" y="316242"/>
                          <a:pt x="764251" y="322667"/>
                        </a:cubicBezTo>
                        <a:cubicBezTo>
                          <a:pt x="762111" y="323381"/>
                          <a:pt x="759257" y="324808"/>
                          <a:pt x="756404" y="326236"/>
                        </a:cubicBezTo>
                        <a:cubicBezTo>
                          <a:pt x="755690" y="326236"/>
                          <a:pt x="755690" y="326236"/>
                          <a:pt x="754977" y="326950"/>
                        </a:cubicBezTo>
                        <a:cubicBezTo>
                          <a:pt x="746417" y="330519"/>
                          <a:pt x="737143" y="332661"/>
                          <a:pt x="729296" y="333375"/>
                        </a:cubicBezTo>
                        <a:cubicBezTo>
                          <a:pt x="725016" y="333375"/>
                          <a:pt x="720735" y="332661"/>
                          <a:pt x="717168" y="330519"/>
                        </a:cubicBezTo>
                        <a:cubicBezTo>
                          <a:pt x="693627" y="317670"/>
                          <a:pt x="600889" y="190602"/>
                          <a:pt x="477476" y="174897"/>
                        </a:cubicBezTo>
                        <a:cubicBezTo>
                          <a:pt x="474623" y="174183"/>
                          <a:pt x="471769" y="174183"/>
                          <a:pt x="469629" y="174183"/>
                        </a:cubicBezTo>
                        <a:cubicBezTo>
                          <a:pt x="456075" y="174183"/>
                          <a:pt x="442521" y="178466"/>
                          <a:pt x="431107" y="185605"/>
                        </a:cubicBezTo>
                        <a:cubicBezTo>
                          <a:pt x="382598" y="218443"/>
                          <a:pt x="371184" y="289115"/>
                          <a:pt x="357630" y="309103"/>
                        </a:cubicBezTo>
                        <a:cubicBezTo>
                          <a:pt x="355490" y="312673"/>
                          <a:pt x="352636" y="314814"/>
                          <a:pt x="350496" y="314814"/>
                        </a:cubicBezTo>
                        <a:cubicBezTo>
                          <a:pt x="349069" y="314814"/>
                          <a:pt x="346929" y="314101"/>
                          <a:pt x="345503" y="311959"/>
                        </a:cubicBezTo>
                        <a:cubicBezTo>
                          <a:pt x="344789" y="311245"/>
                          <a:pt x="344076" y="310531"/>
                          <a:pt x="343362" y="309103"/>
                        </a:cubicBezTo>
                        <a:cubicBezTo>
                          <a:pt x="336942" y="294112"/>
                          <a:pt x="333375" y="246283"/>
                          <a:pt x="333375" y="220584"/>
                        </a:cubicBezTo>
                        <a:cubicBezTo>
                          <a:pt x="333375" y="99227"/>
                          <a:pt x="428253" y="0"/>
                          <a:pt x="551667"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grpSp>
      <p:grpSp>
        <p:nvGrpSpPr>
          <p:cNvPr id="72" name="Group 42"/>
          <p:cNvGrpSpPr/>
          <p:nvPr/>
        </p:nvGrpSpPr>
        <p:grpSpPr>
          <a:xfrm>
            <a:off x="8935014" y="3557506"/>
            <a:ext cx="928001" cy="1014356"/>
            <a:chOff x="10477970" y="3308544"/>
            <a:chExt cx="1085381" cy="1186381"/>
          </a:xfrm>
        </p:grpSpPr>
        <p:sp>
          <p:nvSpPr>
            <p:cNvPr id="73" name="Trapezoid 279"/>
            <p:cNvSpPr/>
            <p:nvPr/>
          </p:nvSpPr>
          <p:spPr>
            <a:xfrm rot="16200000" flipH="1">
              <a:off x="10717049" y="3069465"/>
              <a:ext cx="607224" cy="1085381"/>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74" name="Trapezoid 280"/>
            <p:cNvSpPr/>
            <p:nvPr/>
          </p:nvSpPr>
          <p:spPr>
            <a:xfrm rot="16200000" flipH="1">
              <a:off x="10717048" y="3648623"/>
              <a:ext cx="607225" cy="1085379"/>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75" name="TextBox 282"/>
            <p:cNvSpPr txBox="1"/>
            <p:nvPr/>
          </p:nvSpPr>
          <p:spPr>
            <a:xfrm>
              <a:off x="10911809" y="3481890"/>
              <a:ext cx="599145" cy="260528"/>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Celulosa</a:t>
              </a:r>
            </a:p>
          </p:txBody>
        </p:sp>
        <p:sp>
          <p:nvSpPr>
            <p:cNvPr id="76" name="TextBox 283"/>
            <p:cNvSpPr txBox="1"/>
            <p:nvPr/>
          </p:nvSpPr>
          <p:spPr>
            <a:xfrm>
              <a:off x="10911809" y="4025462"/>
              <a:ext cx="599145" cy="331696"/>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Energía </a:t>
              </a:r>
            </a:p>
            <a:p>
              <a:pPr algn="ctr"/>
              <a:r>
                <a:rPr lang="es-CL" sz="1026">
                  <a:solidFill>
                    <a:schemeClr val="tx1"/>
                  </a:solidFill>
                </a:rPr>
                <a:t>eléctrica</a:t>
              </a:r>
            </a:p>
          </p:txBody>
        </p:sp>
        <p:grpSp>
          <p:nvGrpSpPr>
            <p:cNvPr id="77" name="Group 287"/>
            <p:cNvGrpSpPr>
              <a:grpSpLocks noChangeAspect="1"/>
            </p:cNvGrpSpPr>
            <p:nvPr/>
          </p:nvGrpSpPr>
          <p:grpSpPr>
            <a:xfrm>
              <a:off x="10623435" y="3526355"/>
              <a:ext cx="171598" cy="171598"/>
              <a:chOff x="982662" y="1847850"/>
              <a:chExt cx="269875" cy="269875"/>
            </a:xfrm>
          </p:grpSpPr>
          <p:sp>
            <p:nvSpPr>
              <p:cNvPr id="78"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79"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nvGrpSpPr>
            <p:cNvPr id="80" name="Group 290"/>
            <p:cNvGrpSpPr>
              <a:grpSpLocks noChangeAspect="1"/>
            </p:cNvGrpSpPr>
            <p:nvPr/>
          </p:nvGrpSpPr>
          <p:grpSpPr>
            <a:xfrm>
              <a:off x="10623435" y="4105511"/>
              <a:ext cx="171598" cy="171598"/>
              <a:chOff x="982662" y="1847850"/>
              <a:chExt cx="269875" cy="269875"/>
            </a:xfrm>
          </p:grpSpPr>
          <p:sp>
            <p:nvSpPr>
              <p:cNvPr id="81"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82"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sp>
        <p:nvSpPr>
          <p:cNvPr id="83" name="TextBox 182"/>
          <p:cNvSpPr txBox="1"/>
          <p:nvPr/>
        </p:nvSpPr>
        <p:spPr>
          <a:xfrm>
            <a:off x="3752357" y="3265712"/>
            <a:ext cx="5031339" cy="257250"/>
          </a:xfrm>
          <a:prstGeom prst="round2SameRect">
            <a:avLst>
              <a:gd name="adj1" fmla="val 22359"/>
              <a:gd name="adj2" fmla="val 0"/>
            </a:avLst>
          </a:prstGeom>
          <a:solidFill>
            <a:schemeClr val="bg2">
              <a:lumMod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de producción </a:t>
            </a:r>
          </a:p>
        </p:txBody>
      </p:sp>
      <p:sp>
        <p:nvSpPr>
          <p:cNvPr id="84" name="Rectangle: Rounded Corners 183"/>
          <p:cNvSpPr/>
          <p:nvPr/>
        </p:nvSpPr>
        <p:spPr>
          <a:xfrm>
            <a:off x="3601039" y="3522962"/>
            <a:ext cx="5333975" cy="1083443"/>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85" name="Group 18"/>
          <p:cNvGrpSpPr/>
          <p:nvPr/>
        </p:nvGrpSpPr>
        <p:grpSpPr>
          <a:xfrm>
            <a:off x="2667787" y="3541538"/>
            <a:ext cx="933252" cy="1046293"/>
            <a:chOff x="629325" y="3276869"/>
            <a:chExt cx="1091523" cy="1223734"/>
          </a:xfrm>
        </p:grpSpPr>
        <p:sp>
          <p:nvSpPr>
            <p:cNvPr id="86" name="Trapezoid 278"/>
            <p:cNvSpPr/>
            <p:nvPr/>
          </p:nvSpPr>
          <p:spPr>
            <a:xfrm rot="5400000">
              <a:off x="563220" y="3342974"/>
              <a:ext cx="1223734" cy="1091523"/>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grpSp>
          <p:nvGrpSpPr>
            <p:cNvPr id="87" name="Group 43"/>
            <p:cNvGrpSpPr/>
            <p:nvPr/>
          </p:nvGrpSpPr>
          <p:grpSpPr>
            <a:xfrm>
              <a:off x="719399" y="3758471"/>
              <a:ext cx="824068" cy="260528"/>
              <a:chOff x="719399" y="3771469"/>
              <a:chExt cx="824068" cy="260528"/>
            </a:xfrm>
          </p:grpSpPr>
          <p:sp>
            <p:nvSpPr>
              <p:cNvPr id="88" name="TextBox 281"/>
              <p:cNvSpPr txBox="1"/>
              <p:nvPr/>
            </p:nvSpPr>
            <p:spPr>
              <a:xfrm>
                <a:off x="719399" y="3771469"/>
                <a:ext cx="515661" cy="260528"/>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39091" rIns="0" bIns="39091" numCol="1" spcCol="0" rtlCol="0" fromWordArt="0" anchor="ctr" anchorCtr="0" forceAA="0" compatLnSpc="1">
                <a:prstTxWarp prst="textNoShape">
                  <a:avLst/>
                </a:prstTxWarp>
                <a:noAutofit/>
              </a:bodyPr>
              <a:lstStyle/>
              <a:p>
                <a:r>
                  <a:rPr lang="es-CL" sz="1026">
                    <a:solidFill>
                      <a:schemeClr val="tx1"/>
                    </a:solidFill>
                  </a:rPr>
                  <a:t>Madera</a:t>
                </a:r>
              </a:p>
            </p:txBody>
          </p:sp>
          <p:grpSp>
            <p:nvGrpSpPr>
              <p:cNvPr id="89" name="Group 284"/>
              <p:cNvGrpSpPr>
                <a:grpSpLocks noChangeAspect="1"/>
              </p:cNvGrpSpPr>
              <p:nvPr/>
            </p:nvGrpSpPr>
            <p:grpSpPr>
              <a:xfrm>
                <a:off x="1371869" y="3815934"/>
                <a:ext cx="171598" cy="171598"/>
                <a:chOff x="982662" y="1847850"/>
                <a:chExt cx="269875" cy="269875"/>
              </a:xfrm>
            </p:grpSpPr>
            <p:sp>
              <p:nvSpPr>
                <p:cNvPr id="90"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91"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grpSp>
      <p:sp>
        <p:nvSpPr>
          <p:cNvPr id="92" name="Rectangle: Rounded Corners 186"/>
          <p:cNvSpPr/>
          <p:nvPr/>
        </p:nvSpPr>
        <p:spPr>
          <a:xfrm>
            <a:off x="4736480" y="3625882"/>
            <a:ext cx="3380622" cy="405130"/>
          </a:xfrm>
          <a:prstGeom prst="roundRect">
            <a:avLst>
              <a:gd name="adj" fmla="val 5410"/>
            </a:avLst>
          </a:prstGeom>
          <a:solidFill>
            <a:srgbClr val="F2F2F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de Celulosa</a:t>
            </a:r>
          </a:p>
        </p:txBody>
      </p:sp>
      <p:sp>
        <p:nvSpPr>
          <p:cNvPr id="93" name="Oval 20"/>
          <p:cNvSpPr>
            <a:spLocks noChangeAspect="1" noChangeArrowheads="1"/>
          </p:cNvSpPr>
          <p:nvPr/>
        </p:nvSpPr>
        <p:spPr bwMode="auto">
          <a:xfrm>
            <a:off x="4578086" y="3569437"/>
            <a:ext cx="195147" cy="195147"/>
          </a:xfrm>
          <a:prstGeom prst="ellipse">
            <a:avLst/>
          </a:prstGeom>
          <a:solidFill>
            <a:srgbClr val="6E6F73"/>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a:t>
            </a:r>
          </a:p>
        </p:txBody>
      </p:sp>
      <p:grpSp>
        <p:nvGrpSpPr>
          <p:cNvPr id="94" name="bcgIcons_Machine factory "/>
          <p:cNvGrpSpPr>
            <a:grpSpLocks noChangeAspect="1"/>
          </p:cNvGrpSpPr>
          <p:nvPr/>
        </p:nvGrpSpPr>
        <p:grpSpPr>
          <a:xfrm>
            <a:off x="4754114" y="3605788"/>
            <a:ext cx="447315" cy="429244"/>
            <a:chOff x="5273675" y="2606675"/>
            <a:chExt cx="1644650" cy="1644650"/>
          </a:xfrm>
        </p:grpSpPr>
        <p:sp>
          <p:nvSpPr>
            <p:cNvPr id="95"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D4DF33"/>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96" name="Group 200"/>
            <p:cNvGrpSpPr>
              <a:grpSpLocks/>
            </p:cNvGrpSpPr>
            <p:nvPr/>
          </p:nvGrpSpPr>
          <p:grpSpPr>
            <a:xfrm>
              <a:off x="5457824" y="2882900"/>
              <a:ext cx="1276352" cy="1092201"/>
              <a:chOff x="5457824" y="2882899"/>
              <a:chExt cx="1276352" cy="1092201"/>
            </a:xfrm>
          </p:grpSpPr>
          <p:sp>
            <p:nvSpPr>
              <p:cNvPr id="97" name="Freeform 5"/>
              <p:cNvSpPr>
                <a:spLocks/>
              </p:cNvSpPr>
              <p:nvPr/>
            </p:nvSpPr>
            <p:spPr bwMode="auto">
              <a:xfrm>
                <a:off x="5522913" y="2943224"/>
                <a:ext cx="1211263" cy="1031876"/>
              </a:xfrm>
              <a:custGeom>
                <a:avLst/>
                <a:gdLst>
                  <a:gd name="connsiteX0" fmla="*/ 684028 w 1211263"/>
                  <a:gd name="connsiteY0" fmla="*/ 842963 h 1031876"/>
                  <a:gd name="connsiteX1" fmla="*/ 668337 w 1211263"/>
                  <a:gd name="connsiteY1" fmla="*/ 858838 h 1031876"/>
                  <a:gd name="connsiteX2" fmla="*/ 684028 w 1211263"/>
                  <a:gd name="connsiteY2" fmla="*/ 874713 h 1031876"/>
                  <a:gd name="connsiteX3" fmla="*/ 800284 w 1211263"/>
                  <a:gd name="connsiteY3" fmla="*/ 874713 h 1031876"/>
                  <a:gd name="connsiteX4" fmla="*/ 815975 w 1211263"/>
                  <a:gd name="connsiteY4" fmla="*/ 858838 h 1031876"/>
                  <a:gd name="connsiteX5" fmla="*/ 800284 w 1211263"/>
                  <a:gd name="connsiteY5" fmla="*/ 842963 h 1031876"/>
                  <a:gd name="connsiteX6" fmla="*/ 684028 w 1211263"/>
                  <a:gd name="connsiteY6" fmla="*/ 842963 h 1031876"/>
                  <a:gd name="connsiteX7" fmla="*/ 881063 w 1211263"/>
                  <a:gd name="connsiteY7" fmla="*/ 828675 h 1031876"/>
                  <a:gd name="connsiteX8" fmla="*/ 850900 w 1211263"/>
                  <a:gd name="connsiteY8" fmla="*/ 858044 h 1031876"/>
                  <a:gd name="connsiteX9" fmla="*/ 881063 w 1211263"/>
                  <a:gd name="connsiteY9" fmla="*/ 887413 h 1031876"/>
                  <a:gd name="connsiteX10" fmla="*/ 911226 w 1211263"/>
                  <a:gd name="connsiteY10" fmla="*/ 858044 h 1031876"/>
                  <a:gd name="connsiteX11" fmla="*/ 881063 w 1211263"/>
                  <a:gd name="connsiteY11" fmla="*/ 828675 h 1031876"/>
                  <a:gd name="connsiteX12" fmla="*/ 1027113 w 1211263"/>
                  <a:gd name="connsiteY12" fmla="*/ 782638 h 1031876"/>
                  <a:gd name="connsiteX13" fmla="*/ 952500 w 1211263"/>
                  <a:gd name="connsiteY13" fmla="*/ 857251 h 1031876"/>
                  <a:gd name="connsiteX14" fmla="*/ 1027113 w 1211263"/>
                  <a:gd name="connsiteY14" fmla="*/ 931864 h 1031876"/>
                  <a:gd name="connsiteX15" fmla="*/ 1101726 w 1211263"/>
                  <a:gd name="connsiteY15" fmla="*/ 857251 h 1031876"/>
                  <a:gd name="connsiteX16" fmla="*/ 1027113 w 1211263"/>
                  <a:gd name="connsiteY16" fmla="*/ 782638 h 1031876"/>
                  <a:gd name="connsiteX17" fmla="*/ 382940 w 1211263"/>
                  <a:gd name="connsiteY17" fmla="*/ 744538 h 1031876"/>
                  <a:gd name="connsiteX18" fmla="*/ 379412 w 1211263"/>
                  <a:gd name="connsiteY18" fmla="*/ 748146 h 1031876"/>
                  <a:gd name="connsiteX19" fmla="*/ 379412 w 1211263"/>
                  <a:gd name="connsiteY19" fmla="*/ 812368 h 1031876"/>
                  <a:gd name="connsiteX20" fmla="*/ 382940 w 1211263"/>
                  <a:gd name="connsiteY20" fmla="*/ 815976 h 1031876"/>
                  <a:gd name="connsiteX21" fmla="*/ 445734 w 1211263"/>
                  <a:gd name="connsiteY21" fmla="*/ 815976 h 1031876"/>
                  <a:gd name="connsiteX22" fmla="*/ 449262 w 1211263"/>
                  <a:gd name="connsiteY22" fmla="*/ 812368 h 1031876"/>
                  <a:gd name="connsiteX23" fmla="*/ 449262 w 1211263"/>
                  <a:gd name="connsiteY23" fmla="*/ 748146 h 1031876"/>
                  <a:gd name="connsiteX24" fmla="*/ 445734 w 1211263"/>
                  <a:gd name="connsiteY24" fmla="*/ 744538 h 1031876"/>
                  <a:gd name="connsiteX25" fmla="*/ 382940 w 1211263"/>
                  <a:gd name="connsiteY25" fmla="*/ 744538 h 1031876"/>
                  <a:gd name="connsiteX26" fmla="*/ 241653 w 1211263"/>
                  <a:gd name="connsiteY26" fmla="*/ 744538 h 1031876"/>
                  <a:gd name="connsiteX27" fmla="*/ 238125 w 1211263"/>
                  <a:gd name="connsiteY27" fmla="*/ 748146 h 1031876"/>
                  <a:gd name="connsiteX28" fmla="*/ 238125 w 1211263"/>
                  <a:gd name="connsiteY28" fmla="*/ 812368 h 1031876"/>
                  <a:gd name="connsiteX29" fmla="*/ 241653 w 1211263"/>
                  <a:gd name="connsiteY29" fmla="*/ 815976 h 1031876"/>
                  <a:gd name="connsiteX30" fmla="*/ 304447 w 1211263"/>
                  <a:gd name="connsiteY30" fmla="*/ 815976 h 1031876"/>
                  <a:gd name="connsiteX31" fmla="*/ 307975 w 1211263"/>
                  <a:gd name="connsiteY31" fmla="*/ 812368 h 1031876"/>
                  <a:gd name="connsiteX32" fmla="*/ 307975 w 1211263"/>
                  <a:gd name="connsiteY32" fmla="*/ 748146 h 1031876"/>
                  <a:gd name="connsiteX33" fmla="*/ 304447 w 1211263"/>
                  <a:gd name="connsiteY33" fmla="*/ 744538 h 1031876"/>
                  <a:gd name="connsiteX34" fmla="*/ 241653 w 1211263"/>
                  <a:gd name="connsiteY34" fmla="*/ 744538 h 1031876"/>
                  <a:gd name="connsiteX35" fmla="*/ 89253 w 1211263"/>
                  <a:gd name="connsiteY35" fmla="*/ 744538 h 1031876"/>
                  <a:gd name="connsiteX36" fmla="*/ 85725 w 1211263"/>
                  <a:gd name="connsiteY36" fmla="*/ 748146 h 1031876"/>
                  <a:gd name="connsiteX37" fmla="*/ 85725 w 1211263"/>
                  <a:gd name="connsiteY37" fmla="*/ 812368 h 1031876"/>
                  <a:gd name="connsiteX38" fmla="*/ 89253 w 1211263"/>
                  <a:gd name="connsiteY38" fmla="*/ 815976 h 1031876"/>
                  <a:gd name="connsiteX39" fmla="*/ 152047 w 1211263"/>
                  <a:gd name="connsiteY39" fmla="*/ 815976 h 1031876"/>
                  <a:gd name="connsiteX40" fmla="*/ 155575 w 1211263"/>
                  <a:gd name="connsiteY40" fmla="*/ 812368 h 1031876"/>
                  <a:gd name="connsiteX41" fmla="*/ 155575 w 1211263"/>
                  <a:gd name="connsiteY41" fmla="*/ 748146 h 1031876"/>
                  <a:gd name="connsiteX42" fmla="*/ 152047 w 1211263"/>
                  <a:gd name="connsiteY42" fmla="*/ 744538 h 1031876"/>
                  <a:gd name="connsiteX43" fmla="*/ 89253 w 1211263"/>
                  <a:gd name="connsiteY43" fmla="*/ 744538 h 1031876"/>
                  <a:gd name="connsiteX44" fmla="*/ 628336 w 1211263"/>
                  <a:gd name="connsiteY44" fmla="*/ 684213 h 1031876"/>
                  <a:gd name="connsiteX45" fmla="*/ 1036028 w 1211263"/>
                  <a:gd name="connsiteY45" fmla="*/ 684213 h 1031876"/>
                  <a:gd name="connsiteX46" fmla="*/ 1041749 w 1211263"/>
                  <a:gd name="connsiteY46" fmla="*/ 684213 h 1031876"/>
                  <a:gd name="connsiteX47" fmla="*/ 1211263 w 1211263"/>
                  <a:gd name="connsiteY47" fmla="*/ 858400 h 1031876"/>
                  <a:gd name="connsiteX48" fmla="*/ 1036028 w 1211263"/>
                  <a:gd name="connsiteY48" fmla="*/ 1031876 h 1031876"/>
                  <a:gd name="connsiteX49" fmla="*/ 625475 w 1211263"/>
                  <a:gd name="connsiteY49" fmla="*/ 1031876 h 1031876"/>
                  <a:gd name="connsiteX50" fmla="*/ 628336 w 1211263"/>
                  <a:gd name="connsiteY50" fmla="*/ 1016235 h 1031876"/>
                  <a:gd name="connsiteX51" fmla="*/ 628336 w 1211263"/>
                  <a:gd name="connsiteY51" fmla="*/ 684213 h 1031876"/>
                  <a:gd name="connsiteX52" fmla="*/ 415131 w 1211263"/>
                  <a:gd name="connsiteY52" fmla="*/ 184150 h 1031876"/>
                  <a:gd name="connsiteX53" fmla="*/ 379412 w 1211263"/>
                  <a:gd name="connsiteY53" fmla="*/ 219075 h 1031876"/>
                  <a:gd name="connsiteX54" fmla="*/ 415131 w 1211263"/>
                  <a:gd name="connsiteY54" fmla="*/ 254000 h 1031876"/>
                  <a:gd name="connsiteX55" fmla="*/ 450850 w 1211263"/>
                  <a:gd name="connsiteY55" fmla="*/ 219075 h 1031876"/>
                  <a:gd name="connsiteX56" fmla="*/ 415131 w 1211263"/>
                  <a:gd name="connsiteY56" fmla="*/ 184150 h 1031876"/>
                  <a:gd name="connsiteX57" fmla="*/ 273050 w 1211263"/>
                  <a:gd name="connsiteY57" fmla="*/ 184150 h 1031876"/>
                  <a:gd name="connsiteX58" fmla="*/ 238125 w 1211263"/>
                  <a:gd name="connsiteY58" fmla="*/ 219075 h 1031876"/>
                  <a:gd name="connsiteX59" fmla="*/ 273050 w 1211263"/>
                  <a:gd name="connsiteY59" fmla="*/ 254000 h 1031876"/>
                  <a:gd name="connsiteX60" fmla="*/ 307975 w 1211263"/>
                  <a:gd name="connsiteY60" fmla="*/ 219075 h 1031876"/>
                  <a:gd name="connsiteX61" fmla="*/ 273050 w 1211263"/>
                  <a:gd name="connsiteY61" fmla="*/ 184150 h 1031876"/>
                  <a:gd name="connsiteX62" fmla="*/ 120650 w 1211263"/>
                  <a:gd name="connsiteY62" fmla="*/ 184150 h 1031876"/>
                  <a:gd name="connsiteX63" fmla="*/ 85725 w 1211263"/>
                  <a:gd name="connsiteY63" fmla="*/ 219075 h 1031876"/>
                  <a:gd name="connsiteX64" fmla="*/ 120650 w 1211263"/>
                  <a:gd name="connsiteY64" fmla="*/ 254000 h 1031876"/>
                  <a:gd name="connsiteX65" fmla="*/ 155575 w 1211263"/>
                  <a:gd name="connsiteY65" fmla="*/ 219075 h 1031876"/>
                  <a:gd name="connsiteX66" fmla="*/ 120650 w 1211263"/>
                  <a:gd name="connsiteY66" fmla="*/ 184150 h 1031876"/>
                  <a:gd name="connsiteX67" fmla="*/ 99301 w 1211263"/>
                  <a:gd name="connsiteY67" fmla="*/ 74613 h 1031876"/>
                  <a:gd name="connsiteX68" fmla="*/ 85725 w 1211263"/>
                  <a:gd name="connsiteY68" fmla="*/ 90091 h 1031876"/>
                  <a:gd name="connsiteX69" fmla="*/ 85725 w 1211263"/>
                  <a:gd name="connsiteY69" fmla="*/ 121048 h 1031876"/>
                  <a:gd name="connsiteX70" fmla="*/ 99301 w 1211263"/>
                  <a:gd name="connsiteY70" fmla="*/ 136526 h 1031876"/>
                  <a:gd name="connsiteX71" fmla="*/ 436560 w 1211263"/>
                  <a:gd name="connsiteY71" fmla="*/ 136526 h 1031876"/>
                  <a:gd name="connsiteX72" fmla="*/ 450850 w 1211263"/>
                  <a:gd name="connsiteY72" fmla="*/ 121048 h 1031876"/>
                  <a:gd name="connsiteX73" fmla="*/ 450850 w 1211263"/>
                  <a:gd name="connsiteY73" fmla="*/ 90091 h 1031876"/>
                  <a:gd name="connsiteX74" fmla="*/ 436560 w 1211263"/>
                  <a:gd name="connsiteY74" fmla="*/ 74613 h 1031876"/>
                  <a:gd name="connsiteX75" fmla="*/ 99301 w 1211263"/>
                  <a:gd name="connsiteY75" fmla="*/ 74613 h 1031876"/>
                  <a:gd name="connsiteX76" fmla="*/ 930275 w 1211263"/>
                  <a:gd name="connsiteY76" fmla="*/ 31750 h 1031876"/>
                  <a:gd name="connsiteX77" fmla="*/ 902133 w 1211263"/>
                  <a:gd name="connsiteY77" fmla="*/ 48160 h 1031876"/>
                  <a:gd name="connsiteX78" fmla="*/ 898525 w 1211263"/>
                  <a:gd name="connsiteY78" fmla="*/ 63857 h 1031876"/>
                  <a:gd name="connsiteX79" fmla="*/ 902133 w 1211263"/>
                  <a:gd name="connsiteY79" fmla="*/ 79553 h 1031876"/>
                  <a:gd name="connsiteX80" fmla="*/ 914400 w 1211263"/>
                  <a:gd name="connsiteY80" fmla="*/ 90969 h 1031876"/>
                  <a:gd name="connsiteX81" fmla="*/ 930275 w 1211263"/>
                  <a:gd name="connsiteY81" fmla="*/ 95250 h 1031876"/>
                  <a:gd name="connsiteX82" fmla="*/ 946150 w 1211263"/>
                  <a:gd name="connsiteY82" fmla="*/ 90969 h 1031876"/>
                  <a:gd name="connsiteX83" fmla="*/ 962025 w 1211263"/>
                  <a:gd name="connsiteY83" fmla="*/ 63857 h 1031876"/>
                  <a:gd name="connsiteX84" fmla="*/ 930275 w 1211263"/>
                  <a:gd name="connsiteY84" fmla="*/ 31750 h 1031876"/>
                  <a:gd name="connsiteX85" fmla="*/ 0 w 1211263"/>
                  <a:gd name="connsiteY85" fmla="*/ 1588 h 1031876"/>
                  <a:gd name="connsiteX86" fmla="*/ 536575 w 1211263"/>
                  <a:gd name="connsiteY86" fmla="*/ 1588 h 1031876"/>
                  <a:gd name="connsiteX87" fmla="*/ 536575 w 1211263"/>
                  <a:gd name="connsiteY87" fmla="*/ 50830 h 1031876"/>
                  <a:gd name="connsiteX88" fmla="*/ 536575 w 1211263"/>
                  <a:gd name="connsiteY88" fmla="*/ 76521 h 1031876"/>
                  <a:gd name="connsiteX89" fmla="*/ 536575 w 1211263"/>
                  <a:gd name="connsiteY89" fmla="*/ 857251 h 1031876"/>
                  <a:gd name="connsiteX90" fmla="*/ 0 w 1211263"/>
                  <a:gd name="connsiteY90" fmla="*/ 857251 h 1031876"/>
                  <a:gd name="connsiteX91" fmla="*/ 0 w 1211263"/>
                  <a:gd name="connsiteY91" fmla="*/ 1588 h 1031876"/>
                  <a:gd name="connsiteX92" fmla="*/ 929508 w 1211263"/>
                  <a:gd name="connsiteY92" fmla="*/ 0 h 1031876"/>
                  <a:gd name="connsiteX93" fmla="*/ 992246 w 1211263"/>
                  <a:gd name="connsiteY93" fmla="*/ 63368 h 1031876"/>
                  <a:gd name="connsiteX94" fmla="*/ 945192 w 1211263"/>
                  <a:gd name="connsiteY94" fmla="*/ 123888 h 1031876"/>
                  <a:gd name="connsiteX95" fmla="*/ 945192 w 1211263"/>
                  <a:gd name="connsiteY95" fmla="*/ 249201 h 1031876"/>
                  <a:gd name="connsiteX96" fmla="*/ 975848 w 1211263"/>
                  <a:gd name="connsiteY96" fmla="*/ 249201 h 1031876"/>
                  <a:gd name="connsiteX97" fmla="*/ 990820 w 1211263"/>
                  <a:gd name="connsiteY97" fmla="*/ 259881 h 1031876"/>
                  <a:gd name="connsiteX98" fmla="*/ 1020050 w 1211263"/>
                  <a:gd name="connsiteY98" fmla="*/ 351017 h 1031876"/>
                  <a:gd name="connsiteX99" fmla="*/ 1019337 w 1211263"/>
                  <a:gd name="connsiteY99" fmla="*/ 363121 h 1031876"/>
                  <a:gd name="connsiteX100" fmla="*/ 990820 w 1211263"/>
                  <a:gd name="connsiteY100" fmla="*/ 420081 h 1031876"/>
                  <a:gd name="connsiteX101" fmla="*/ 976561 w 1211263"/>
                  <a:gd name="connsiteY101" fmla="*/ 428625 h 1031876"/>
                  <a:gd name="connsiteX102" fmla="*/ 970145 w 1211263"/>
                  <a:gd name="connsiteY102" fmla="*/ 427201 h 1031876"/>
                  <a:gd name="connsiteX103" fmla="*/ 963016 w 1211263"/>
                  <a:gd name="connsiteY103" fmla="*/ 405841 h 1031876"/>
                  <a:gd name="connsiteX104" fmla="*/ 987968 w 1211263"/>
                  <a:gd name="connsiteY104" fmla="*/ 354577 h 1031876"/>
                  <a:gd name="connsiteX105" fmla="*/ 964442 w 1211263"/>
                  <a:gd name="connsiteY105" fmla="*/ 280529 h 1031876"/>
                  <a:gd name="connsiteX106" fmla="*/ 929508 w 1211263"/>
                  <a:gd name="connsiteY106" fmla="*/ 280529 h 1031876"/>
                  <a:gd name="connsiteX107" fmla="*/ 894574 w 1211263"/>
                  <a:gd name="connsiteY107" fmla="*/ 280529 h 1031876"/>
                  <a:gd name="connsiteX108" fmla="*/ 871047 w 1211263"/>
                  <a:gd name="connsiteY108" fmla="*/ 354577 h 1031876"/>
                  <a:gd name="connsiteX109" fmla="*/ 896000 w 1211263"/>
                  <a:gd name="connsiteY109" fmla="*/ 405841 h 1031876"/>
                  <a:gd name="connsiteX110" fmla="*/ 888871 w 1211263"/>
                  <a:gd name="connsiteY110" fmla="*/ 427201 h 1031876"/>
                  <a:gd name="connsiteX111" fmla="*/ 882454 w 1211263"/>
                  <a:gd name="connsiteY111" fmla="*/ 428625 h 1031876"/>
                  <a:gd name="connsiteX112" fmla="*/ 868196 w 1211263"/>
                  <a:gd name="connsiteY112" fmla="*/ 420081 h 1031876"/>
                  <a:gd name="connsiteX113" fmla="*/ 839678 w 1211263"/>
                  <a:gd name="connsiteY113" fmla="*/ 363121 h 1031876"/>
                  <a:gd name="connsiteX114" fmla="*/ 838965 w 1211263"/>
                  <a:gd name="connsiteY114" fmla="*/ 351017 h 1031876"/>
                  <a:gd name="connsiteX115" fmla="*/ 868196 w 1211263"/>
                  <a:gd name="connsiteY115" fmla="*/ 259881 h 1031876"/>
                  <a:gd name="connsiteX116" fmla="*/ 883167 w 1211263"/>
                  <a:gd name="connsiteY116" fmla="*/ 249201 h 1031876"/>
                  <a:gd name="connsiteX117" fmla="*/ 913823 w 1211263"/>
                  <a:gd name="connsiteY117" fmla="*/ 249201 h 1031876"/>
                  <a:gd name="connsiteX118" fmla="*/ 913823 w 1211263"/>
                  <a:gd name="connsiteY118" fmla="*/ 123888 h 1031876"/>
                  <a:gd name="connsiteX119" fmla="*/ 868196 w 1211263"/>
                  <a:gd name="connsiteY119" fmla="*/ 79032 h 1031876"/>
                  <a:gd name="connsiteX120" fmla="*/ 628650 w 1211263"/>
                  <a:gd name="connsiteY120" fmla="*/ 79032 h 1031876"/>
                  <a:gd name="connsiteX121" fmla="*/ 628650 w 1211263"/>
                  <a:gd name="connsiteY121" fmla="*/ 47704 h 1031876"/>
                  <a:gd name="connsiteX122" fmla="*/ 868196 w 1211263"/>
                  <a:gd name="connsiteY122" fmla="*/ 47704 h 1031876"/>
                  <a:gd name="connsiteX123" fmla="*/ 929508 w 1211263"/>
                  <a:gd name="connsiteY123" fmla="*/ 0 h 1031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1263" h="1031876">
                    <a:moveTo>
                      <a:pt x="684028" y="842963"/>
                    </a:moveTo>
                    <a:cubicBezTo>
                      <a:pt x="675470" y="842963"/>
                      <a:pt x="668337" y="850179"/>
                      <a:pt x="668337" y="858838"/>
                    </a:cubicBezTo>
                    <a:cubicBezTo>
                      <a:pt x="668337" y="867497"/>
                      <a:pt x="675470" y="874713"/>
                      <a:pt x="684028" y="874713"/>
                    </a:cubicBezTo>
                    <a:cubicBezTo>
                      <a:pt x="684028" y="874713"/>
                      <a:pt x="684028" y="874713"/>
                      <a:pt x="800284" y="874713"/>
                    </a:cubicBezTo>
                    <a:cubicBezTo>
                      <a:pt x="808843" y="874713"/>
                      <a:pt x="815975" y="867497"/>
                      <a:pt x="815975" y="858838"/>
                    </a:cubicBezTo>
                    <a:cubicBezTo>
                      <a:pt x="815975" y="850179"/>
                      <a:pt x="808843" y="842963"/>
                      <a:pt x="800284" y="842963"/>
                    </a:cubicBezTo>
                    <a:cubicBezTo>
                      <a:pt x="800284" y="842963"/>
                      <a:pt x="800284" y="842963"/>
                      <a:pt x="684028" y="842963"/>
                    </a:cubicBezTo>
                    <a:close/>
                    <a:moveTo>
                      <a:pt x="881063" y="828675"/>
                    </a:moveTo>
                    <a:cubicBezTo>
                      <a:pt x="864404" y="828675"/>
                      <a:pt x="850900" y="841824"/>
                      <a:pt x="850900" y="858044"/>
                    </a:cubicBezTo>
                    <a:cubicBezTo>
                      <a:pt x="850900" y="874264"/>
                      <a:pt x="864404" y="887413"/>
                      <a:pt x="881063" y="887413"/>
                    </a:cubicBezTo>
                    <a:cubicBezTo>
                      <a:pt x="897722" y="887413"/>
                      <a:pt x="911226" y="874264"/>
                      <a:pt x="911226" y="858044"/>
                    </a:cubicBezTo>
                    <a:cubicBezTo>
                      <a:pt x="911226" y="841824"/>
                      <a:pt x="897722" y="828675"/>
                      <a:pt x="881063" y="828675"/>
                    </a:cubicBezTo>
                    <a:close/>
                    <a:moveTo>
                      <a:pt x="1027113" y="782638"/>
                    </a:moveTo>
                    <a:cubicBezTo>
                      <a:pt x="985905" y="782638"/>
                      <a:pt x="952500" y="816043"/>
                      <a:pt x="952500" y="857251"/>
                    </a:cubicBezTo>
                    <a:cubicBezTo>
                      <a:pt x="952500" y="898459"/>
                      <a:pt x="985905" y="931864"/>
                      <a:pt x="1027113" y="931864"/>
                    </a:cubicBezTo>
                    <a:cubicBezTo>
                      <a:pt x="1068321" y="931864"/>
                      <a:pt x="1101726" y="898459"/>
                      <a:pt x="1101726" y="857251"/>
                    </a:cubicBezTo>
                    <a:cubicBezTo>
                      <a:pt x="1101726" y="816043"/>
                      <a:pt x="1068321" y="782638"/>
                      <a:pt x="1027113" y="782638"/>
                    </a:cubicBezTo>
                    <a:close/>
                    <a:moveTo>
                      <a:pt x="382940" y="744538"/>
                    </a:moveTo>
                    <a:cubicBezTo>
                      <a:pt x="380823" y="744538"/>
                      <a:pt x="379412" y="745981"/>
                      <a:pt x="379412" y="748146"/>
                    </a:cubicBezTo>
                    <a:cubicBezTo>
                      <a:pt x="379412" y="748146"/>
                      <a:pt x="379412" y="748146"/>
                      <a:pt x="379412" y="812368"/>
                    </a:cubicBezTo>
                    <a:cubicBezTo>
                      <a:pt x="379412" y="814533"/>
                      <a:pt x="380823" y="815976"/>
                      <a:pt x="382940" y="815976"/>
                    </a:cubicBezTo>
                    <a:cubicBezTo>
                      <a:pt x="382940" y="815976"/>
                      <a:pt x="382940" y="815976"/>
                      <a:pt x="445734" y="815976"/>
                    </a:cubicBezTo>
                    <a:cubicBezTo>
                      <a:pt x="447851" y="815976"/>
                      <a:pt x="449262" y="814533"/>
                      <a:pt x="449262" y="812368"/>
                    </a:cubicBezTo>
                    <a:cubicBezTo>
                      <a:pt x="449262" y="812368"/>
                      <a:pt x="449262" y="812368"/>
                      <a:pt x="449262" y="748146"/>
                    </a:cubicBezTo>
                    <a:cubicBezTo>
                      <a:pt x="449262" y="745981"/>
                      <a:pt x="447851" y="744538"/>
                      <a:pt x="445734" y="744538"/>
                    </a:cubicBezTo>
                    <a:cubicBezTo>
                      <a:pt x="445734" y="744538"/>
                      <a:pt x="445734" y="744538"/>
                      <a:pt x="382940" y="744538"/>
                    </a:cubicBezTo>
                    <a:close/>
                    <a:moveTo>
                      <a:pt x="241653" y="744538"/>
                    </a:moveTo>
                    <a:cubicBezTo>
                      <a:pt x="239536" y="744538"/>
                      <a:pt x="238125" y="745981"/>
                      <a:pt x="238125" y="748146"/>
                    </a:cubicBezTo>
                    <a:cubicBezTo>
                      <a:pt x="238125" y="748146"/>
                      <a:pt x="238125" y="748146"/>
                      <a:pt x="238125" y="812368"/>
                    </a:cubicBezTo>
                    <a:cubicBezTo>
                      <a:pt x="238125" y="814533"/>
                      <a:pt x="239536" y="815976"/>
                      <a:pt x="241653" y="815976"/>
                    </a:cubicBezTo>
                    <a:cubicBezTo>
                      <a:pt x="241653" y="815976"/>
                      <a:pt x="241653" y="815976"/>
                      <a:pt x="304447" y="815976"/>
                    </a:cubicBezTo>
                    <a:cubicBezTo>
                      <a:pt x="305859" y="815976"/>
                      <a:pt x="307975" y="814533"/>
                      <a:pt x="307975" y="812368"/>
                    </a:cubicBezTo>
                    <a:cubicBezTo>
                      <a:pt x="307975" y="812368"/>
                      <a:pt x="307975" y="812368"/>
                      <a:pt x="307975" y="748146"/>
                    </a:cubicBezTo>
                    <a:cubicBezTo>
                      <a:pt x="307975" y="745981"/>
                      <a:pt x="305859" y="744538"/>
                      <a:pt x="304447" y="744538"/>
                    </a:cubicBezTo>
                    <a:cubicBezTo>
                      <a:pt x="304447" y="744538"/>
                      <a:pt x="304447" y="744538"/>
                      <a:pt x="241653" y="744538"/>
                    </a:cubicBezTo>
                    <a:close/>
                    <a:moveTo>
                      <a:pt x="89253" y="744538"/>
                    </a:moveTo>
                    <a:cubicBezTo>
                      <a:pt x="87136" y="744538"/>
                      <a:pt x="85725" y="745981"/>
                      <a:pt x="85725" y="748146"/>
                    </a:cubicBezTo>
                    <a:cubicBezTo>
                      <a:pt x="85725" y="748146"/>
                      <a:pt x="85725" y="748146"/>
                      <a:pt x="85725" y="812368"/>
                    </a:cubicBezTo>
                    <a:cubicBezTo>
                      <a:pt x="85725" y="814533"/>
                      <a:pt x="87136" y="815976"/>
                      <a:pt x="89253" y="815976"/>
                    </a:cubicBezTo>
                    <a:cubicBezTo>
                      <a:pt x="89253" y="815976"/>
                      <a:pt x="89253" y="815976"/>
                      <a:pt x="152047" y="815976"/>
                    </a:cubicBezTo>
                    <a:cubicBezTo>
                      <a:pt x="153459" y="815976"/>
                      <a:pt x="155575" y="814533"/>
                      <a:pt x="155575" y="812368"/>
                    </a:cubicBezTo>
                    <a:cubicBezTo>
                      <a:pt x="155575" y="812368"/>
                      <a:pt x="155575" y="812368"/>
                      <a:pt x="155575" y="748146"/>
                    </a:cubicBezTo>
                    <a:cubicBezTo>
                      <a:pt x="155575" y="745981"/>
                      <a:pt x="153459" y="744538"/>
                      <a:pt x="152047" y="744538"/>
                    </a:cubicBezTo>
                    <a:cubicBezTo>
                      <a:pt x="152047" y="744538"/>
                      <a:pt x="152047" y="744538"/>
                      <a:pt x="89253" y="744538"/>
                    </a:cubicBezTo>
                    <a:close/>
                    <a:moveTo>
                      <a:pt x="628336" y="684213"/>
                    </a:moveTo>
                    <a:cubicBezTo>
                      <a:pt x="628336" y="684213"/>
                      <a:pt x="628336" y="684213"/>
                      <a:pt x="1036028" y="684213"/>
                    </a:cubicBezTo>
                    <a:cubicBezTo>
                      <a:pt x="1038173" y="684213"/>
                      <a:pt x="1040319" y="684213"/>
                      <a:pt x="1041749" y="684213"/>
                    </a:cubicBezTo>
                    <a:cubicBezTo>
                      <a:pt x="1135447" y="687057"/>
                      <a:pt x="1211263" y="763841"/>
                      <a:pt x="1211263" y="858400"/>
                    </a:cubicBezTo>
                    <a:cubicBezTo>
                      <a:pt x="1211263" y="953670"/>
                      <a:pt x="1132586" y="1031876"/>
                      <a:pt x="1036028" y="1031876"/>
                    </a:cubicBezTo>
                    <a:cubicBezTo>
                      <a:pt x="1036028" y="1031876"/>
                      <a:pt x="1036028" y="1031876"/>
                      <a:pt x="625475" y="1031876"/>
                    </a:cubicBezTo>
                    <a:cubicBezTo>
                      <a:pt x="626906" y="1026899"/>
                      <a:pt x="628336" y="1021212"/>
                      <a:pt x="628336" y="1016235"/>
                    </a:cubicBezTo>
                    <a:cubicBezTo>
                      <a:pt x="628336" y="1016235"/>
                      <a:pt x="628336" y="1016235"/>
                      <a:pt x="628336" y="684213"/>
                    </a:cubicBezTo>
                    <a:close/>
                    <a:moveTo>
                      <a:pt x="415131" y="184150"/>
                    </a:moveTo>
                    <a:cubicBezTo>
                      <a:pt x="395404" y="184150"/>
                      <a:pt x="379412" y="199786"/>
                      <a:pt x="379412" y="219075"/>
                    </a:cubicBezTo>
                    <a:cubicBezTo>
                      <a:pt x="379412" y="238364"/>
                      <a:pt x="395404" y="254000"/>
                      <a:pt x="415131" y="254000"/>
                    </a:cubicBezTo>
                    <a:cubicBezTo>
                      <a:pt x="434858" y="254000"/>
                      <a:pt x="450850" y="238364"/>
                      <a:pt x="450850" y="219075"/>
                    </a:cubicBezTo>
                    <a:cubicBezTo>
                      <a:pt x="450850" y="199786"/>
                      <a:pt x="434858" y="184150"/>
                      <a:pt x="415131" y="184150"/>
                    </a:cubicBezTo>
                    <a:close/>
                    <a:moveTo>
                      <a:pt x="273050" y="184150"/>
                    </a:moveTo>
                    <a:cubicBezTo>
                      <a:pt x="253761" y="184150"/>
                      <a:pt x="238125" y="199786"/>
                      <a:pt x="238125" y="219075"/>
                    </a:cubicBezTo>
                    <a:cubicBezTo>
                      <a:pt x="238125" y="238364"/>
                      <a:pt x="253761" y="254000"/>
                      <a:pt x="273050" y="254000"/>
                    </a:cubicBezTo>
                    <a:cubicBezTo>
                      <a:pt x="292339" y="254000"/>
                      <a:pt x="307975" y="238364"/>
                      <a:pt x="307975" y="219075"/>
                    </a:cubicBezTo>
                    <a:cubicBezTo>
                      <a:pt x="307975" y="199786"/>
                      <a:pt x="292339" y="184150"/>
                      <a:pt x="273050" y="184150"/>
                    </a:cubicBezTo>
                    <a:close/>
                    <a:moveTo>
                      <a:pt x="120650" y="184150"/>
                    </a:moveTo>
                    <a:cubicBezTo>
                      <a:pt x="101361" y="184150"/>
                      <a:pt x="85725" y="199786"/>
                      <a:pt x="85725" y="219075"/>
                    </a:cubicBezTo>
                    <a:cubicBezTo>
                      <a:pt x="85725" y="238364"/>
                      <a:pt x="101361" y="254000"/>
                      <a:pt x="120650" y="254000"/>
                    </a:cubicBezTo>
                    <a:cubicBezTo>
                      <a:pt x="139939" y="254000"/>
                      <a:pt x="155575" y="238364"/>
                      <a:pt x="155575" y="219075"/>
                    </a:cubicBezTo>
                    <a:cubicBezTo>
                      <a:pt x="155575" y="199786"/>
                      <a:pt x="139939" y="184150"/>
                      <a:pt x="120650" y="184150"/>
                    </a:cubicBezTo>
                    <a:close/>
                    <a:moveTo>
                      <a:pt x="99301" y="74613"/>
                    </a:moveTo>
                    <a:cubicBezTo>
                      <a:pt x="91441" y="74613"/>
                      <a:pt x="85725" y="80945"/>
                      <a:pt x="85725" y="90091"/>
                    </a:cubicBezTo>
                    <a:cubicBezTo>
                      <a:pt x="85725" y="90091"/>
                      <a:pt x="85725" y="90091"/>
                      <a:pt x="85725" y="121048"/>
                    </a:cubicBezTo>
                    <a:cubicBezTo>
                      <a:pt x="85725" y="129491"/>
                      <a:pt x="91441" y="136526"/>
                      <a:pt x="99301" y="136526"/>
                    </a:cubicBezTo>
                    <a:cubicBezTo>
                      <a:pt x="99301" y="136526"/>
                      <a:pt x="99301" y="136526"/>
                      <a:pt x="436560" y="136526"/>
                    </a:cubicBezTo>
                    <a:cubicBezTo>
                      <a:pt x="444419" y="136526"/>
                      <a:pt x="450850" y="129491"/>
                      <a:pt x="450850" y="121048"/>
                    </a:cubicBezTo>
                    <a:cubicBezTo>
                      <a:pt x="450850" y="121048"/>
                      <a:pt x="450850" y="121048"/>
                      <a:pt x="450850" y="90091"/>
                    </a:cubicBezTo>
                    <a:cubicBezTo>
                      <a:pt x="450850" y="80945"/>
                      <a:pt x="444419" y="74613"/>
                      <a:pt x="436560" y="74613"/>
                    </a:cubicBezTo>
                    <a:cubicBezTo>
                      <a:pt x="436560" y="74613"/>
                      <a:pt x="436560" y="74613"/>
                      <a:pt x="99301" y="74613"/>
                    </a:cubicBezTo>
                    <a:close/>
                    <a:moveTo>
                      <a:pt x="930275" y="31750"/>
                    </a:moveTo>
                    <a:cubicBezTo>
                      <a:pt x="918008" y="31750"/>
                      <a:pt x="907906" y="38171"/>
                      <a:pt x="902133" y="48160"/>
                    </a:cubicBezTo>
                    <a:cubicBezTo>
                      <a:pt x="899968" y="52441"/>
                      <a:pt x="898525" y="58149"/>
                      <a:pt x="898525" y="63857"/>
                    </a:cubicBezTo>
                    <a:cubicBezTo>
                      <a:pt x="898525" y="69565"/>
                      <a:pt x="899968" y="74559"/>
                      <a:pt x="902133" y="79553"/>
                    </a:cubicBezTo>
                    <a:cubicBezTo>
                      <a:pt x="905020" y="83834"/>
                      <a:pt x="909349" y="88115"/>
                      <a:pt x="914400" y="90969"/>
                    </a:cubicBezTo>
                    <a:cubicBezTo>
                      <a:pt x="918730" y="93823"/>
                      <a:pt x="924503" y="95250"/>
                      <a:pt x="930275" y="95250"/>
                    </a:cubicBezTo>
                    <a:cubicBezTo>
                      <a:pt x="936048" y="95250"/>
                      <a:pt x="941099" y="93823"/>
                      <a:pt x="946150" y="90969"/>
                    </a:cubicBezTo>
                    <a:cubicBezTo>
                      <a:pt x="955531" y="85261"/>
                      <a:pt x="962025" y="75273"/>
                      <a:pt x="962025" y="63857"/>
                    </a:cubicBezTo>
                    <a:cubicBezTo>
                      <a:pt x="962025" y="46020"/>
                      <a:pt x="947593" y="31750"/>
                      <a:pt x="930275" y="31750"/>
                    </a:cubicBezTo>
                    <a:close/>
                    <a:moveTo>
                      <a:pt x="0" y="1588"/>
                    </a:moveTo>
                    <a:cubicBezTo>
                      <a:pt x="0" y="1588"/>
                      <a:pt x="0" y="1588"/>
                      <a:pt x="536575" y="1588"/>
                    </a:cubicBezTo>
                    <a:cubicBezTo>
                      <a:pt x="536575" y="1588"/>
                      <a:pt x="536575" y="1588"/>
                      <a:pt x="536575" y="50830"/>
                    </a:cubicBezTo>
                    <a:cubicBezTo>
                      <a:pt x="536575" y="50830"/>
                      <a:pt x="536575" y="50830"/>
                      <a:pt x="536575" y="76521"/>
                    </a:cubicBezTo>
                    <a:cubicBezTo>
                      <a:pt x="536575" y="76521"/>
                      <a:pt x="536575" y="76521"/>
                      <a:pt x="536575" y="857251"/>
                    </a:cubicBezTo>
                    <a:cubicBezTo>
                      <a:pt x="536575" y="857251"/>
                      <a:pt x="536575" y="857251"/>
                      <a:pt x="0" y="857251"/>
                    </a:cubicBezTo>
                    <a:cubicBezTo>
                      <a:pt x="0" y="857251"/>
                      <a:pt x="0" y="857251"/>
                      <a:pt x="0" y="1588"/>
                    </a:cubicBezTo>
                    <a:close/>
                    <a:moveTo>
                      <a:pt x="929508" y="0"/>
                    </a:moveTo>
                    <a:cubicBezTo>
                      <a:pt x="964442" y="0"/>
                      <a:pt x="992246" y="28480"/>
                      <a:pt x="992246" y="63368"/>
                    </a:cubicBezTo>
                    <a:cubicBezTo>
                      <a:pt x="992246" y="92560"/>
                      <a:pt x="972284" y="116768"/>
                      <a:pt x="945192" y="123888"/>
                    </a:cubicBezTo>
                    <a:cubicBezTo>
                      <a:pt x="945192" y="123888"/>
                      <a:pt x="945192" y="123888"/>
                      <a:pt x="945192" y="249201"/>
                    </a:cubicBezTo>
                    <a:cubicBezTo>
                      <a:pt x="945192" y="249201"/>
                      <a:pt x="945192" y="249201"/>
                      <a:pt x="975848" y="249201"/>
                    </a:cubicBezTo>
                    <a:cubicBezTo>
                      <a:pt x="982978" y="249201"/>
                      <a:pt x="988681" y="253473"/>
                      <a:pt x="990820" y="259881"/>
                    </a:cubicBezTo>
                    <a:cubicBezTo>
                      <a:pt x="990820" y="259881"/>
                      <a:pt x="990820" y="259881"/>
                      <a:pt x="1020050" y="351017"/>
                    </a:cubicBezTo>
                    <a:cubicBezTo>
                      <a:pt x="1020763" y="355289"/>
                      <a:pt x="1020763" y="358849"/>
                      <a:pt x="1019337" y="363121"/>
                    </a:cubicBezTo>
                    <a:cubicBezTo>
                      <a:pt x="1019337" y="363121"/>
                      <a:pt x="1019337" y="363121"/>
                      <a:pt x="990820" y="420081"/>
                    </a:cubicBezTo>
                    <a:cubicBezTo>
                      <a:pt x="987968" y="425065"/>
                      <a:pt x="982978" y="428625"/>
                      <a:pt x="976561" y="428625"/>
                    </a:cubicBezTo>
                    <a:cubicBezTo>
                      <a:pt x="974423" y="428625"/>
                      <a:pt x="972284" y="427913"/>
                      <a:pt x="970145" y="427201"/>
                    </a:cubicBezTo>
                    <a:cubicBezTo>
                      <a:pt x="962303" y="422929"/>
                      <a:pt x="958738" y="413673"/>
                      <a:pt x="963016" y="405841"/>
                    </a:cubicBezTo>
                    <a:cubicBezTo>
                      <a:pt x="963016" y="405841"/>
                      <a:pt x="963016" y="405841"/>
                      <a:pt x="987968" y="354577"/>
                    </a:cubicBezTo>
                    <a:cubicBezTo>
                      <a:pt x="987968" y="354577"/>
                      <a:pt x="987968" y="354577"/>
                      <a:pt x="964442" y="280529"/>
                    </a:cubicBezTo>
                    <a:cubicBezTo>
                      <a:pt x="964442" y="280529"/>
                      <a:pt x="964442" y="280529"/>
                      <a:pt x="929508" y="280529"/>
                    </a:cubicBezTo>
                    <a:cubicBezTo>
                      <a:pt x="929508" y="280529"/>
                      <a:pt x="929508" y="280529"/>
                      <a:pt x="894574" y="280529"/>
                    </a:cubicBezTo>
                    <a:cubicBezTo>
                      <a:pt x="894574" y="280529"/>
                      <a:pt x="894574" y="280529"/>
                      <a:pt x="871047" y="354577"/>
                    </a:cubicBezTo>
                    <a:cubicBezTo>
                      <a:pt x="871047" y="354577"/>
                      <a:pt x="871047" y="354577"/>
                      <a:pt x="896000" y="405841"/>
                    </a:cubicBezTo>
                    <a:cubicBezTo>
                      <a:pt x="900278" y="413673"/>
                      <a:pt x="896713" y="422929"/>
                      <a:pt x="888871" y="427201"/>
                    </a:cubicBezTo>
                    <a:cubicBezTo>
                      <a:pt x="886732" y="427913"/>
                      <a:pt x="884593" y="428625"/>
                      <a:pt x="882454" y="428625"/>
                    </a:cubicBezTo>
                    <a:cubicBezTo>
                      <a:pt x="876038" y="428625"/>
                      <a:pt x="871047" y="425065"/>
                      <a:pt x="868196" y="420081"/>
                    </a:cubicBezTo>
                    <a:cubicBezTo>
                      <a:pt x="868196" y="420081"/>
                      <a:pt x="868196" y="420081"/>
                      <a:pt x="839678" y="363121"/>
                    </a:cubicBezTo>
                    <a:cubicBezTo>
                      <a:pt x="838252" y="358849"/>
                      <a:pt x="837540" y="355289"/>
                      <a:pt x="838965" y="351017"/>
                    </a:cubicBezTo>
                    <a:cubicBezTo>
                      <a:pt x="838965" y="351017"/>
                      <a:pt x="838965" y="351017"/>
                      <a:pt x="868196" y="259881"/>
                    </a:cubicBezTo>
                    <a:cubicBezTo>
                      <a:pt x="869622" y="253473"/>
                      <a:pt x="876038" y="249201"/>
                      <a:pt x="883167" y="249201"/>
                    </a:cubicBezTo>
                    <a:cubicBezTo>
                      <a:pt x="883167" y="249201"/>
                      <a:pt x="883167" y="249201"/>
                      <a:pt x="913823" y="249201"/>
                    </a:cubicBezTo>
                    <a:cubicBezTo>
                      <a:pt x="913823" y="249201"/>
                      <a:pt x="913823" y="249201"/>
                      <a:pt x="913823" y="123888"/>
                    </a:cubicBezTo>
                    <a:cubicBezTo>
                      <a:pt x="891722" y="118192"/>
                      <a:pt x="873899" y="101104"/>
                      <a:pt x="868196" y="79032"/>
                    </a:cubicBezTo>
                    <a:cubicBezTo>
                      <a:pt x="868196" y="79032"/>
                      <a:pt x="868196" y="79032"/>
                      <a:pt x="628650" y="79032"/>
                    </a:cubicBezTo>
                    <a:cubicBezTo>
                      <a:pt x="628650" y="79032"/>
                      <a:pt x="628650" y="79032"/>
                      <a:pt x="628650" y="47704"/>
                    </a:cubicBezTo>
                    <a:cubicBezTo>
                      <a:pt x="628650" y="47704"/>
                      <a:pt x="628650" y="47704"/>
                      <a:pt x="868196" y="47704"/>
                    </a:cubicBezTo>
                    <a:cubicBezTo>
                      <a:pt x="875325" y="19936"/>
                      <a:pt x="900278" y="0"/>
                      <a:pt x="929508"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98" name="Freeform 6"/>
              <p:cNvSpPr>
                <a:spLocks/>
              </p:cNvSpPr>
              <p:nvPr/>
            </p:nvSpPr>
            <p:spPr bwMode="auto">
              <a:xfrm>
                <a:off x="5457824" y="2882899"/>
                <a:ext cx="1135064" cy="1092200"/>
              </a:xfrm>
              <a:custGeom>
                <a:avLst/>
                <a:gdLst>
                  <a:gd name="connsiteX0" fmla="*/ 31750 w 1135064"/>
                  <a:gd name="connsiteY0" fmla="*/ 981075 h 1092200"/>
                  <a:gd name="connsiteX1" fmla="*/ 31750 w 1135064"/>
                  <a:gd name="connsiteY1" fmla="*/ 1062038 h 1092200"/>
                  <a:gd name="connsiteX2" fmla="*/ 601107 w 1135064"/>
                  <a:gd name="connsiteY2" fmla="*/ 1062038 h 1092200"/>
                  <a:gd name="connsiteX3" fmla="*/ 631825 w 1135064"/>
                  <a:gd name="connsiteY3" fmla="*/ 1062038 h 1092200"/>
                  <a:gd name="connsiteX4" fmla="*/ 631825 w 1135064"/>
                  <a:gd name="connsiteY4" fmla="*/ 981075 h 1092200"/>
                  <a:gd name="connsiteX5" fmla="*/ 601107 w 1135064"/>
                  <a:gd name="connsiteY5" fmla="*/ 981075 h 1092200"/>
                  <a:gd name="connsiteX6" fmla="*/ 31750 w 1135064"/>
                  <a:gd name="connsiteY6" fmla="*/ 981075 h 1092200"/>
                  <a:gd name="connsiteX7" fmla="*/ 1092201 w 1135064"/>
                  <a:gd name="connsiteY7" fmla="*/ 876300 h 1092200"/>
                  <a:gd name="connsiteX8" fmla="*/ 1135064 w 1135064"/>
                  <a:gd name="connsiteY8" fmla="*/ 919163 h 1092200"/>
                  <a:gd name="connsiteX9" fmla="*/ 1092201 w 1135064"/>
                  <a:gd name="connsiteY9" fmla="*/ 962026 h 1092200"/>
                  <a:gd name="connsiteX10" fmla="*/ 1049338 w 1135064"/>
                  <a:gd name="connsiteY10" fmla="*/ 919163 h 1092200"/>
                  <a:gd name="connsiteX11" fmla="*/ 1092201 w 1135064"/>
                  <a:gd name="connsiteY11" fmla="*/ 876300 h 1092200"/>
                  <a:gd name="connsiteX12" fmla="*/ 880894 w 1135064"/>
                  <a:gd name="connsiteY12" fmla="*/ 544513 h 1092200"/>
                  <a:gd name="connsiteX13" fmla="*/ 1105070 w 1135064"/>
                  <a:gd name="connsiteY13" fmla="*/ 544513 h 1092200"/>
                  <a:gd name="connsiteX14" fmla="*/ 1120776 w 1135064"/>
                  <a:gd name="connsiteY14" fmla="*/ 560281 h 1092200"/>
                  <a:gd name="connsiteX15" fmla="*/ 1120776 w 1135064"/>
                  <a:gd name="connsiteY15" fmla="*/ 698608 h 1092200"/>
                  <a:gd name="connsiteX16" fmla="*/ 1110067 w 1135064"/>
                  <a:gd name="connsiteY16" fmla="*/ 713659 h 1092200"/>
                  <a:gd name="connsiteX17" fmla="*/ 1105070 w 1135064"/>
                  <a:gd name="connsiteY17" fmla="*/ 714376 h 1092200"/>
                  <a:gd name="connsiteX18" fmla="*/ 880894 w 1135064"/>
                  <a:gd name="connsiteY18" fmla="*/ 714376 h 1092200"/>
                  <a:gd name="connsiteX19" fmla="*/ 875183 w 1135064"/>
                  <a:gd name="connsiteY19" fmla="*/ 713659 h 1092200"/>
                  <a:gd name="connsiteX20" fmla="*/ 865188 w 1135064"/>
                  <a:gd name="connsiteY20" fmla="*/ 698608 h 1092200"/>
                  <a:gd name="connsiteX21" fmla="*/ 865188 w 1135064"/>
                  <a:gd name="connsiteY21" fmla="*/ 560281 h 1092200"/>
                  <a:gd name="connsiteX22" fmla="*/ 880894 w 1135064"/>
                  <a:gd name="connsiteY22" fmla="*/ 544513 h 1092200"/>
                  <a:gd name="connsiteX23" fmla="*/ 693738 w 1135064"/>
                  <a:gd name="connsiteY23" fmla="*/ 544513 h 1092200"/>
                  <a:gd name="connsiteX24" fmla="*/ 814619 w 1135064"/>
                  <a:gd name="connsiteY24" fmla="*/ 544513 h 1092200"/>
                  <a:gd name="connsiteX25" fmla="*/ 830263 w 1135064"/>
                  <a:gd name="connsiteY25" fmla="*/ 560281 h 1092200"/>
                  <a:gd name="connsiteX26" fmla="*/ 830263 w 1135064"/>
                  <a:gd name="connsiteY26" fmla="*/ 698608 h 1092200"/>
                  <a:gd name="connsiteX27" fmla="*/ 820308 w 1135064"/>
                  <a:gd name="connsiteY27" fmla="*/ 713659 h 1092200"/>
                  <a:gd name="connsiteX28" fmla="*/ 814619 w 1135064"/>
                  <a:gd name="connsiteY28" fmla="*/ 714376 h 1092200"/>
                  <a:gd name="connsiteX29" fmla="*/ 693738 w 1135064"/>
                  <a:gd name="connsiteY29" fmla="*/ 714376 h 1092200"/>
                  <a:gd name="connsiteX30" fmla="*/ 693738 w 1135064"/>
                  <a:gd name="connsiteY30" fmla="*/ 713659 h 1092200"/>
                  <a:gd name="connsiteX31" fmla="*/ 693738 w 1135064"/>
                  <a:gd name="connsiteY31" fmla="*/ 544513 h 1092200"/>
                  <a:gd name="connsiteX32" fmla="*/ 31750 w 1135064"/>
                  <a:gd name="connsiteY32" fmla="*/ 30163 h 1092200"/>
                  <a:gd name="connsiteX33" fmla="*/ 31750 w 1135064"/>
                  <a:gd name="connsiteY33" fmla="*/ 949326 h 1092200"/>
                  <a:gd name="connsiteX34" fmla="*/ 601107 w 1135064"/>
                  <a:gd name="connsiteY34" fmla="*/ 949326 h 1092200"/>
                  <a:gd name="connsiteX35" fmla="*/ 631825 w 1135064"/>
                  <a:gd name="connsiteY35" fmla="*/ 949326 h 1092200"/>
                  <a:gd name="connsiteX36" fmla="*/ 631825 w 1135064"/>
                  <a:gd name="connsiteY36" fmla="*/ 713643 h 1092200"/>
                  <a:gd name="connsiteX37" fmla="*/ 631825 w 1135064"/>
                  <a:gd name="connsiteY37" fmla="*/ 139434 h 1092200"/>
                  <a:gd name="connsiteX38" fmla="*/ 631825 w 1135064"/>
                  <a:gd name="connsiteY38" fmla="*/ 108010 h 1092200"/>
                  <a:gd name="connsiteX39" fmla="*/ 631825 w 1135064"/>
                  <a:gd name="connsiteY39" fmla="*/ 30163 h 1092200"/>
                  <a:gd name="connsiteX40" fmla="*/ 31750 w 1135064"/>
                  <a:gd name="connsiteY40" fmla="*/ 30163 h 1092200"/>
                  <a:gd name="connsiteX41" fmla="*/ 14301 w 1135064"/>
                  <a:gd name="connsiteY41" fmla="*/ 0 h 1092200"/>
                  <a:gd name="connsiteX42" fmla="*/ 15732 w 1135064"/>
                  <a:gd name="connsiteY42" fmla="*/ 0 h 1092200"/>
                  <a:gd name="connsiteX43" fmla="*/ 647844 w 1135064"/>
                  <a:gd name="connsiteY43" fmla="*/ 0 h 1092200"/>
                  <a:gd name="connsiteX44" fmla="*/ 649274 w 1135064"/>
                  <a:gd name="connsiteY44" fmla="*/ 0 h 1092200"/>
                  <a:gd name="connsiteX45" fmla="*/ 663575 w 1135064"/>
                  <a:gd name="connsiteY45" fmla="*/ 15684 h 1092200"/>
                  <a:gd name="connsiteX46" fmla="*/ 663575 w 1135064"/>
                  <a:gd name="connsiteY46" fmla="*/ 109078 h 1092200"/>
                  <a:gd name="connsiteX47" fmla="*/ 663575 w 1135064"/>
                  <a:gd name="connsiteY47" fmla="*/ 140446 h 1092200"/>
                  <a:gd name="connsiteX48" fmla="*/ 663575 w 1135064"/>
                  <a:gd name="connsiteY48" fmla="*/ 543961 h 1092200"/>
                  <a:gd name="connsiteX49" fmla="*/ 663575 w 1135064"/>
                  <a:gd name="connsiteY49" fmla="*/ 713637 h 1092200"/>
                  <a:gd name="connsiteX50" fmla="*/ 663575 w 1135064"/>
                  <a:gd name="connsiteY50" fmla="*/ 714350 h 1092200"/>
                  <a:gd name="connsiteX51" fmla="*/ 663575 w 1135064"/>
                  <a:gd name="connsiteY51" fmla="*/ 745006 h 1092200"/>
                  <a:gd name="connsiteX52" fmla="*/ 663575 w 1135064"/>
                  <a:gd name="connsiteY52" fmla="*/ 1076516 h 1092200"/>
                  <a:gd name="connsiteX53" fmla="*/ 649989 w 1135064"/>
                  <a:gd name="connsiteY53" fmla="*/ 1091487 h 1092200"/>
                  <a:gd name="connsiteX54" fmla="*/ 647844 w 1135064"/>
                  <a:gd name="connsiteY54" fmla="*/ 1092200 h 1092200"/>
                  <a:gd name="connsiteX55" fmla="*/ 601365 w 1135064"/>
                  <a:gd name="connsiteY55" fmla="*/ 1092200 h 1092200"/>
                  <a:gd name="connsiteX56" fmla="*/ 15732 w 1135064"/>
                  <a:gd name="connsiteY56" fmla="*/ 1092200 h 1092200"/>
                  <a:gd name="connsiteX57" fmla="*/ 12871 w 1135064"/>
                  <a:gd name="connsiteY57" fmla="*/ 1091487 h 1092200"/>
                  <a:gd name="connsiteX58" fmla="*/ 0 w 1135064"/>
                  <a:gd name="connsiteY58" fmla="*/ 1076516 h 1092200"/>
                  <a:gd name="connsiteX59" fmla="*/ 0 w 1135064"/>
                  <a:gd name="connsiteY59" fmla="*/ 980271 h 1092200"/>
                  <a:gd name="connsiteX60" fmla="*/ 0 w 1135064"/>
                  <a:gd name="connsiteY60" fmla="*/ 948902 h 1092200"/>
                  <a:gd name="connsiteX61" fmla="*/ 0 w 1135064"/>
                  <a:gd name="connsiteY61" fmla="*/ 15684 h 1092200"/>
                  <a:gd name="connsiteX62" fmla="*/ 14301 w 1135064"/>
                  <a:gd name="connsiteY62"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5064" h="1092200">
                    <a:moveTo>
                      <a:pt x="31750" y="981075"/>
                    </a:moveTo>
                    <a:cubicBezTo>
                      <a:pt x="31750" y="981075"/>
                      <a:pt x="31750" y="981075"/>
                      <a:pt x="31750" y="1062038"/>
                    </a:cubicBezTo>
                    <a:cubicBezTo>
                      <a:pt x="31750" y="1062038"/>
                      <a:pt x="31750" y="1062038"/>
                      <a:pt x="601107" y="1062038"/>
                    </a:cubicBezTo>
                    <a:cubicBezTo>
                      <a:pt x="601107" y="1062038"/>
                      <a:pt x="601107" y="1062038"/>
                      <a:pt x="631825" y="1062038"/>
                    </a:cubicBezTo>
                    <a:cubicBezTo>
                      <a:pt x="631825" y="1062038"/>
                      <a:pt x="631825" y="1062038"/>
                      <a:pt x="631825" y="981075"/>
                    </a:cubicBezTo>
                    <a:cubicBezTo>
                      <a:pt x="631825" y="981075"/>
                      <a:pt x="631825" y="981075"/>
                      <a:pt x="601107" y="981075"/>
                    </a:cubicBezTo>
                    <a:cubicBezTo>
                      <a:pt x="601107" y="981075"/>
                      <a:pt x="601107" y="981075"/>
                      <a:pt x="31750" y="981075"/>
                    </a:cubicBezTo>
                    <a:close/>
                    <a:moveTo>
                      <a:pt x="1092201" y="876300"/>
                    </a:moveTo>
                    <a:cubicBezTo>
                      <a:pt x="1115874" y="876300"/>
                      <a:pt x="1135064" y="895490"/>
                      <a:pt x="1135064" y="919163"/>
                    </a:cubicBezTo>
                    <a:cubicBezTo>
                      <a:pt x="1135064" y="942836"/>
                      <a:pt x="1115874" y="962026"/>
                      <a:pt x="1092201" y="962026"/>
                    </a:cubicBezTo>
                    <a:cubicBezTo>
                      <a:pt x="1068528" y="962026"/>
                      <a:pt x="1049338" y="942836"/>
                      <a:pt x="1049338" y="919163"/>
                    </a:cubicBezTo>
                    <a:cubicBezTo>
                      <a:pt x="1049338" y="895490"/>
                      <a:pt x="1068528" y="876300"/>
                      <a:pt x="1092201" y="876300"/>
                    </a:cubicBezTo>
                    <a:close/>
                    <a:moveTo>
                      <a:pt x="880894" y="544513"/>
                    </a:moveTo>
                    <a:cubicBezTo>
                      <a:pt x="880894" y="544513"/>
                      <a:pt x="880894" y="544513"/>
                      <a:pt x="1105070" y="544513"/>
                    </a:cubicBezTo>
                    <a:cubicBezTo>
                      <a:pt x="1113637" y="544513"/>
                      <a:pt x="1120776" y="551680"/>
                      <a:pt x="1120776" y="560281"/>
                    </a:cubicBezTo>
                    <a:cubicBezTo>
                      <a:pt x="1120776" y="560281"/>
                      <a:pt x="1120776" y="560281"/>
                      <a:pt x="1120776" y="698608"/>
                    </a:cubicBezTo>
                    <a:cubicBezTo>
                      <a:pt x="1120776" y="705775"/>
                      <a:pt x="1116493" y="711509"/>
                      <a:pt x="1110067" y="713659"/>
                    </a:cubicBezTo>
                    <a:cubicBezTo>
                      <a:pt x="1108639" y="714376"/>
                      <a:pt x="1107212" y="714376"/>
                      <a:pt x="1105070" y="714376"/>
                    </a:cubicBezTo>
                    <a:cubicBezTo>
                      <a:pt x="1105070" y="714376"/>
                      <a:pt x="1105070" y="714376"/>
                      <a:pt x="880894" y="714376"/>
                    </a:cubicBezTo>
                    <a:cubicBezTo>
                      <a:pt x="878752" y="714376"/>
                      <a:pt x="876611" y="714376"/>
                      <a:pt x="875183" y="713659"/>
                    </a:cubicBezTo>
                    <a:cubicBezTo>
                      <a:pt x="869471" y="711509"/>
                      <a:pt x="865188" y="705775"/>
                      <a:pt x="865188" y="698608"/>
                    </a:cubicBezTo>
                    <a:cubicBezTo>
                      <a:pt x="865188" y="698608"/>
                      <a:pt x="865188" y="698608"/>
                      <a:pt x="865188" y="560281"/>
                    </a:cubicBezTo>
                    <a:cubicBezTo>
                      <a:pt x="865188" y="551680"/>
                      <a:pt x="872327" y="544513"/>
                      <a:pt x="880894" y="544513"/>
                    </a:cubicBezTo>
                    <a:close/>
                    <a:moveTo>
                      <a:pt x="693738" y="544513"/>
                    </a:moveTo>
                    <a:cubicBezTo>
                      <a:pt x="693738" y="544513"/>
                      <a:pt x="693738" y="544513"/>
                      <a:pt x="814619" y="544513"/>
                    </a:cubicBezTo>
                    <a:cubicBezTo>
                      <a:pt x="823152" y="544513"/>
                      <a:pt x="830263" y="551680"/>
                      <a:pt x="830263" y="560281"/>
                    </a:cubicBezTo>
                    <a:cubicBezTo>
                      <a:pt x="830263" y="560281"/>
                      <a:pt x="830263" y="560281"/>
                      <a:pt x="830263" y="698608"/>
                    </a:cubicBezTo>
                    <a:cubicBezTo>
                      <a:pt x="830263" y="705775"/>
                      <a:pt x="825996" y="711509"/>
                      <a:pt x="820308" y="713659"/>
                    </a:cubicBezTo>
                    <a:cubicBezTo>
                      <a:pt x="818175" y="714376"/>
                      <a:pt x="816752" y="714376"/>
                      <a:pt x="814619" y="714376"/>
                    </a:cubicBezTo>
                    <a:cubicBezTo>
                      <a:pt x="814619" y="714376"/>
                      <a:pt x="814619" y="714376"/>
                      <a:pt x="693738" y="714376"/>
                    </a:cubicBezTo>
                    <a:cubicBezTo>
                      <a:pt x="693738" y="714376"/>
                      <a:pt x="693738" y="714376"/>
                      <a:pt x="693738" y="713659"/>
                    </a:cubicBezTo>
                    <a:cubicBezTo>
                      <a:pt x="693738" y="713659"/>
                      <a:pt x="693738" y="713659"/>
                      <a:pt x="693738" y="544513"/>
                    </a:cubicBezTo>
                    <a:close/>
                    <a:moveTo>
                      <a:pt x="31750" y="30163"/>
                    </a:moveTo>
                    <a:cubicBezTo>
                      <a:pt x="31750" y="30163"/>
                      <a:pt x="31750" y="30163"/>
                      <a:pt x="31750" y="949326"/>
                    </a:cubicBezTo>
                    <a:cubicBezTo>
                      <a:pt x="31750" y="949326"/>
                      <a:pt x="31750" y="949326"/>
                      <a:pt x="601107" y="949326"/>
                    </a:cubicBezTo>
                    <a:cubicBezTo>
                      <a:pt x="601107" y="949326"/>
                      <a:pt x="601107" y="949326"/>
                      <a:pt x="631825" y="949326"/>
                    </a:cubicBezTo>
                    <a:cubicBezTo>
                      <a:pt x="631825" y="949326"/>
                      <a:pt x="631825" y="949326"/>
                      <a:pt x="631825" y="713643"/>
                    </a:cubicBezTo>
                    <a:cubicBezTo>
                      <a:pt x="631825" y="713643"/>
                      <a:pt x="631825" y="713643"/>
                      <a:pt x="631825" y="139434"/>
                    </a:cubicBezTo>
                    <a:cubicBezTo>
                      <a:pt x="631825" y="139434"/>
                      <a:pt x="631825" y="139434"/>
                      <a:pt x="631825" y="108010"/>
                    </a:cubicBezTo>
                    <a:cubicBezTo>
                      <a:pt x="631825" y="108010"/>
                      <a:pt x="631825" y="108010"/>
                      <a:pt x="631825" y="30163"/>
                    </a:cubicBezTo>
                    <a:cubicBezTo>
                      <a:pt x="631825" y="30163"/>
                      <a:pt x="631825" y="30163"/>
                      <a:pt x="31750" y="30163"/>
                    </a:cubicBezTo>
                    <a:close/>
                    <a:moveTo>
                      <a:pt x="14301" y="0"/>
                    </a:moveTo>
                    <a:cubicBezTo>
                      <a:pt x="14301" y="0"/>
                      <a:pt x="15016" y="0"/>
                      <a:pt x="15732" y="0"/>
                    </a:cubicBezTo>
                    <a:cubicBezTo>
                      <a:pt x="15732" y="0"/>
                      <a:pt x="15732" y="0"/>
                      <a:pt x="647844" y="0"/>
                    </a:cubicBezTo>
                    <a:cubicBezTo>
                      <a:pt x="648559" y="0"/>
                      <a:pt x="648559" y="0"/>
                      <a:pt x="649274" y="0"/>
                    </a:cubicBezTo>
                    <a:cubicBezTo>
                      <a:pt x="657140" y="1426"/>
                      <a:pt x="663575" y="7842"/>
                      <a:pt x="663575" y="15684"/>
                    </a:cubicBezTo>
                    <a:cubicBezTo>
                      <a:pt x="663575" y="15684"/>
                      <a:pt x="663575" y="15684"/>
                      <a:pt x="663575" y="109078"/>
                    </a:cubicBezTo>
                    <a:cubicBezTo>
                      <a:pt x="663575" y="109078"/>
                      <a:pt x="663575" y="109078"/>
                      <a:pt x="663575" y="140446"/>
                    </a:cubicBezTo>
                    <a:cubicBezTo>
                      <a:pt x="663575" y="140446"/>
                      <a:pt x="663575" y="140446"/>
                      <a:pt x="663575" y="543961"/>
                    </a:cubicBezTo>
                    <a:cubicBezTo>
                      <a:pt x="663575" y="543961"/>
                      <a:pt x="663575" y="543961"/>
                      <a:pt x="663575" y="713637"/>
                    </a:cubicBezTo>
                    <a:cubicBezTo>
                      <a:pt x="663575" y="713637"/>
                      <a:pt x="663575" y="713637"/>
                      <a:pt x="663575" y="714350"/>
                    </a:cubicBezTo>
                    <a:cubicBezTo>
                      <a:pt x="663575" y="714350"/>
                      <a:pt x="663575" y="714350"/>
                      <a:pt x="663575" y="745006"/>
                    </a:cubicBezTo>
                    <a:cubicBezTo>
                      <a:pt x="663575" y="745006"/>
                      <a:pt x="663575" y="745006"/>
                      <a:pt x="663575" y="1076516"/>
                    </a:cubicBezTo>
                    <a:cubicBezTo>
                      <a:pt x="663575" y="1084358"/>
                      <a:pt x="657855" y="1090774"/>
                      <a:pt x="649989" y="1091487"/>
                    </a:cubicBezTo>
                    <a:cubicBezTo>
                      <a:pt x="649274" y="1092200"/>
                      <a:pt x="648559" y="1092200"/>
                      <a:pt x="647844" y="1092200"/>
                    </a:cubicBezTo>
                    <a:cubicBezTo>
                      <a:pt x="647844" y="1092200"/>
                      <a:pt x="647844" y="1092200"/>
                      <a:pt x="601365" y="1092200"/>
                    </a:cubicBezTo>
                    <a:cubicBezTo>
                      <a:pt x="601365" y="1092200"/>
                      <a:pt x="601365" y="1092200"/>
                      <a:pt x="15732" y="1092200"/>
                    </a:cubicBezTo>
                    <a:cubicBezTo>
                      <a:pt x="15016" y="1092200"/>
                      <a:pt x="14301" y="1092200"/>
                      <a:pt x="12871" y="1091487"/>
                    </a:cubicBezTo>
                    <a:cubicBezTo>
                      <a:pt x="5721" y="1090774"/>
                      <a:pt x="0" y="1084358"/>
                      <a:pt x="0" y="1076516"/>
                    </a:cubicBezTo>
                    <a:cubicBezTo>
                      <a:pt x="0" y="1076516"/>
                      <a:pt x="0" y="1076516"/>
                      <a:pt x="0" y="980271"/>
                    </a:cubicBezTo>
                    <a:cubicBezTo>
                      <a:pt x="0" y="980271"/>
                      <a:pt x="0" y="980271"/>
                      <a:pt x="0" y="948902"/>
                    </a:cubicBezTo>
                    <a:cubicBezTo>
                      <a:pt x="0" y="948902"/>
                      <a:pt x="0" y="948902"/>
                      <a:pt x="0" y="15684"/>
                    </a:cubicBezTo>
                    <a:cubicBezTo>
                      <a:pt x="0" y="7842"/>
                      <a:pt x="6436" y="1426"/>
                      <a:pt x="14301"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nvGrpSpPr>
          <p:cNvPr id="99" name="Grupo 156"/>
          <p:cNvGrpSpPr/>
          <p:nvPr/>
        </p:nvGrpSpPr>
        <p:grpSpPr>
          <a:xfrm>
            <a:off x="4575028" y="4054360"/>
            <a:ext cx="3542074" cy="483455"/>
            <a:chOff x="3648049" y="3876661"/>
            <a:chExt cx="4142777" cy="565444"/>
          </a:xfrm>
        </p:grpSpPr>
        <p:sp>
          <p:nvSpPr>
            <p:cNvPr id="100" name="Rectangle: Rounded Corners 184"/>
            <p:cNvSpPr/>
            <p:nvPr/>
          </p:nvSpPr>
          <p:spPr>
            <a:xfrm>
              <a:off x="3836882" y="3952306"/>
              <a:ext cx="3953944" cy="478575"/>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y distribución de Energía</a:t>
              </a:r>
            </a:p>
          </p:txBody>
        </p:sp>
        <p:grpSp>
          <p:nvGrpSpPr>
            <p:cNvPr id="101" name="bcgIcons_Efficient Light Bulb "/>
            <p:cNvGrpSpPr>
              <a:grpSpLocks noChangeAspect="1"/>
            </p:cNvGrpSpPr>
            <p:nvPr/>
          </p:nvGrpSpPr>
          <p:grpSpPr>
            <a:xfrm>
              <a:off x="3810923" y="3914516"/>
              <a:ext cx="613453" cy="527589"/>
              <a:chOff x="5273675" y="2606675"/>
              <a:chExt cx="1644650" cy="1644650"/>
            </a:xfrm>
          </p:grpSpPr>
          <p:sp>
            <p:nvSpPr>
              <p:cNvPr id="102"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03" name="Group 189"/>
              <p:cNvGrpSpPr>
                <a:grpSpLocks/>
              </p:cNvGrpSpPr>
              <p:nvPr/>
            </p:nvGrpSpPr>
            <p:grpSpPr>
              <a:xfrm>
                <a:off x="5724524" y="2778125"/>
                <a:ext cx="744538" cy="1303338"/>
                <a:chOff x="5724524" y="2778125"/>
                <a:chExt cx="744538" cy="1303338"/>
              </a:xfrm>
            </p:grpSpPr>
            <p:sp>
              <p:nvSpPr>
                <p:cNvPr id="104" name="Freeform 8"/>
                <p:cNvSpPr>
                  <a:spLocks/>
                </p:cNvSpPr>
                <p:nvPr/>
              </p:nvSpPr>
              <p:spPr bwMode="auto">
                <a:xfrm>
                  <a:off x="5784851" y="2836864"/>
                  <a:ext cx="623889" cy="727075"/>
                </a:xfrm>
                <a:custGeom>
                  <a:avLst/>
                  <a:gdLst>
                    <a:gd name="T0" fmla="*/ 436 w 872"/>
                    <a:gd name="T1" fmla="*/ 0 h 1018"/>
                    <a:gd name="T2" fmla="*/ 0 w 872"/>
                    <a:gd name="T3" fmla="*/ 437 h 1018"/>
                    <a:gd name="T4" fmla="*/ 105 w 872"/>
                    <a:gd name="T5" fmla="*/ 721 h 1018"/>
                    <a:gd name="T6" fmla="*/ 261 w 872"/>
                    <a:gd name="T7" fmla="*/ 1018 h 1018"/>
                    <a:gd name="T8" fmla="*/ 414 w 872"/>
                    <a:gd name="T9" fmla="*/ 1018 h 1018"/>
                    <a:gd name="T10" fmla="*/ 414 w 872"/>
                    <a:gd name="T11" fmla="*/ 899 h 1018"/>
                    <a:gd name="T12" fmla="*/ 420 w 872"/>
                    <a:gd name="T13" fmla="*/ 884 h 1018"/>
                    <a:gd name="T14" fmla="*/ 524 w 872"/>
                    <a:gd name="T15" fmla="*/ 772 h 1018"/>
                    <a:gd name="T16" fmla="*/ 369 w 872"/>
                    <a:gd name="T17" fmla="*/ 772 h 1018"/>
                    <a:gd name="T18" fmla="*/ 348 w 872"/>
                    <a:gd name="T19" fmla="*/ 759 h 1018"/>
                    <a:gd name="T20" fmla="*/ 353 w 872"/>
                    <a:gd name="T21" fmla="*/ 735 h 1018"/>
                    <a:gd name="T22" fmla="*/ 480 w 872"/>
                    <a:gd name="T23" fmla="*/ 602 h 1018"/>
                    <a:gd name="T24" fmla="*/ 353 w 872"/>
                    <a:gd name="T25" fmla="*/ 602 h 1018"/>
                    <a:gd name="T26" fmla="*/ 333 w 872"/>
                    <a:gd name="T27" fmla="*/ 589 h 1018"/>
                    <a:gd name="T28" fmla="*/ 337 w 872"/>
                    <a:gd name="T29" fmla="*/ 565 h 1018"/>
                    <a:gd name="T30" fmla="*/ 507 w 872"/>
                    <a:gd name="T31" fmla="*/ 369 h 1018"/>
                    <a:gd name="T32" fmla="*/ 538 w 872"/>
                    <a:gd name="T33" fmla="*/ 367 h 1018"/>
                    <a:gd name="T34" fmla="*/ 540 w 872"/>
                    <a:gd name="T35" fmla="*/ 398 h 1018"/>
                    <a:gd name="T36" fmla="*/ 402 w 872"/>
                    <a:gd name="T37" fmla="*/ 558 h 1018"/>
                    <a:gd name="T38" fmla="*/ 531 w 872"/>
                    <a:gd name="T39" fmla="*/ 558 h 1018"/>
                    <a:gd name="T40" fmla="*/ 552 w 872"/>
                    <a:gd name="T41" fmla="*/ 571 h 1018"/>
                    <a:gd name="T42" fmla="*/ 547 w 872"/>
                    <a:gd name="T43" fmla="*/ 595 h 1018"/>
                    <a:gd name="T44" fmla="*/ 420 w 872"/>
                    <a:gd name="T45" fmla="*/ 728 h 1018"/>
                    <a:gd name="T46" fmla="*/ 575 w 872"/>
                    <a:gd name="T47" fmla="*/ 728 h 1018"/>
                    <a:gd name="T48" fmla="*/ 595 w 872"/>
                    <a:gd name="T49" fmla="*/ 742 h 1018"/>
                    <a:gd name="T50" fmla="*/ 591 w 872"/>
                    <a:gd name="T51" fmla="*/ 765 h 1018"/>
                    <a:gd name="T52" fmla="*/ 458 w 872"/>
                    <a:gd name="T53" fmla="*/ 908 h 1018"/>
                    <a:gd name="T54" fmla="*/ 458 w 872"/>
                    <a:gd name="T55" fmla="*/ 1018 h 1018"/>
                    <a:gd name="T56" fmla="*/ 611 w 872"/>
                    <a:gd name="T57" fmla="*/ 1018 h 1018"/>
                    <a:gd name="T58" fmla="*/ 768 w 872"/>
                    <a:gd name="T59" fmla="*/ 721 h 1018"/>
                    <a:gd name="T60" fmla="*/ 872 w 872"/>
                    <a:gd name="T61" fmla="*/ 437 h 1018"/>
                    <a:gd name="T62" fmla="*/ 436 w 872"/>
                    <a:gd name="T6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72" h="1018">
                      <a:moveTo>
                        <a:pt x="436" y="0"/>
                      </a:moveTo>
                      <a:cubicBezTo>
                        <a:pt x="195" y="0"/>
                        <a:pt x="0" y="196"/>
                        <a:pt x="0" y="437"/>
                      </a:cubicBezTo>
                      <a:cubicBezTo>
                        <a:pt x="0" y="541"/>
                        <a:pt x="37" y="642"/>
                        <a:pt x="105" y="721"/>
                      </a:cubicBezTo>
                      <a:cubicBezTo>
                        <a:pt x="126" y="741"/>
                        <a:pt x="247" y="865"/>
                        <a:pt x="261" y="1018"/>
                      </a:cubicBezTo>
                      <a:cubicBezTo>
                        <a:pt x="414" y="1018"/>
                        <a:pt x="414" y="1018"/>
                        <a:pt x="414" y="1018"/>
                      </a:cubicBezTo>
                      <a:cubicBezTo>
                        <a:pt x="414" y="899"/>
                        <a:pt x="414" y="899"/>
                        <a:pt x="414" y="899"/>
                      </a:cubicBezTo>
                      <a:cubicBezTo>
                        <a:pt x="414" y="893"/>
                        <a:pt x="416" y="888"/>
                        <a:pt x="420" y="884"/>
                      </a:cubicBezTo>
                      <a:cubicBezTo>
                        <a:pt x="524" y="772"/>
                        <a:pt x="524" y="772"/>
                        <a:pt x="524" y="772"/>
                      </a:cubicBezTo>
                      <a:cubicBezTo>
                        <a:pt x="369" y="772"/>
                        <a:pt x="369" y="772"/>
                        <a:pt x="369" y="772"/>
                      </a:cubicBezTo>
                      <a:cubicBezTo>
                        <a:pt x="360" y="772"/>
                        <a:pt x="352" y="767"/>
                        <a:pt x="348" y="759"/>
                      </a:cubicBezTo>
                      <a:cubicBezTo>
                        <a:pt x="345" y="751"/>
                        <a:pt x="347" y="742"/>
                        <a:pt x="353" y="735"/>
                      </a:cubicBezTo>
                      <a:cubicBezTo>
                        <a:pt x="480" y="602"/>
                        <a:pt x="480" y="602"/>
                        <a:pt x="480" y="602"/>
                      </a:cubicBezTo>
                      <a:cubicBezTo>
                        <a:pt x="353" y="602"/>
                        <a:pt x="353" y="602"/>
                        <a:pt x="353" y="602"/>
                      </a:cubicBezTo>
                      <a:cubicBezTo>
                        <a:pt x="345" y="602"/>
                        <a:pt x="337" y="597"/>
                        <a:pt x="333" y="589"/>
                      </a:cubicBezTo>
                      <a:cubicBezTo>
                        <a:pt x="330" y="581"/>
                        <a:pt x="331" y="572"/>
                        <a:pt x="337" y="565"/>
                      </a:cubicBezTo>
                      <a:cubicBezTo>
                        <a:pt x="507" y="369"/>
                        <a:pt x="507" y="369"/>
                        <a:pt x="507" y="369"/>
                      </a:cubicBezTo>
                      <a:cubicBezTo>
                        <a:pt x="515" y="360"/>
                        <a:pt x="529" y="359"/>
                        <a:pt x="538" y="367"/>
                      </a:cubicBezTo>
                      <a:cubicBezTo>
                        <a:pt x="547" y="375"/>
                        <a:pt x="548" y="389"/>
                        <a:pt x="540" y="398"/>
                      </a:cubicBezTo>
                      <a:cubicBezTo>
                        <a:pt x="402" y="558"/>
                        <a:pt x="402" y="558"/>
                        <a:pt x="402" y="558"/>
                      </a:cubicBezTo>
                      <a:cubicBezTo>
                        <a:pt x="531" y="558"/>
                        <a:pt x="531" y="558"/>
                        <a:pt x="531" y="558"/>
                      </a:cubicBezTo>
                      <a:cubicBezTo>
                        <a:pt x="540" y="558"/>
                        <a:pt x="548" y="563"/>
                        <a:pt x="552" y="571"/>
                      </a:cubicBezTo>
                      <a:cubicBezTo>
                        <a:pt x="555" y="579"/>
                        <a:pt x="553" y="589"/>
                        <a:pt x="547" y="595"/>
                      </a:cubicBezTo>
                      <a:cubicBezTo>
                        <a:pt x="420" y="728"/>
                        <a:pt x="420" y="728"/>
                        <a:pt x="420" y="728"/>
                      </a:cubicBezTo>
                      <a:cubicBezTo>
                        <a:pt x="575" y="728"/>
                        <a:pt x="575" y="728"/>
                        <a:pt x="575" y="728"/>
                      </a:cubicBezTo>
                      <a:cubicBezTo>
                        <a:pt x="583" y="728"/>
                        <a:pt x="591" y="734"/>
                        <a:pt x="595" y="742"/>
                      </a:cubicBezTo>
                      <a:cubicBezTo>
                        <a:pt x="598" y="750"/>
                        <a:pt x="597" y="759"/>
                        <a:pt x="591" y="765"/>
                      </a:cubicBezTo>
                      <a:cubicBezTo>
                        <a:pt x="458" y="908"/>
                        <a:pt x="458" y="908"/>
                        <a:pt x="458" y="908"/>
                      </a:cubicBezTo>
                      <a:cubicBezTo>
                        <a:pt x="458" y="1018"/>
                        <a:pt x="458" y="1018"/>
                        <a:pt x="458" y="1018"/>
                      </a:cubicBezTo>
                      <a:cubicBezTo>
                        <a:pt x="611" y="1018"/>
                        <a:pt x="611" y="1018"/>
                        <a:pt x="611" y="1018"/>
                      </a:cubicBezTo>
                      <a:cubicBezTo>
                        <a:pt x="625" y="865"/>
                        <a:pt x="747" y="741"/>
                        <a:pt x="768" y="721"/>
                      </a:cubicBezTo>
                      <a:cubicBezTo>
                        <a:pt x="835" y="642"/>
                        <a:pt x="872" y="541"/>
                        <a:pt x="872" y="437"/>
                      </a:cubicBezTo>
                      <a:cubicBezTo>
                        <a:pt x="872" y="196"/>
                        <a:pt x="677" y="0"/>
                        <a:pt x="43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05" name="Freeform 11"/>
                <p:cNvSpPr>
                  <a:spLocks/>
                </p:cNvSpPr>
                <p:nvPr/>
              </p:nvSpPr>
              <p:spPr bwMode="auto">
                <a:xfrm>
                  <a:off x="5724524" y="2778125"/>
                  <a:ext cx="744538" cy="1303338"/>
                </a:xfrm>
                <a:custGeom>
                  <a:avLst/>
                  <a:gdLst>
                    <a:gd name="connsiteX0" fmla="*/ 306388 w 744538"/>
                    <a:gd name="connsiteY0" fmla="*/ 1263650 h 1303338"/>
                    <a:gd name="connsiteX1" fmla="*/ 438151 w 744538"/>
                    <a:gd name="connsiteY1" fmla="*/ 1263650 h 1303338"/>
                    <a:gd name="connsiteX2" fmla="*/ 438151 w 744538"/>
                    <a:gd name="connsiteY2" fmla="*/ 1267258 h 1303338"/>
                    <a:gd name="connsiteX3" fmla="*/ 428234 w 744538"/>
                    <a:gd name="connsiteY3" fmla="*/ 1276639 h 1303338"/>
                    <a:gd name="connsiteX4" fmla="*/ 391397 w 744538"/>
                    <a:gd name="connsiteY4" fmla="*/ 1303338 h 1303338"/>
                    <a:gd name="connsiteX5" fmla="*/ 353143 w 744538"/>
                    <a:gd name="connsiteY5" fmla="*/ 1303338 h 1303338"/>
                    <a:gd name="connsiteX6" fmla="*/ 316306 w 744538"/>
                    <a:gd name="connsiteY6" fmla="*/ 1276639 h 1303338"/>
                    <a:gd name="connsiteX7" fmla="*/ 306388 w 744538"/>
                    <a:gd name="connsiteY7" fmla="*/ 1267258 h 1303338"/>
                    <a:gd name="connsiteX8" fmla="*/ 306388 w 744538"/>
                    <a:gd name="connsiteY8" fmla="*/ 1263650 h 1303338"/>
                    <a:gd name="connsiteX9" fmla="*/ 268156 w 744538"/>
                    <a:gd name="connsiteY9" fmla="*/ 1198563 h 1303338"/>
                    <a:gd name="connsiteX10" fmla="*/ 476384 w 744538"/>
                    <a:gd name="connsiteY10" fmla="*/ 1198563 h 1303338"/>
                    <a:gd name="connsiteX11" fmla="*/ 492126 w 744538"/>
                    <a:gd name="connsiteY11" fmla="*/ 1214085 h 1303338"/>
                    <a:gd name="connsiteX12" fmla="*/ 476384 w 744538"/>
                    <a:gd name="connsiteY12" fmla="*/ 1230313 h 1303338"/>
                    <a:gd name="connsiteX13" fmla="*/ 268156 w 744538"/>
                    <a:gd name="connsiteY13" fmla="*/ 1230313 h 1303338"/>
                    <a:gd name="connsiteX14" fmla="*/ 252413 w 744538"/>
                    <a:gd name="connsiteY14" fmla="*/ 1214085 h 1303338"/>
                    <a:gd name="connsiteX15" fmla="*/ 268156 w 744538"/>
                    <a:gd name="connsiteY15" fmla="*/ 1198563 h 1303338"/>
                    <a:gd name="connsiteX16" fmla="*/ 231608 w 744538"/>
                    <a:gd name="connsiteY16" fmla="*/ 1135063 h 1303338"/>
                    <a:gd name="connsiteX17" fmla="*/ 512930 w 744538"/>
                    <a:gd name="connsiteY17" fmla="*/ 1135063 h 1303338"/>
                    <a:gd name="connsiteX18" fmla="*/ 528638 w 744538"/>
                    <a:gd name="connsiteY18" fmla="*/ 1152102 h 1303338"/>
                    <a:gd name="connsiteX19" fmla="*/ 512930 w 744538"/>
                    <a:gd name="connsiteY19" fmla="*/ 1168401 h 1303338"/>
                    <a:gd name="connsiteX20" fmla="*/ 231608 w 744538"/>
                    <a:gd name="connsiteY20" fmla="*/ 1168401 h 1303338"/>
                    <a:gd name="connsiteX21" fmla="*/ 215900 w 744538"/>
                    <a:gd name="connsiteY21" fmla="*/ 1152102 h 1303338"/>
                    <a:gd name="connsiteX22" fmla="*/ 231608 w 744538"/>
                    <a:gd name="connsiteY22" fmla="*/ 1135063 h 1303338"/>
                    <a:gd name="connsiteX23" fmla="*/ 231608 w 744538"/>
                    <a:gd name="connsiteY23" fmla="*/ 1069975 h 1303338"/>
                    <a:gd name="connsiteX24" fmla="*/ 512930 w 744538"/>
                    <a:gd name="connsiteY24" fmla="*/ 1069975 h 1303338"/>
                    <a:gd name="connsiteX25" fmla="*/ 528638 w 744538"/>
                    <a:gd name="connsiteY25" fmla="*/ 1085850 h 1303338"/>
                    <a:gd name="connsiteX26" fmla="*/ 512930 w 744538"/>
                    <a:gd name="connsiteY26" fmla="*/ 1101725 h 1303338"/>
                    <a:gd name="connsiteX27" fmla="*/ 231608 w 744538"/>
                    <a:gd name="connsiteY27" fmla="*/ 1101725 h 1303338"/>
                    <a:gd name="connsiteX28" fmla="*/ 215900 w 744538"/>
                    <a:gd name="connsiteY28" fmla="*/ 1085850 h 1303338"/>
                    <a:gd name="connsiteX29" fmla="*/ 231608 w 744538"/>
                    <a:gd name="connsiteY29" fmla="*/ 1069975 h 1303338"/>
                    <a:gd name="connsiteX30" fmla="*/ 166688 w 744538"/>
                    <a:gd name="connsiteY30" fmla="*/ 847725 h 1303338"/>
                    <a:gd name="connsiteX31" fmla="*/ 166688 w 744538"/>
                    <a:gd name="connsiteY31" fmla="*/ 874022 h 1303338"/>
                    <a:gd name="connsiteX32" fmla="*/ 210081 w 744538"/>
                    <a:gd name="connsiteY32" fmla="*/ 977077 h 1303338"/>
                    <a:gd name="connsiteX33" fmla="*/ 232844 w 744538"/>
                    <a:gd name="connsiteY33" fmla="*/ 1017588 h 1303338"/>
                    <a:gd name="connsiteX34" fmla="*/ 511695 w 744538"/>
                    <a:gd name="connsiteY34" fmla="*/ 1017588 h 1303338"/>
                    <a:gd name="connsiteX35" fmla="*/ 534459 w 744538"/>
                    <a:gd name="connsiteY35" fmla="*/ 977077 h 1303338"/>
                    <a:gd name="connsiteX36" fmla="*/ 577851 w 744538"/>
                    <a:gd name="connsiteY36" fmla="*/ 874022 h 1303338"/>
                    <a:gd name="connsiteX37" fmla="*/ 577851 w 744538"/>
                    <a:gd name="connsiteY37" fmla="*/ 847725 h 1303338"/>
                    <a:gd name="connsiteX38" fmla="*/ 556511 w 744538"/>
                    <a:gd name="connsiteY38" fmla="*/ 847725 h 1303338"/>
                    <a:gd name="connsiteX39" fmla="*/ 525211 w 744538"/>
                    <a:gd name="connsiteY39" fmla="*/ 847725 h 1303338"/>
                    <a:gd name="connsiteX40" fmla="*/ 496045 w 744538"/>
                    <a:gd name="connsiteY40" fmla="*/ 847725 h 1303338"/>
                    <a:gd name="connsiteX41" fmla="*/ 387920 w 744538"/>
                    <a:gd name="connsiteY41" fmla="*/ 847725 h 1303338"/>
                    <a:gd name="connsiteX42" fmla="*/ 356620 w 744538"/>
                    <a:gd name="connsiteY42" fmla="*/ 847725 h 1303338"/>
                    <a:gd name="connsiteX43" fmla="*/ 248494 w 744538"/>
                    <a:gd name="connsiteY43" fmla="*/ 847725 h 1303338"/>
                    <a:gd name="connsiteX44" fmla="*/ 219328 w 744538"/>
                    <a:gd name="connsiteY44" fmla="*/ 847725 h 1303338"/>
                    <a:gd name="connsiteX45" fmla="*/ 188029 w 744538"/>
                    <a:gd name="connsiteY45" fmla="*/ 847725 h 1303338"/>
                    <a:gd name="connsiteX46" fmla="*/ 166688 w 744538"/>
                    <a:gd name="connsiteY46" fmla="*/ 847725 h 1303338"/>
                    <a:gd name="connsiteX47" fmla="*/ 372269 w 744538"/>
                    <a:gd name="connsiteY47" fmla="*/ 31750 h 1303338"/>
                    <a:gd name="connsiteX48" fmla="*/ 31750 w 744538"/>
                    <a:gd name="connsiteY48" fmla="*/ 371414 h 1303338"/>
                    <a:gd name="connsiteX49" fmla="*/ 114387 w 744538"/>
                    <a:gd name="connsiteY49" fmla="*/ 594052 h 1303338"/>
                    <a:gd name="connsiteX50" fmla="*/ 218395 w 744538"/>
                    <a:gd name="connsiteY50" fmla="*/ 784578 h 1303338"/>
                    <a:gd name="connsiteX51" fmla="*/ 219107 w 744538"/>
                    <a:gd name="connsiteY51" fmla="*/ 805271 h 1303338"/>
                    <a:gd name="connsiteX52" fmla="*/ 219107 w 744538"/>
                    <a:gd name="connsiteY52" fmla="*/ 815975 h 1303338"/>
                    <a:gd name="connsiteX53" fmla="*/ 248315 w 744538"/>
                    <a:gd name="connsiteY53" fmla="*/ 815975 h 1303338"/>
                    <a:gd name="connsiteX54" fmla="*/ 356597 w 744538"/>
                    <a:gd name="connsiteY54" fmla="*/ 815975 h 1303338"/>
                    <a:gd name="connsiteX55" fmla="*/ 387942 w 744538"/>
                    <a:gd name="connsiteY55" fmla="*/ 815975 h 1303338"/>
                    <a:gd name="connsiteX56" fmla="*/ 496224 w 744538"/>
                    <a:gd name="connsiteY56" fmla="*/ 815975 h 1303338"/>
                    <a:gd name="connsiteX57" fmla="*/ 525432 w 744538"/>
                    <a:gd name="connsiteY57" fmla="*/ 815975 h 1303338"/>
                    <a:gd name="connsiteX58" fmla="*/ 525432 w 744538"/>
                    <a:gd name="connsiteY58" fmla="*/ 805271 h 1303338"/>
                    <a:gd name="connsiteX59" fmla="*/ 526144 w 744538"/>
                    <a:gd name="connsiteY59" fmla="*/ 784578 h 1303338"/>
                    <a:gd name="connsiteX60" fmla="*/ 630152 w 744538"/>
                    <a:gd name="connsiteY60" fmla="*/ 594052 h 1303338"/>
                    <a:gd name="connsiteX61" fmla="*/ 712788 w 744538"/>
                    <a:gd name="connsiteY61" fmla="*/ 371414 h 1303338"/>
                    <a:gd name="connsiteX62" fmla="*/ 372269 w 744538"/>
                    <a:gd name="connsiteY62" fmla="*/ 31750 h 1303338"/>
                    <a:gd name="connsiteX63" fmla="*/ 372269 w 744538"/>
                    <a:gd name="connsiteY63" fmla="*/ 0 h 1303338"/>
                    <a:gd name="connsiteX64" fmla="*/ 744538 w 744538"/>
                    <a:gd name="connsiteY64" fmla="*/ 371195 h 1303338"/>
                    <a:gd name="connsiteX65" fmla="*/ 653967 w 744538"/>
                    <a:gd name="connsiteY65" fmla="*/ 615326 h 1303338"/>
                    <a:gd name="connsiteX66" fmla="*/ 652541 w 744538"/>
                    <a:gd name="connsiteY66" fmla="*/ 616040 h 1303338"/>
                    <a:gd name="connsiteX67" fmla="*/ 556977 w 744538"/>
                    <a:gd name="connsiteY67" fmla="*/ 793071 h 1303338"/>
                    <a:gd name="connsiteX68" fmla="*/ 556977 w 744538"/>
                    <a:gd name="connsiteY68" fmla="*/ 805206 h 1303338"/>
                    <a:gd name="connsiteX69" fmla="*/ 556977 w 744538"/>
                    <a:gd name="connsiteY69" fmla="*/ 808776 h 1303338"/>
                    <a:gd name="connsiteX70" fmla="*/ 556977 w 744538"/>
                    <a:gd name="connsiteY70" fmla="*/ 815914 h 1303338"/>
                    <a:gd name="connsiteX71" fmla="*/ 594062 w 744538"/>
                    <a:gd name="connsiteY71" fmla="*/ 815914 h 1303338"/>
                    <a:gd name="connsiteX72" fmla="*/ 609751 w 744538"/>
                    <a:gd name="connsiteY72" fmla="*/ 831618 h 1303338"/>
                    <a:gd name="connsiteX73" fmla="*/ 609751 w 744538"/>
                    <a:gd name="connsiteY73" fmla="*/ 873735 h 1303338"/>
                    <a:gd name="connsiteX74" fmla="*/ 556264 w 744538"/>
                    <a:gd name="connsiteY74" fmla="*/ 1000084 h 1303338"/>
                    <a:gd name="connsiteX75" fmla="*/ 542001 w 744538"/>
                    <a:gd name="connsiteY75" fmla="*/ 1032206 h 1303338"/>
                    <a:gd name="connsiteX76" fmla="*/ 542001 w 744538"/>
                    <a:gd name="connsiteY76" fmla="*/ 1033634 h 1303338"/>
                    <a:gd name="connsiteX77" fmla="*/ 526312 w 744538"/>
                    <a:gd name="connsiteY77" fmla="*/ 1049338 h 1303338"/>
                    <a:gd name="connsiteX78" fmla="*/ 218227 w 744538"/>
                    <a:gd name="connsiteY78" fmla="*/ 1049338 h 1303338"/>
                    <a:gd name="connsiteX79" fmla="*/ 202537 w 744538"/>
                    <a:gd name="connsiteY79" fmla="*/ 1033634 h 1303338"/>
                    <a:gd name="connsiteX80" fmla="*/ 202537 w 744538"/>
                    <a:gd name="connsiteY80" fmla="*/ 1032206 h 1303338"/>
                    <a:gd name="connsiteX81" fmla="*/ 188274 w 744538"/>
                    <a:gd name="connsiteY81" fmla="*/ 1000084 h 1303338"/>
                    <a:gd name="connsiteX82" fmla="*/ 134787 w 744538"/>
                    <a:gd name="connsiteY82" fmla="*/ 873735 h 1303338"/>
                    <a:gd name="connsiteX83" fmla="*/ 134787 w 744538"/>
                    <a:gd name="connsiteY83" fmla="*/ 831618 h 1303338"/>
                    <a:gd name="connsiteX84" fmla="*/ 150477 w 744538"/>
                    <a:gd name="connsiteY84" fmla="*/ 815914 h 1303338"/>
                    <a:gd name="connsiteX85" fmla="*/ 187561 w 744538"/>
                    <a:gd name="connsiteY85" fmla="*/ 815914 h 1303338"/>
                    <a:gd name="connsiteX86" fmla="*/ 187561 w 744538"/>
                    <a:gd name="connsiteY86" fmla="*/ 808776 h 1303338"/>
                    <a:gd name="connsiteX87" fmla="*/ 187561 w 744538"/>
                    <a:gd name="connsiteY87" fmla="*/ 805206 h 1303338"/>
                    <a:gd name="connsiteX88" fmla="*/ 187561 w 744538"/>
                    <a:gd name="connsiteY88" fmla="*/ 793071 h 1303338"/>
                    <a:gd name="connsiteX89" fmla="*/ 91998 w 744538"/>
                    <a:gd name="connsiteY89" fmla="*/ 616040 h 1303338"/>
                    <a:gd name="connsiteX90" fmla="*/ 91285 w 744538"/>
                    <a:gd name="connsiteY90" fmla="*/ 615326 h 1303338"/>
                    <a:gd name="connsiteX91" fmla="*/ 0 w 744538"/>
                    <a:gd name="connsiteY91" fmla="*/ 371195 h 1303338"/>
                    <a:gd name="connsiteX92" fmla="*/ 372269 w 744538"/>
                    <a:gd name="connsiteY92" fmla="*/ 0 h 130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44538" h="1303338">
                      <a:moveTo>
                        <a:pt x="306388" y="1263650"/>
                      </a:moveTo>
                      <a:cubicBezTo>
                        <a:pt x="306388" y="1263650"/>
                        <a:pt x="306388" y="1263650"/>
                        <a:pt x="438151" y="1263650"/>
                      </a:cubicBezTo>
                      <a:cubicBezTo>
                        <a:pt x="438151" y="1263650"/>
                        <a:pt x="438151" y="1263650"/>
                        <a:pt x="438151" y="1267258"/>
                      </a:cubicBezTo>
                      <a:cubicBezTo>
                        <a:pt x="431067" y="1270145"/>
                        <a:pt x="428234" y="1273753"/>
                        <a:pt x="428234" y="1276639"/>
                      </a:cubicBezTo>
                      <a:cubicBezTo>
                        <a:pt x="424692" y="1293236"/>
                        <a:pt x="404856" y="1303338"/>
                        <a:pt x="391397" y="1303338"/>
                      </a:cubicBezTo>
                      <a:cubicBezTo>
                        <a:pt x="391397" y="1303338"/>
                        <a:pt x="391397" y="1303338"/>
                        <a:pt x="353143" y="1303338"/>
                      </a:cubicBezTo>
                      <a:cubicBezTo>
                        <a:pt x="339683" y="1303338"/>
                        <a:pt x="319848" y="1293236"/>
                        <a:pt x="316306" y="1276639"/>
                      </a:cubicBezTo>
                      <a:cubicBezTo>
                        <a:pt x="316306" y="1273753"/>
                        <a:pt x="313472" y="1270145"/>
                        <a:pt x="306388" y="1267258"/>
                      </a:cubicBezTo>
                      <a:cubicBezTo>
                        <a:pt x="306388" y="1263650"/>
                        <a:pt x="306388" y="1263650"/>
                        <a:pt x="306388" y="1263650"/>
                      </a:cubicBezTo>
                      <a:close/>
                      <a:moveTo>
                        <a:pt x="268156" y="1198563"/>
                      </a:moveTo>
                      <a:cubicBezTo>
                        <a:pt x="268156" y="1198563"/>
                        <a:pt x="268156" y="1198563"/>
                        <a:pt x="476384" y="1198563"/>
                      </a:cubicBezTo>
                      <a:cubicBezTo>
                        <a:pt x="484971" y="1198563"/>
                        <a:pt x="492126" y="1205619"/>
                        <a:pt x="492126" y="1214085"/>
                      </a:cubicBezTo>
                      <a:cubicBezTo>
                        <a:pt x="492126" y="1222552"/>
                        <a:pt x="484971" y="1230313"/>
                        <a:pt x="476384" y="1230313"/>
                      </a:cubicBezTo>
                      <a:cubicBezTo>
                        <a:pt x="476384" y="1230313"/>
                        <a:pt x="476384" y="1230313"/>
                        <a:pt x="268156" y="1230313"/>
                      </a:cubicBezTo>
                      <a:cubicBezTo>
                        <a:pt x="259569" y="1230313"/>
                        <a:pt x="252413" y="1222552"/>
                        <a:pt x="252413" y="1214085"/>
                      </a:cubicBezTo>
                      <a:cubicBezTo>
                        <a:pt x="252413" y="1205619"/>
                        <a:pt x="259569" y="1198563"/>
                        <a:pt x="268156" y="1198563"/>
                      </a:cubicBezTo>
                      <a:close/>
                      <a:moveTo>
                        <a:pt x="231608" y="1135063"/>
                      </a:moveTo>
                      <a:cubicBezTo>
                        <a:pt x="231608" y="1135063"/>
                        <a:pt x="231608" y="1135063"/>
                        <a:pt x="512930" y="1135063"/>
                      </a:cubicBezTo>
                      <a:cubicBezTo>
                        <a:pt x="521498" y="1135063"/>
                        <a:pt x="528638" y="1143212"/>
                        <a:pt x="528638" y="1152102"/>
                      </a:cubicBezTo>
                      <a:cubicBezTo>
                        <a:pt x="528638" y="1160992"/>
                        <a:pt x="521498" y="1168401"/>
                        <a:pt x="512930" y="1168401"/>
                      </a:cubicBezTo>
                      <a:cubicBezTo>
                        <a:pt x="512930" y="1168401"/>
                        <a:pt x="512930" y="1168401"/>
                        <a:pt x="231608" y="1168401"/>
                      </a:cubicBezTo>
                      <a:cubicBezTo>
                        <a:pt x="223040" y="1168401"/>
                        <a:pt x="215900" y="1160992"/>
                        <a:pt x="215900" y="1152102"/>
                      </a:cubicBezTo>
                      <a:cubicBezTo>
                        <a:pt x="215900" y="1143212"/>
                        <a:pt x="223040" y="1135063"/>
                        <a:pt x="231608" y="1135063"/>
                      </a:cubicBezTo>
                      <a:close/>
                      <a:moveTo>
                        <a:pt x="231608" y="1069975"/>
                      </a:moveTo>
                      <a:cubicBezTo>
                        <a:pt x="231608" y="1069975"/>
                        <a:pt x="231608" y="1069975"/>
                        <a:pt x="512930" y="1069975"/>
                      </a:cubicBezTo>
                      <a:cubicBezTo>
                        <a:pt x="521498" y="1069975"/>
                        <a:pt x="528638" y="1077191"/>
                        <a:pt x="528638" y="1085850"/>
                      </a:cubicBezTo>
                      <a:cubicBezTo>
                        <a:pt x="528638" y="1094509"/>
                        <a:pt x="521498" y="1101725"/>
                        <a:pt x="512930" y="1101725"/>
                      </a:cubicBezTo>
                      <a:cubicBezTo>
                        <a:pt x="512930" y="1101725"/>
                        <a:pt x="512930" y="1101725"/>
                        <a:pt x="231608" y="1101725"/>
                      </a:cubicBezTo>
                      <a:cubicBezTo>
                        <a:pt x="223040" y="1101725"/>
                        <a:pt x="215900" y="1094509"/>
                        <a:pt x="215900" y="1085850"/>
                      </a:cubicBezTo>
                      <a:cubicBezTo>
                        <a:pt x="215900" y="1077191"/>
                        <a:pt x="223040" y="1069975"/>
                        <a:pt x="231608" y="1069975"/>
                      </a:cubicBezTo>
                      <a:close/>
                      <a:moveTo>
                        <a:pt x="166688" y="847725"/>
                      </a:moveTo>
                      <a:cubicBezTo>
                        <a:pt x="166688" y="847725"/>
                        <a:pt x="166688" y="847725"/>
                        <a:pt x="166688" y="874022"/>
                      </a:cubicBezTo>
                      <a:cubicBezTo>
                        <a:pt x="166688" y="913822"/>
                        <a:pt x="182338" y="951491"/>
                        <a:pt x="210081" y="977077"/>
                      </a:cubicBezTo>
                      <a:cubicBezTo>
                        <a:pt x="222174" y="987738"/>
                        <a:pt x="229999" y="1001952"/>
                        <a:pt x="232844" y="1017588"/>
                      </a:cubicBezTo>
                      <a:cubicBezTo>
                        <a:pt x="232844" y="1017588"/>
                        <a:pt x="232844" y="1017588"/>
                        <a:pt x="511695" y="1017588"/>
                      </a:cubicBezTo>
                      <a:cubicBezTo>
                        <a:pt x="514541" y="1001952"/>
                        <a:pt x="522366" y="987738"/>
                        <a:pt x="534459" y="977077"/>
                      </a:cubicBezTo>
                      <a:cubicBezTo>
                        <a:pt x="562201" y="951491"/>
                        <a:pt x="577851" y="913822"/>
                        <a:pt x="577851" y="874022"/>
                      </a:cubicBezTo>
                      <a:cubicBezTo>
                        <a:pt x="577851" y="874022"/>
                        <a:pt x="577851" y="874022"/>
                        <a:pt x="577851" y="847725"/>
                      </a:cubicBezTo>
                      <a:cubicBezTo>
                        <a:pt x="577851" y="847725"/>
                        <a:pt x="577851" y="847725"/>
                        <a:pt x="556511" y="847725"/>
                      </a:cubicBezTo>
                      <a:cubicBezTo>
                        <a:pt x="556511" y="847725"/>
                        <a:pt x="556511" y="847725"/>
                        <a:pt x="525211" y="847725"/>
                      </a:cubicBezTo>
                      <a:cubicBezTo>
                        <a:pt x="525211" y="847725"/>
                        <a:pt x="525211" y="847725"/>
                        <a:pt x="496045" y="847725"/>
                      </a:cubicBezTo>
                      <a:cubicBezTo>
                        <a:pt x="496045" y="847725"/>
                        <a:pt x="496045" y="847725"/>
                        <a:pt x="387920" y="847725"/>
                      </a:cubicBezTo>
                      <a:cubicBezTo>
                        <a:pt x="387920" y="847725"/>
                        <a:pt x="387920" y="847725"/>
                        <a:pt x="356620" y="847725"/>
                      </a:cubicBezTo>
                      <a:cubicBezTo>
                        <a:pt x="356620" y="847725"/>
                        <a:pt x="356620" y="847725"/>
                        <a:pt x="248494" y="847725"/>
                      </a:cubicBezTo>
                      <a:cubicBezTo>
                        <a:pt x="248494" y="847725"/>
                        <a:pt x="248494" y="847725"/>
                        <a:pt x="219328" y="847725"/>
                      </a:cubicBezTo>
                      <a:cubicBezTo>
                        <a:pt x="219328" y="847725"/>
                        <a:pt x="219328" y="847725"/>
                        <a:pt x="188029" y="847725"/>
                      </a:cubicBezTo>
                      <a:cubicBezTo>
                        <a:pt x="188029" y="847725"/>
                        <a:pt x="188029" y="847725"/>
                        <a:pt x="166688" y="847725"/>
                      </a:cubicBezTo>
                      <a:close/>
                      <a:moveTo>
                        <a:pt x="372269" y="31750"/>
                      </a:moveTo>
                      <a:cubicBezTo>
                        <a:pt x="184913" y="31750"/>
                        <a:pt x="31750" y="184456"/>
                        <a:pt x="31750" y="371414"/>
                      </a:cubicBezTo>
                      <a:cubicBezTo>
                        <a:pt x="31750" y="453476"/>
                        <a:pt x="60958" y="531970"/>
                        <a:pt x="114387" y="594052"/>
                      </a:cubicBezTo>
                      <a:cubicBezTo>
                        <a:pt x="123648" y="602615"/>
                        <a:pt x="207709" y="684676"/>
                        <a:pt x="218395" y="784578"/>
                      </a:cubicBezTo>
                      <a:cubicBezTo>
                        <a:pt x="219107" y="791713"/>
                        <a:pt x="219107" y="798849"/>
                        <a:pt x="219107" y="805271"/>
                      </a:cubicBezTo>
                      <a:cubicBezTo>
                        <a:pt x="219107" y="805271"/>
                        <a:pt x="219107" y="805271"/>
                        <a:pt x="219107" y="815975"/>
                      </a:cubicBezTo>
                      <a:cubicBezTo>
                        <a:pt x="219107" y="815975"/>
                        <a:pt x="219107" y="815975"/>
                        <a:pt x="248315" y="815975"/>
                      </a:cubicBezTo>
                      <a:cubicBezTo>
                        <a:pt x="248315" y="815975"/>
                        <a:pt x="248315" y="815975"/>
                        <a:pt x="356597" y="815975"/>
                      </a:cubicBezTo>
                      <a:cubicBezTo>
                        <a:pt x="356597" y="815975"/>
                        <a:pt x="356597" y="815975"/>
                        <a:pt x="387942" y="815975"/>
                      </a:cubicBezTo>
                      <a:cubicBezTo>
                        <a:pt x="387942" y="815975"/>
                        <a:pt x="387942" y="815975"/>
                        <a:pt x="496224" y="815975"/>
                      </a:cubicBezTo>
                      <a:cubicBezTo>
                        <a:pt x="496224" y="815975"/>
                        <a:pt x="496224" y="815975"/>
                        <a:pt x="525432" y="815975"/>
                      </a:cubicBezTo>
                      <a:cubicBezTo>
                        <a:pt x="525432" y="815975"/>
                        <a:pt x="525432" y="815975"/>
                        <a:pt x="525432" y="805271"/>
                      </a:cubicBezTo>
                      <a:cubicBezTo>
                        <a:pt x="525432" y="798849"/>
                        <a:pt x="525432" y="791713"/>
                        <a:pt x="526144" y="784578"/>
                      </a:cubicBezTo>
                      <a:cubicBezTo>
                        <a:pt x="536830" y="684676"/>
                        <a:pt x="620891" y="602615"/>
                        <a:pt x="630152" y="594052"/>
                      </a:cubicBezTo>
                      <a:cubicBezTo>
                        <a:pt x="683581" y="531970"/>
                        <a:pt x="712788" y="453476"/>
                        <a:pt x="712788" y="371414"/>
                      </a:cubicBezTo>
                      <a:cubicBezTo>
                        <a:pt x="712788" y="184456"/>
                        <a:pt x="559626" y="31750"/>
                        <a:pt x="372269" y="31750"/>
                      </a:cubicBezTo>
                      <a:close/>
                      <a:moveTo>
                        <a:pt x="372269" y="0"/>
                      </a:moveTo>
                      <a:cubicBezTo>
                        <a:pt x="577659" y="0"/>
                        <a:pt x="744538" y="167038"/>
                        <a:pt x="744538" y="371195"/>
                      </a:cubicBezTo>
                      <a:cubicBezTo>
                        <a:pt x="744538" y="461138"/>
                        <a:pt x="712446" y="547512"/>
                        <a:pt x="653967" y="615326"/>
                      </a:cubicBezTo>
                      <a:cubicBezTo>
                        <a:pt x="653967" y="615326"/>
                        <a:pt x="653967" y="615326"/>
                        <a:pt x="652541" y="616040"/>
                      </a:cubicBezTo>
                      <a:cubicBezTo>
                        <a:pt x="651828" y="616754"/>
                        <a:pt x="564109" y="699559"/>
                        <a:pt x="556977" y="793071"/>
                      </a:cubicBezTo>
                      <a:cubicBezTo>
                        <a:pt x="556977" y="797354"/>
                        <a:pt x="556977" y="801637"/>
                        <a:pt x="556977" y="805206"/>
                      </a:cubicBezTo>
                      <a:cubicBezTo>
                        <a:pt x="556977" y="805206"/>
                        <a:pt x="556977" y="805206"/>
                        <a:pt x="556977" y="808776"/>
                      </a:cubicBezTo>
                      <a:cubicBezTo>
                        <a:pt x="556977" y="808776"/>
                        <a:pt x="556977" y="808776"/>
                        <a:pt x="556977" y="815914"/>
                      </a:cubicBezTo>
                      <a:cubicBezTo>
                        <a:pt x="556977" y="815914"/>
                        <a:pt x="556977" y="815914"/>
                        <a:pt x="594062" y="815914"/>
                      </a:cubicBezTo>
                      <a:cubicBezTo>
                        <a:pt x="602620" y="815914"/>
                        <a:pt x="609751" y="823052"/>
                        <a:pt x="609751" y="831618"/>
                      </a:cubicBezTo>
                      <a:cubicBezTo>
                        <a:pt x="609751" y="831618"/>
                        <a:pt x="609751" y="831618"/>
                        <a:pt x="609751" y="873735"/>
                      </a:cubicBezTo>
                      <a:cubicBezTo>
                        <a:pt x="609751" y="922275"/>
                        <a:pt x="589783" y="968675"/>
                        <a:pt x="556264" y="1000084"/>
                      </a:cubicBezTo>
                      <a:cubicBezTo>
                        <a:pt x="546993" y="1008650"/>
                        <a:pt x="542001" y="1020071"/>
                        <a:pt x="542001" y="1032206"/>
                      </a:cubicBezTo>
                      <a:cubicBezTo>
                        <a:pt x="542001" y="1032206"/>
                        <a:pt x="542001" y="1032206"/>
                        <a:pt x="542001" y="1033634"/>
                      </a:cubicBezTo>
                      <a:cubicBezTo>
                        <a:pt x="542001" y="1042200"/>
                        <a:pt x="534869" y="1049338"/>
                        <a:pt x="526312" y="1049338"/>
                      </a:cubicBezTo>
                      <a:cubicBezTo>
                        <a:pt x="526312" y="1049338"/>
                        <a:pt x="526312" y="1049338"/>
                        <a:pt x="218227" y="1049338"/>
                      </a:cubicBezTo>
                      <a:cubicBezTo>
                        <a:pt x="209669" y="1049338"/>
                        <a:pt x="202537" y="1042200"/>
                        <a:pt x="202537" y="1033634"/>
                      </a:cubicBezTo>
                      <a:cubicBezTo>
                        <a:pt x="202537" y="1033634"/>
                        <a:pt x="202537" y="1033634"/>
                        <a:pt x="202537" y="1032206"/>
                      </a:cubicBezTo>
                      <a:cubicBezTo>
                        <a:pt x="202537" y="1020071"/>
                        <a:pt x="197545" y="1008650"/>
                        <a:pt x="188274" y="1000084"/>
                      </a:cubicBezTo>
                      <a:cubicBezTo>
                        <a:pt x="154756" y="968675"/>
                        <a:pt x="134787" y="922275"/>
                        <a:pt x="134787" y="873735"/>
                      </a:cubicBezTo>
                      <a:cubicBezTo>
                        <a:pt x="134787" y="873735"/>
                        <a:pt x="134787" y="873735"/>
                        <a:pt x="134787" y="831618"/>
                      </a:cubicBezTo>
                      <a:cubicBezTo>
                        <a:pt x="134787" y="823052"/>
                        <a:pt x="141919" y="815914"/>
                        <a:pt x="150477" y="815914"/>
                      </a:cubicBezTo>
                      <a:cubicBezTo>
                        <a:pt x="150477" y="815914"/>
                        <a:pt x="150477" y="815914"/>
                        <a:pt x="187561" y="815914"/>
                      </a:cubicBezTo>
                      <a:cubicBezTo>
                        <a:pt x="187561" y="815914"/>
                        <a:pt x="187561" y="815914"/>
                        <a:pt x="187561" y="808776"/>
                      </a:cubicBezTo>
                      <a:cubicBezTo>
                        <a:pt x="187561" y="808776"/>
                        <a:pt x="187561" y="808776"/>
                        <a:pt x="187561" y="805206"/>
                      </a:cubicBezTo>
                      <a:cubicBezTo>
                        <a:pt x="187561" y="801637"/>
                        <a:pt x="187561" y="797354"/>
                        <a:pt x="187561" y="793071"/>
                      </a:cubicBezTo>
                      <a:cubicBezTo>
                        <a:pt x="180429" y="699559"/>
                        <a:pt x="92711" y="616754"/>
                        <a:pt x="91998" y="616040"/>
                      </a:cubicBezTo>
                      <a:cubicBezTo>
                        <a:pt x="91998" y="616040"/>
                        <a:pt x="91998" y="616040"/>
                        <a:pt x="91285" y="615326"/>
                      </a:cubicBezTo>
                      <a:cubicBezTo>
                        <a:pt x="32806" y="547512"/>
                        <a:pt x="0" y="461138"/>
                        <a:pt x="0" y="371195"/>
                      </a:cubicBezTo>
                      <a:cubicBezTo>
                        <a:pt x="0" y="167038"/>
                        <a:pt x="166879" y="0"/>
                        <a:pt x="372269"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106" name="Oval 20"/>
            <p:cNvSpPr>
              <a:spLocks noChangeAspect="1" noChangeArrowheads="1"/>
            </p:cNvSpPr>
            <p:nvPr/>
          </p:nvSpPr>
          <p:spPr bwMode="auto">
            <a:xfrm>
              <a:off x="3648049" y="3876661"/>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a:t>
              </a:r>
            </a:p>
          </p:txBody>
        </p:sp>
      </p:grpSp>
      <p:grpSp>
        <p:nvGrpSpPr>
          <p:cNvPr id="107" name="Grupo 191"/>
          <p:cNvGrpSpPr/>
          <p:nvPr/>
        </p:nvGrpSpPr>
        <p:grpSpPr>
          <a:xfrm>
            <a:off x="1106659" y="1761670"/>
            <a:ext cx="9980031" cy="1339086"/>
            <a:chOff x="238922" y="1107935"/>
            <a:chExt cx="11672552" cy="1566182"/>
          </a:xfrm>
        </p:grpSpPr>
        <p:sp>
          <p:nvSpPr>
            <p:cNvPr id="108" name="TextBox 204"/>
            <p:cNvSpPr txBox="1"/>
            <p:nvPr/>
          </p:nvSpPr>
          <p:spPr>
            <a:xfrm>
              <a:off x="355036" y="1107935"/>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transversales </a:t>
              </a:r>
            </a:p>
          </p:txBody>
        </p:sp>
        <p:sp>
          <p:nvSpPr>
            <p:cNvPr id="109" name="Rectangle: Rounded Corners 206"/>
            <p:cNvSpPr/>
            <p:nvPr/>
          </p:nvSpPr>
          <p:spPr>
            <a:xfrm>
              <a:off x="238922" y="1406932"/>
              <a:ext cx="11672552" cy="1267185"/>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10" name="Grupo 160"/>
            <p:cNvGrpSpPr/>
            <p:nvPr/>
          </p:nvGrpSpPr>
          <p:grpSpPr>
            <a:xfrm>
              <a:off x="273323" y="1494503"/>
              <a:ext cx="972000" cy="1122694"/>
              <a:chOff x="666731" y="1669461"/>
              <a:chExt cx="1047297" cy="1122694"/>
            </a:xfrm>
          </p:grpSpPr>
          <p:sp>
            <p:nvSpPr>
              <p:cNvPr id="111" name="Rectangle: Rounded Corners 207"/>
              <p:cNvSpPr/>
              <p:nvPr/>
            </p:nvSpPr>
            <p:spPr>
              <a:xfrm>
                <a:off x="731693"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Estratégica</a:t>
                </a:r>
              </a:p>
            </p:txBody>
          </p:sp>
          <p:sp>
            <p:nvSpPr>
              <p:cNvPr id="112" name="Oval 20"/>
              <p:cNvSpPr>
                <a:spLocks noChangeAspect="1" noChangeArrowheads="1"/>
              </p:cNvSpPr>
              <p:nvPr/>
            </p:nvSpPr>
            <p:spPr bwMode="auto">
              <a:xfrm>
                <a:off x="6667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3</a:t>
                </a:r>
              </a:p>
            </p:txBody>
          </p:sp>
          <p:grpSp>
            <p:nvGrpSpPr>
              <p:cNvPr id="113" name="bcgIcons_Strategy "/>
              <p:cNvGrpSpPr>
                <a:grpSpLocks noChangeAspect="1"/>
              </p:cNvGrpSpPr>
              <p:nvPr/>
            </p:nvGrpSpPr>
            <p:grpSpPr>
              <a:xfrm>
                <a:off x="1013632" y="1827711"/>
                <a:ext cx="418454" cy="418454"/>
                <a:chOff x="5273675" y="2606675"/>
                <a:chExt cx="1644650" cy="1644650"/>
              </a:xfrm>
            </p:grpSpPr>
            <p:sp>
              <p:nvSpPr>
                <p:cNvPr id="114" name="AutoShape 9"/>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15" name="Group 229"/>
                <p:cNvGrpSpPr>
                  <a:grpSpLocks/>
                </p:cNvGrpSpPr>
                <p:nvPr/>
              </p:nvGrpSpPr>
              <p:grpSpPr>
                <a:xfrm>
                  <a:off x="5724321" y="2833688"/>
                  <a:ext cx="778079" cy="1249362"/>
                  <a:chOff x="5724321" y="2833688"/>
                  <a:chExt cx="778079" cy="1249362"/>
                </a:xfrm>
              </p:grpSpPr>
              <p:sp>
                <p:nvSpPr>
                  <p:cNvPr id="116" name="Freeform 11"/>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17" name="Freeform 19"/>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18" name="Grupo 163"/>
            <p:cNvGrpSpPr/>
            <p:nvPr/>
          </p:nvGrpSpPr>
          <p:grpSpPr>
            <a:xfrm>
              <a:off x="3430059" y="1494503"/>
              <a:ext cx="971999" cy="1122694"/>
              <a:chOff x="2832571" y="1669461"/>
              <a:chExt cx="1047298" cy="1122694"/>
            </a:xfrm>
          </p:grpSpPr>
          <p:sp>
            <p:nvSpPr>
              <p:cNvPr id="119" name="Oval 20"/>
              <p:cNvSpPr>
                <a:spLocks noChangeAspect="1" noChangeArrowheads="1"/>
              </p:cNvSpPr>
              <p:nvPr/>
            </p:nvSpPr>
            <p:spPr bwMode="auto">
              <a:xfrm>
                <a:off x="28325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6</a:t>
                </a:r>
              </a:p>
            </p:txBody>
          </p:sp>
          <p:grpSp>
            <p:nvGrpSpPr>
              <p:cNvPr id="120" name="Grupo 162"/>
              <p:cNvGrpSpPr/>
              <p:nvPr/>
            </p:nvGrpSpPr>
            <p:grpSpPr>
              <a:xfrm>
                <a:off x="2897533" y="1734422"/>
                <a:ext cx="982336" cy="1057733"/>
                <a:chOff x="2897533" y="1734422"/>
                <a:chExt cx="982336" cy="1057733"/>
              </a:xfrm>
            </p:grpSpPr>
            <p:sp>
              <p:nvSpPr>
                <p:cNvPr id="121" name="Rectangle: Rounded Corners 209"/>
                <p:cNvSpPr/>
                <p:nvPr/>
              </p:nvSpPr>
              <p:spPr>
                <a:xfrm>
                  <a:off x="289753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Financiera</a:t>
                  </a:r>
                </a:p>
              </p:txBody>
            </p:sp>
            <p:grpSp>
              <p:nvGrpSpPr>
                <p:cNvPr id="122" name="bcgIcons_Increase "/>
                <p:cNvGrpSpPr>
                  <a:grpSpLocks noChangeAspect="1"/>
                </p:cNvGrpSpPr>
                <p:nvPr/>
              </p:nvGrpSpPr>
              <p:grpSpPr>
                <a:xfrm>
                  <a:off x="3179473" y="1827711"/>
                  <a:ext cx="418454" cy="418454"/>
                  <a:chOff x="5273675" y="2606675"/>
                  <a:chExt cx="1644650" cy="1644650"/>
                </a:xfrm>
              </p:grpSpPr>
              <p:sp>
                <p:nvSpPr>
                  <p:cNvPr id="123"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24" name="Group 234"/>
                  <p:cNvGrpSpPr>
                    <a:grpSpLocks/>
                  </p:cNvGrpSpPr>
                  <p:nvPr/>
                </p:nvGrpSpPr>
                <p:grpSpPr>
                  <a:xfrm>
                    <a:off x="5443538" y="2962275"/>
                    <a:ext cx="1304925" cy="930275"/>
                    <a:chOff x="5443538" y="2962275"/>
                    <a:chExt cx="1304925" cy="930275"/>
                  </a:xfrm>
                </p:grpSpPr>
                <p:sp>
                  <p:nvSpPr>
                    <p:cNvPr id="125" name="Freeform 15"/>
                    <p:cNvSpPr>
                      <a:spLocks/>
                    </p:cNvSpPr>
                    <p:nvPr/>
                  </p:nvSpPr>
                  <p:spPr bwMode="auto">
                    <a:xfrm>
                      <a:off x="5443538" y="2962275"/>
                      <a:ext cx="1304925" cy="930275"/>
                    </a:xfrm>
                    <a:custGeom>
                      <a:avLst/>
                      <a:gdLst>
                        <a:gd name="connsiteX0" fmla="*/ 806015 w 1304925"/>
                        <a:gd name="connsiteY0" fmla="*/ 92633 h 930275"/>
                        <a:gd name="connsiteX1" fmla="*/ 945135 w 1304925"/>
                        <a:gd name="connsiteY1" fmla="*/ 125524 h 930275"/>
                        <a:gd name="connsiteX2" fmla="*/ 945848 w 1304925"/>
                        <a:gd name="connsiteY2" fmla="*/ 125524 h 930275"/>
                        <a:gd name="connsiteX3" fmla="*/ 946562 w 1304925"/>
                        <a:gd name="connsiteY3" fmla="*/ 125524 h 930275"/>
                        <a:gd name="connsiteX4" fmla="*/ 947989 w 1304925"/>
                        <a:gd name="connsiteY4" fmla="*/ 126239 h 930275"/>
                        <a:gd name="connsiteX5" fmla="*/ 949415 w 1304925"/>
                        <a:gd name="connsiteY5" fmla="*/ 126954 h 930275"/>
                        <a:gd name="connsiteX6" fmla="*/ 950129 w 1304925"/>
                        <a:gd name="connsiteY6" fmla="*/ 127669 h 930275"/>
                        <a:gd name="connsiteX7" fmla="*/ 950842 w 1304925"/>
                        <a:gd name="connsiteY7" fmla="*/ 127669 h 930275"/>
                        <a:gd name="connsiteX8" fmla="*/ 951556 w 1304925"/>
                        <a:gd name="connsiteY8" fmla="*/ 128384 h 930275"/>
                        <a:gd name="connsiteX9" fmla="*/ 952269 w 1304925"/>
                        <a:gd name="connsiteY9" fmla="*/ 129099 h 930275"/>
                        <a:gd name="connsiteX10" fmla="*/ 952983 w 1304925"/>
                        <a:gd name="connsiteY10" fmla="*/ 129099 h 930275"/>
                        <a:gd name="connsiteX11" fmla="*/ 952983 w 1304925"/>
                        <a:gd name="connsiteY11" fmla="*/ 129814 h 930275"/>
                        <a:gd name="connsiteX12" fmla="*/ 953696 w 1304925"/>
                        <a:gd name="connsiteY12" fmla="*/ 130529 h 930275"/>
                        <a:gd name="connsiteX13" fmla="*/ 954409 w 1304925"/>
                        <a:gd name="connsiteY13" fmla="*/ 131244 h 930275"/>
                        <a:gd name="connsiteX14" fmla="*/ 955123 w 1304925"/>
                        <a:gd name="connsiteY14" fmla="*/ 131959 h 930275"/>
                        <a:gd name="connsiteX15" fmla="*/ 955836 w 1304925"/>
                        <a:gd name="connsiteY15" fmla="*/ 133389 h 930275"/>
                        <a:gd name="connsiteX16" fmla="*/ 956550 w 1304925"/>
                        <a:gd name="connsiteY16" fmla="*/ 134819 h 930275"/>
                        <a:gd name="connsiteX17" fmla="*/ 956550 w 1304925"/>
                        <a:gd name="connsiteY17" fmla="*/ 135534 h 930275"/>
                        <a:gd name="connsiteX18" fmla="*/ 956550 w 1304925"/>
                        <a:gd name="connsiteY18" fmla="*/ 136249 h 930275"/>
                        <a:gd name="connsiteX19" fmla="*/ 957263 w 1304925"/>
                        <a:gd name="connsiteY19" fmla="*/ 136249 h 930275"/>
                        <a:gd name="connsiteX20" fmla="*/ 957263 w 1304925"/>
                        <a:gd name="connsiteY20" fmla="*/ 136965 h 930275"/>
                        <a:gd name="connsiteX21" fmla="*/ 957263 w 1304925"/>
                        <a:gd name="connsiteY21" fmla="*/ 137680 h 930275"/>
                        <a:gd name="connsiteX22" fmla="*/ 957263 w 1304925"/>
                        <a:gd name="connsiteY22" fmla="*/ 138395 h 930275"/>
                        <a:gd name="connsiteX23" fmla="*/ 957263 w 1304925"/>
                        <a:gd name="connsiteY23" fmla="*/ 139110 h 930275"/>
                        <a:gd name="connsiteX24" fmla="*/ 957263 w 1304925"/>
                        <a:gd name="connsiteY24" fmla="*/ 139825 h 930275"/>
                        <a:gd name="connsiteX25" fmla="*/ 957263 w 1304925"/>
                        <a:gd name="connsiteY25" fmla="*/ 140540 h 930275"/>
                        <a:gd name="connsiteX26" fmla="*/ 957263 w 1304925"/>
                        <a:gd name="connsiteY26" fmla="*/ 141255 h 930275"/>
                        <a:gd name="connsiteX27" fmla="*/ 957263 w 1304925"/>
                        <a:gd name="connsiteY27" fmla="*/ 141970 h 930275"/>
                        <a:gd name="connsiteX28" fmla="*/ 957263 w 1304925"/>
                        <a:gd name="connsiteY28" fmla="*/ 142685 h 930275"/>
                        <a:gd name="connsiteX29" fmla="*/ 957263 w 1304925"/>
                        <a:gd name="connsiteY29" fmla="*/ 143400 h 930275"/>
                        <a:gd name="connsiteX30" fmla="*/ 957263 w 1304925"/>
                        <a:gd name="connsiteY30" fmla="*/ 144115 h 930275"/>
                        <a:gd name="connsiteX31" fmla="*/ 957263 w 1304925"/>
                        <a:gd name="connsiteY31" fmla="*/ 144830 h 930275"/>
                        <a:gd name="connsiteX32" fmla="*/ 956550 w 1304925"/>
                        <a:gd name="connsiteY32" fmla="*/ 145545 h 930275"/>
                        <a:gd name="connsiteX33" fmla="*/ 956550 w 1304925"/>
                        <a:gd name="connsiteY33" fmla="*/ 146260 h 930275"/>
                        <a:gd name="connsiteX34" fmla="*/ 956550 w 1304925"/>
                        <a:gd name="connsiteY34" fmla="*/ 146975 h 930275"/>
                        <a:gd name="connsiteX35" fmla="*/ 955836 w 1304925"/>
                        <a:gd name="connsiteY35" fmla="*/ 146975 h 930275"/>
                        <a:gd name="connsiteX36" fmla="*/ 897335 w 1304925"/>
                        <a:gd name="connsiteY36" fmla="*/ 278539 h 930275"/>
                        <a:gd name="connsiteX37" fmla="*/ 883066 w 1304925"/>
                        <a:gd name="connsiteY37" fmla="*/ 287834 h 930275"/>
                        <a:gd name="connsiteX38" fmla="*/ 876645 w 1304925"/>
                        <a:gd name="connsiteY38" fmla="*/ 286404 h 930275"/>
                        <a:gd name="connsiteX39" fmla="*/ 868797 w 1304925"/>
                        <a:gd name="connsiteY39" fmla="*/ 265668 h 930275"/>
                        <a:gd name="connsiteX40" fmla="*/ 909463 w 1304925"/>
                        <a:gd name="connsiteY40" fmla="*/ 174146 h 930275"/>
                        <a:gd name="connsiteX41" fmla="*/ 199595 w 1304925"/>
                        <a:gd name="connsiteY41" fmla="*/ 528081 h 930275"/>
                        <a:gd name="connsiteX42" fmla="*/ 193175 w 1304925"/>
                        <a:gd name="connsiteY42" fmla="*/ 530226 h 930275"/>
                        <a:gd name="connsiteX43" fmla="*/ 178906 w 1304925"/>
                        <a:gd name="connsiteY43" fmla="*/ 520931 h 930275"/>
                        <a:gd name="connsiteX44" fmla="*/ 186040 w 1304925"/>
                        <a:gd name="connsiteY44" fmla="*/ 500195 h 930275"/>
                        <a:gd name="connsiteX45" fmla="*/ 895908 w 1304925"/>
                        <a:gd name="connsiteY45" fmla="*/ 146260 h 930275"/>
                        <a:gd name="connsiteX46" fmla="*/ 798881 w 1304925"/>
                        <a:gd name="connsiteY46" fmla="*/ 123379 h 930275"/>
                        <a:gd name="connsiteX47" fmla="*/ 787466 w 1304925"/>
                        <a:gd name="connsiteY47" fmla="*/ 104789 h 930275"/>
                        <a:gd name="connsiteX48" fmla="*/ 806015 w 1304925"/>
                        <a:gd name="connsiteY48" fmla="*/ 92633 h 930275"/>
                        <a:gd name="connsiteX49" fmla="*/ 31750 w 1304925"/>
                        <a:gd name="connsiteY49" fmla="*/ 31750 h 930275"/>
                        <a:gd name="connsiteX50" fmla="*/ 31750 w 1304925"/>
                        <a:gd name="connsiteY50" fmla="*/ 900113 h 930275"/>
                        <a:gd name="connsiteX51" fmla="*/ 1273175 w 1304925"/>
                        <a:gd name="connsiteY51" fmla="*/ 900113 h 930275"/>
                        <a:gd name="connsiteX52" fmla="*/ 1273175 w 1304925"/>
                        <a:gd name="connsiteY52" fmla="*/ 31750 h 930275"/>
                        <a:gd name="connsiteX53" fmla="*/ 31750 w 1304925"/>
                        <a:gd name="connsiteY53" fmla="*/ 31750 h 930275"/>
                        <a:gd name="connsiteX54" fmla="*/ 15722 w 1304925"/>
                        <a:gd name="connsiteY54" fmla="*/ 0 h 930275"/>
                        <a:gd name="connsiteX55" fmla="*/ 1289203 w 1304925"/>
                        <a:gd name="connsiteY55" fmla="*/ 0 h 930275"/>
                        <a:gd name="connsiteX56" fmla="*/ 1304925 w 1304925"/>
                        <a:gd name="connsiteY56" fmla="*/ 15695 h 930275"/>
                        <a:gd name="connsiteX57" fmla="*/ 1304925 w 1304925"/>
                        <a:gd name="connsiteY57" fmla="*/ 914580 h 930275"/>
                        <a:gd name="connsiteX58" fmla="*/ 1289203 w 1304925"/>
                        <a:gd name="connsiteY58" fmla="*/ 930275 h 930275"/>
                        <a:gd name="connsiteX59" fmla="*/ 15722 w 1304925"/>
                        <a:gd name="connsiteY59" fmla="*/ 930275 h 930275"/>
                        <a:gd name="connsiteX60" fmla="*/ 0 w 1304925"/>
                        <a:gd name="connsiteY60" fmla="*/ 914580 h 930275"/>
                        <a:gd name="connsiteX61" fmla="*/ 0 w 1304925"/>
                        <a:gd name="connsiteY61" fmla="*/ 15695 h 930275"/>
                        <a:gd name="connsiteX62" fmla="*/ 15722 w 1304925"/>
                        <a:gd name="connsiteY62"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04925" h="930275">
                          <a:moveTo>
                            <a:pt x="806015" y="92633"/>
                          </a:moveTo>
                          <a:cubicBezTo>
                            <a:pt x="806015" y="92633"/>
                            <a:pt x="806015" y="92633"/>
                            <a:pt x="945135" y="125524"/>
                          </a:cubicBezTo>
                          <a:cubicBezTo>
                            <a:pt x="945135" y="125524"/>
                            <a:pt x="945135" y="125524"/>
                            <a:pt x="945848" y="125524"/>
                          </a:cubicBezTo>
                          <a:cubicBezTo>
                            <a:pt x="945848" y="125524"/>
                            <a:pt x="945848" y="125524"/>
                            <a:pt x="946562" y="125524"/>
                          </a:cubicBezTo>
                          <a:cubicBezTo>
                            <a:pt x="947275" y="125524"/>
                            <a:pt x="947275" y="126239"/>
                            <a:pt x="947989" y="126239"/>
                          </a:cubicBezTo>
                          <a:cubicBezTo>
                            <a:pt x="948702" y="126239"/>
                            <a:pt x="948702" y="126954"/>
                            <a:pt x="949415" y="126954"/>
                          </a:cubicBezTo>
                          <a:cubicBezTo>
                            <a:pt x="950129" y="126954"/>
                            <a:pt x="950129" y="127669"/>
                            <a:pt x="950129" y="127669"/>
                          </a:cubicBezTo>
                          <a:cubicBezTo>
                            <a:pt x="950842" y="127669"/>
                            <a:pt x="950842" y="127669"/>
                            <a:pt x="950842" y="127669"/>
                          </a:cubicBezTo>
                          <a:cubicBezTo>
                            <a:pt x="950842" y="128384"/>
                            <a:pt x="951556" y="128384"/>
                            <a:pt x="951556" y="128384"/>
                          </a:cubicBezTo>
                          <a:cubicBezTo>
                            <a:pt x="951556" y="128384"/>
                            <a:pt x="952269" y="128384"/>
                            <a:pt x="952269" y="129099"/>
                          </a:cubicBezTo>
                          <a:cubicBezTo>
                            <a:pt x="952269" y="129099"/>
                            <a:pt x="952269" y="129099"/>
                            <a:pt x="952983" y="129099"/>
                          </a:cubicBezTo>
                          <a:cubicBezTo>
                            <a:pt x="952983" y="129814"/>
                            <a:pt x="952983" y="129814"/>
                            <a:pt x="952983" y="129814"/>
                          </a:cubicBezTo>
                          <a:cubicBezTo>
                            <a:pt x="953696" y="130529"/>
                            <a:pt x="953696" y="130529"/>
                            <a:pt x="953696" y="130529"/>
                          </a:cubicBezTo>
                          <a:cubicBezTo>
                            <a:pt x="953696" y="130529"/>
                            <a:pt x="953696" y="130529"/>
                            <a:pt x="954409" y="131244"/>
                          </a:cubicBezTo>
                          <a:cubicBezTo>
                            <a:pt x="954409" y="131959"/>
                            <a:pt x="954409" y="131959"/>
                            <a:pt x="955123" y="131959"/>
                          </a:cubicBezTo>
                          <a:cubicBezTo>
                            <a:pt x="955123" y="132674"/>
                            <a:pt x="955123" y="132674"/>
                            <a:pt x="955836" y="133389"/>
                          </a:cubicBezTo>
                          <a:cubicBezTo>
                            <a:pt x="955836" y="134104"/>
                            <a:pt x="956550" y="134819"/>
                            <a:pt x="956550" y="134819"/>
                          </a:cubicBezTo>
                          <a:cubicBezTo>
                            <a:pt x="956550" y="135534"/>
                            <a:pt x="956550" y="135534"/>
                            <a:pt x="956550" y="135534"/>
                          </a:cubicBezTo>
                          <a:cubicBezTo>
                            <a:pt x="956550" y="135534"/>
                            <a:pt x="956550" y="135534"/>
                            <a:pt x="956550" y="136249"/>
                          </a:cubicBezTo>
                          <a:cubicBezTo>
                            <a:pt x="956550" y="136249"/>
                            <a:pt x="956550" y="136249"/>
                            <a:pt x="957263" y="136249"/>
                          </a:cubicBezTo>
                          <a:cubicBezTo>
                            <a:pt x="957263" y="136965"/>
                            <a:pt x="957263" y="136965"/>
                            <a:pt x="957263" y="136965"/>
                          </a:cubicBezTo>
                          <a:cubicBezTo>
                            <a:pt x="957263" y="136965"/>
                            <a:pt x="957263" y="136965"/>
                            <a:pt x="957263" y="137680"/>
                          </a:cubicBezTo>
                          <a:cubicBezTo>
                            <a:pt x="957263" y="137680"/>
                            <a:pt x="957263" y="137680"/>
                            <a:pt x="957263" y="138395"/>
                          </a:cubicBezTo>
                          <a:cubicBezTo>
                            <a:pt x="957263" y="138395"/>
                            <a:pt x="957263" y="138395"/>
                            <a:pt x="957263" y="139110"/>
                          </a:cubicBezTo>
                          <a:cubicBezTo>
                            <a:pt x="957263" y="139110"/>
                            <a:pt x="957263" y="139110"/>
                            <a:pt x="957263" y="139825"/>
                          </a:cubicBezTo>
                          <a:cubicBezTo>
                            <a:pt x="957263" y="139825"/>
                            <a:pt x="957263" y="139825"/>
                            <a:pt x="957263" y="140540"/>
                          </a:cubicBezTo>
                          <a:cubicBezTo>
                            <a:pt x="957263" y="140540"/>
                            <a:pt x="957263" y="140540"/>
                            <a:pt x="957263" y="141255"/>
                          </a:cubicBezTo>
                          <a:cubicBezTo>
                            <a:pt x="957263" y="141255"/>
                            <a:pt x="957263" y="141255"/>
                            <a:pt x="957263" y="141970"/>
                          </a:cubicBezTo>
                          <a:cubicBezTo>
                            <a:pt x="957263" y="141970"/>
                            <a:pt x="957263" y="141970"/>
                            <a:pt x="957263" y="142685"/>
                          </a:cubicBezTo>
                          <a:cubicBezTo>
                            <a:pt x="957263" y="142685"/>
                            <a:pt x="957263" y="142685"/>
                            <a:pt x="957263" y="143400"/>
                          </a:cubicBezTo>
                          <a:cubicBezTo>
                            <a:pt x="957263" y="143400"/>
                            <a:pt x="957263" y="143400"/>
                            <a:pt x="957263" y="144115"/>
                          </a:cubicBezTo>
                          <a:cubicBezTo>
                            <a:pt x="957263" y="144115"/>
                            <a:pt x="957263" y="144115"/>
                            <a:pt x="957263" y="144830"/>
                          </a:cubicBezTo>
                          <a:cubicBezTo>
                            <a:pt x="956550" y="144830"/>
                            <a:pt x="956550" y="145545"/>
                            <a:pt x="956550" y="145545"/>
                          </a:cubicBezTo>
                          <a:cubicBezTo>
                            <a:pt x="956550" y="146260"/>
                            <a:pt x="956550" y="146260"/>
                            <a:pt x="956550" y="146260"/>
                          </a:cubicBezTo>
                          <a:cubicBezTo>
                            <a:pt x="956550" y="146975"/>
                            <a:pt x="956550" y="146975"/>
                            <a:pt x="956550" y="146975"/>
                          </a:cubicBezTo>
                          <a:cubicBezTo>
                            <a:pt x="956550" y="146975"/>
                            <a:pt x="956550" y="146975"/>
                            <a:pt x="955836" y="146975"/>
                          </a:cubicBezTo>
                          <a:cubicBezTo>
                            <a:pt x="955836" y="146975"/>
                            <a:pt x="955836" y="146975"/>
                            <a:pt x="897335" y="278539"/>
                          </a:cubicBezTo>
                          <a:cubicBezTo>
                            <a:pt x="895194" y="284259"/>
                            <a:pt x="889487" y="287834"/>
                            <a:pt x="883066" y="287834"/>
                          </a:cubicBezTo>
                          <a:cubicBezTo>
                            <a:pt x="880926" y="287834"/>
                            <a:pt x="878785" y="287119"/>
                            <a:pt x="876645" y="286404"/>
                          </a:cubicBezTo>
                          <a:cubicBezTo>
                            <a:pt x="868797" y="282829"/>
                            <a:pt x="865230" y="273534"/>
                            <a:pt x="868797" y="265668"/>
                          </a:cubicBezTo>
                          <a:cubicBezTo>
                            <a:pt x="868797" y="265668"/>
                            <a:pt x="868797" y="265668"/>
                            <a:pt x="909463" y="174146"/>
                          </a:cubicBezTo>
                          <a:cubicBezTo>
                            <a:pt x="909463" y="174146"/>
                            <a:pt x="909463" y="174146"/>
                            <a:pt x="199595" y="528081"/>
                          </a:cubicBezTo>
                          <a:cubicBezTo>
                            <a:pt x="197455" y="529511"/>
                            <a:pt x="195315" y="530226"/>
                            <a:pt x="193175" y="530226"/>
                          </a:cubicBezTo>
                          <a:cubicBezTo>
                            <a:pt x="186754" y="530226"/>
                            <a:pt x="181760" y="526651"/>
                            <a:pt x="178906" y="520931"/>
                          </a:cubicBezTo>
                          <a:cubicBezTo>
                            <a:pt x="174625" y="513066"/>
                            <a:pt x="178192" y="503770"/>
                            <a:pt x="186040" y="500195"/>
                          </a:cubicBezTo>
                          <a:cubicBezTo>
                            <a:pt x="186040" y="500195"/>
                            <a:pt x="186040" y="500195"/>
                            <a:pt x="895908" y="146260"/>
                          </a:cubicBezTo>
                          <a:cubicBezTo>
                            <a:pt x="895908" y="146260"/>
                            <a:pt x="895908" y="146260"/>
                            <a:pt x="798881" y="123379"/>
                          </a:cubicBezTo>
                          <a:cubicBezTo>
                            <a:pt x="791033" y="121234"/>
                            <a:pt x="785325" y="112654"/>
                            <a:pt x="787466" y="104789"/>
                          </a:cubicBezTo>
                          <a:cubicBezTo>
                            <a:pt x="789606" y="96208"/>
                            <a:pt x="798167" y="90488"/>
                            <a:pt x="806015" y="92633"/>
                          </a:cubicBezTo>
                          <a:close/>
                          <a:moveTo>
                            <a:pt x="31750" y="31750"/>
                          </a:moveTo>
                          <a:cubicBezTo>
                            <a:pt x="31750" y="900113"/>
                            <a:pt x="31750" y="900113"/>
                            <a:pt x="31750" y="900113"/>
                          </a:cubicBezTo>
                          <a:cubicBezTo>
                            <a:pt x="1273175" y="900113"/>
                            <a:pt x="1273175" y="900113"/>
                            <a:pt x="1273175" y="900113"/>
                          </a:cubicBezTo>
                          <a:cubicBezTo>
                            <a:pt x="1273175" y="31750"/>
                            <a:pt x="1273175" y="31750"/>
                            <a:pt x="1273175" y="31750"/>
                          </a:cubicBezTo>
                          <a:cubicBezTo>
                            <a:pt x="31750" y="31750"/>
                            <a:pt x="31750" y="31750"/>
                            <a:pt x="31750" y="31750"/>
                          </a:cubicBezTo>
                          <a:close/>
                          <a:moveTo>
                            <a:pt x="15722" y="0"/>
                          </a:moveTo>
                          <a:cubicBezTo>
                            <a:pt x="15722" y="0"/>
                            <a:pt x="15722" y="0"/>
                            <a:pt x="1289203" y="0"/>
                          </a:cubicBezTo>
                          <a:cubicBezTo>
                            <a:pt x="1297779" y="0"/>
                            <a:pt x="1304925" y="6421"/>
                            <a:pt x="1304925" y="15695"/>
                          </a:cubicBezTo>
                          <a:cubicBezTo>
                            <a:pt x="1304925" y="15695"/>
                            <a:pt x="1304925" y="15695"/>
                            <a:pt x="1304925" y="914580"/>
                          </a:cubicBezTo>
                          <a:cubicBezTo>
                            <a:pt x="1304925" y="923855"/>
                            <a:pt x="1297779" y="930275"/>
                            <a:pt x="1289203" y="930275"/>
                          </a:cubicBezTo>
                          <a:cubicBezTo>
                            <a:pt x="1289203" y="930275"/>
                            <a:pt x="1289203" y="930275"/>
                            <a:pt x="15722" y="930275"/>
                          </a:cubicBezTo>
                          <a:cubicBezTo>
                            <a:pt x="7147" y="930275"/>
                            <a:pt x="0" y="923855"/>
                            <a:pt x="0" y="914580"/>
                          </a:cubicBezTo>
                          <a:cubicBezTo>
                            <a:pt x="0" y="914580"/>
                            <a:pt x="0" y="914580"/>
                            <a:pt x="0" y="15695"/>
                          </a:cubicBezTo>
                          <a:cubicBezTo>
                            <a:pt x="0" y="6421"/>
                            <a:pt x="7147" y="0"/>
                            <a:pt x="15722"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26" name="Freeform 16"/>
                    <p:cNvSpPr>
                      <a:spLocks/>
                    </p:cNvSpPr>
                    <p:nvPr/>
                  </p:nvSpPr>
                  <p:spPr bwMode="auto">
                    <a:xfrm>
                      <a:off x="5508625" y="3178175"/>
                      <a:ext cx="1174751" cy="654051"/>
                    </a:xfrm>
                    <a:custGeom>
                      <a:avLst/>
                      <a:gdLst>
                        <a:gd name="connsiteX0" fmla="*/ 14944 w 1174751"/>
                        <a:gd name="connsiteY0" fmla="*/ 555625 h 654051"/>
                        <a:gd name="connsiteX1" fmla="*/ 252632 w 1174751"/>
                        <a:gd name="connsiteY1" fmla="*/ 555625 h 654051"/>
                        <a:gd name="connsiteX2" fmla="*/ 268288 w 1174751"/>
                        <a:gd name="connsiteY2" fmla="*/ 571316 h 654051"/>
                        <a:gd name="connsiteX3" fmla="*/ 268288 w 1174751"/>
                        <a:gd name="connsiteY3" fmla="*/ 638359 h 654051"/>
                        <a:gd name="connsiteX4" fmla="*/ 252632 w 1174751"/>
                        <a:gd name="connsiteY4" fmla="*/ 654050 h 654051"/>
                        <a:gd name="connsiteX5" fmla="*/ 14944 w 1174751"/>
                        <a:gd name="connsiteY5" fmla="*/ 654050 h 654051"/>
                        <a:gd name="connsiteX6" fmla="*/ 0 w 1174751"/>
                        <a:gd name="connsiteY6" fmla="*/ 638359 h 654051"/>
                        <a:gd name="connsiteX7" fmla="*/ 0 w 1174751"/>
                        <a:gd name="connsiteY7" fmla="*/ 571316 h 654051"/>
                        <a:gd name="connsiteX8" fmla="*/ 14944 w 1174751"/>
                        <a:gd name="connsiteY8" fmla="*/ 555625 h 654051"/>
                        <a:gd name="connsiteX9" fmla="*/ 317332 w 1174751"/>
                        <a:gd name="connsiteY9" fmla="*/ 373063 h 654051"/>
                        <a:gd name="connsiteX10" fmla="*/ 555793 w 1174751"/>
                        <a:gd name="connsiteY10" fmla="*/ 373063 h 654051"/>
                        <a:gd name="connsiteX11" fmla="*/ 571500 w 1174751"/>
                        <a:gd name="connsiteY11" fmla="*/ 389550 h 654051"/>
                        <a:gd name="connsiteX12" fmla="*/ 571500 w 1174751"/>
                        <a:gd name="connsiteY12" fmla="*/ 638281 h 654051"/>
                        <a:gd name="connsiteX13" fmla="*/ 555793 w 1174751"/>
                        <a:gd name="connsiteY13" fmla="*/ 654051 h 654051"/>
                        <a:gd name="connsiteX14" fmla="*/ 317332 w 1174751"/>
                        <a:gd name="connsiteY14" fmla="*/ 654051 h 654051"/>
                        <a:gd name="connsiteX15" fmla="*/ 301625 w 1174751"/>
                        <a:gd name="connsiteY15" fmla="*/ 638281 h 654051"/>
                        <a:gd name="connsiteX16" fmla="*/ 301625 w 1174751"/>
                        <a:gd name="connsiteY16" fmla="*/ 389550 h 654051"/>
                        <a:gd name="connsiteX17" fmla="*/ 317332 w 1174751"/>
                        <a:gd name="connsiteY17" fmla="*/ 373063 h 654051"/>
                        <a:gd name="connsiteX18" fmla="*/ 618957 w 1174751"/>
                        <a:gd name="connsiteY18" fmla="*/ 182563 h 654051"/>
                        <a:gd name="connsiteX19" fmla="*/ 857418 w 1174751"/>
                        <a:gd name="connsiteY19" fmla="*/ 182563 h 654051"/>
                        <a:gd name="connsiteX20" fmla="*/ 873125 w 1174751"/>
                        <a:gd name="connsiteY20" fmla="*/ 198303 h 654051"/>
                        <a:gd name="connsiteX21" fmla="*/ 873125 w 1174751"/>
                        <a:gd name="connsiteY21" fmla="*/ 638311 h 654051"/>
                        <a:gd name="connsiteX22" fmla="*/ 857418 w 1174751"/>
                        <a:gd name="connsiteY22" fmla="*/ 654051 h 654051"/>
                        <a:gd name="connsiteX23" fmla="*/ 618957 w 1174751"/>
                        <a:gd name="connsiteY23" fmla="*/ 654051 h 654051"/>
                        <a:gd name="connsiteX24" fmla="*/ 603250 w 1174751"/>
                        <a:gd name="connsiteY24" fmla="*/ 638311 h 654051"/>
                        <a:gd name="connsiteX25" fmla="*/ 603250 w 1174751"/>
                        <a:gd name="connsiteY25" fmla="*/ 198303 h 654051"/>
                        <a:gd name="connsiteX26" fmla="*/ 618957 w 1174751"/>
                        <a:gd name="connsiteY26" fmla="*/ 182563 h 654051"/>
                        <a:gd name="connsiteX27" fmla="*/ 922203 w 1174751"/>
                        <a:gd name="connsiteY27" fmla="*/ 0 h 654051"/>
                        <a:gd name="connsiteX28" fmla="*/ 1159727 w 1174751"/>
                        <a:gd name="connsiteY28" fmla="*/ 0 h 654051"/>
                        <a:gd name="connsiteX29" fmla="*/ 1174751 w 1174751"/>
                        <a:gd name="connsiteY29" fmla="*/ 15726 h 654051"/>
                        <a:gd name="connsiteX30" fmla="*/ 1174751 w 1174751"/>
                        <a:gd name="connsiteY30" fmla="*/ 638324 h 654051"/>
                        <a:gd name="connsiteX31" fmla="*/ 1159727 w 1174751"/>
                        <a:gd name="connsiteY31" fmla="*/ 654050 h 654051"/>
                        <a:gd name="connsiteX32" fmla="*/ 922203 w 1174751"/>
                        <a:gd name="connsiteY32" fmla="*/ 654050 h 654051"/>
                        <a:gd name="connsiteX33" fmla="*/ 906463 w 1174751"/>
                        <a:gd name="connsiteY33" fmla="*/ 638324 h 654051"/>
                        <a:gd name="connsiteX34" fmla="*/ 906463 w 1174751"/>
                        <a:gd name="connsiteY34" fmla="*/ 15726 h 654051"/>
                        <a:gd name="connsiteX35" fmla="*/ 922203 w 1174751"/>
                        <a:gd name="connsiteY35" fmla="*/ 0 h 654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74751" h="654051">
                          <a:moveTo>
                            <a:pt x="14944" y="555625"/>
                          </a:moveTo>
                          <a:cubicBezTo>
                            <a:pt x="14944" y="555625"/>
                            <a:pt x="14944" y="555625"/>
                            <a:pt x="252632" y="555625"/>
                          </a:cubicBezTo>
                          <a:cubicBezTo>
                            <a:pt x="261171" y="555625"/>
                            <a:pt x="268288" y="562757"/>
                            <a:pt x="268288" y="571316"/>
                          </a:cubicBezTo>
                          <a:cubicBezTo>
                            <a:pt x="268288" y="571316"/>
                            <a:pt x="268288" y="571316"/>
                            <a:pt x="268288" y="638359"/>
                          </a:cubicBezTo>
                          <a:cubicBezTo>
                            <a:pt x="268288" y="647631"/>
                            <a:pt x="261171" y="654050"/>
                            <a:pt x="252632" y="654050"/>
                          </a:cubicBezTo>
                          <a:cubicBezTo>
                            <a:pt x="252632" y="654050"/>
                            <a:pt x="252632" y="654050"/>
                            <a:pt x="14944" y="654050"/>
                          </a:cubicBezTo>
                          <a:cubicBezTo>
                            <a:pt x="7116" y="654050"/>
                            <a:pt x="0" y="647631"/>
                            <a:pt x="0" y="638359"/>
                          </a:cubicBezTo>
                          <a:cubicBezTo>
                            <a:pt x="0" y="638359"/>
                            <a:pt x="0" y="638359"/>
                            <a:pt x="0" y="571316"/>
                          </a:cubicBezTo>
                          <a:cubicBezTo>
                            <a:pt x="0" y="562757"/>
                            <a:pt x="7116" y="555625"/>
                            <a:pt x="14944" y="555625"/>
                          </a:cubicBezTo>
                          <a:close/>
                          <a:moveTo>
                            <a:pt x="317332" y="373063"/>
                          </a:moveTo>
                          <a:cubicBezTo>
                            <a:pt x="317332" y="373063"/>
                            <a:pt x="317332" y="373063"/>
                            <a:pt x="555793" y="373063"/>
                          </a:cubicBezTo>
                          <a:cubicBezTo>
                            <a:pt x="564360" y="373063"/>
                            <a:pt x="571500" y="379514"/>
                            <a:pt x="571500" y="389550"/>
                          </a:cubicBezTo>
                          <a:cubicBezTo>
                            <a:pt x="571500" y="389550"/>
                            <a:pt x="571500" y="389550"/>
                            <a:pt x="571500" y="638281"/>
                          </a:cubicBezTo>
                          <a:cubicBezTo>
                            <a:pt x="571500" y="647600"/>
                            <a:pt x="564360" y="654051"/>
                            <a:pt x="555793" y="654051"/>
                          </a:cubicBezTo>
                          <a:cubicBezTo>
                            <a:pt x="555793" y="654051"/>
                            <a:pt x="555793" y="654051"/>
                            <a:pt x="317332" y="654051"/>
                          </a:cubicBezTo>
                          <a:cubicBezTo>
                            <a:pt x="308050" y="654051"/>
                            <a:pt x="301625" y="647600"/>
                            <a:pt x="301625" y="638281"/>
                          </a:cubicBezTo>
                          <a:cubicBezTo>
                            <a:pt x="301625" y="638281"/>
                            <a:pt x="301625" y="638281"/>
                            <a:pt x="301625" y="389550"/>
                          </a:cubicBezTo>
                          <a:cubicBezTo>
                            <a:pt x="301625" y="379514"/>
                            <a:pt x="308050" y="373063"/>
                            <a:pt x="317332" y="373063"/>
                          </a:cubicBezTo>
                          <a:close/>
                          <a:moveTo>
                            <a:pt x="618957" y="182563"/>
                          </a:moveTo>
                          <a:cubicBezTo>
                            <a:pt x="618957" y="182563"/>
                            <a:pt x="618957" y="182563"/>
                            <a:pt x="857418" y="182563"/>
                          </a:cubicBezTo>
                          <a:cubicBezTo>
                            <a:pt x="866699" y="182563"/>
                            <a:pt x="873125" y="189718"/>
                            <a:pt x="873125" y="198303"/>
                          </a:cubicBezTo>
                          <a:cubicBezTo>
                            <a:pt x="873125" y="198303"/>
                            <a:pt x="873125" y="198303"/>
                            <a:pt x="873125" y="638311"/>
                          </a:cubicBezTo>
                          <a:cubicBezTo>
                            <a:pt x="873125" y="647612"/>
                            <a:pt x="866699" y="654051"/>
                            <a:pt x="857418" y="654051"/>
                          </a:cubicBezTo>
                          <a:cubicBezTo>
                            <a:pt x="857418" y="654051"/>
                            <a:pt x="857418" y="654051"/>
                            <a:pt x="618957" y="654051"/>
                          </a:cubicBezTo>
                          <a:cubicBezTo>
                            <a:pt x="610389" y="654051"/>
                            <a:pt x="603250" y="647612"/>
                            <a:pt x="603250" y="638311"/>
                          </a:cubicBezTo>
                          <a:cubicBezTo>
                            <a:pt x="603250" y="638311"/>
                            <a:pt x="603250" y="638311"/>
                            <a:pt x="603250" y="198303"/>
                          </a:cubicBezTo>
                          <a:cubicBezTo>
                            <a:pt x="603250" y="189718"/>
                            <a:pt x="610389" y="182563"/>
                            <a:pt x="618957" y="182563"/>
                          </a:cubicBezTo>
                          <a:close/>
                          <a:moveTo>
                            <a:pt x="922203" y="0"/>
                          </a:moveTo>
                          <a:cubicBezTo>
                            <a:pt x="922203" y="0"/>
                            <a:pt x="922203" y="0"/>
                            <a:pt x="1159727" y="0"/>
                          </a:cubicBezTo>
                          <a:cubicBezTo>
                            <a:pt x="1168312" y="0"/>
                            <a:pt x="1174751" y="7148"/>
                            <a:pt x="1174751" y="15726"/>
                          </a:cubicBezTo>
                          <a:cubicBezTo>
                            <a:pt x="1174751" y="15726"/>
                            <a:pt x="1174751" y="15726"/>
                            <a:pt x="1174751" y="638324"/>
                          </a:cubicBezTo>
                          <a:cubicBezTo>
                            <a:pt x="1174751" y="647617"/>
                            <a:pt x="1168312" y="654050"/>
                            <a:pt x="1159727" y="654050"/>
                          </a:cubicBezTo>
                          <a:cubicBezTo>
                            <a:pt x="1159727" y="654050"/>
                            <a:pt x="1159727" y="654050"/>
                            <a:pt x="922203" y="654050"/>
                          </a:cubicBezTo>
                          <a:cubicBezTo>
                            <a:pt x="912902" y="654050"/>
                            <a:pt x="906463" y="647617"/>
                            <a:pt x="906463" y="638324"/>
                          </a:cubicBezTo>
                          <a:cubicBezTo>
                            <a:pt x="906463" y="638324"/>
                            <a:pt x="906463" y="638324"/>
                            <a:pt x="906463" y="15726"/>
                          </a:cubicBezTo>
                          <a:cubicBezTo>
                            <a:pt x="906463" y="7148"/>
                            <a:pt x="912902" y="0"/>
                            <a:pt x="922203"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grpSp>
          <p:nvGrpSpPr>
            <p:cNvPr id="127" name="Grupo 161"/>
            <p:cNvGrpSpPr/>
            <p:nvPr/>
          </p:nvGrpSpPr>
          <p:grpSpPr>
            <a:xfrm>
              <a:off x="2377817" y="1494503"/>
              <a:ext cx="972001" cy="1122694"/>
              <a:chOff x="1749651" y="1669461"/>
              <a:chExt cx="1047298" cy="1122694"/>
            </a:xfrm>
          </p:grpSpPr>
          <p:sp>
            <p:nvSpPr>
              <p:cNvPr id="128" name="Rectangle: Rounded Corners 208"/>
              <p:cNvSpPr/>
              <p:nvPr/>
            </p:nvSpPr>
            <p:spPr>
              <a:xfrm>
                <a:off x="181461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Requisitos Legales y Compromisos</a:t>
                </a:r>
              </a:p>
            </p:txBody>
          </p:sp>
          <p:sp>
            <p:nvSpPr>
              <p:cNvPr id="129" name="Oval 20"/>
              <p:cNvSpPr>
                <a:spLocks noChangeAspect="1" noChangeArrowheads="1"/>
              </p:cNvSpPr>
              <p:nvPr/>
            </p:nvSpPr>
            <p:spPr bwMode="auto">
              <a:xfrm>
                <a:off x="17496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5</a:t>
                </a:r>
              </a:p>
            </p:txBody>
          </p:sp>
          <p:grpSp>
            <p:nvGrpSpPr>
              <p:cNvPr id="130" name="bcgIcons_Regulatory "/>
              <p:cNvGrpSpPr>
                <a:grpSpLocks noChangeAspect="1"/>
              </p:cNvGrpSpPr>
              <p:nvPr/>
            </p:nvGrpSpPr>
            <p:grpSpPr>
              <a:xfrm>
                <a:off x="2096552" y="1827711"/>
                <a:ext cx="418454" cy="418454"/>
                <a:chOff x="5273675" y="2606675"/>
                <a:chExt cx="1644650" cy="1644650"/>
              </a:xfrm>
            </p:grpSpPr>
            <p:sp>
              <p:nvSpPr>
                <p:cNvPr id="131"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32" name="Group 239"/>
                <p:cNvGrpSpPr>
                  <a:grpSpLocks/>
                </p:cNvGrpSpPr>
                <p:nvPr/>
              </p:nvGrpSpPr>
              <p:grpSpPr>
                <a:xfrm>
                  <a:off x="5648325" y="2778124"/>
                  <a:ext cx="896938" cy="1304927"/>
                  <a:chOff x="5648325" y="2778124"/>
                  <a:chExt cx="896938" cy="1304927"/>
                </a:xfrm>
              </p:grpSpPr>
              <p:sp>
                <p:nvSpPr>
                  <p:cNvPr id="133" name="Freeform 21"/>
                  <p:cNvSpPr>
                    <a:spLocks/>
                  </p:cNvSpPr>
                  <p:nvPr/>
                </p:nvSpPr>
                <p:spPr bwMode="auto">
                  <a:xfrm>
                    <a:off x="5648325" y="2890838"/>
                    <a:ext cx="896938" cy="1192213"/>
                  </a:xfrm>
                  <a:custGeom>
                    <a:avLst/>
                    <a:gdLst>
                      <a:gd name="connsiteX0" fmla="*/ 319134 w 896938"/>
                      <a:gd name="connsiteY0" fmla="*/ 817629 h 1192213"/>
                      <a:gd name="connsiteX1" fmla="*/ 341244 w 896938"/>
                      <a:gd name="connsiteY1" fmla="*/ 817629 h 1192213"/>
                      <a:gd name="connsiteX2" fmla="*/ 341244 w 896938"/>
                      <a:gd name="connsiteY2" fmla="*/ 839730 h 1192213"/>
                      <a:gd name="connsiteX3" fmla="*/ 310575 w 896938"/>
                      <a:gd name="connsiteY3" fmla="*/ 870387 h 1192213"/>
                      <a:gd name="connsiteX4" fmla="*/ 279193 w 896938"/>
                      <a:gd name="connsiteY4" fmla="*/ 901757 h 1192213"/>
                      <a:gd name="connsiteX5" fmla="*/ 255657 w 896938"/>
                      <a:gd name="connsiteY5" fmla="*/ 925997 h 1192213"/>
                      <a:gd name="connsiteX6" fmla="*/ 244245 w 896938"/>
                      <a:gd name="connsiteY6" fmla="*/ 930275 h 1192213"/>
                      <a:gd name="connsiteX7" fmla="*/ 232834 w 896938"/>
                      <a:gd name="connsiteY7" fmla="*/ 925997 h 1192213"/>
                      <a:gd name="connsiteX8" fmla="*/ 205731 w 896938"/>
                      <a:gd name="connsiteY8" fmla="*/ 898192 h 1192213"/>
                      <a:gd name="connsiteX9" fmla="*/ 205731 w 896938"/>
                      <a:gd name="connsiteY9" fmla="*/ 876091 h 1192213"/>
                      <a:gd name="connsiteX10" fmla="*/ 227841 w 896938"/>
                      <a:gd name="connsiteY10" fmla="*/ 876091 h 1192213"/>
                      <a:gd name="connsiteX11" fmla="*/ 244245 w 896938"/>
                      <a:gd name="connsiteY11" fmla="*/ 892489 h 1192213"/>
                      <a:gd name="connsiteX12" fmla="*/ 277767 w 896938"/>
                      <a:gd name="connsiteY12" fmla="*/ 858980 h 1192213"/>
                      <a:gd name="connsiteX13" fmla="*/ 305583 w 896938"/>
                      <a:gd name="connsiteY13" fmla="*/ 831175 h 1192213"/>
                      <a:gd name="connsiteX14" fmla="*/ 319134 w 896938"/>
                      <a:gd name="connsiteY14" fmla="*/ 817629 h 1192213"/>
                      <a:gd name="connsiteX15" fmla="*/ 15686 w 896938"/>
                      <a:gd name="connsiteY15" fmla="*/ 0 h 1192213"/>
                      <a:gd name="connsiteX16" fmla="*/ 272361 w 896938"/>
                      <a:gd name="connsiteY16" fmla="*/ 0 h 1192213"/>
                      <a:gd name="connsiteX17" fmla="*/ 272361 w 896938"/>
                      <a:gd name="connsiteY17" fmla="*/ 31412 h 1192213"/>
                      <a:gd name="connsiteX18" fmla="*/ 31372 w 896938"/>
                      <a:gd name="connsiteY18" fmla="*/ 31412 h 1192213"/>
                      <a:gd name="connsiteX19" fmla="*/ 31372 w 896938"/>
                      <a:gd name="connsiteY19" fmla="*/ 1160802 h 1192213"/>
                      <a:gd name="connsiteX20" fmla="*/ 865567 w 896938"/>
                      <a:gd name="connsiteY20" fmla="*/ 1160802 h 1192213"/>
                      <a:gd name="connsiteX21" fmla="*/ 865567 w 896938"/>
                      <a:gd name="connsiteY21" fmla="*/ 31412 h 1192213"/>
                      <a:gd name="connsiteX22" fmla="*/ 624577 w 896938"/>
                      <a:gd name="connsiteY22" fmla="*/ 31412 h 1192213"/>
                      <a:gd name="connsiteX23" fmla="*/ 624577 w 896938"/>
                      <a:gd name="connsiteY23" fmla="*/ 0 h 1192213"/>
                      <a:gd name="connsiteX24" fmla="*/ 881252 w 896938"/>
                      <a:gd name="connsiteY24" fmla="*/ 0 h 1192213"/>
                      <a:gd name="connsiteX25" fmla="*/ 896938 w 896938"/>
                      <a:gd name="connsiteY25" fmla="*/ 15706 h 1192213"/>
                      <a:gd name="connsiteX26" fmla="*/ 896938 w 896938"/>
                      <a:gd name="connsiteY26" fmla="*/ 1176507 h 1192213"/>
                      <a:gd name="connsiteX27" fmla="*/ 881252 w 896938"/>
                      <a:gd name="connsiteY27" fmla="*/ 1192213 h 1192213"/>
                      <a:gd name="connsiteX28" fmla="*/ 15686 w 896938"/>
                      <a:gd name="connsiteY28" fmla="*/ 1192213 h 1192213"/>
                      <a:gd name="connsiteX29" fmla="*/ 0 w 896938"/>
                      <a:gd name="connsiteY29" fmla="*/ 1176507 h 1192213"/>
                      <a:gd name="connsiteX30" fmla="*/ 0 w 896938"/>
                      <a:gd name="connsiteY30" fmla="*/ 15706 h 1192213"/>
                      <a:gd name="connsiteX31" fmla="*/ 15686 w 896938"/>
                      <a:gd name="connsiteY31"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6938" h="1192213">
                        <a:moveTo>
                          <a:pt x="319134" y="817629"/>
                        </a:moveTo>
                        <a:cubicBezTo>
                          <a:pt x="325553" y="811212"/>
                          <a:pt x="335538" y="811212"/>
                          <a:pt x="341244" y="817629"/>
                        </a:cubicBezTo>
                        <a:cubicBezTo>
                          <a:pt x="347663" y="823332"/>
                          <a:pt x="347663" y="833314"/>
                          <a:pt x="341244" y="839730"/>
                        </a:cubicBezTo>
                        <a:cubicBezTo>
                          <a:pt x="341244" y="839730"/>
                          <a:pt x="341244" y="839730"/>
                          <a:pt x="310575" y="870387"/>
                        </a:cubicBezTo>
                        <a:cubicBezTo>
                          <a:pt x="310575" y="870387"/>
                          <a:pt x="310575" y="870387"/>
                          <a:pt x="279193" y="901757"/>
                        </a:cubicBezTo>
                        <a:cubicBezTo>
                          <a:pt x="279193" y="901757"/>
                          <a:pt x="279193" y="901757"/>
                          <a:pt x="255657" y="925997"/>
                        </a:cubicBezTo>
                        <a:cubicBezTo>
                          <a:pt x="252091" y="928849"/>
                          <a:pt x="248525" y="930275"/>
                          <a:pt x="244245" y="930275"/>
                        </a:cubicBezTo>
                        <a:cubicBezTo>
                          <a:pt x="239966" y="930275"/>
                          <a:pt x="236400" y="928849"/>
                          <a:pt x="232834" y="925997"/>
                        </a:cubicBezTo>
                        <a:cubicBezTo>
                          <a:pt x="232834" y="925997"/>
                          <a:pt x="232834" y="925997"/>
                          <a:pt x="205731" y="898192"/>
                        </a:cubicBezTo>
                        <a:cubicBezTo>
                          <a:pt x="200025" y="892489"/>
                          <a:pt x="200025" y="882507"/>
                          <a:pt x="205731" y="876091"/>
                        </a:cubicBezTo>
                        <a:cubicBezTo>
                          <a:pt x="212150" y="870387"/>
                          <a:pt x="222135" y="870387"/>
                          <a:pt x="227841" y="876091"/>
                        </a:cubicBezTo>
                        <a:lnTo>
                          <a:pt x="244245" y="892489"/>
                        </a:lnTo>
                        <a:cubicBezTo>
                          <a:pt x="244245" y="892489"/>
                          <a:pt x="244245" y="892489"/>
                          <a:pt x="277767" y="858980"/>
                        </a:cubicBezTo>
                        <a:cubicBezTo>
                          <a:pt x="277767" y="858980"/>
                          <a:pt x="277767" y="858980"/>
                          <a:pt x="305583" y="831175"/>
                        </a:cubicBezTo>
                        <a:cubicBezTo>
                          <a:pt x="305583" y="831175"/>
                          <a:pt x="305583" y="831175"/>
                          <a:pt x="319134" y="817629"/>
                        </a:cubicBezTo>
                        <a:close/>
                        <a:moveTo>
                          <a:pt x="15686" y="0"/>
                        </a:moveTo>
                        <a:cubicBezTo>
                          <a:pt x="15686" y="0"/>
                          <a:pt x="15686" y="0"/>
                          <a:pt x="272361" y="0"/>
                        </a:cubicBezTo>
                        <a:cubicBezTo>
                          <a:pt x="272361" y="0"/>
                          <a:pt x="272361" y="0"/>
                          <a:pt x="272361" y="31412"/>
                        </a:cubicBezTo>
                        <a:cubicBezTo>
                          <a:pt x="272361" y="31412"/>
                          <a:pt x="272361" y="31412"/>
                          <a:pt x="31372" y="31412"/>
                        </a:cubicBezTo>
                        <a:cubicBezTo>
                          <a:pt x="31372" y="31412"/>
                          <a:pt x="31372" y="31412"/>
                          <a:pt x="31372" y="1160802"/>
                        </a:cubicBezTo>
                        <a:cubicBezTo>
                          <a:pt x="31372" y="1160802"/>
                          <a:pt x="31372" y="1160802"/>
                          <a:pt x="865567" y="1160802"/>
                        </a:cubicBezTo>
                        <a:cubicBezTo>
                          <a:pt x="865567" y="1160802"/>
                          <a:pt x="865567" y="1160802"/>
                          <a:pt x="865567" y="31412"/>
                        </a:cubicBezTo>
                        <a:cubicBezTo>
                          <a:pt x="865567" y="31412"/>
                          <a:pt x="865567" y="31412"/>
                          <a:pt x="624577" y="31412"/>
                        </a:cubicBezTo>
                        <a:cubicBezTo>
                          <a:pt x="624577" y="31412"/>
                          <a:pt x="624577" y="31412"/>
                          <a:pt x="624577" y="0"/>
                        </a:cubicBezTo>
                        <a:cubicBezTo>
                          <a:pt x="624577" y="0"/>
                          <a:pt x="624577" y="0"/>
                          <a:pt x="881252" y="0"/>
                        </a:cubicBezTo>
                        <a:cubicBezTo>
                          <a:pt x="890521" y="0"/>
                          <a:pt x="896938" y="7139"/>
                          <a:pt x="896938" y="15706"/>
                        </a:cubicBezTo>
                        <a:cubicBezTo>
                          <a:pt x="896938" y="15706"/>
                          <a:pt x="896938" y="15706"/>
                          <a:pt x="896938" y="1176507"/>
                        </a:cubicBezTo>
                        <a:cubicBezTo>
                          <a:pt x="896938" y="1185788"/>
                          <a:pt x="890521" y="1192213"/>
                          <a:pt x="881252" y="1192213"/>
                        </a:cubicBezTo>
                        <a:cubicBezTo>
                          <a:pt x="881252" y="1192213"/>
                          <a:pt x="881252" y="1192213"/>
                          <a:pt x="15686" y="1192213"/>
                        </a:cubicBezTo>
                        <a:cubicBezTo>
                          <a:pt x="6417" y="1192213"/>
                          <a:pt x="0" y="1185788"/>
                          <a:pt x="0" y="1176507"/>
                        </a:cubicBezTo>
                        <a:cubicBezTo>
                          <a:pt x="0" y="1176507"/>
                          <a:pt x="0" y="1176507"/>
                          <a:pt x="0" y="15706"/>
                        </a:cubicBezTo>
                        <a:cubicBezTo>
                          <a:pt x="0" y="7139"/>
                          <a:pt x="6417" y="0"/>
                          <a:pt x="15686"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34" name="Freeform 20"/>
                  <p:cNvSpPr>
                    <a:spLocks/>
                  </p:cNvSpPr>
                  <p:nvPr/>
                </p:nvSpPr>
                <p:spPr bwMode="auto">
                  <a:xfrm>
                    <a:off x="5791931" y="2778124"/>
                    <a:ext cx="610668" cy="1092200"/>
                  </a:xfrm>
                  <a:custGeom>
                    <a:avLst/>
                    <a:gdLst>
                      <a:gd name="connsiteX0" fmla="*/ 295945 w 610668"/>
                      <a:gd name="connsiteY0" fmla="*/ 1050925 h 1092200"/>
                      <a:gd name="connsiteX1" fmla="*/ 580481 w 610668"/>
                      <a:gd name="connsiteY1" fmla="*/ 1050925 h 1092200"/>
                      <a:gd name="connsiteX2" fmla="*/ 596169 w 610668"/>
                      <a:gd name="connsiteY2" fmla="*/ 1066800 h 1092200"/>
                      <a:gd name="connsiteX3" fmla="*/ 580481 w 610668"/>
                      <a:gd name="connsiteY3" fmla="*/ 1082675 h 1092200"/>
                      <a:gd name="connsiteX4" fmla="*/ 295945 w 610668"/>
                      <a:gd name="connsiteY4" fmla="*/ 1082675 h 1092200"/>
                      <a:gd name="connsiteX5" fmla="*/ 280256 w 610668"/>
                      <a:gd name="connsiteY5" fmla="*/ 1066800 h 1092200"/>
                      <a:gd name="connsiteX6" fmla="*/ 295945 w 610668"/>
                      <a:gd name="connsiteY6" fmla="*/ 1050925 h 1092200"/>
                      <a:gd name="connsiteX7" fmla="*/ 295945 w 610668"/>
                      <a:gd name="connsiteY7" fmla="*/ 950913 h 1092200"/>
                      <a:gd name="connsiteX8" fmla="*/ 580481 w 610668"/>
                      <a:gd name="connsiteY8" fmla="*/ 950913 h 1092200"/>
                      <a:gd name="connsiteX9" fmla="*/ 596169 w 610668"/>
                      <a:gd name="connsiteY9" fmla="*/ 966788 h 1092200"/>
                      <a:gd name="connsiteX10" fmla="*/ 580481 w 610668"/>
                      <a:gd name="connsiteY10" fmla="*/ 982663 h 1092200"/>
                      <a:gd name="connsiteX11" fmla="*/ 295945 w 610668"/>
                      <a:gd name="connsiteY11" fmla="*/ 982663 h 1092200"/>
                      <a:gd name="connsiteX12" fmla="*/ 280256 w 610668"/>
                      <a:gd name="connsiteY12" fmla="*/ 966788 h 1092200"/>
                      <a:gd name="connsiteX13" fmla="*/ 295945 w 610668"/>
                      <a:gd name="connsiteY13" fmla="*/ 950913 h 1092200"/>
                      <a:gd name="connsiteX14" fmla="*/ 29223 w 610668"/>
                      <a:gd name="connsiteY14" fmla="*/ 939800 h 1092200"/>
                      <a:gd name="connsiteX15" fmla="*/ 121090 w 610668"/>
                      <a:gd name="connsiteY15" fmla="*/ 939800 h 1092200"/>
                      <a:gd name="connsiteX16" fmla="*/ 89756 w 610668"/>
                      <a:gd name="connsiteY16" fmla="*/ 971135 h 1092200"/>
                      <a:gd name="connsiteX17" fmla="*/ 44890 w 610668"/>
                      <a:gd name="connsiteY17" fmla="*/ 971135 h 1092200"/>
                      <a:gd name="connsiteX18" fmla="*/ 44890 w 610668"/>
                      <a:gd name="connsiteY18" fmla="*/ 1060866 h 1092200"/>
                      <a:gd name="connsiteX19" fmla="*/ 134621 w 610668"/>
                      <a:gd name="connsiteY19" fmla="*/ 1060866 h 1092200"/>
                      <a:gd name="connsiteX20" fmla="*/ 134621 w 610668"/>
                      <a:gd name="connsiteY20" fmla="*/ 1057305 h 1092200"/>
                      <a:gd name="connsiteX21" fmla="*/ 165956 w 610668"/>
                      <a:gd name="connsiteY21" fmla="*/ 1025970 h 1092200"/>
                      <a:gd name="connsiteX22" fmla="*/ 165956 w 610668"/>
                      <a:gd name="connsiteY22" fmla="*/ 1076533 h 1092200"/>
                      <a:gd name="connsiteX23" fmla="*/ 150288 w 610668"/>
                      <a:gd name="connsiteY23" fmla="*/ 1092200 h 1092200"/>
                      <a:gd name="connsiteX24" fmla="*/ 29223 w 610668"/>
                      <a:gd name="connsiteY24" fmla="*/ 1092200 h 1092200"/>
                      <a:gd name="connsiteX25" fmla="*/ 13556 w 610668"/>
                      <a:gd name="connsiteY25" fmla="*/ 1076533 h 1092200"/>
                      <a:gd name="connsiteX26" fmla="*/ 13556 w 610668"/>
                      <a:gd name="connsiteY26" fmla="*/ 955467 h 1092200"/>
                      <a:gd name="connsiteX27" fmla="*/ 29223 w 610668"/>
                      <a:gd name="connsiteY27" fmla="*/ 939800 h 1092200"/>
                      <a:gd name="connsiteX28" fmla="*/ 247192 w 610668"/>
                      <a:gd name="connsiteY28" fmla="*/ 555625 h 1092200"/>
                      <a:gd name="connsiteX29" fmla="*/ 595023 w 610668"/>
                      <a:gd name="connsiteY29" fmla="*/ 672116 h 1092200"/>
                      <a:gd name="connsiteX30" fmla="*/ 609337 w 610668"/>
                      <a:gd name="connsiteY30" fmla="*/ 702132 h 1092200"/>
                      <a:gd name="connsiteX31" fmla="*/ 598602 w 610668"/>
                      <a:gd name="connsiteY31" fmla="*/ 730719 h 1092200"/>
                      <a:gd name="connsiteX32" fmla="*/ 567826 w 610668"/>
                      <a:gd name="connsiteY32" fmla="*/ 745012 h 1092200"/>
                      <a:gd name="connsiteX33" fmla="*/ 227868 w 610668"/>
                      <a:gd name="connsiteY33" fmla="*/ 608511 h 1092200"/>
                      <a:gd name="connsiteX34" fmla="*/ 138413 w 610668"/>
                      <a:gd name="connsiteY34" fmla="*/ 348060 h 1092200"/>
                      <a:gd name="connsiteX35" fmla="*/ 269858 w 610668"/>
                      <a:gd name="connsiteY35" fmla="*/ 395923 h 1092200"/>
                      <a:gd name="connsiteX36" fmla="*/ 280574 w 610668"/>
                      <a:gd name="connsiteY36" fmla="*/ 418783 h 1092200"/>
                      <a:gd name="connsiteX37" fmla="*/ 165559 w 610668"/>
                      <a:gd name="connsiteY37" fmla="*/ 732394 h 1092200"/>
                      <a:gd name="connsiteX38" fmla="*/ 149128 w 610668"/>
                      <a:gd name="connsiteY38" fmla="*/ 744538 h 1092200"/>
                      <a:gd name="connsiteX39" fmla="*/ 142699 w 610668"/>
                      <a:gd name="connsiteY39" fmla="*/ 743109 h 1092200"/>
                      <a:gd name="connsiteX40" fmla="*/ 11254 w 610668"/>
                      <a:gd name="connsiteY40" fmla="*/ 694532 h 1092200"/>
                      <a:gd name="connsiteX41" fmla="*/ 1253 w 610668"/>
                      <a:gd name="connsiteY41" fmla="*/ 672386 h 1092200"/>
                      <a:gd name="connsiteX42" fmla="*/ 115553 w 610668"/>
                      <a:gd name="connsiteY42" fmla="*/ 358061 h 1092200"/>
                      <a:gd name="connsiteX43" fmla="*/ 138413 w 610668"/>
                      <a:gd name="connsiteY43" fmla="*/ 348060 h 1092200"/>
                      <a:gd name="connsiteX44" fmla="*/ 305297 w 610668"/>
                      <a:gd name="connsiteY44" fmla="*/ 30163 h 1092200"/>
                      <a:gd name="connsiteX45" fmla="*/ 283789 w 610668"/>
                      <a:gd name="connsiteY45" fmla="*/ 34440 h 1092200"/>
                      <a:gd name="connsiteX46" fmla="*/ 250093 w 610668"/>
                      <a:gd name="connsiteY46" fmla="*/ 65088 h 1092200"/>
                      <a:gd name="connsiteX47" fmla="*/ 361218 w 610668"/>
                      <a:gd name="connsiteY47" fmla="*/ 65088 h 1092200"/>
                      <a:gd name="connsiteX48" fmla="*/ 327522 w 610668"/>
                      <a:gd name="connsiteY48" fmla="*/ 34440 h 1092200"/>
                      <a:gd name="connsiteX49" fmla="*/ 305297 w 610668"/>
                      <a:gd name="connsiteY49" fmla="*/ 30163 h 1092200"/>
                      <a:gd name="connsiteX50" fmla="*/ 305656 w 610668"/>
                      <a:gd name="connsiteY50" fmla="*/ 0 h 1092200"/>
                      <a:gd name="connsiteX51" fmla="*/ 378243 w 610668"/>
                      <a:gd name="connsiteY51" fmla="*/ 35602 h 1092200"/>
                      <a:gd name="connsiteX52" fmla="*/ 394610 w 610668"/>
                      <a:gd name="connsiteY52" fmla="*/ 66220 h 1092200"/>
                      <a:gd name="connsiteX53" fmla="*/ 443713 w 610668"/>
                      <a:gd name="connsiteY53" fmla="*/ 66220 h 1092200"/>
                      <a:gd name="connsiteX54" fmla="*/ 450118 w 610668"/>
                      <a:gd name="connsiteY54" fmla="*/ 73340 h 1092200"/>
                      <a:gd name="connsiteX55" fmla="*/ 450118 w 610668"/>
                      <a:gd name="connsiteY55" fmla="*/ 113927 h 1092200"/>
                      <a:gd name="connsiteX56" fmla="*/ 450118 w 610668"/>
                      <a:gd name="connsiteY56" fmla="*/ 145256 h 1092200"/>
                      <a:gd name="connsiteX57" fmla="*/ 450118 w 610668"/>
                      <a:gd name="connsiteY57" fmla="*/ 178010 h 1092200"/>
                      <a:gd name="connsiteX58" fmla="*/ 435174 w 610668"/>
                      <a:gd name="connsiteY58" fmla="*/ 193675 h 1092200"/>
                      <a:gd name="connsiteX59" fmla="*/ 176849 w 610668"/>
                      <a:gd name="connsiteY59" fmla="*/ 193675 h 1092200"/>
                      <a:gd name="connsiteX60" fmla="*/ 161193 w 610668"/>
                      <a:gd name="connsiteY60" fmla="*/ 178010 h 1092200"/>
                      <a:gd name="connsiteX61" fmla="*/ 161193 w 610668"/>
                      <a:gd name="connsiteY61" fmla="*/ 145256 h 1092200"/>
                      <a:gd name="connsiteX62" fmla="*/ 161193 w 610668"/>
                      <a:gd name="connsiteY62" fmla="*/ 113927 h 1092200"/>
                      <a:gd name="connsiteX63" fmla="*/ 161193 w 610668"/>
                      <a:gd name="connsiteY63" fmla="*/ 73340 h 1092200"/>
                      <a:gd name="connsiteX64" fmla="*/ 168310 w 610668"/>
                      <a:gd name="connsiteY64" fmla="*/ 66220 h 1092200"/>
                      <a:gd name="connsiteX65" fmla="*/ 217413 w 610668"/>
                      <a:gd name="connsiteY65" fmla="*/ 66220 h 1092200"/>
                      <a:gd name="connsiteX66" fmla="*/ 233069 w 610668"/>
                      <a:gd name="connsiteY66" fmla="*/ 35602 h 1092200"/>
                      <a:gd name="connsiteX67" fmla="*/ 305656 w 610668"/>
                      <a:gd name="connsiteY67"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0668" h="1092200">
                        <a:moveTo>
                          <a:pt x="295945" y="1050925"/>
                        </a:moveTo>
                        <a:cubicBezTo>
                          <a:pt x="295945" y="1050925"/>
                          <a:pt x="295945" y="1050925"/>
                          <a:pt x="580481" y="1050925"/>
                        </a:cubicBezTo>
                        <a:cubicBezTo>
                          <a:pt x="589038" y="1050925"/>
                          <a:pt x="596169" y="1057419"/>
                          <a:pt x="596169" y="1066800"/>
                        </a:cubicBezTo>
                        <a:cubicBezTo>
                          <a:pt x="596169" y="1075459"/>
                          <a:pt x="589038" y="1082675"/>
                          <a:pt x="580481" y="1082675"/>
                        </a:cubicBezTo>
                        <a:cubicBezTo>
                          <a:pt x="580481" y="1082675"/>
                          <a:pt x="580481" y="1082675"/>
                          <a:pt x="295945" y="1082675"/>
                        </a:cubicBezTo>
                        <a:cubicBezTo>
                          <a:pt x="287387" y="1082675"/>
                          <a:pt x="280256" y="1075459"/>
                          <a:pt x="280256" y="1066800"/>
                        </a:cubicBezTo>
                        <a:cubicBezTo>
                          <a:pt x="280256" y="1057419"/>
                          <a:pt x="287387" y="1050925"/>
                          <a:pt x="295945" y="1050925"/>
                        </a:cubicBezTo>
                        <a:close/>
                        <a:moveTo>
                          <a:pt x="295945" y="950913"/>
                        </a:moveTo>
                        <a:cubicBezTo>
                          <a:pt x="295945" y="950913"/>
                          <a:pt x="295945" y="950913"/>
                          <a:pt x="580481" y="950913"/>
                        </a:cubicBezTo>
                        <a:cubicBezTo>
                          <a:pt x="589038" y="950913"/>
                          <a:pt x="596169" y="958129"/>
                          <a:pt x="596169" y="966788"/>
                        </a:cubicBezTo>
                        <a:cubicBezTo>
                          <a:pt x="596169" y="975447"/>
                          <a:pt x="589038" y="982663"/>
                          <a:pt x="580481" y="982663"/>
                        </a:cubicBezTo>
                        <a:cubicBezTo>
                          <a:pt x="580481" y="982663"/>
                          <a:pt x="580481" y="982663"/>
                          <a:pt x="295945" y="982663"/>
                        </a:cubicBezTo>
                        <a:cubicBezTo>
                          <a:pt x="287387" y="982663"/>
                          <a:pt x="280256" y="975447"/>
                          <a:pt x="280256" y="966788"/>
                        </a:cubicBezTo>
                        <a:cubicBezTo>
                          <a:pt x="280256" y="958129"/>
                          <a:pt x="287387" y="950913"/>
                          <a:pt x="295945" y="950913"/>
                        </a:cubicBezTo>
                        <a:close/>
                        <a:moveTo>
                          <a:pt x="29223" y="939800"/>
                        </a:moveTo>
                        <a:cubicBezTo>
                          <a:pt x="29223" y="939800"/>
                          <a:pt x="29223" y="939800"/>
                          <a:pt x="121090" y="939800"/>
                        </a:cubicBezTo>
                        <a:cubicBezTo>
                          <a:pt x="121090" y="939800"/>
                          <a:pt x="121090" y="939800"/>
                          <a:pt x="89756" y="971135"/>
                        </a:cubicBezTo>
                        <a:lnTo>
                          <a:pt x="44890" y="971135"/>
                        </a:lnTo>
                        <a:cubicBezTo>
                          <a:pt x="44890" y="971135"/>
                          <a:pt x="44890" y="971135"/>
                          <a:pt x="44890" y="1060866"/>
                        </a:cubicBezTo>
                        <a:cubicBezTo>
                          <a:pt x="44890" y="1060866"/>
                          <a:pt x="44890" y="1060866"/>
                          <a:pt x="134621" y="1060866"/>
                        </a:cubicBezTo>
                        <a:cubicBezTo>
                          <a:pt x="134621" y="1060866"/>
                          <a:pt x="134621" y="1060866"/>
                          <a:pt x="134621" y="1057305"/>
                        </a:cubicBezTo>
                        <a:cubicBezTo>
                          <a:pt x="134621" y="1057305"/>
                          <a:pt x="134621" y="1057305"/>
                          <a:pt x="165956" y="1025970"/>
                        </a:cubicBezTo>
                        <a:cubicBezTo>
                          <a:pt x="165956" y="1025970"/>
                          <a:pt x="165956" y="1025970"/>
                          <a:pt x="165956" y="1076533"/>
                        </a:cubicBezTo>
                        <a:cubicBezTo>
                          <a:pt x="165956" y="1085079"/>
                          <a:pt x="159546" y="1092200"/>
                          <a:pt x="150288" y="1092200"/>
                        </a:cubicBezTo>
                        <a:cubicBezTo>
                          <a:pt x="150288" y="1092200"/>
                          <a:pt x="150288" y="1092200"/>
                          <a:pt x="29223" y="1092200"/>
                        </a:cubicBezTo>
                        <a:cubicBezTo>
                          <a:pt x="20677" y="1092200"/>
                          <a:pt x="13556" y="1085079"/>
                          <a:pt x="13556" y="1076533"/>
                        </a:cubicBezTo>
                        <a:cubicBezTo>
                          <a:pt x="13556" y="1076533"/>
                          <a:pt x="13556" y="1076533"/>
                          <a:pt x="13556" y="955467"/>
                        </a:cubicBezTo>
                        <a:cubicBezTo>
                          <a:pt x="13556" y="946922"/>
                          <a:pt x="20677" y="939800"/>
                          <a:pt x="29223" y="939800"/>
                        </a:cubicBezTo>
                        <a:close/>
                        <a:moveTo>
                          <a:pt x="247192" y="555625"/>
                        </a:moveTo>
                        <a:cubicBezTo>
                          <a:pt x="247192" y="555625"/>
                          <a:pt x="247192" y="555625"/>
                          <a:pt x="595023" y="672116"/>
                        </a:cubicBezTo>
                        <a:cubicBezTo>
                          <a:pt x="607190" y="676404"/>
                          <a:pt x="613631" y="689983"/>
                          <a:pt x="609337" y="702132"/>
                        </a:cubicBezTo>
                        <a:cubicBezTo>
                          <a:pt x="609337" y="702132"/>
                          <a:pt x="609337" y="702132"/>
                          <a:pt x="598602" y="730719"/>
                        </a:cubicBezTo>
                        <a:cubicBezTo>
                          <a:pt x="594307" y="743583"/>
                          <a:pt x="579993" y="749300"/>
                          <a:pt x="567826" y="745012"/>
                        </a:cubicBezTo>
                        <a:cubicBezTo>
                          <a:pt x="567826" y="745012"/>
                          <a:pt x="567826" y="745012"/>
                          <a:pt x="227868" y="608511"/>
                        </a:cubicBezTo>
                        <a:close/>
                        <a:moveTo>
                          <a:pt x="138413" y="348060"/>
                        </a:moveTo>
                        <a:cubicBezTo>
                          <a:pt x="138413" y="348060"/>
                          <a:pt x="138413" y="348060"/>
                          <a:pt x="269858" y="395923"/>
                        </a:cubicBezTo>
                        <a:cubicBezTo>
                          <a:pt x="279145" y="399495"/>
                          <a:pt x="283431" y="409496"/>
                          <a:pt x="280574" y="418783"/>
                        </a:cubicBezTo>
                        <a:cubicBezTo>
                          <a:pt x="280574" y="418783"/>
                          <a:pt x="280574" y="418783"/>
                          <a:pt x="165559" y="732394"/>
                        </a:cubicBezTo>
                        <a:cubicBezTo>
                          <a:pt x="162702" y="739538"/>
                          <a:pt x="156272" y="744538"/>
                          <a:pt x="149128" y="744538"/>
                        </a:cubicBezTo>
                        <a:cubicBezTo>
                          <a:pt x="146985" y="744538"/>
                          <a:pt x="144842" y="743824"/>
                          <a:pt x="142699" y="743109"/>
                        </a:cubicBezTo>
                        <a:cubicBezTo>
                          <a:pt x="142699" y="743109"/>
                          <a:pt x="142699" y="743109"/>
                          <a:pt x="11254" y="694532"/>
                        </a:cubicBezTo>
                        <a:cubicBezTo>
                          <a:pt x="1967" y="691674"/>
                          <a:pt x="-2319" y="681673"/>
                          <a:pt x="1253" y="672386"/>
                        </a:cubicBezTo>
                        <a:cubicBezTo>
                          <a:pt x="1253" y="672386"/>
                          <a:pt x="1253" y="672386"/>
                          <a:pt x="115553" y="358061"/>
                        </a:cubicBezTo>
                        <a:cubicBezTo>
                          <a:pt x="119125" y="349489"/>
                          <a:pt x="129126" y="344488"/>
                          <a:pt x="138413" y="348060"/>
                        </a:cubicBezTo>
                        <a:close/>
                        <a:moveTo>
                          <a:pt x="305297" y="30163"/>
                        </a:moveTo>
                        <a:cubicBezTo>
                          <a:pt x="298128" y="30163"/>
                          <a:pt x="290242" y="31589"/>
                          <a:pt x="283789" y="34440"/>
                        </a:cubicBezTo>
                        <a:cubicBezTo>
                          <a:pt x="268734" y="39429"/>
                          <a:pt x="256546" y="50833"/>
                          <a:pt x="250093" y="65088"/>
                        </a:cubicBezTo>
                        <a:cubicBezTo>
                          <a:pt x="250093" y="65088"/>
                          <a:pt x="250093" y="65088"/>
                          <a:pt x="361218" y="65088"/>
                        </a:cubicBezTo>
                        <a:cubicBezTo>
                          <a:pt x="354049" y="50833"/>
                          <a:pt x="341861" y="39429"/>
                          <a:pt x="327522" y="34440"/>
                        </a:cubicBezTo>
                        <a:cubicBezTo>
                          <a:pt x="320353" y="31589"/>
                          <a:pt x="313184" y="30163"/>
                          <a:pt x="305297" y="30163"/>
                        </a:cubicBezTo>
                        <a:close/>
                        <a:moveTo>
                          <a:pt x="305656" y="0"/>
                        </a:moveTo>
                        <a:cubicBezTo>
                          <a:pt x="335545" y="0"/>
                          <a:pt x="361164" y="13529"/>
                          <a:pt x="378243" y="35602"/>
                        </a:cubicBezTo>
                        <a:cubicBezTo>
                          <a:pt x="385359" y="44147"/>
                          <a:pt x="391052" y="54827"/>
                          <a:pt x="394610" y="66220"/>
                        </a:cubicBezTo>
                        <a:cubicBezTo>
                          <a:pt x="394610" y="66220"/>
                          <a:pt x="394610" y="66220"/>
                          <a:pt x="443713" y="66220"/>
                        </a:cubicBezTo>
                        <a:cubicBezTo>
                          <a:pt x="447272" y="66220"/>
                          <a:pt x="450118" y="69068"/>
                          <a:pt x="450118" y="73340"/>
                        </a:cubicBezTo>
                        <a:cubicBezTo>
                          <a:pt x="450118" y="73340"/>
                          <a:pt x="450118" y="73340"/>
                          <a:pt x="450118" y="113927"/>
                        </a:cubicBezTo>
                        <a:cubicBezTo>
                          <a:pt x="450118" y="113927"/>
                          <a:pt x="450118" y="113927"/>
                          <a:pt x="450118" y="145256"/>
                        </a:cubicBezTo>
                        <a:cubicBezTo>
                          <a:pt x="450118" y="145256"/>
                          <a:pt x="450118" y="145256"/>
                          <a:pt x="450118" y="178010"/>
                        </a:cubicBezTo>
                        <a:cubicBezTo>
                          <a:pt x="450118" y="186555"/>
                          <a:pt x="443713" y="193675"/>
                          <a:pt x="435174" y="193675"/>
                        </a:cubicBezTo>
                        <a:lnTo>
                          <a:pt x="176849" y="193675"/>
                        </a:lnTo>
                        <a:cubicBezTo>
                          <a:pt x="168310" y="193675"/>
                          <a:pt x="161193" y="186555"/>
                          <a:pt x="161193" y="178010"/>
                        </a:cubicBezTo>
                        <a:cubicBezTo>
                          <a:pt x="161193" y="178010"/>
                          <a:pt x="161193" y="178010"/>
                          <a:pt x="161193" y="145256"/>
                        </a:cubicBezTo>
                        <a:cubicBezTo>
                          <a:pt x="161193" y="145256"/>
                          <a:pt x="161193" y="145256"/>
                          <a:pt x="161193" y="113927"/>
                        </a:cubicBezTo>
                        <a:cubicBezTo>
                          <a:pt x="161193" y="113927"/>
                          <a:pt x="161193" y="113927"/>
                          <a:pt x="161193" y="73340"/>
                        </a:cubicBezTo>
                        <a:cubicBezTo>
                          <a:pt x="161193" y="69068"/>
                          <a:pt x="164751" y="66220"/>
                          <a:pt x="168310" y="66220"/>
                        </a:cubicBezTo>
                        <a:cubicBezTo>
                          <a:pt x="168310" y="66220"/>
                          <a:pt x="168310" y="66220"/>
                          <a:pt x="217413" y="66220"/>
                        </a:cubicBezTo>
                        <a:cubicBezTo>
                          <a:pt x="220971" y="54827"/>
                          <a:pt x="225952" y="44147"/>
                          <a:pt x="233069" y="35602"/>
                        </a:cubicBezTo>
                        <a:cubicBezTo>
                          <a:pt x="250148" y="13529"/>
                          <a:pt x="276479" y="0"/>
                          <a:pt x="30565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35" name="Grupo 164"/>
            <p:cNvGrpSpPr/>
            <p:nvPr/>
          </p:nvGrpSpPr>
          <p:grpSpPr>
            <a:xfrm>
              <a:off x="4482311" y="1494503"/>
              <a:ext cx="972002" cy="1122694"/>
              <a:chOff x="3915491" y="1669461"/>
              <a:chExt cx="1047299" cy="1122694"/>
            </a:xfrm>
          </p:grpSpPr>
          <p:sp>
            <p:nvSpPr>
              <p:cNvPr id="136" name="Rectangle: Rounded Corners 210"/>
              <p:cNvSpPr/>
              <p:nvPr/>
            </p:nvSpPr>
            <p:spPr>
              <a:xfrm>
                <a:off x="39804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Seguridad</a:t>
                </a:r>
              </a:p>
            </p:txBody>
          </p:sp>
          <p:sp>
            <p:nvSpPr>
              <p:cNvPr id="137" name="Oval 20"/>
              <p:cNvSpPr>
                <a:spLocks noChangeAspect="1" noChangeArrowheads="1"/>
              </p:cNvSpPr>
              <p:nvPr/>
            </p:nvSpPr>
            <p:spPr bwMode="auto">
              <a:xfrm>
                <a:off x="39154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7</a:t>
                </a:r>
              </a:p>
            </p:txBody>
          </p:sp>
          <p:grpSp>
            <p:nvGrpSpPr>
              <p:cNvPr id="138" name="bcgIcons_Hard Hat "/>
              <p:cNvGrpSpPr>
                <a:grpSpLocks noChangeAspect="1"/>
              </p:cNvGrpSpPr>
              <p:nvPr/>
            </p:nvGrpSpPr>
            <p:grpSpPr>
              <a:xfrm>
                <a:off x="4262191" y="1827711"/>
                <a:ext cx="418857" cy="418454"/>
                <a:chOff x="5273675" y="2606675"/>
                <a:chExt cx="1646238" cy="1644650"/>
              </a:xfrm>
            </p:grpSpPr>
            <p:sp>
              <p:nvSpPr>
                <p:cNvPr id="139" name="AutoShape 3"/>
                <p:cNvSpPr>
                  <a:spLocks noChangeAspect="1"/>
                </p:cNvSpPr>
                <p:nvPr/>
              </p:nvSpPr>
              <p:spPr bwMode="auto">
                <a:xfrm>
                  <a:off x="5273675"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0" name="Group 244"/>
                <p:cNvGrpSpPr>
                  <a:grpSpLocks/>
                </p:cNvGrpSpPr>
                <p:nvPr/>
              </p:nvGrpSpPr>
              <p:grpSpPr>
                <a:xfrm>
                  <a:off x="5346700" y="3022600"/>
                  <a:ext cx="1514475" cy="755650"/>
                  <a:chOff x="5346700" y="3022600"/>
                  <a:chExt cx="1514475" cy="755650"/>
                </a:xfrm>
              </p:grpSpPr>
              <p:sp>
                <p:nvSpPr>
                  <p:cNvPr id="141" name="Freeform 13"/>
                  <p:cNvSpPr>
                    <a:spLocks/>
                  </p:cNvSpPr>
                  <p:nvPr/>
                </p:nvSpPr>
                <p:spPr bwMode="auto">
                  <a:xfrm>
                    <a:off x="5410200" y="3084513"/>
                    <a:ext cx="1374775" cy="631825"/>
                  </a:xfrm>
                  <a:custGeom>
                    <a:avLst/>
                    <a:gdLst>
                      <a:gd name="connsiteX0" fmla="*/ 56420 w 1374775"/>
                      <a:gd name="connsiteY0" fmla="*/ 561975 h 631825"/>
                      <a:gd name="connsiteX1" fmla="*/ 1081966 w 1374775"/>
                      <a:gd name="connsiteY1" fmla="*/ 561975 h 631825"/>
                      <a:gd name="connsiteX2" fmla="*/ 1082680 w 1374775"/>
                      <a:gd name="connsiteY2" fmla="*/ 561975 h 631825"/>
                      <a:gd name="connsiteX3" fmla="*/ 1093393 w 1374775"/>
                      <a:gd name="connsiteY3" fmla="*/ 569103 h 631825"/>
                      <a:gd name="connsiteX4" fmla="*/ 1354064 w 1374775"/>
                      <a:gd name="connsiteY4" fmla="*/ 619708 h 631825"/>
                      <a:gd name="connsiteX5" fmla="*/ 1374775 w 1374775"/>
                      <a:gd name="connsiteY5" fmla="*/ 631825 h 631825"/>
                      <a:gd name="connsiteX6" fmla="*/ 9284 w 1374775"/>
                      <a:gd name="connsiteY6" fmla="*/ 631825 h 631825"/>
                      <a:gd name="connsiteX7" fmla="*/ 0 w 1374775"/>
                      <a:gd name="connsiteY7" fmla="*/ 622559 h 631825"/>
                      <a:gd name="connsiteX8" fmla="*/ 0 w 1374775"/>
                      <a:gd name="connsiteY8" fmla="*/ 602602 h 631825"/>
                      <a:gd name="connsiteX9" fmla="*/ 9284 w 1374775"/>
                      <a:gd name="connsiteY9" fmla="*/ 593336 h 631825"/>
                      <a:gd name="connsiteX10" fmla="*/ 40707 w 1374775"/>
                      <a:gd name="connsiteY10" fmla="*/ 593336 h 631825"/>
                      <a:gd name="connsiteX11" fmla="*/ 56420 w 1374775"/>
                      <a:gd name="connsiteY11" fmla="*/ 577656 h 631825"/>
                      <a:gd name="connsiteX12" fmla="*/ 56420 w 1374775"/>
                      <a:gd name="connsiteY12" fmla="*/ 561975 h 631825"/>
                      <a:gd name="connsiteX13" fmla="*/ 601854 w 1374775"/>
                      <a:gd name="connsiteY13" fmla="*/ 0 h 631825"/>
                      <a:gd name="connsiteX14" fmla="*/ 917902 w 1374775"/>
                      <a:gd name="connsiteY14" fmla="*/ 99328 h 631825"/>
                      <a:gd name="connsiteX15" fmla="*/ 900741 w 1374775"/>
                      <a:gd name="connsiteY15" fmla="*/ 127197 h 631825"/>
                      <a:gd name="connsiteX16" fmla="*/ 611150 w 1374775"/>
                      <a:gd name="connsiteY16" fmla="*/ 40017 h 631825"/>
                      <a:gd name="connsiteX17" fmla="*/ 610435 w 1374775"/>
                      <a:gd name="connsiteY17" fmla="*/ 40017 h 631825"/>
                      <a:gd name="connsiteX18" fmla="*/ 307973 w 1374775"/>
                      <a:gd name="connsiteY18" fmla="*/ 124339 h 631825"/>
                      <a:gd name="connsiteX19" fmla="*/ 302252 w 1374775"/>
                      <a:gd name="connsiteY19" fmla="*/ 145776 h 631825"/>
                      <a:gd name="connsiteX20" fmla="*/ 323703 w 1374775"/>
                      <a:gd name="connsiteY20" fmla="*/ 151493 h 631825"/>
                      <a:gd name="connsiteX21" fmla="*/ 610435 w 1374775"/>
                      <a:gd name="connsiteY21" fmla="*/ 71459 h 631825"/>
                      <a:gd name="connsiteX22" fmla="*/ 611150 w 1374775"/>
                      <a:gd name="connsiteY22" fmla="*/ 71459 h 631825"/>
                      <a:gd name="connsiteX23" fmla="*/ 934348 w 1374775"/>
                      <a:gd name="connsiteY23" fmla="*/ 190795 h 631825"/>
                      <a:gd name="connsiteX24" fmla="*/ 1079501 w 1374775"/>
                      <a:gd name="connsiteY24" fmla="*/ 530225 h 631825"/>
                      <a:gd name="connsiteX25" fmla="*/ 55563 w 1374775"/>
                      <a:gd name="connsiteY25" fmla="*/ 530225 h 631825"/>
                      <a:gd name="connsiteX26" fmla="*/ 601854 w 1374775"/>
                      <a:gd name="connsiteY26" fmla="*/ 0 h 63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74775" h="631825">
                        <a:moveTo>
                          <a:pt x="56420" y="561975"/>
                        </a:moveTo>
                        <a:cubicBezTo>
                          <a:pt x="56420" y="561975"/>
                          <a:pt x="56420" y="561975"/>
                          <a:pt x="1081966" y="561975"/>
                        </a:cubicBezTo>
                        <a:cubicBezTo>
                          <a:pt x="1082680" y="561975"/>
                          <a:pt x="1082680" y="561975"/>
                          <a:pt x="1082680" y="561975"/>
                        </a:cubicBezTo>
                        <a:cubicBezTo>
                          <a:pt x="1085537" y="565539"/>
                          <a:pt x="1089108" y="568390"/>
                          <a:pt x="1093393" y="569103"/>
                        </a:cubicBezTo>
                        <a:cubicBezTo>
                          <a:pt x="1093393" y="569103"/>
                          <a:pt x="1093393" y="569103"/>
                          <a:pt x="1354064" y="619708"/>
                        </a:cubicBezTo>
                        <a:cubicBezTo>
                          <a:pt x="1361920" y="621847"/>
                          <a:pt x="1369062" y="626123"/>
                          <a:pt x="1374775" y="631825"/>
                        </a:cubicBezTo>
                        <a:cubicBezTo>
                          <a:pt x="1374775" y="631825"/>
                          <a:pt x="1374775" y="631825"/>
                          <a:pt x="9284" y="631825"/>
                        </a:cubicBezTo>
                        <a:cubicBezTo>
                          <a:pt x="4285" y="631825"/>
                          <a:pt x="0" y="627549"/>
                          <a:pt x="0" y="622559"/>
                        </a:cubicBezTo>
                        <a:cubicBezTo>
                          <a:pt x="0" y="622559"/>
                          <a:pt x="0" y="622559"/>
                          <a:pt x="0" y="602602"/>
                        </a:cubicBezTo>
                        <a:cubicBezTo>
                          <a:pt x="0" y="597613"/>
                          <a:pt x="4285" y="593336"/>
                          <a:pt x="9284" y="593336"/>
                        </a:cubicBezTo>
                        <a:cubicBezTo>
                          <a:pt x="9284" y="593336"/>
                          <a:pt x="9284" y="593336"/>
                          <a:pt x="40707" y="593336"/>
                        </a:cubicBezTo>
                        <a:cubicBezTo>
                          <a:pt x="49277" y="593336"/>
                          <a:pt x="56420" y="586209"/>
                          <a:pt x="56420" y="577656"/>
                        </a:cubicBezTo>
                        <a:cubicBezTo>
                          <a:pt x="56420" y="577656"/>
                          <a:pt x="56420" y="577656"/>
                          <a:pt x="56420" y="561975"/>
                        </a:cubicBezTo>
                        <a:close/>
                        <a:moveTo>
                          <a:pt x="601854" y="0"/>
                        </a:moveTo>
                        <a:cubicBezTo>
                          <a:pt x="714116" y="0"/>
                          <a:pt x="825662" y="35015"/>
                          <a:pt x="917902" y="99328"/>
                        </a:cubicBezTo>
                        <a:cubicBezTo>
                          <a:pt x="917902" y="99328"/>
                          <a:pt x="917902" y="99328"/>
                          <a:pt x="900741" y="127197"/>
                        </a:cubicBezTo>
                        <a:cubicBezTo>
                          <a:pt x="813506" y="70030"/>
                          <a:pt x="714831" y="40017"/>
                          <a:pt x="611150" y="40017"/>
                        </a:cubicBezTo>
                        <a:cubicBezTo>
                          <a:pt x="611150" y="40017"/>
                          <a:pt x="610435" y="40017"/>
                          <a:pt x="610435" y="40017"/>
                        </a:cubicBezTo>
                        <a:cubicBezTo>
                          <a:pt x="506754" y="40017"/>
                          <a:pt x="402358" y="69315"/>
                          <a:pt x="307973" y="124339"/>
                        </a:cubicBezTo>
                        <a:cubicBezTo>
                          <a:pt x="300107" y="128626"/>
                          <a:pt x="297247" y="137916"/>
                          <a:pt x="302252" y="145776"/>
                        </a:cubicBezTo>
                        <a:cubicBezTo>
                          <a:pt x="306542" y="152922"/>
                          <a:pt x="315838" y="155781"/>
                          <a:pt x="323703" y="151493"/>
                        </a:cubicBezTo>
                        <a:cubicBezTo>
                          <a:pt x="413083" y="99328"/>
                          <a:pt x="512474" y="71459"/>
                          <a:pt x="610435" y="71459"/>
                        </a:cubicBezTo>
                        <a:cubicBezTo>
                          <a:pt x="610435" y="71459"/>
                          <a:pt x="611150" y="71459"/>
                          <a:pt x="611150" y="71459"/>
                        </a:cubicBezTo>
                        <a:cubicBezTo>
                          <a:pt x="729131" y="71459"/>
                          <a:pt x="841393" y="112905"/>
                          <a:pt x="934348" y="190795"/>
                        </a:cubicBezTo>
                        <a:cubicBezTo>
                          <a:pt x="1022298" y="290123"/>
                          <a:pt x="1070921" y="404457"/>
                          <a:pt x="1079501" y="530225"/>
                        </a:cubicBezTo>
                        <a:cubicBezTo>
                          <a:pt x="1079501" y="530225"/>
                          <a:pt x="1079501" y="530225"/>
                          <a:pt x="55563" y="530225"/>
                        </a:cubicBezTo>
                        <a:cubicBezTo>
                          <a:pt x="64144" y="236529"/>
                          <a:pt x="305827" y="0"/>
                          <a:pt x="601854"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42" name="Freeform 7"/>
                  <p:cNvSpPr>
                    <a:spLocks/>
                  </p:cNvSpPr>
                  <p:nvPr/>
                </p:nvSpPr>
                <p:spPr bwMode="auto">
                  <a:xfrm>
                    <a:off x="5346700" y="3022600"/>
                    <a:ext cx="1514475" cy="755650"/>
                  </a:xfrm>
                  <a:custGeom>
                    <a:avLst/>
                    <a:gdLst>
                      <a:gd name="T0" fmla="*/ 2003 w 2120"/>
                      <a:gd name="T1" fmla="*/ 869 h 1060"/>
                      <a:gd name="T2" fmla="*/ 1445 w 2120"/>
                      <a:gd name="T3" fmla="*/ 278 h 1060"/>
                      <a:gd name="T4" fmla="*/ 1474 w 2120"/>
                      <a:gd name="T5" fmla="*/ 194 h 1060"/>
                      <a:gd name="T6" fmla="*/ 79 w 2120"/>
                      <a:gd name="T7" fmla="*/ 833 h 1060"/>
                      <a:gd name="T8" fmla="*/ 0 w 2120"/>
                      <a:gd name="T9" fmla="*/ 959 h 1060"/>
                      <a:gd name="T10" fmla="*/ 2098 w 2120"/>
                      <a:gd name="T11" fmla="*/ 1060 h 1060"/>
                      <a:gd name="T12" fmla="*/ 2120 w 2120"/>
                      <a:gd name="T13" fmla="*/ 1018 h 1060"/>
                      <a:gd name="T14" fmla="*/ 2050 w 2120"/>
                      <a:gd name="T15" fmla="*/ 1016 h 1060"/>
                      <a:gd name="T16" fmla="*/ 44 w 2120"/>
                      <a:gd name="T17" fmla="*/ 959 h 1060"/>
                      <a:gd name="T18" fmla="*/ 101 w 2120"/>
                      <a:gd name="T19" fmla="*/ 874 h 1060"/>
                      <a:gd name="T20" fmla="*/ 931 w 2120"/>
                      <a:gd name="T21" fmla="*/ 44 h 1060"/>
                      <a:gd name="T22" fmla="*/ 960 w 2120"/>
                      <a:gd name="T23" fmla="*/ 44 h 1060"/>
                      <a:gd name="T24" fmla="*/ 1386 w 2120"/>
                      <a:gd name="T25" fmla="*/ 183 h 1060"/>
                      <a:gd name="T26" fmla="*/ 1397 w 2120"/>
                      <a:gd name="T27" fmla="*/ 191 h 1060"/>
                      <a:gd name="T28" fmla="*/ 1409 w 2120"/>
                      <a:gd name="T29" fmla="*/ 200 h 1060"/>
                      <a:gd name="T30" fmla="*/ 1431 w 2120"/>
                      <a:gd name="T31" fmla="*/ 216 h 1060"/>
                      <a:gd name="T32" fmla="*/ 1398 w 2120"/>
                      <a:gd name="T33" fmla="*/ 270 h 1060"/>
                      <a:gd name="T34" fmla="*/ 1401 w 2120"/>
                      <a:gd name="T35" fmla="*/ 296 h 1060"/>
                      <a:gd name="T36" fmla="*/ 1428 w 2120"/>
                      <a:gd name="T37" fmla="*/ 326 h 1060"/>
                      <a:gd name="T38" fmla="*/ 1429 w 2120"/>
                      <a:gd name="T39" fmla="*/ 326 h 1060"/>
                      <a:gd name="T40" fmla="*/ 1531 w 2120"/>
                      <a:gd name="T41" fmla="*/ 465 h 1060"/>
                      <a:gd name="T42" fmla="*/ 1643 w 2120"/>
                      <a:gd name="T43" fmla="*/ 827 h 1060"/>
                      <a:gd name="T44" fmla="*/ 1661 w 2120"/>
                      <a:gd name="T45" fmla="*/ 848 h 1060"/>
                      <a:gd name="T46" fmla="*/ 1994 w 2120"/>
                      <a:gd name="T47" fmla="*/ 912 h 1060"/>
                      <a:gd name="T48" fmla="*/ 2003 w 2120"/>
                      <a:gd name="T49" fmla="*/ 914 h 1060"/>
                      <a:gd name="T50" fmla="*/ 2010 w 2120"/>
                      <a:gd name="T51" fmla="*/ 917 h 1060"/>
                      <a:gd name="T52" fmla="*/ 2017 w 2120"/>
                      <a:gd name="T53" fmla="*/ 921 h 1060"/>
                      <a:gd name="T54" fmla="*/ 2022 w 2120"/>
                      <a:gd name="T55" fmla="*/ 924 h 1060"/>
                      <a:gd name="T56" fmla="*/ 2061 w 2120"/>
                      <a:gd name="T57" fmla="*/ 963 h 1060"/>
                      <a:gd name="T58" fmla="*/ 2065 w 2120"/>
                      <a:gd name="T59" fmla="*/ 971 h 1060"/>
                      <a:gd name="T60" fmla="*/ 2069 w 2120"/>
                      <a:gd name="T61" fmla="*/ 980 h 1060"/>
                      <a:gd name="T62" fmla="*/ 2072 w 2120"/>
                      <a:gd name="T63" fmla="*/ 989 h 1060"/>
                      <a:gd name="T64" fmla="*/ 2050 w 2120"/>
                      <a:gd name="T65" fmla="*/ 1016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20" h="1060">
                        <a:moveTo>
                          <a:pt x="2005" y="869"/>
                        </a:moveTo>
                        <a:cubicBezTo>
                          <a:pt x="2004" y="869"/>
                          <a:pt x="2004" y="869"/>
                          <a:pt x="2003" y="869"/>
                        </a:cubicBezTo>
                        <a:cubicBezTo>
                          <a:pt x="1686" y="808"/>
                          <a:pt x="1686" y="808"/>
                          <a:pt x="1686" y="808"/>
                        </a:cubicBezTo>
                        <a:cubicBezTo>
                          <a:pt x="1669" y="609"/>
                          <a:pt x="1588" y="432"/>
                          <a:pt x="1445" y="278"/>
                        </a:cubicBezTo>
                        <a:cubicBezTo>
                          <a:pt x="1479" y="223"/>
                          <a:pt x="1479" y="223"/>
                          <a:pt x="1479" y="223"/>
                        </a:cubicBezTo>
                        <a:cubicBezTo>
                          <a:pt x="1484" y="213"/>
                          <a:pt x="1482" y="201"/>
                          <a:pt x="1474" y="194"/>
                        </a:cubicBezTo>
                        <a:cubicBezTo>
                          <a:pt x="1322" y="69"/>
                          <a:pt x="1129" y="0"/>
                          <a:pt x="931" y="0"/>
                        </a:cubicBezTo>
                        <a:cubicBezTo>
                          <a:pt x="468" y="0"/>
                          <a:pt x="89" y="371"/>
                          <a:pt x="79" y="833"/>
                        </a:cubicBezTo>
                        <a:cubicBezTo>
                          <a:pt x="34" y="843"/>
                          <a:pt x="0" y="883"/>
                          <a:pt x="0" y="931"/>
                        </a:cubicBezTo>
                        <a:cubicBezTo>
                          <a:pt x="0" y="959"/>
                          <a:pt x="0" y="959"/>
                          <a:pt x="0" y="959"/>
                        </a:cubicBezTo>
                        <a:cubicBezTo>
                          <a:pt x="0" y="1015"/>
                          <a:pt x="45" y="1060"/>
                          <a:pt x="101" y="1060"/>
                        </a:cubicBezTo>
                        <a:cubicBezTo>
                          <a:pt x="2098" y="1060"/>
                          <a:pt x="2098" y="1060"/>
                          <a:pt x="2098" y="1060"/>
                        </a:cubicBezTo>
                        <a:cubicBezTo>
                          <a:pt x="2110" y="1060"/>
                          <a:pt x="2120" y="1050"/>
                          <a:pt x="2120" y="1038"/>
                        </a:cubicBezTo>
                        <a:cubicBezTo>
                          <a:pt x="2120" y="1018"/>
                          <a:pt x="2120" y="1018"/>
                          <a:pt x="2120" y="1018"/>
                        </a:cubicBezTo>
                        <a:cubicBezTo>
                          <a:pt x="2120" y="948"/>
                          <a:pt x="2073" y="887"/>
                          <a:pt x="2005" y="869"/>
                        </a:cubicBezTo>
                        <a:close/>
                        <a:moveTo>
                          <a:pt x="2050" y="1016"/>
                        </a:moveTo>
                        <a:cubicBezTo>
                          <a:pt x="101" y="1016"/>
                          <a:pt x="101" y="1016"/>
                          <a:pt x="101" y="1016"/>
                        </a:cubicBezTo>
                        <a:cubicBezTo>
                          <a:pt x="69" y="1016"/>
                          <a:pt x="44" y="991"/>
                          <a:pt x="44" y="959"/>
                        </a:cubicBezTo>
                        <a:cubicBezTo>
                          <a:pt x="44" y="931"/>
                          <a:pt x="44" y="931"/>
                          <a:pt x="44" y="931"/>
                        </a:cubicBezTo>
                        <a:cubicBezTo>
                          <a:pt x="44" y="900"/>
                          <a:pt x="69" y="874"/>
                          <a:pt x="101" y="874"/>
                        </a:cubicBezTo>
                        <a:cubicBezTo>
                          <a:pt x="113" y="874"/>
                          <a:pt x="123" y="864"/>
                          <a:pt x="123" y="852"/>
                        </a:cubicBezTo>
                        <a:cubicBezTo>
                          <a:pt x="123" y="406"/>
                          <a:pt x="485" y="44"/>
                          <a:pt x="931" y="44"/>
                        </a:cubicBezTo>
                        <a:cubicBezTo>
                          <a:pt x="937" y="44"/>
                          <a:pt x="942" y="44"/>
                          <a:pt x="948" y="44"/>
                        </a:cubicBezTo>
                        <a:cubicBezTo>
                          <a:pt x="952" y="44"/>
                          <a:pt x="956" y="44"/>
                          <a:pt x="960" y="44"/>
                        </a:cubicBezTo>
                        <a:cubicBezTo>
                          <a:pt x="961" y="44"/>
                          <a:pt x="963" y="44"/>
                          <a:pt x="964" y="44"/>
                        </a:cubicBezTo>
                        <a:cubicBezTo>
                          <a:pt x="1115" y="50"/>
                          <a:pt x="1262" y="99"/>
                          <a:pt x="1386" y="183"/>
                        </a:cubicBezTo>
                        <a:cubicBezTo>
                          <a:pt x="1387" y="184"/>
                          <a:pt x="1388" y="185"/>
                          <a:pt x="1389" y="185"/>
                        </a:cubicBezTo>
                        <a:cubicBezTo>
                          <a:pt x="1392" y="187"/>
                          <a:pt x="1394" y="189"/>
                          <a:pt x="1397" y="191"/>
                        </a:cubicBezTo>
                        <a:cubicBezTo>
                          <a:pt x="1399" y="192"/>
                          <a:pt x="1401" y="194"/>
                          <a:pt x="1403" y="195"/>
                        </a:cubicBezTo>
                        <a:cubicBezTo>
                          <a:pt x="1405" y="197"/>
                          <a:pt x="1407" y="198"/>
                          <a:pt x="1409" y="200"/>
                        </a:cubicBezTo>
                        <a:cubicBezTo>
                          <a:pt x="1411" y="201"/>
                          <a:pt x="1413" y="203"/>
                          <a:pt x="1415" y="204"/>
                        </a:cubicBezTo>
                        <a:cubicBezTo>
                          <a:pt x="1421" y="208"/>
                          <a:pt x="1426" y="212"/>
                          <a:pt x="1431" y="216"/>
                        </a:cubicBezTo>
                        <a:cubicBezTo>
                          <a:pt x="1421" y="233"/>
                          <a:pt x="1421" y="233"/>
                          <a:pt x="1421" y="233"/>
                        </a:cubicBezTo>
                        <a:cubicBezTo>
                          <a:pt x="1398" y="270"/>
                          <a:pt x="1398" y="270"/>
                          <a:pt x="1398" y="270"/>
                        </a:cubicBezTo>
                        <a:cubicBezTo>
                          <a:pt x="1398" y="270"/>
                          <a:pt x="1398" y="270"/>
                          <a:pt x="1398" y="270"/>
                        </a:cubicBezTo>
                        <a:cubicBezTo>
                          <a:pt x="1393" y="278"/>
                          <a:pt x="1394" y="289"/>
                          <a:pt x="1401" y="296"/>
                        </a:cubicBezTo>
                        <a:cubicBezTo>
                          <a:pt x="1410" y="306"/>
                          <a:pt x="1419" y="315"/>
                          <a:pt x="1428" y="325"/>
                        </a:cubicBezTo>
                        <a:cubicBezTo>
                          <a:pt x="1428" y="325"/>
                          <a:pt x="1428" y="326"/>
                          <a:pt x="1428" y="326"/>
                        </a:cubicBezTo>
                        <a:cubicBezTo>
                          <a:pt x="1428" y="326"/>
                          <a:pt x="1429" y="326"/>
                          <a:pt x="1429" y="326"/>
                        </a:cubicBezTo>
                        <a:cubicBezTo>
                          <a:pt x="1429" y="326"/>
                          <a:pt x="1429" y="326"/>
                          <a:pt x="1429" y="326"/>
                        </a:cubicBezTo>
                        <a:cubicBezTo>
                          <a:pt x="1431" y="329"/>
                          <a:pt x="1434" y="332"/>
                          <a:pt x="1436" y="335"/>
                        </a:cubicBezTo>
                        <a:cubicBezTo>
                          <a:pt x="1472" y="377"/>
                          <a:pt x="1504" y="420"/>
                          <a:pt x="1531" y="465"/>
                        </a:cubicBezTo>
                        <a:cubicBezTo>
                          <a:pt x="1597" y="576"/>
                          <a:pt x="1634" y="697"/>
                          <a:pt x="1643" y="827"/>
                        </a:cubicBezTo>
                        <a:cubicBezTo>
                          <a:pt x="1643" y="827"/>
                          <a:pt x="1643" y="827"/>
                          <a:pt x="1643" y="827"/>
                        </a:cubicBezTo>
                        <a:cubicBezTo>
                          <a:pt x="1644" y="837"/>
                          <a:pt x="1651" y="846"/>
                          <a:pt x="1661" y="848"/>
                        </a:cubicBezTo>
                        <a:cubicBezTo>
                          <a:pt x="1661" y="848"/>
                          <a:pt x="1661" y="848"/>
                          <a:pt x="1661" y="848"/>
                        </a:cubicBezTo>
                        <a:cubicBezTo>
                          <a:pt x="1994" y="912"/>
                          <a:pt x="1994" y="912"/>
                          <a:pt x="1994" y="912"/>
                        </a:cubicBezTo>
                        <a:cubicBezTo>
                          <a:pt x="1994" y="912"/>
                          <a:pt x="1994" y="912"/>
                          <a:pt x="1994" y="912"/>
                        </a:cubicBezTo>
                        <a:cubicBezTo>
                          <a:pt x="1995" y="912"/>
                          <a:pt x="1995" y="912"/>
                          <a:pt x="1995" y="912"/>
                        </a:cubicBezTo>
                        <a:cubicBezTo>
                          <a:pt x="1997" y="913"/>
                          <a:pt x="2000" y="913"/>
                          <a:pt x="2003" y="914"/>
                        </a:cubicBezTo>
                        <a:cubicBezTo>
                          <a:pt x="2003" y="915"/>
                          <a:pt x="2004" y="915"/>
                          <a:pt x="2005" y="915"/>
                        </a:cubicBezTo>
                        <a:cubicBezTo>
                          <a:pt x="2007" y="916"/>
                          <a:pt x="2008" y="917"/>
                          <a:pt x="2010" y="917"/>
                        </a:cubicBezTo>
                        <a:cubicBezTo>
                          <a:pt x="2011" y="918"/>
                          <a:pt x="2012" y="918"/>
                          <a:pt x="2014" y="919"/>
                        </a:cubicBezTo>
                        <a:cubicBezTo>
                          <a:pt x="2015" y="920"/>
                          <a:pt x="2016" y="920"/>
                          <a:pt x="2017" y="921"/>
                        </a:cubicBezTo>
                        <a:cubicBezTo>
                          <a:pt x="2018" y="921"/>
                          <a:pt x="2020" y="922"/>
                          <a:pt x="2021" y="923"/>
                        </a:cubicBezTo>
                        <a:cubicBezTo>
                          <a:pt x="2021" y="923"/>
                          <a:pt x="2022" y="923"/>
                          <a:pt x="2022" y="924"/>
                        </a:cubicBezTo>
                        <a:cubicBezTo>
                          <a:pt x="2037" y="933"/>
                          <a:pt x="2050" y="946"/>
                          <a:pt x="2060" y="961"/>
                        </a:cubicBezTo>
                        <a:cubicBezTo>
                          <a:pt x="2060" y="962"/>
                          <a:pt x="2060" y="962"/>
                          <a:pt x="2061" y="963"/>
                        </a:cubicBezTo>
                        <a:cubicBezTo>
                          <a:pt x="2062" y="964"/>
                          <a:pt x="2062" y="966"/>
                          <a:pt x="2063" y="967"/>
                        </a:cubicBezTo>
                        <a:cubicBezTo>
                          <a:pt x="2064" y="968"/>
                          <a:pt x="2064" y="969"/>
                          <a:pt x="2065" y="971"/>
                        </a:cubicBezTo>
                        <a:cubicBezTo>
                          <a:pt x="2065" y="972"/>
                          <a:pt x="2066" y="973"/>
                          <a:pt x="2066" y="974"/>
                        </a:cubicBezTo>
                        <a:cubicBezTo>
                          <a:pt x="2067" y="976"/>
                          <a:pt x="2068" y="978"/>
                          <a:pt x="2069" y="980"/>
                        </a:cubicBezTo>
                        <a:cubicBezTo>
                          <a:pt x="2069" y="980"/>
                          <a:pt x="2069" y="981"/>
                          <a:pt x="2069" y="981"/>
                        </a:cubicBezTo>
                        <a:cubicBezTo>
                          <a:pt x="2070" y="984"/>
                          <a:pt x="2071" y="986"/>
                          <a:pt x="2072" y="989"/>
                        </a:cubicBezTo>
                        <a:cubicBezTo>
                          <a:pt x="2074" y="997"/>
                          <a:pt x="2076" y="1007"/>
                          <a:pt x="2076" y="1016"/>
                        </a:cubicBezTo>
                        <a:lnTo>
                          <a:pt x="2050" y="1016"/>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43" name="Grupo 165"/>
            <p:cNvGrpSpPr/>
            <p:nvPr/>
          </p:nvGrpSpPr>
          <p:grpSpPr>
            <a:xfrm>
              <a:off x="5534559" y="1494503"/>
              <a:ext cx="972001" cy="1122694"/>
              <a:chOff x="4998411" y="1669461"/>
              <a:chExt cx="1047298" cy="1122694"/>
            </a:xfrm>
          </p:grpSpPr>
          <p:sp>
            <p:nvSpPr>
              <p:cNvPr id="144" name="Rectangle: Rounded Corners 211"/>
              <p:cNvSpPr/>
              <p:nvPr/>
            </p:nvSpPr>
            <p:spPr>
              <a:xfrm>
                <a:off x="506337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145" name="Oval 20"/>
              <p:cNvSpPr>
                <a:spLocks noChangeAspect="1" noChangeArrowheads="1"/>
              </p:cNvSpPr>
              <p:nvPr/>
            </p:nvSpPr>
            <p:spPr bwMode="auto">
              <a:xfrm>
                <a:off x="499841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8</a:t>
                </a:r>
              </a:p>
            </p:txBody>
          </p:sp>
          <p:grpSp>
            <p:nvGrpSpPr>
              <p:cNvPr id="146" name="bcgIcons_Large Group of People/Public "/>
              <p:cNvGrpSpPr>
                <a:grpSpLocks noChangeAspect="1"/>
              </p:cNvGrpSpPr>
              <p:nvPr/>
            </p:nvGrpSpPr>
            <p:grpSpPr>
              <a:xfrm>
                <a:off x="5345507" y="1827711"/>
                <a:ext cx="418067" cy="418454"/>
                <a:chOff x="5273803" y="2606040"/>
                <a:chExt cx="1644396" cy="1645920"/>
              </a:xfrm>
            </p:grpSpPr>
            <p:sp>
              <p:nvSpPr>
                <p:cNvPr id="147" name="AutoShape 18"/>
                <p:cNvSpPr>
                  <a:spLocks noChangeAspect="1"/>
                </p:cNvSpPr>
                <p:nvPr/>
              </p:nvSpPr>
              <p:spPr bwMode="auto">
                <a:xfrm>
                  <a:off x="5273803" y="2606040"/>
                  <a:ext cx="1644396" cy="1645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8" name="Group 249"/>
                <p:cNvGrpSpPr>
                  <a:grpSpLocks/>
                </p:cNvGrpSpPr>
                <p:nvPr/>
              </p:nvGrpSpPr>
              <p:grpSpPr>
                <a:xfrm>
                  <a:off x="5336668" y="2770251"/>
                  <a:ext cx="1515999" cy="1311783"/>
                  <a:chOff x="5336668" y="2770251"/>
                  <a:chExt cx="1515999" cy="1311783"/>
                </a:xfrm>
              </p:grpSpPr>
              <p:sp>
                <p:nvSpPr>
                  <p:cNvPr id="149" name="Freeform 20"/>
                  <p:cNvSpPr>
                    <a:spLocks/>
                  </p:cNvSpPr>
                  <p:nvPr/>
                </p:nvSpPr>
                <p:spPr bwMode="auto">
                  <a:xfrm>
                    <a:off x="5336668" y="2770251"/>
                    <a:ext cx="1515999" cy="131178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50" name="Freeform 21"/>
                  <p:cNvSpPr>
                    <a:spLocks/>
                  </p:cNvSpPr>
                  <p:nvPr/>
                </p:nvSpPr>
                <p:spPr bwMode="auto">
                  <a:xfrm>
                    <a:off x="5540884" y="3203448"/>
                    <a:ext cx="1150239" cy="57569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p:spPr>
                <p:txBody>
                  <a:bodyPr vert="horz" wrap="square" lIns="54727" tIns="27364" rIns="54727" bIns="27364" numCol="1" anchor="t" anchorCtr="0" compatLnSpc="1">
                    <a:prstTxWarp prst="textNoShape">
                      <a:avLst/>
                    </a:prstTxWarp>
                  </a:bodyPr>
                  <a:lstStyle/>
                  <a:p>
                    <a:endParaRPr lang="es-CL"/>
                  </a:p>
                </p:txBody>
              </p:sp>
            </p:grpSp>
          </p:grpSp>
        </p:grpSp>
        <p:grpSp>
          <p:nvGrpSpPr>
            <p:cNvPr id="151" name="Grupo 166"/>
            <p:cNvGrpSpPr/>
            <p:nvPr/>
          </p:nvGrpSpPr>
          <p:grpSpPr>
            <a:xfrm>
              <a:off x="6586806" y="1494503"/>
              <a:ext cx="972001" cy="1122694"/>
              <a:chOff x="6081331" y="1669461"/>
              <a:chExt cx="1047298" cy="1122694"/>
            </a:xfrm>
          </p:grpSpPr>
          <p:sp>
            <p:nvSpPr>
              <p:cNvPr id="152" name="Rectangle: Rounded Corners 212"/>
              <p:cNvSpPr/>
              <p:nvPr/>
            </p:nvSpPr>
            <p:spPr>
              <a:xfrm>
                <a:off x="614629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Ambiental</a:t>
                </a:r>
              </a:p>
            </p:txBody>
          </p:sp>
          <p:sp>
            <p:nvSpPr>
              <p:cNvPr id="153" name="Oval 20"/>
              <p:cNvSpPr>
                <a:spLocks noChangeAspect="1" noChangeArrowheads="1"/>
              </p:cNvSpPr>
              <p:nvPr/>
            </p:nvSpPr>
            <p:spPr bwMode="auto">
              <a:xfrm>
                <a:off x="60813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9</a:t>
                </a:r>
              </a:p>
            </p:txBody>
          </p:sp>
          <p:grpSp>
            <p:nvGrpSpPr>
              <p:cNvPr id="154" name="bcgIcons_Globe"/>
              <p:cNvGrpSpPr>
                <a:grpSpLocks noChangeAspect="1"/>
              </p:cNvGrpSpPr>
              <p:nvPr/>
            </p:nvGrpSpPr>
            <p:grpSpPr>
              <a:xfrm>
                <a:off x="6428073" y="1827711"/>
                <a:ext cx="418776" cy="418454"/>
                <a:chOff x="5273677" y="2606675"/>
                <a:chExt cx="1645920" cy="1644650"/>
              </a:xfrm>
            </p:grpSpPr>
            <p:sp>
              <p:nvSpPr>
                <p:cNvPr id="155" name="AutoShape 77"/>
                <p:cNvSpPr>
                  <a:spLocks noChangeAspect="1"/>
                </p:cNvSpPr>
                <p:nvPr/>
              </p:nvSpPr>
              <p:spPr bwMode="auto">
                <a:xfrm>
                  <a:off x="5273677" y="2606675"/>
                  <a:ext cx="164592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56" name="Group 254"/>
                <p:cNvGrpSpPr>
                  <a:grpSpLocks/>
                </p:cNvGrpSpPr>
                <p:nvPr/>
              </p:nvGrpSpPr>
              <p:grpSpPr>
                <a:xfrm>
                  <a:off x="5457295" y="2790755"/>
                  <a:ext cx="1280194" cy="1277999"/>
                  <a:chOff x="5457295" y="2790755"/>
                  <a:chExt cx="1280194" cy="1277999"/>
                </a:xfrm>
              </p:grpSpPr>
              <p:sp>
                <p:nvSpPr>
                  <p:cNvPr id="157" name="Freeform 79"/>
                  <p:cNvSpPr>
                    <a:spLocks/>
                  </p:cNvSpPr>
                  <p:nvPr/>
                </p:nvSpPr>
                <p:spPr bwMode="auto">
                  <a:xfrm>
                    <a:off x="5457295" y="2790755"/>
                    <a:ext cx="1280194" cy="1277999"/>
                  </a:xfrm>
                  <a:custGeom>
                    <a:avLst/>
                    <a:gdLst>
                      <a:gd name="T0" fmla="*/ 1529 w 1792"/>
                      <a:gd name="T1" fmla="*/ 263 h 1790"/>
                      <a:gd name="T2" fmla="*/ 896 w 1792"/>
                      <a:gd name="T3" fmla="*/ 0 h 1790"/>
                      <a:gd name="T4" fmla="*/ 263 w 1792"/>
                      <a:gd name="T5" fmla="*/ 262 h 1790"/>
                      <a:gd name="T6" fmla="*/ 0 w 1792"/>
                      <a:gd name="T7" fmla="*/ 895 h 1790"/>
                      <a:gd name="T8" fmla="*/ 263 w 1792"/>
                      <a:gd name="T9" fmla="*/ 1528 h 1790"/>
                      <a:gd name="T10" fmla="*/ 896 w 1792"/>
                      <a:gd name="T11" fmla="*/ 1790 h 1790"/>
                      <a:gd name="T12" fmla="*/ 1529 w 1792"/>
                      <a:gd name="T13" fmla="*/ 1528 h 1790"/>
                      <a:gd name="T14" fmla="*/ 1792 w 1792"/>
                      <a:gd name="T15" fmla="*/ 895 h 1790"/>
                      <a:gd name="T16" fmla="*/ 1529 w 1792"/>
                      <a:gd name="T17" fmla="*/ 263 h 1790"/>
                      <a:gd name="T18" fmla="*/ 1498 w 1792"/>
                      <a:gd name="T19" fmla="*/ 1497 h 1790"/>
                      <a:gd name="T20" fmla="*/ 896 w 1792"/>
                      <a:gd name="T21" fmla="*/ 1746 h 1790"/>
                      <a:gd name="T22" fmla="*/ 294 w 1792"/>
                      <a:gd name="T23" fmla="*/ 1497 h 1790"/>
                      <a:gd name="T24" fmla="*/ 44 w 1792"/>
                      <a:gd name="T25" fmla="*/ 895 h 1790"/>
                      <a:gd name="T26" fmla="*/ 294 w 1792"/>
                      <a:gd name="T27" fmla="*/ 294 h 1790"/>
                      <a:gd name="T28" fmla="*/ 896 w 1792"/>
                      <a:gd name="T29" fmla="*/ 44 h 1790"/>
                      <a:gd name="T30" fmla="*/ 1498 w 1792"/>
                      <a:gd name="T31" fmla="*/ 294 h 1790"/>
                      <a:gd name="T32" fmla="*/ 1748 w 1792"/>
                      <a:gd name="T33" fmla="*/ 895 h 1790"/>
                      <a:gd name="T34" fmla="*/ 1498 w 1792"/>
                      <a:gd name="T35" fmla="*/ 1497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2" h="1790">
                        <a:moveTo>
                          <a:pt x="1529" y="263"/>
                        </a:moveTo>
                        <a:cubicBezTo>
                          <a:pt x="1361" y="93"/>
                          <a:pt x="1136" y="0"/>
                          <a:pt x="896" y="0"/>
                        </a:cubicBezTo>
                        <a:cubicBezTo>
                          <a:pt x="656" y="0"/>
                          <a:pt x="431" y="93"/>
                          <a:pt x="263" y="262"/>
                        </a:cubicBezTo>
                        <a:cubicBezTo>
                          <a:pt x="93" y="431"/>
                          <a:pt x="0" y="656"/>
                          <a:pt x="0" y="895"/>
                        </a:cubicBezTo>
                        <a:cubicBezTo>
                          <a:pt x="0" y="1135"/>
                          <a:pt x="93" y="1360"/>
                          <a:pt x="263" y="1528"/>
                        </a:cubicBezTo>
                        <a:cubicBezTo>
                          <a:pt x="431" y="1697"/>
                          <a:pt x="656" y="1790"/>
                          <a:pt x="896" y="1790"/>
                        </a:cubicBezTo>
                        <a:cubicBezTo>
                          <a:pt x="1136" y="1790"/>
                          <a:pt x="1361" y="1697"/>
                          <a:pt x="1529" y="1528"/>
                        </a:cubicBezTo>
                        <a:cubicBezTo>
                          <a:pt x="1699" y="1360"/>
                          <a:pt x="1792" y="1135"/>
                          <a:pt x="1792" y="895"/>
                        </a:cubicBezTo>
                        <a:cubicBezTo>
                          <a:pt x="1792" y="656"/>
                          <a:pt x="1699" y="431"/>
                          <a:pt x="1529" y="263"/>
                        </a:cubicBezTo>
                        <a:close/>
                        <a:moveTo>
                          <a:pt x="1498" y="1497"/>
                        </a:moveTo>
                        <a:cubicBezTo>
                          <a:pt x="1338" y="1658"/>
                          <a:pt x="1123" y="1746"/>
                          <a:pt x="896" y="1746"/>
                        </a:cubicBezTo>
                        <a:cubicBezTo>
                          <a:pt x="669" y="1746"/>
                          <a:pt x="454" y="1658"/>
                          <a:pt x="294" y="1497"/>
                        </a:cubicBezTo>
                        <a:cubicBezTo>
                          <a:pt x="132" y="1337"/>
                          <a:pt x="44" y="1122"/>
                          <a:pt x="44" y="895"/>
                        </a:cubicBezTo>
                        <a:cubicBezTo>
                          <a:pt x="44" y="668"/>
                          <a:pt x="132" y="454"/>
                          <a:pt x="294" y="294"/>
                        </a:cubicBezTo>
                        <a:cubicBezTo>
                          <a:pt x="454" y="133"/>
                          <a:pt x="669" y="44"/>
                          <a:pt x="896" y="44"/>
                        </a:cubicBezTo>
                        <a:cubicBezTo>
                          <a:pt x="1123" y="44"/>
                          <a:pt x="1338" y="133"/>
                          <a:pt x="1498" y="294"/>
                        </a:cubicBezTo>
                        <a:cubicBezTo>
                          <a:pt x="1660" y="454"/>
                          <a:pt x="1748" y="668"/>
                          <a:pt x="1748" y="895"/>
                        </a:cubicBezTo>
                        <a:cubicBezTo>
                          <a:pt x="1748" y="1122"/>
                          <a:pt x="1660" y="1337"/>
                          <a:pt x="1498" y="1497"/>
                        </a:cubicBezTo>
                        <a:close/>
                      </a:path>
                    </a:pathLst>
                  </a:custGeom>
                  <a:solidFill>
                    <a:schemeClr val="accent1"/>
                  </a:solidFill>
                  <a:ln>
                    <a:noFill/>
                  </a:ln>
                </p:spPr>
                <p:txBody>
                  <a:bodyPr vert="horz" wrap="square" lIns="54727" tIns="27364" rIns="54727" bIns="27364" numCol="1" anchor="t" anchorCtr="0" compatLnSpc="1">
                    <a:prstTxWarp prst="textNoShape">
                      <a:avLst/>
                    </a:prstTxWarp>
                  </a:bodyPr>
                  <a:lstStyle/>
                  <a:p>
                    <a:endParaRPr lang="es-CL"/>
                  </a:p>
                </p:txBody>
              </p:sp>
              <p:sp>
                <p:nvSpPr>
                  <p:cNvPr id="158" name="Freeform 13"/>
                  <p:cNvSpPr>
                    <a:spLocks/>
                  </p:cNvSpPr>
                  <p:nvPr/>
                </p:nvSpPr>
                <p:spPr bwMode="auto">
                  <a:xfrm>
                    <a:off x="5517998" y="2851409"/>
                    <a:ext cx="1143255" cy="1156386"/>
                  </a:xfrm>
                  <a:custGeom>
                    <a:avLst/>
                    <a:gdLst>
                      <a:gd name="connsiteX0" fmla="*/ 533702 w 1143255"/>
                      <a:gd name="connsiteY0" fmla="*/ 1074544 h 1156386"/>
                      <a:gd name="connsiteX1" fmla="*/ 678794 w 1143255"/>
                      <a:gd name="connsiteY1" fmla="*/ 1144999 h 1156386"/>
                      <a:gd name="connsiteX2" fmla="*/ 676650 w 1143255"/>
                      <a:gd name="connsiteY2" fmla="*/ 1148558 h 1156386"/>
                      <a:gd name="connsiteX3" fmla="*/ 579445 w 1143255"/>
                      <a:gd name="connsiteY3" fmla="*/ 1156386 h 1156386"/>
                      <a:gd name="connsiteX4" fmla="*/ 462942 w 1143255"/>
                      <a:gd name="connsiteY4" fmla="*/ 1144999 h 1156386"/>
                      <a:gd name="connsiteX5" fmla="*/ 401474 w 1143255"/>
                      <a:gd name="connsiteY5" fmla="*/ 1128631 h 1156386"/>
                      <a:gd name="connsiteX6" fmla="*/ 400759 w 1143255"/>
                      <a:gd name="connsiteY6" fmla="*/ 1128631 h 1156386"/>
                      <a:gd name="connsiteX7" fmla="*/ 533702 w 1143255"/>
                      <a:gd name="connsiteY7" fmla="*/ 1074544 h 1156386"/>
                      <a:gd name="connsiteX8" fmla="*/ 900936 w 1143255"/>
                      <a:gd name="connsiteY8" fmla="*/ 803314 h 1156386"/>
                      <a:gd name="connsiteX9" fmla="*/ 901650 w 1143255"/>
                      <a:gd name="connsiteY9" fmla="*/ 803314 h 1156386"/>
                      <a:gd name="connsiteX10" fmla="*/ 916632 w 1143255"/>
                      <a:gd name="connsiteY10" fmla="*/ 897408 h 1156386"/>
                      <a:gd name="connsiteX11" fmla="*/ 856702 w 1143255"/>
                      <a:gd name="connsiteY11" fmla="*/ 923070 h 1156386"/>
                      <a:gd name="connsiteX12" fmla="*/ 855275 w 1143255"/>
                      <a:gd name="connsiteY12" fmla="*/ 920219 h 1156386"/>
                      <a:gd name="connsiteX13" fmla="*/ 865977 w 1143255"/>
                      <a:gd name="connsiteY13" fmla="*/ 839669 h 1156386"/>
                      <a:gd name="connsiteX14" fmla="*/ 900936 w 1143255"/>
                      <a:gd name="connsiteY14" fmla="*/ 803314 h 1156386"/>
                      <a:gd name="connsiteX15" fmla="*/ 8579 w 1143255"/>
                      <a:gd name="connsiteY15" fmla="*/ 493395 h 1156386"/>
                      <a:gd name="connsiteX16" fmla="*/ 80787 w 1143255"/>
                      <a:gd name="connsiteY16" fmla="*/ 552635 h 1156386"/>
                      <a:gd name="connsiteX17" fmla="*/ 157999 w 1143255"/>
                      <a:gd name="connsiteY17" fmla="*/ 711799 h 1156386"/>
                      <a:gd name="connsiteX18" fmla="*/ 169438 w 1143255"/>
                      <a:gd name="connsiteY18" fmla="*/ 858829 h 1156386"/>
                      <a:gd name="connsiteX19" fmla="*/ 169438 w 1143255"/>
                      <a:gd name="connsiteY19" fmla="*/ 860257 h 1156386"/>
                      <a:gd name="connsiteX20" fmla="*/ 187311 w 1143255"/>
                      <a:gd name="connsiteY20" fmla="*/ 997295 h 1156386"/>
                      <a:gd name="connsiteX21" fmla="*/ 183021 w 1143255"/>
                      <a:gd name="connsiteY21" fmla="*/ 999436 h 1156386"/>
                      <a:gd name="connsiteX22" fmla="*/ 0 w 1143255"/>
                      <a:gd name="connsiteY22" fmla="*/ 578330 h 1156386"/>
                      <a:gd name="connsiteX23" fmla="*/ 5719 w 1143255"/>
                      <a:gd name="connsiteY23" fmla="*/ 495536 h 1156386"/>
                      <a:gd name="connsiteX24" fmla="*/ 8579 w 1143255"/>
                      <a:gd name="connsiteY24" fmla="*/ 493395 h 1156386"/>
                      <a:gd name="connsiteX25" fmla="*/ 296585 w 1143255"/>
                      <a:gd name="connsiteY25" fmla="*/ 74456 h 1156386"/>
                      <a:gd name="connsiteX26" fmla="*/ 300159 w 1143255"/>
                      <a:gd name="connsiteY26" fmla="*/ 76598 h 1156386"/>
                      <a:gd name="connsiteX27" fmla="*/ 317319 w 1143255"/>
                      <a:gd name="connsiteY27" fmla="*/ 160812 h 1156386"/>
                      <a:gd name="connsiteX28" fmla="*/ 272990 w 1143255"/>
                      <a:gd name="connsiteY28" fmla="*/ 302121 h 1156386"/>
                      <a:gd name="connsiteX29" fmla="*/ 137859 w 1143255"/>
                      <a:gd name="connsiteY29" fmla="*/ 373489 h 1156386"/>
                      <a:gd name="connsiteX30" fmla="*/ 32043 w 1143255"/>
                      <a:gd name="connsiteY30" fmla="*/ 397754 h 1156386"/>
                      <a:gd name="connsiteX31" fmla="*/ 30613 w 1143255"/>
                      <a:gd name="connsiteY31" fmla="*/ 394899 h 1156386"/>
                      <a:gd name="connsiteX32" fmla="*/ 33473 w 1143255"/>
                      <a:gd name="connsiteY32" fmla="*/ 384908 h 1156386"/>
                      <a:gd name="connsiteX33" fmla="*/ 296585 w 1143255"/>
                      <a:gd name="connsiteY33" fmla="*/ 74456 h 1156386"/>
                      <a:gd name="connsiteX34" fmla="*/ 579383 w 1143255"/>
                      <a:gd name="connsiteY34" fmla="*/ 0 h 1156386"/>
                      <a:gd name="connsiteX35" fmla="*/ 1057972 w 1143255"/>
                      <a:gd name="connsiteY35" fmla="*/ 252720 h 1156386"/>
                      <a:gd name="connsiteX36" fmla="*/ 1142975 w 1143255"/>
                      <a:gd name="connsiteY36" fmla="*/ 442616 h 1156386"/>
                      <a:gd name="connsiteX37" fmla="*/ 1142975 w 1143255"/>
                      <a:gd name="connsiteY37" fmla="*/ 444758 h 1156386"/>
                      <a:gd name="connsiteX38" fmla="*/ 1141546 w 1143255"/>
                      <a:gd name="connsiteY38" fmla="*/ 447614 h 1156386"/>
                      <a:gd name="connsiteX39" fmla="*/ 1087259 w 1143255"/>
                      <a:gd name="connsiteY39" fmla="*/ 518289 h 1156386"/>
                      <a:gd name="connsiteX40" fmla="*/ 1031542 w 1143255"/>
                      <a:gd name="connsiteY40" fmla="*/ 518289 h 1156386"/>
                      <a:gd name="connsiteX41" fmla="*/ 967969 w 1143255"/>
                      <a:gd name="connsiteY41" fmla="*/ 471172 h 1156386"/>
                      <a:gd name="connsiteX42" fmla="*/ 966540 w 1143255"/>
                      <a:gd name="connsiteY42" fmla="*/ 475456 h 1156386"/>
                      <a:gd name="connsiteX43" fmla="*/ 918681 w 1143255"/>
                      <a:gd name="connsiteY43" fmla="*/ 578971 h 1156386"/>
                      <a:gd name="connsiteX44" fmla="*/ 840821 w 1143255"/>
                      <a:gd name="connsiteY44" fmla="*/ 562551 h 1156386"/>
                      <a:gd name="connsiteX45" fmla="*/ 836535 w 1143255"/>
                      <a:gd name="connsiteY45" fmla="*/ 565407 h 1156386"/>
                      <a:gd name="connsiteX46" fmla="*/ 922253 w 1143255"/>
                      <a:gd name="connsiteY46" fmla="*/ 637510 h 1156386"/>
                      <a:gd name="connsiteX47" fmla="*/ 926539 w 1143255"/>
                      <a:gd name="connsiteY47" fmla="*/ 638224 h 1156386"/>
                      <a:gd name="connsiteX48" fmla="*/ 854393 w 1143255"/>
                      <a:gd name="connsiteY48" fmla="*/ 753161 h 1156386"/>
                      <a:gd name="connsiteX49" fmla="*/ 827964 w 1143255"/>
                      <a:gd name="connsiteY49" fmla="*/ 883805 h 1156386"/>
                      <a:gd name="connsiteX50" fmla="*/ 715102 w 1143255"/>
                      <a:gd name="connsiteY50" fmla="*/ 1014448 h 1156386"/>
                      <a:gd name="connsiteX51" fmla="*/ 600098 w 1143255"/>
                      <a:gd name="connsiteY51" fmla="*/ 910219 h 1156386"/>
                      <a:gd name="connsiteX52" fmla="*/ 579383 w 1143255"/>
                      <a:gd name="connsiteY52" fmla="*/ 841685 h 1156386"/>
                      <a:gd name="connsiteX53" fmla="*/ 560811 w 1143255"/>
                      <a:gd name="connsiteY53" fmla="*/ 731031 h 1156386"/>
                      <a:gd name="connsiteX54" fmla="*/ 557954 w 1143255"/>
                      <a:gd name="connsiteY54" fmla="*/ 728889 h 1156386"/>
                      <a:gd name="connsiteX55" fmla="*/ 339374 w 1143255"/>
                      <a:gd name="connsiteY55" fmla="*/ 532567 h 1156386"/>
                      <a:gd name="connsiteX56" fmla="*/ 457950 w 1143255"/>
                      <a:gd name="connsiteY56" fmla="*/ 416202 h 1156386"/>
                      <a:gd name="connsiteX57" fmla="*/ 457950 w 1143255"/>
                      <a:gd name="connsiteY57" fmla="*/ 411919 h 1156386"/>
                      <a:gd name="connsiteX58" fmla="*/ 445807 w 1143255"/>
                      <a:gd name="connsiteY58" fmla="*/ 375510 h 1156386"/>
                      <a:gd name="connsiteX59" fmla="*/ 563668 w 1143255"/>
                      <a:gd name="connsiteY59" fmla="*/ 276278 h 1156386"/>
                      <a:gd name="connsiteX60" fmla="*/ 565097 w 1143255"/>
                      <a:gd name="connsiteY60" fmla="*/ 274850 h 1156386"/>
                      <a:gd name="connsiteX61" fmla="*/ 593669 w 1143255"/>
                      <a:gd name="connsiteY61" fmla="*/ 200605 h 1156386"/>
                      <a:gd name="connsiteX62" fmla="*/ 682244 w 1143255"/>
                      <a:gd name="connsiteY62" fmla="*/ 139210 h 1156386"/>
                      <a:gd name="connsiteX63" fmla="*/ 533667 w 1143255"/>
                      <a:gd name="connsiteY63" fmla="*/ 156344 h 1156386"/>
                      <a:gd name="connsiteX64" fmla="*/ 398662 w 1143255"/>
                      <a:gd name="connsiteY64" fmla="*/ 169908 h 1156386"/>
                      <a:gd name="connsiteX65" fmla="*/ 493666 w 1143255"/>
                      <a:gd name="connsiteY65" fmla="*/ 89951 h 1156386"/>
                      <a:gd name="connsiteX66" fmla="*/ 495094 w 1143255"/>
                      <a:gd name="connsiteY66" fmla="*/ 9281 h 1156386"/>
                      <a:gd name="connsiteX67" fmla="*/ 496523 w 1143255"/>
                      <a:gd name="connsiteY67" fmla="*/ 5711 h 1156386"/>
                      <a:gd name="connsiteX68" fmla="*/ 579383 w 1143255"/>
                      <a:gd name="connsiteY68" fmla="*/ 0 h 11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143255" h="1156386">
                        <a:moveTo>
                          <a:pt x="533702" y="1074544"/>
                        </a:moveTo>
                        <a:cubicBezTo>
                          <a:pt x="599458" y="1078814"/>
                          <a:pt x="639484" y="1075967"/>
                          <a:pt x="678794" y="1144999"/>
                        </a:cubicBezTo>
                        <a:cubicBezTo>
                          <a:pt x="679509" y="1146423"/>
                          <a:pt x="678080" y="1148558"/>
                          <a:pt x="676650" y="1148558"/>
                        </a:cubicBezTo>
                        <a:cubicBezTo>
                          <a:pt x="645202" y="1153539"/>
                          <a:pt x="612323" y="1156386"/>
                          <a:pt x="579445" y="1156386"/>
                        </a:cubicBezTo>
                        <a:cubicBezTo>
                          <a:pt x="539419" y="1156386"/>
                          <a:pt x="500109" y="1152828"/>
                          <a:pt x="462942" y="1144999"/>
                        </a:cubicBezTo>
                        <a:cubicBezTo>
                          <a:pt x="430778" y="1137171"/>
                          <a:pt x="407192" y="1130054"/>
                          <a:pt x="401474" y="1128631"/>
                        </a:cubicBezTo>
                        <a:cubicBezTo>
                          <a:pt x="401474" y="1128631"/>
                          <a:pt x="400759" y="1128631"/>
                          <a:pt x="400759" y="1128631"/>
                        </a:cubicBezTo>
                        <a:cubicBezTo>
                          <a:pt x="401474" y="1127919"/>
                          <a:pt x="467945" y="1070985"/>
                          <a:pt x="533702" y="1074544"/>
                        </a:cubicBezTo>
                        <a:close/>
                        <a:moveTo>
                          <a:pt x="900936" y="803314"/>
                        </a:moveTo>
                        <a:cubicBezTo>
                          <a:pt x="900936" y="803314"/>
                          <a:pt x="901650" y="803314"/>
                          <a:pt x="901650" y="803314"/>
                        </a:cubicBezTo>
                        <a:cubicBezTo>
                          <a:pt x="961580" y="813294"/>
                          <a:pt x="945171" y="853212"/>
                          <a:pt x="916632" y="897408"/>
                        </a:cubicBezTo>
                        <a:cubicBezTo>
                          <a:pt x="892375" y="935188"/>
                          <a:pt x="863837" y="926634"/>
                          <a:pt x="856702" y="923070"/>
                        </a:cubicBezTo>
                        <a:cubicBezTo>
                          <a:pt x="855275" y="922357"/>
                          <a:pt x="855275" y="921644"/>
                          <a:pt x="855275" y="920219"/>
                        </a:cubicBezTo>
                        <a:cubicBezTo>
                          <a:pt x="857416" y="910952"/>
                          <a:pt x="865977" y="868895"/>
                          <a:pt x="865977" y="839669"/>
                        </a:cubicBezTo>
                        <a:cubicBezTo>
                          <a:pt x="865977" y="809017"/>
                          <a:pt x="896656" y="803314"/>
                          <a:pt x="900936" y="803314"/>
                        </a:cubicBezTo>
                        <a:close/>
                        <a:moveTo>
                          <a:pt x="8579" y="493395"/>
                        </a:moveTo>
                        <a:cubicBezTo>
                          <a:pt x="27167" y="495536"/>
                          <a:pt x="68633" y="506242"/>
                          <a:pt x="80787" y="552635"/>
                        </a:cubicBezTo>
                        <a:cubicBezTo>
                          <a:pt x="95800" y="611876"/>
                          <a:pt x="117963" y="687532"/>
                          <a:pt x="157999" y="711799"/>
                        </a:cubicBezTo>
                        <a:cubicBezTo>
                          <a:pt x="196605" y="734639"/>
                          <a:pt x="170867" y="850978"/>
                          <a:pt x="169438" y="858829"/>
                        </a:cubicBezTo>
                        <a:cubicBezTo>
                          <a:pt x="168723" y="859543"/>
                          <a:pt x="168723" y="859543"/>
                          <a:pt x="169438" y="860257"/>
                        </a:cubicBezTo>
                        <a:cubicBezTo>
                          <a:pt x="169438" y="860257"/>
                          <a:pt x="169438" y="860257"/>
                          <a:pt x="187311" y="997295"/>
                        </a:cubicBezTo>
                        <a:cubicBezTo>
                          <a:pt x="187311" y="999436"/>
                          <a:pt x="184451" y="1001577"/>
                          <a:pt x="183021" y="999436"/>
                        </a:cubicBezTo>
                        <a:cubicBezTo>
                          <a:pt x="70063" y="893803"/>
                          <a:pt x="0" y="744631"/>
                          <a:pt x="0" y="578330"/>
                        </a:cubicBezTo>
                        <a:cubicBezTo>
                          <a:pt x="0" y="550494"/>
                          <a:pt x="2145" y="522658"/>
                          <a:pt x="5719" y="495536"/>
                        </a:cubicBezTo>
                        <a:cubicBezTo>
                          <a:pt x="5719" y="494109"/>
                          <a:pt x="7149" y="493395"/>
                          <a:pt x="8579" y="493395"/>
                        </a:cubicBezTo>
                        <a:close/>
                        <a:moveTo>
                          <a:pt x="296585" y="74456"/>
                        </a:moveTo>
                        <a:cubicBezTo>
                          <a:pt x="298015" y="73029"/>
                          <a:pt x="300159" y="74456"/>
                          <a:pt x="300159" y="76598"/>
                        </a:cubicBezTo>
                        <a:cubicBezTo>
                          <a:pt x="300159" y="88730"/>
                          <a:pt x="300874" y="126555"/>
                          <a:pt x="317319" y="160812"/>
                        </a:cubicBezTo>
                        <a:cubicBezTo>
                          <a:pt x="337338" y="202919"/>
                          <a:pt x="325899" y="297125"/>
                          <a:pt x="272990" y="302121"/>
                        </a:cubicBezTo>
                        <a:cubicBezTo>
                          <a:pt x="220082" y="307117"/>
                          <a:pt x="153589" y="331382"/>
                          <a:pt x="137859" y="373489"/>
                        </a:cubicBezTo>
                        <a:cubicBezTo>
                          <a:pt x="124275" y="411314"/>
                          <a:pt x="47772" y="400609"/>
                          <a:pt x="32043" y="397754"/>
                        </a:cubicBezTo>
                        <a:cubicBezTo>
                          <a:pt x="30613" y="397754"/>
                          <a:pt x="29898" y="396327"/>
                          <a:pt x="30613" y="394899"/>
                        </a:cubicBezTo>
                        <a:cubicBezTo>
                          <a:pt x="30613" y="392758"/>
                          <a:pt x="32043" y="389190"/>
                          <a:pt x="33473" y="384908"/>
                        </a:cubicBezTo>
                        <a:cubicBezTo>
                          <a:pt x="80661" y="252163"/>
                          <a:pt x="175038" y="142256"/>
                          <a:pt x="296585" y="74456"/>
                        </a:cubicBezTo>
                        <a:close/>
                        <a:moveTo>
                          <a:pt x="579383" y="0"/>
                        </a:moveTo>
                        <a:cubicBezTo>
                          <a:pt x="777962" y="0"/>
                          <a:pt x="953682" y="99946"/>
                          <a:pt x="1057972" y="252720"/>
                        </a:cubicBezTo>
                        <a:cubicBezTo>
                          <a:pt x="1115117" y="341957"/>
                          <a:pt x="1137975" y="424769"/>
                          <a:pt x="1142975" y="442616"/>
                        </a:cubicBezTo>
                        <a:cubicBezTo>
                          <a:pt x="1142975" y="443330"/>
                          <a:pt x="1142975" y="444044"/>
                          <a:pt x="1142975" y="444758"/>
                        </a:cubicBezTo>
                        <a:cubicBezTo>
                          <a:pt x="1143689" y="445472"/>
                          <a:pt x="1142975" y="446900"/>
                          <a:pt x="1141546" y="447614"/>
                        </a:cubicBezTo>
                        <a:cubicBezTo>
                          <a:pt x="1133689" y="451897"/>
                          <a:pt x="1098688" y="474028"/>
                          <a:pt x="1087259" y="518289"/>
                        </a:cubicBezTo>
                        <a:cubicBezTo>
                          <a:pt x="1073687" y="567548"/>
                          <a:pt x="1047257" y="561123"/>
                          <a:pt x="1031542" y="518289"/>
                        </a:cubicBezTo>
                        <a:cubicBezTo>
                          <a:pt x="1020828" y="488306"/>
                          <a:pt x="987255" y="475456"/>
                          <a:pt x="967969" y="471172"/>
                        </a:cubicBezTo>
                        <a:cubicBezTo>
                          <a:pt x="965826" y="470458"/>
                          <a:pt x="963683" y="474028"/>
                          <a:pt x="966540" y="475456"/>
                        </a:cubicBezTo>
                        <a:cubicBezTo>
                          <a:pt x="1004398" y="503297"/>
                          <a:pt x="963683" y="540420"/>
                          <a:pt x="918681" y="578971"/>
                        </a:cubicBezTo>
                        <a:cubicBezTo>
                          <a:pt x="885108" y="607526"/>
                          <a:pt x="855822" y="581826"/>
                          <a:pt x="840821" y="562551"/>
                        </a:cubicBezTo>
                        <a:cubicBezTo>
                          <a:pt x="839393" y="560409"/>
                          <a:pt x="835821" y="562551"/>
                          <a:pt x="836535" y="565407"/>
                        </a:cubicBezTo>
                        <a:cubicBezTo>
                          <a:pt x="875822" y="671063"/>
                          <a:pt x="912252" y="647505"/>
                          <a:pt x="922253" y="637510"/>
                        </a:cubicBezTo>
                        <a:cubicBezTo>
                          <a:pt x="923681" y="636082"/>
                          <a:pt x="926539" y="636796"/>
                          <a:pt x="926539" y="638224"/>
                        </a:cubicBezTo>
                        <a:cubicBezTo>
                          <a:pt x="939396" y="691052"/>
                          <a:pt x="876537" y="716753"/>
                          <a:pt x="854393" y="753161"/>
                        </a:cubicBezTo>
                        <a:cubicBezTo>
                          <a:pt x="832964" y="790284"/>
                          <a:pt x="828678" y="879521"/>
                          <a:pt x="827964" y="883805"/>
                        </a:cubicBezTo>
                        <a:cubicBezTo>
                          <a:pt x="827249" y="887374"/>
                          <a:pt x="814392" y="955908"/>
                          <a:pt x="715102" y="1014448"/>
                        </a:cubicBezTo>
                        <a:cubicBezTo>
                          <a:pt x="613670" y="1073701"/>
                          <a:pt x="602241" y="941630"/>
                          <a:pt x="600098" y="910219"/>
                        </a:cubicBezTo>
                        <a:cubicBezTo>
                          <a:pt x="597955" y="879521"/>
                          <a:pt x="597955" y="850965"/>
                          <a:pt x="579383" y="841685"/>
                        </a:cubicBezTo>
                        <a:cubicBezTo>
                          <a:pt x="562240" y="833832"/>
                          <a:pt x="560811" y="746736"/>
                          <a:pt x="560811" y="731031"/>
                        </a:cubicBezTo>
                        <a:cubicBezTo>
                          <a:pt x="560811" y="730317"/>
                          <a:pt x="559382" y="728889"/>
                          <a:pt x="557954" y="728889"/>
                        </a:cubicBezTo>
                        <a:cubicBezTo>
                          <a:pt x="292944" y="695336"/>
                          <a:pt x="352232" y="609668"/>
                          <a:pt x="339374" y="532567"/>
                        </a:cubicBezTo>
                        <a:cubicBezTo>
                          <a:pt x="328660" y="471172"/>
                          <a:pt x="419377" y="430480"/>
                          <a:pt x="457950" y="416202"/>
                        </a:cubicBezTo>
                        <a:cubicBezTo>
                          <a:pt x="460093" y="415488"/>
                          <a:pt x="460093" y="412633"/>
                          <a:pt x="457950" y="411919"/>
                        </a:cubicBezTo>
                        <a:cubicBezTo>
                          <a:pt x="452236" y="408349"/>
                          <a:pt x="446521" y="399069"/>
                          <a:pt x="445807" y="375510"/>
                        </a:cubicBezTo>
                        <a:cubicBezTo>
                          <a:pt x="443664" y="325537"/>
                          <a:pt x="551525" y="281276"/>
                          <a:pt x="563668" y="276278"/>
                        </a:cubicBezTo>
                        <a:cubicBezTo>
                          <a:pt x="564383" y="276278"/>
                          <a:pt x="565097" y="275564"/>
                          <a:pt x="565097" y="274850"/>
                        </a:cubicBezTo>
                        <a:cubicBezTo>
                          <a:pt x="567954" y="265570"/>
                          <a:pt x="587241" y="200605"/>
                          <a:pt x="593669" y="200605"/>
                        </a:cubicBezTo>
                        <a:cubicBezTo>
                          <a:pt x="600098" y="200605"/>
                          <a:pt x="700102" y="167766"/>
                          <a:pt x="682244" y="139210"/>
                        </a:cubicBezTo>
                        <a:cubicBezTo>
                          <a:pt x="664386" y="109940"/>
                          <a:pt x="582955" y="129929"/>
                          <a:pt x="533667" y="156344"/>
                        </a:cubicBezTo>
                        <a:cubicBezTo>
                          <a:pt x="485094" y="182758"/>
                          <a:pt x="412234" y="204889"/>
                          <a:pt x="398662" y="169908"/>
                        </a:cubicBezTo>
                        <a:cubicBezTo>
                          <a:pt x="385805" y="134213"/>
                          <a:pt x="462950" y="105657"/>
                          <a:pt x="493666" y="89951"/>
                        </a:cubicBezTo>
                        <a:cubicBezTo>
                          <a:pt x="520095" y="76387"/>
                          <a:pt x="500095" y="22845"/>
                          <a:pt x="495094" y="9281"/>
                        </a:cubicBezTo>
                        <a:cubicBezTo>
                          <a:pt x="494380" y="7853"/>
                          <a:pt x="495094" y="6425"/>
                          <a:pt x="496523" y="5711"/>
                        </a:cubicBezTo>
                        <a:cubicBezTo>
                          <a:pt x="523667" y="2142"/>
                          <a:pt x="551525" y="0"/>
                          <a:pt x="579383" y="0"/>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59" name="Grupo 167"/>
            <p:cNvGrpSpPr/>
            <p:nvPr/>
          </p:nvGrpSpPr>
          <p:grpSpPr>
            <a:xfrm>
              <a:off x="7639053" y="1494503"/>
              <a:ext cx="972002" cy="1122694"/>
              <a:chOff x="7164251" y="1669461"/>
              <a:chExt cx="1047299" cy="1122694"/>
            </a:xfrm>
          </p:grpSpPr>
          <p:sp>
            <p:nvSpPr>
              <p:cNvPr id="160" name="Rectangle: Rounded Corners 213"/>
              <p:cNvSpPr/>
              <p:nvPr/>
            </p:nvSpPr>
            <p:spPr>
              <a:xfrm>
                <a:off x="722921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I+D</a:t>
                </a:r>
              </a:p>
            </p:txBody>
          </p:sp>
          <p:sp>
            <p:nvSpPr>
              <p:cNvPr id="161" name="Oval 20"/>
              <p:cNvSpPr>
                <a:spLocks noChangeAspect="1" noChangeArrowheads="1"/>
              </p:cNvSpPr>
              <p:nvPr/>
            </p:nvSpPr>
            <p:spPr bwMode="auto">
              <a:xfrm>
                <a:off x="71642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10</a:t>
                </a:r>
              </a:p>
            </p:txBody>
          </p:sp>
          <p:grpSp>
            <p:nvGrpSpPr>
              <p:cNvPr id="162" name="bcgIcons_Data Analysis "/>
              <p:cNvGrpSpPr>
                <a:grpSpLocks noChangeAspect="1"/>
              </p:cNvGrpSpPr>
              <p:nvPr/>
            </p:nvGrpSpPr>
            <p:grpSpPr>
              <a:xfrm>
                <a:off x="7510950" y="1827711"/>
                <a:ext cx="418857" cy="418454"/>
                <a:chOff x="6464300" y="2606675"/>
                <a:chExt cx="1646238" cy="1644650"/>
              </a:xfrm>
            </p:grpSpPr>
            <p:sp>
              <p:nvSpPr>
                <p:cNvPr id="163" name="AutoShape 15"/>
                <p:cNvSpPr>
                  <a:spLocks noChangeAspect="1"/>
                </p:cNvSpPr>
                <p:nvPr/>
              </p:nvSpPr>
              <p:spPr bwMode="auto">
                <a:xfrm>
                  <a:off x="6464300"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64" name="Group 259"/>
                <p:cNvGrpSpPr>
                  <a:grpSpLocks/>
                </p:cNvGrpSpPr>
                <p:nvPr/>
              </p:nvGrpSpPr>
              <p:grpSpPr>
                <a:xfrm>
                  <a:off x="6635750" y="2963862"/>
                  <a:ext cx="1367015" cy="1238250"/>
                  <a:chOff x="6635750" y="2963862"/>
                  <a:chExt cx="1367015" cy="1238250"/>
                </a:xfrm>
              </p:grpSpPr>
              <p:sp>
                <p:nvSpPr>
                  <p:cNvPr id="165" name="Freeform 10"/>
                  <p:cNvSpPr>
                    <a:spLocks/>
                  </p:cNvSpPr>
                  <p:nvPr/>
                </p:nvSpPr>
                <p:spPr bwMode="auto">
                  <a:xfrm>
                    <a:off x="6635750" y="2963862"/>
                    <a:ext cx="1367015" cy="1238250"/>
                  </a:xfrm>
                  <a:custGeom>
                    <a:avLst/>
                    <a:gdLst>
                      <a:gd name="connsiteX0" fmla="*/ 1124567 w 1367015"/>
                      <a:gd name="connsiteY0" fmla="*/ 922337 h 1238250"/>
                      <a:gd name="connsiteX1" fmla="*/ 1113855 w 1367015"/>
                      <a:gd name="connsiteY1" fmla="*/ 931647 h 1238250"/>
                      <a:gd name="connsiteX2" fmla="*/ 1058863 w 1367015"/>
                      <a:gd name="connsiteY2" fmla="*/ 985360 h 1238250"/>
                      <a:gd name="connsiteX3" fmla="*/ 1269544 w 1367015"/>
                      <a:gd name="connsiteY3" fmla="*/ 1205939 h 1238250"/>
                      <a:gd name="connsiteX4" fmla="*/ 1282399 w 1367015"/>
                      <a:gd name="connsiteY4" fmla="*/ 1205939 h 1238250"/>
                      <a:gd name="connsiteX5" fmla="*/ 1313109 w 1367015"/>
                      <a:gd name="connsiteY5" fmla="*/ 1185886 h 1238250"/>
                      <a:gd name="connsiteX6" fmla="*/ 1333820 w 1367015"/>
                      <a:gd name="connsiteY6" fmla="*/ 1155807 h 1238250"/>
                      <a:gd name="connsiteX7" fmla="*/ 1335248 w 1367015"/>
                      <a:gd name="connsiteY7" fmla="*/ 1142916 h 1238250"/>
                      <a:gd name="connsiteX8" fmla="*/ 1133851 w 1367015"/>
                      <a:gd name="connsiteY8" fmla="*/ 931647 h 1238250"/>
                      <a:gd name="connsiteX9" fmla="*/ 1124567 w 1367015"/>
                      <a:gd name="connsiteY9" fmla="*/ 922337 h 1238250"/>
                      <a:gd name="connsiteX10" fmla="*/ 925229 w 1367015"/>
                      <a:gd name="connsiteY10" fmla="*/ 906462 h 1238250"/>
                      <a:gd name="connsiteX11" fmla="*/ 949325 w 1367015"/>
                      <a:gd name="connsiteY11" fmla="*/ 931862 h 1238250"/>
                      <a:gd name="connsiteX12" fmla="*/ 869950 w 1367015"/>
                      <a:gd name="connsiteY12" fmla="*/ 931862 h 1238250"/>
                      <a:gd name="connsiteX13" fmla="*/ 925229 w 1367015"/>
                      <a:gd name="connsiteY13" fmla="*/ 906462 h 1238250"/>
                      <a:gd name="connsiteX14" fmla="*/ 1124927 w 1367015"/>
                      <a:gd name="connsiteY14" fmla="*/ 884237 h 1238250"/>
                      <a:gd name="connsiteX15" fmla="*/ 1135645 w 1367015"/>
                      <a:gd name="connsiteY15" fmla="*/ 889243 h 1238250"/>
                      <a:gd name="connsiteX16" fmla="*/ 1146363 w 1367015"/>
                      <a:gd name="connsiteY16" fmla="*/ 900686 h 1238250"/>
                      <a:gd name="connsiteX17" fmla="*/ 1176374 w 1367015"/>
                      <a:gd name="connsiteY17" fmla="*/ 932154 h 1238250"/>
                      <a:gd name="connsiteX18" fmla="*/ 1357152 w 1367015"/>
                      <a:gd name="connsiteY18" fmla="*/ 1121676 h 1238250"/>
                      <a:gd name="connsiteX19" fmla="*/ 1363582 w 1367015"/>
                      <a:gd name="connsiteY19" fmla="*/ 1166017 h 1238250"/>
                      <a:gd name="connsiteX20" fmla="*/ 1335001 w 1367015"/>
                      <a:gd name="connsiteY20" fmla="*/ 1208928 h 1238250"/>
                      <a:gd name="connsiteX21" fmla="*/ 1290700 w 1367015"/>
                      <a:gd name="connsiteY21" fmla="*/ 1236105 h 1238250"/>
                      <a:gd name="connsiteX22" fmla="*/ 1273551 w 1367015"/>
                      <a:gd name="connsiteY22" fmla="*/ 1238250 h 1238250"/>
                      <a:gd name="connsiteX23" fmla="*/ 1246398 w 1367015"/>
                      <a:gd name="connsiteY23" fmla="*/ 1227522 h 1238250"/>
                      <a:gd name="connsiteX24" fmla="*/ 1024892 w 1367015"/>
                      <a:gd name="connsiteY24" fmla="*/ 996520 h 1238250"/>
                      <a:gd name="connsiteX25" fmla="*/ 1025606 w 1367015"/>
                      <a:gd name="connsiteY25" fmla="*/ 974350 h 1238250"/>
                      <a:gd name="connsiteX26" fmla="*/ 1068478 w 1367015"/>
                      <a:gd name="connsiteY26" fmla="*/ 932154 h 1238250"/>
                      <a:gd name="connsiteX27" fmla="*/ 1076338 w 1367015"/>
                      <a:gd name="connsiteY27" fmla="*/ 925002 h 1238250"/>
                      <a:gd name="connsiteX28" fmla="*/ 1100633 w 1367015"/>
                      <a:gd name="connsiteY28" fmla="*/ 900686 h 1238250"/>
                      <a:gd name="connsiteX29" fmla="*/ 1104205 w 1367015"/>
                      <a:gd name="connsiteY29" fmla="*/ 897826 h 1238250"/>
                      <a:gd name="connsiteX30" fmla="*/ 1113494 w 1367015"/>
                      <a:gd name="connsiteY30" fmla="*/ 889243 h 1238250"/>
                      <a:gd name="connsiteX31" fmla="*/ 1124927 w 1367015"/>
                      <a:gd name="connsiteY31" fmla="*/ 884237 h 1238250"/>
                      <a:gd name="connsiteX32" fmla="*/ 346518 w 1367015"/>
                      <a:gd name="connsiteY32" fmla="*/ 565150 h 1238250"/>
                      <a:gd name="connsiteX33" fmla="*/ 306388 w 1367015"/>
                      <a:gd name="connsiteY33" fmla="*/ 606784 h 1238250"/>
                      <a:gd name="connsiteX34" fmla="*/ 306388 w 1367015"/>
                      <a:gd name="connsiteY34" fmla="*/ 608938 h 1238250"/>
                      <a:gd name="connsiteX35" fmla="*/ 319765 w 1367015"/>
                      <a:gd name="connsiteY35" fmla="*/ 636933 h 1238250"/>
                      <a:gd name="connsiteX36" fmla="*/ 346518 w 1367015"/>
                      <a:gd name="connsiteY36" fmla="*/ 647700 h 1238250"/>
                      <a:gd name="connsiteX37" fmla="*/ 387351 w 1367015"/>
                      <a:gd name="connsiteY37" fmla="*/ 606784 h 1238250"/>
                      <a:gd name="connsiteX38" fmla="*/ 383127 w 1367015"/>
                      <a:gd name="connsiteY38" fmla="*/ 588838 h 1238250"/>
                      <a:gd name="connsiteX39" fmla="*/ 360598 w 1367015"/>
                      <a:gd name="connsiteY39" fmla="*/ 568021 h 1238250"/>
                      <a:gd name="connsiteX40" fmla="*/ 346518 w 1367015"/>
                      <a:gd name="connsiteY40" fmla="*/ 565150 h 1238250"/>
                      <a:gd name="connsiteX41" fmla="*/ 760846 w 1367015"/>
                      <a:gd name="connsiteY41" fmla="*/ 492125 h 1238250"/>
                      <a:gd name="connsiteX42" fmla="*/ 735591 w 1367015"/>
                      <a:gd name="connsiteY42" fmla="*/ 499181 h 1238250"/>
                      <a:gd name="connsiteX43" fmla="*/ 710335 w 1367015"/>
                      <a:gd name="connsiteY43" fmla="*/ 535164 h 1238250"/>
                      <a:gd name="connsiteX44" fmla="*/ 709613 w 1367015"/>
                      <a:gd name="connsiteY44" fmla="*/ 542925 h 1238250"/>
                      <a:gd name="connsiteX45" fmla="*/ 760846 w 1367015"/>
                      <a:gd name="connsiteY45" fmla="*/ 593725 h 1238250"/>
                      <a:gd name="connsiteX46" fmla="*/ 767341 w 1367015"/>
                      <a:gd name="connsiteY46" fmla="*/ 593725 h 1238250"/>
                      <a:gd name="connsiteX47" fmla="*/ 804864 w 1367015"/>
                      <a:gd name="connsiteY47" fmla="*/ 570442 h 1238250"/>
                      <a:gd name="connsiteX48" fmla="*/ 812801 w 1367015"/>
                      <a:gd name="connsiteY48" fmla="*/ 542925 h 1238250"/>
                      <a:gd name="connsiteX49" fmla="*/ 812801 w 1367015"/>
                      <a:gd name="connsiteY49" fmla="*/ 539397 h 1238250"/>
                      <a:gd name="connsiteX50" fmla="*/ 768062 w 1367015"/>
                      <a:gd name="connsiteY50" fmla="*/ 492831 h 1238250"/>
                      <a:gd name="connsiteX51" fmla="*/ 760846 w 1367015"/>
                      <a:gd name="connsiteY51" fmla="*/ 492125 h 1238250"/>
                      <a:gd name="connsiteX52" fmla="*/ 891455 w 1367015"/>
                      <a:gd name="connsiteY52" fmla="*/ 415925 h 1238250"/>
                      <a:gd name="connsiteX53" fmla="*/ 915035 w 1367015"/>
                      <a:gd name="connsiteY53" fmla="*/ 434485 h 1238250"/>
                      <a:gd name="connsiteX54" fmla="*/ 920751 w 1367015"/>
                      <a:gd name="connsiteY54" fmla="*/ 439482 h 1238250"/>
                      <a:gd name="connsiteX55" fmla="*/ 877164 w 1367015"/>
                      <a:gd name="connsiteY55" fmla="*/ 474460 h 1238250"/>
                      <a:gd name="connsiteX56" fmla="*/ 850012 w 1367015"/>
                      <a:gd name="connsiteY56" fmla="*/ 496589 h 1238250"/>
                      <a:gd name="connsiteX57" fmla="*/ 838579 w 1367015"/>
                      <a:gd name="connsiteY57" fmla="*/ 505155 h 1238250"/>
                      <a:gd name="connsiteX58" fmla="*/ 844296 w 1367015"/>
                      <a:gd name="connsiteY58" fmla="*/ 519432 h 1238250"/>
                      <a:gd name="connsiteX59" fmla="*/ 847154 w 1367015"/>
                      <a:gd name="connsiteY59" fmla="*/ 542989 h 1238250"/>
                      <a:gd name="connsiteX60" fmla="*/ 845725 w 1367015"/>
                      <a:gd name="connsiteY60" fmla="*/ 561549 h 1238250"/>
                      <a:gd name="connsiteX61" fmla="*/ 824289 w 1367015"/>
                      <a:gd name="connsiteY61" fmla="*/ 601524 h 1238250"/>
                      <a:gd name="connsiteX62" fmla="*/ 761409 w 1367015"/>
                      <a:gd name="connsiteY62" fmla="*/ 628650 h 1238250"/>
                      <a:gd name="connsiteX63" fmla="*/ 676379 w 1367015"/>
                      <a:gd name="connsiteY63" fmla="*/ 542989 h 1238250"/>
                      <a:gd name="connsiteX64" fmla="*/ 678523 w 1367015"/>
                      <a:gd name="connsiteY64" fmla="*/ 523715 h 1238250"/>
                      <a:gd name="connsiteX65" fmla="*/ 582775 w 1367015"/>
                      <a:gd name="connsiteY65" fmla="*/ 477316 h 1238250"/>
                      <a:gd name="connsiteX66" fmla="*/ 569913 w 1367015"/>
                      <a:gd name="connsiteY66" fmla="*/ 470891 h 1238250"/>
                      <a:gd name="connsiteX67" fmla="*/ 594208 w 1367015"/>
                      <a:gd name="connsiteY67" fmla="*/ 441623 h 1238250"/>
                      <a:gd name="connsiteX68" fmla="*/ 694957 w 1367015"/>
                      <a:gd name="connsiteY68" fmla="*/ 490165 h 1238250"/>
                      <a:gd name="connsiteX69" fmla="*/ 715679 w 1367015"/>
                      <a:gd name="connsiteY69" fmla="*/ 470891 h 1238250"/>
                      <a:gd name="connsiteX70" fmla="*/ 761409 w 1367015"/>
                      <a:gd name="connsiteY70" fmla="*/ 457328 h 1238250"/>
                      <a:gd name="connsiteX71" fmla="*/ 789991 w 1367015"/>
                      <a:gd name="connsiteY71" fmla="*/ 462325 h 1238250"/>
                      <a:gd name="connsiteX72" fmla="*/ 815714 w 1367015"/>
                      <a:gd name="connsiteY72" fmla="*/ 476602 h 1238250"/>
                      <a:gd name="connsiteX73" fmla="*/ 831434 w 1367015"/>
                      <a:gd name="connsiteY73" fmla="*/ 464466 h 1238250"/>
                      <a:gd name="connsiteX74" fmla="*/ 891455 w 1367015"/>
                      <a:gd name="connsiteY74" fmla="*/ 415925 h 1238250"/>
                      <a:gd name="connsiteX75" fmla="*/ 772661 w 1367015"/>
                      <a:gd name="connsiteY75" fmla="*/ 346605 h 1238250"/>
                      <a:gd name="connsiteX76" fmla="*/ 628158 w 1367015"/>
                      <a:gd name="connsiteY76" fmla="*/ 379415 h 1238250"/>
                      <a:gd name="connsiteX77" fmla="*/ 571784 w 1367015"/>
                      <a:gd name="connsiteY77" fmla="*/ 420783 h 1238250"/>
                      <a:gd name="connsiteX78" fmla="*/ 546809 w 1367015"/>
                      <a:gd name="connsiteY78" fmla="*/ 449314 h 1238250"/>
                      <a:gd name="connsiteX79" fmla="*/ 524687 w 1367015"/>
                      <a:gd name="connsiteY79" fmla="*/ 482123 h 1238250"/>
                      <a:gd name="connsiteX80" fmla="*/ 564648 w 1367015"/>
                      <a:gd name="connsiteY80" fmla="*/ 800235 h 1238250"/>
                      <a:gd name="connsiteX81" fmla="*/ 678110 w 1367015"/>
                      <a:gd name="connsiteY81" fmla="*/ 869420 h 1238250"/>
                      <a:gd name="connsiteX82" fmla="*/ 837955 w 1367015"/>
                      <a:gd name="connsiteY82" fmla="*/ 869420 h 1238250"/>
                      <a:gd name="connsiteX83" fmla="*/ 921445 w 1367015"/>
                      <a:gd name="connsiteY83" fmla="*/ 826625 h 1238250"/>
                      <a:gd name="connsiteX84" fmla="*/ 944280 w 1367015"/>
                      <a:gd name="connsiteY84" fmla="*/ 807367 h 1238250"/>
                      <a:gd name="connsiteX85" fmla="*/ 967115 w 1367015"/>
                      <a:gd name="connsiteY85" fmla="*/ 783117 h 1238250"/>
                      <a:gd name="connsiteX86" fmla="*/ 959979 w 1367015"/>
                      <a:gd name="connsiteY86" fmla="*/ 437902 h 1238250"/>
                      <a:gd name="connsiteX87" fmla="*/ 951416 w 1367015"/>
                      <a:gd name="connsiteY87" fmla="*/ 427916 h 1238250"/>
                      <a:gd name="connsiteX88" fmla="*/ 937858 w 1367015"/>
                      <a:gd name="connsiteY88" fmla="*/ 415791 h 1238250"/>
                      <a:gd name="connsiteX89" fmla="*/ 912882 w 1367015"/>
                      <a:gd name="connsiteY89" fmla="*/ 395106 h 1238250"/>
                      <a:gd name="connsiteX90" fmla="*/ 772661 w 1367015"/>
                      <a:gd name="connsiteY90" fmla="*/ 346605 h 1238250"/>
                      <a:gd name="connsiteX91" fmla="*/ 785477 w 1367015"/>
                      <a:gd name="connsiteY91" fmla="*/ 308032 h 1238250"/>
                      <a:gd name="connsiteX92" fmla="*/ 945296 w 1367015"/>
                      <a:gd name="connsiteY92" fmla="*/ 370115 h 1238250"/>
                      <a:gd name="connsiteX93" fmla="*/ 969609 w 1367015"/>
                      <a:gd name="connsiteY93" fmla="*/ 390809 h 1238250"/>
                      <a:gd name="connsiteX94" fmla="*/ 980335 w 1367015"/>
                      <a:gd name="connsiteY94" fmla="*/ 400799 h 1238250"/>
                      <a:gd name="connsiteX95" fmla="*/ 991061 w 1367015"/>
                      <a:gd name="connsiteY95" fmla="*/ 413644 h 1238250"/>
                      <a:gd name="connsiteX96" fmla="*/ 1008223 w 1367015"/>
                      <a:gd name="connsiteY96" fmla="*/ 791852 h 1238250"/>
                      <a:gd name="connsiteX97" fmla="*/ 1080445 w 1367015"/>
                      <a:gd name="connsiteY97" fmla="*/ 866780 h 1238250"/>
                      <a:gd name="connsiteX98" fmla="*/ 1081875 w 1367015"/>
                      <a:gd name="connsiteY98" fmla="*/ 868921 h 1238250"/>
                      <a:gd name="connsiteX99" fmla="*/ 1081875 w 1367015"/>
                      <a:gd name="connsiteY99" fmla="*/ 876770 h 1238250"/>
                      <a:gd name="connsiteX100" fmla="*/ 1056848 w 1367015"/>
                      <a:gd name="connsiteY100" fmla="*/ 900319 h 1238250"/>
                      <a:gd name="connsiteX101" fmla="*/ 1055418 w 1367015"/>
                      <a:gd name="connsiteY101" fmla="*/ 901746 h 1238250"/>
                      <a:gd name="connsiteX102" fmla="*/ 1023954 w 1367015"/>
                      <a:gd name="connsiteY102" fmla="*/ 931717 h 1238250"/>
                      <a:gd name="connsiteX103" fmla="*/ 1014658 w 1367015"/>
                      <a:gd name="connsiteY103" fmla="*/ 940994 h 1238250"/>
                      <a:gd name="connsiteX104" fmla="*/ 1003217 w 1367015"/>
                      <a:gd name="connsiteY104" fmla="*/ 940994 h 1238250"/>
                      <a:gd name="connsiteX105" fmla="*/ 993921 w 1367015"/>
                      <a:gd name="connsiteY105" fmla="*/ 931717 h 1238250"/>
                      <a:gd name="connsiteX106" fmla="*/ 963888 w 1367015"/>
                      <a:gd name="connsiteY106" fmla="*/ 900319 h 1238250"/>
                      <a:gd name="connsiteX107" fmla="*/ 933140 w 1367015"/>
                      <a:gd name="connsiteY107" fmla="*/ 868921 h 1238250"/>
                      <a:gd name="connsiteX108" fmla="*/ 930995 w 1367015"/>
                      <a:gd name="connsiteY108" fmla="*/ 866780 h 1238250"/>
                      <a:gd name="connsiteX109" fmla="*/ 926704 w 1367015"/>
                      <a:gd name="connsiteY109" fmla="*/ 868921 h 1238250"/>
                      <a:gd name="connsiteX110" fmla="*/ 864493 w 1367015"/>
                      <a:gd name="connsiteY110" fmla="*/ 900319 h 1238250"/>
                      <a:gd name="connsiteX111" fmla="*/ 651400 w 1367015"/>
                      <a:gd name="connsiteY111" fmla="*/ 900319 h 1238250"/>
                      <a:gd name="connsiteX112" fmla="*/ 589189 w 1367015"/>
                      <a:gd name="connsiteY112" fmla="*/ 868921 h 1238250"/>
                      <a:gd name="connsiteX113" fmla="*/ 536988 w 1367015"/>
                      <a:gd name="connsiteY113" fmla="*/ 826105 h 1238250"/>
                      <a:gd name="connsiteX114" fmla="*/ 457615 w 1367015"/>
                      <a:gd name="connsiteY114" fmla="*/ 554937 h 1238250"/>
                      <a:gd name="connsiteX115" fmla="*/ 481213 w 1367015"/>
                      <a:gd name="connsiteY115" fmla="*/ 482863 h 1238250"/>
                      <a:gd name="connsiteX116" fmla="*/ 530553 w 1367015"/>
                      <a:gd name="connsiteY116" fmla="*/ 408649 h 1238250"/>
                      <a:gd name="connsiteX117" fmla="*/ 545569 w 1367015"/>
                      <a:gd name="connsiteY117" fmla="*/ 392236 h 1238250"/>
                      <a:gd name="connsiteX118" fmla="*/ 592049 w 1367015"/>
                      <a:gd name="connsiteY118" fmla="*/ 355843 h 1238250"/>
                      <a:gd name="connsiteX119" fmla="*/ 619222 w 1367015"/>
                      <a:gd name="connsiteY119" fmla="*/ 340143 h 1238250"/>
                      <a:gd name="connsiteX120" fmla="*/ 785477 w 1367015"/>
                      <a:gd name="connsiteY120" fmla="*/ 308032 h 1238250"/>
                      <a:gd name="connsiteX121" fmla="*/ 555676 w 1367015"/>
                      <a:gd name="connsiteY121" fmla="*/ 304800 h 1238250"/>
                      <a:gd name="connsiteX122" fmla="*/ 595313 w 1367015"/>
                      <a:gd name="connsiteY122" fmla="*/ 316982 h 1238250"/>
                      <a:gd name="connsiteX123" fmla="*/ 563462 w 1367015"/>
                      <a:gd name="connsiteY123" fmla="*/ 337046 h 1238250"/>
                      <a:gd name="connsiteX124" fmla="*/ 555676 w 1367015"/>
                      <a:gd name="connsiteY124" fmla="*/ 336330 h 1238250"/>
                      <a:gd name="connsiteX125" fmla="*/ 515331 w 1367015"/>
                      <a:gd name="connsiteY125" fmla="*/ 377175 h 1238250"/>
                      <a:gd name="connsiteX126" fmla="*/ 515331 w 1367015"/>
                      <a:gd name="connsiteY126" fmla="*/ 379325 h 1238250"/>
                      <a:gd name="connsiteX127" fmla="*/ 490558 w 1367015"/>
                      <a:gd name="connsiteY127" fmla="*/ 407988 h 1238250"/>
                      <a:gd name="connsiteX128" fmla="*/ 484188 w 1367015"/>
                      <a:gd name="connsiteY128" fmla="*/ 377175 h 1238250"/>
                      <a:gd name="connsiteX129" fmla="*/ 555676 w 1367015"/>
                      <a:gd name="connsiteY129" fmla="*/ 304800 h 1238250"/>
                      <a:gd name="connsiteX130" fmla="*/ 1089384 w 1367015"/>
                      <a:gd name="connsiteY130" fmla="*/ 233362 h 1238250"/>
                      <a:gd name="connsiteX131" fmla="*/ 1047750 w 1367015"/>
                      <a:gd name="connsiteY131" fmla="*/ 274996 h 1238250"/>
                      <a:gd name="connsiteX132" fmla="*/ 1049186 w 1367015"/>
                      <a:gd name="connsiteY132" fmla="*/ 286481 h 1238250"/>
                      <a:gd name="connsiteX133" fmla="*/ 1069285 w 1367015"/>
                      <a:gd name="connsiteY133" fmla="*/ 310887 h 1238250"/>
                      <a:gd name="connsiteX134" fmla="*/ 1089384 w 1367015"/>
                      <a:gd name="connsiteY134" fmla="*/ 315912 h 1238250"/>
                      <a:gd name="connsiteX135" fmla="*/ 1130300 w 1367015"/>
                      <a:gd name="connsiteY135" fmla="*/ 274996 h 1238250"/>
                      <a:gd name="connsiteX136" fmla="*/ 1128865 w 1367015"/>
                      <a:gd name="connsiteY136" fmla="*/ 264229 h 1238250"/>
                      <a:gd name="connsiteX137" fmla="*/ 1109483 w 1367015"/>
                      <a:gd name="connsiteY137" fmla="*/ 239105 h 1238250"/>
                      <a:gd name="connsiteX138" fmla="*/ 1089384 w 1367015"/>
                      <a:gd name="connsiteY138" fmla="*/ 233362 h 1238250"/>
                      <a:gd name="connsiteX139" fmla="*/ 15705 w 1367015"/>
                      <a:gd name="connsiteY139" fmla="*/ 0 h 1238250"/>
                      <a:gd name="connsiteX140" fmla="*/ 1289220 w 1367015"/>
                      <a:gd name="connsiteY140" fmla="*/ 0 h 1238250"/>
                      <a:gd name="connsiteX141" fmla="*/ 1304925 w 1367015"/>
                      <a:gd name="connsiteY141" fmla="*/ 15698 h 1238250"/>
                      <a:gd name="connsiteX142" fmla="*/ 1304925 w 1367015"/>
                      <a:gd name="connsiteY142" fmla="*/ 916166 h 1238250"/>
                      <a:gd name="connsiteX143" fmla="*/ 1289220 w 1367015"/>
                      <a:gd name="connsiteY143" fmla="*/ 931863 h 1238250"/>
                      <a:gd name="connsiteX144" fmla="*/ 1219977 w 1367015"/>
                      <a:gd name="connsiteY144" fmla="*/ 931863 h 1238250"/>
                      <a:gd name="connsiteX145" fmla="*/ 1189995 w 1367015"/>
                      <a:gd name="connsiteY145" fmla="*/ 900468 h 1238250"/>
                      <a:gd name="connsiteX146" fmla="*/ 1273516 w 1367015"/>
                      <a:gd name="connsiteY146" fmla="*/ 900468 h 1238250"/>
                      <a:gd name="connsiteX147" fmla="*/ 1273516 w 1367015"/>
                      <a:gd name="connsiteY147" fmla="*/ 151267 h 1238250"/>
                      <a:gd name="connsiteX148" fmla="*/ 1242106 w 1367015"/>
                      <a:gd name="connsiteY148" fmla="*/ 175527 h 1238250"/>
                      <a:gd name="connsiteX149" fmla="*/ 1154302 w 1367015"/>
                      <a:gd name="connsiteY149" fmla="*/ 243312 h 1238250"/>
                      <a:gd name="connsiteX150" fmla="*/ 1161441 w 1367015"/>
                      <a:gd name="connsiteY150" fmla="*/ 274707 h 1238250"/>
                      <a:gd name="connsiteX151" fmla="*/ 1089341 w 1367015"/>
                      <a:gd name="connsiteY151" fmla="*/ 346773 h 1238250"/>
                      <a:gd name="connsiteX152" fmla="*/ 1043655 w 1367015"/>
                      <a:gd name="connsiteY152" fmla="*/ 331076 h 1238250"/>
                      <a:gd name="connsiteX153" fmla="*/ 993685 w 1367015"/>
                      <a:gd name="connsiteY153" fmla="*/ 371033 h 1238250"/>
                      <a:gd name="connsiteX154" fmla="*/ 969414 w 1367015"/>
                      <a:gd name="connsiteY154" fmla="*/ 349627 h 1238250"/>
                      <a:gd name="connsiteX155" fmla="*/ 1024381 w 1367015"/>
                      <a:gd name="connsiteY155" fmla="*/ 306102 h 1238250"/>
                      <a:gd name="connsiteX156" fmla="*/ 1016528 w 1367015"/>
                      <a:gd name="connsiteY156" fmla="*/ 274707 h 1238250"/>
                      <a:gd name="connsiteX157" fmla="*/ 1089341 w 1367015"/>
                      <a:gd name="connsiteY157" fmla="*/ 201928 h 1238250"/>
                      <a:gd name="connsiteX158" fmla="*/ 1135028 w 1367015"/>
                      <a:gd name="connsiteY158" fmla="*/ 219052 h 1238250"/>
                      <a:gd name="connsiteX159" fmla="*/ 1242106 w 1367015"/>
                      <a:gd name="connsiteY159" fmla="*/ 136283 h 1238250"/>
                      <a:gd name="connsiteX160" fmla="*/ 1269946 w 1367015"/>
                      <a:gd name="connsiteY160" fmla="*/ 114878 h 1238250"/>
                      <a:gd name="connsiteX161" fmla="*/ 1273516 w 1367015"/>
                      <a:gd name="connsiteY161" fmla="*/ 112737 h 1238250"/>
                      <a:gd name="connsiteX162" fmla="*/ 1273516 w 1367015"/>
                      <a:gd name="connsiteY162" fmla="*/ 31395 h 1238250"/>
                      <a:gd name="connsiteX163" fmla="*/ 31410 w 1367015"/>
                      <a:gd name="connsiteY163" fmla="*/ 31395 h 1238250"/>
                      <a:gd name="connsiteX164" fmla="*/ 31410 w 1367015"/>
                      <a:gd name="connsiteY164" fmla="*/ 741352 h 1238250"/>
                      <a:gd name="connsiteX165" fmla="*/ 62819 w 1367015"/>
                      <a:gd name="connsiteY165" fmla="*/ 726368 h 1238250"/>
                      <a:gd name="connsiteX166" fmla="*/ 276976 w 1367015"/>
                      <a:gd name="connsiteY166" fmla="*/ 623621 h 1238250"/>
                      <a:gd name="connsiteX167" fmla="*/ 274834 w 1367015"/>
                      <a:gd name="connsiteY167" fmla="*/ 607210 h 1238250"/>
                      <a:gd name="connsiteX168" fmla="*/ 346933 w 1367015"/>
                      <a:gd name="connsiteY168" fmla="*/ 534430 h 1238250"/>
                      <a:gd name="connsiteX169" fmla="*/ 383340 w 1367015"/>
                      <a:gd name="connsiteY169" fmla="*/ 543706 h 1238250"/>
                      <a:gd name="connsiteX170" fmla="*/ 454725 w 1367015"/>
                      <a:gd name="connsiteY170" fmla="*/ 465218 h 1238250"/>
                      <a:gd name="connsiteX171" fmla="*/ 429026 w 1367015"/>
                      <a:gd name="connsiteY171" fmla="*/ 540138 h 1238250"/>
                      <a:gd name="connsiteX172" fmla="*/ 406183 w 1367015"/>
                      <a:gd name="connsiteY172" fmla="*/ 565112 h 1238250"/>
                      <a:gd name="connsiteX173" fmla="*/ 419746 w 1367015"/>
                      <a:gd name="connsiteY173" fmla="*/ 607210 h 1238250"/>
                      <a:gd name="connsiteX174" fmla="*/ 346933 w 1367015"/>
                      <a:gd name="connsiteY174" fmla="*/ 679275 h 1238250"/>
                      <a:gd name="connsiteX175" fmla="*/ 290539 w 1367015"/>
                      <a:gd name="connsiteY175" fmla="*/ 651448 h 1238250"/>
                      <a:gd name="connsiteX176" fmla="*/ 62819 w 1367015"/>
                      <a:gd name="connsiteY176" fmla="*/ 761331 h 1238250"/>
                      <a:gd name="connsiteX177" fmla="*/ 31410 w 1367015"/>
                      <a:gd name="connsiteY177" fmla="*/ 776315 h 1238250"/>
                      <a:gd name="connsiteX178" fmla="*/ 31410 w 1367015"/>
                      <a:gd name="connsiteY178" fmla="*/ 900468 h 1238250"/>
                      <a:gd name="connsiteX179" fmla="*/ 579650 w 1367015"/>
                      <a:gd name="connsiteY179" fmla="*/ 900468 h 1238250"/>
                      <a:gd name="connsiteX180" fmla="*/ 645324 w 1367015"/>
                      <a:gd name="connsiteY180" fmla="*/ 931863 h 1238250"/>
                      <a:gd name="connsiteX181" fmla="*/ 15705 w 1367015"/>
                      <a:gd name="connsiteY181" fmla="*/ 931863 h 1238250"/>
                      <a:gd name="connsiteX182" fmla="*/ 0 w 1367015"/>
                      <a:gd name="connsiteY182" fmla="*/ 916166 h 1238250"/>
                      <a:gd name="connsiteX183" fmla="*/ 0 w 1367015"/>
                      <a:gd name="connsiteY183" fmla="*/ 15698 h 1238250"/>
                      <a:gd name="connsiteX184" fmla="*/ 15705 w 1367015"/>
                      <a:gd name="connsiteY184" fmla="*/ 0 h 123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367015" h="1238250">
                        <a:moveTo>
                          <a:pt x="1124567" y="922337"/>
                        </a:moveTo>
                        <a:cubicBezTo>
                          <a:pt x="1124567" y="922337"/>
                          <a:pt x="1124567" y="922337"/>
                          <a:pt x="1113855" y="931647"/>
                        </a:cubicBezTo>
                        <a:cubicBezTo>
                          <a:pt x="1113855" y="931647"/>
                          <a:pt x="1113855" y="931647"/>
                          <a:pt x="1058863" y="985360"/>
                        </a:cubicBezTo>
                        <a:cubicBezTo>
                          <a:pt x="1269544" y="1205939"/>
                          <a:pt x="1269544" y="1205939"/>
                          <a:pt x="1269544" y="1205939"/>
                        </a:cubicBezTo>
                        <a:cubicBezTo>
                          <a:pt x="1270258" y="1206655"/>
                          <a:pt x="1274543" y="1208087"/>
                          <a:pt x="1282399" y="1205939"/>
                        </a:cubicBezTo>
                        <a:cubicBezTo>
                          <a:pt x="1292398" y="1203074"/>
                          <a:pt x="1303110" y="1195912"/>
                          <a:pt x="1313109" y="1185886"/>
                        </a:cubicBezTo>
                        <a:cubicBezTo>
                          <a:pt x="1323107" y="1176576"/>
                          <a:pt x="1330963" y="1165833"/>
                          <a:pt x="1333820" y="1155807"/>
                        </a:cubicBezTo>
                        <a:cubicBezTo>
                          <a:pt x="1336676" y="1147929"/>
                          <a:pt x="1335962" y="1143632"/>
                          <a:pt x="1335248" y="1142916"/>
                        </a:cubicBezTo>
                        <a:cubicBezTo>
                          <a:pt x="1198841" y="1000399"/>
                          <a:pt x="1150277" y="949551"/>
                          <a:pt x="1133851" y="931647"/>
                        </a:cubicBezTo>
                        <a:cubicBezTo>
                          <a:pt x="1124567" y="922337"/>
                          <a:pt x="1124567" y="922337"/>
                          <a:pt x="1124567" y="922337"/>
                        </a:cubicBezTo>
                        <a:close/>
                        <a:moveTo>
                          <a:pt x="925229" y="906462"/>
                        </a:moveTo>
                        <a:cubicBezTo>
                          <a:pt x="925229" y="906462"/>
                          <a:pt x="925229" y="906462"/>
                          <a:pt x="949325" y="931862"/>
                        </a:cubicBezTo>
                        <a:cubicBezTo>
                          <a:pt x="949325" y="931862"/>
                          <a:pt x="949325" y="931862"/>
                          <a:pt x="869950" y="931862"/>
                        </a:cubicBezTo>
                        <a:cubicBezTo>
                          <a:pt x="889085" y="925331"/>
                          <a:pt x="907512" y="916622"/>
                          <a:pt x="925229" y="906462"/>
                        </a:cubicBezTo>
                        <a:close/>
                        <a:moveTo>
                          <a:pt x="1124927" y="884237"/>
                        </a:moveTo>
                        <a:cubicBezTo>
                          <a:pt x="1129214" y="884952"/>
                          <a:pt x="1132787" y="886383"/>
                          <a:pt x="1135645" y="889243"/>
                        </a:cubicBezTo>
                        <a:cubicBezTo>
                          <a:pt x="1139218" y="893534"/>
                          <a:pt x="1142790" y="897110"/>
                          <a:pt x="1146363" y="900686"/>
                        </a:cubicBezTo>
                        <a:cubicBezTo>
                          <a:pt x="1157081" y="912129"/>
                          <a:pt x="1167085" y="922857"/>
                          <a:pt x="1176374" y="932154"/>
                        </a:cubicBezTo>
                        <a:cubicBezTo>
                          <a:pt x="1357152" y="1121676"/>
                          <a:pt x="1357152" y="1121676"/>
                          <a:pt x="1357152" y="1121676"/>
                        </a:cubicBezTo>
                        <a:cubicBezTo>
                          <a:pt x="1367155" y="1131689"/>
                          <a:pt x="1370013" y="1148138"/>
                          <a:pt x="1363582" y="1166017"/>
                        </a:cubicBezTo>
                        <a:cubicBezTo>
                          <a:pt x="1358581" y="1181036"/>
                          <a:pt x="1348577" y="1196055"/>
                          <a:pt x="1335001" y="1208928"/>
                        </a:cubicBezTo>
                        <a:cubicBezTo>
                          <a:pt x="1321425" y="1221801"/>
                          <a:pt x="1305705" y="1231814"/>
                          <a:pt x="1290700" y="1236105"/>
                        </a:cubicBezTo>
                        <a:cubicBezTo>
                          <a:pt x="1284983" y="1237535"/>
                          <a:pt x="1279267" y="1238250"/>
                          <a:pt x="1273551" y="1238250"/>
                        </a:cubicBezTo>
                        <a:cubicBezTo>
                          <a:pt x="1262833" y="1238250"/>
                          <a:pt x="1252829" y="1234674"/>
                          <a:pt x="1246398" y="1227522"/>
                        </a:cubicBezTo>
                        <a:cubicBezTo>
                          <a:pt x="1024892" y="996520"/>
                          <a:pt x="1024892" y="996520"/>
                          <a:pt x="1024892" y="996520"/>
                        </a:cubicBezTo>
                        <a:cubicBezTo>
                          <a:pt x="1019175" y="990083"/>
                          <a:pt x="1019175" y="980071"/>
                          <a:pt x="1025606" y="974350"/>
                        </a:cubicBezTo>
                        <a:cubicBezTo>
                          <a:pt x="1042755" y="957185"/>
                          <a:pt x="1057046" y="943597"/>
                          <a:pt x="1068478" y="932154"/>
                        </a:cubicBezTo>
                        <a:cubicBezTo>
                          <a:pt x="1071336" y="930009"/>
                          <a:pt x="1073480" y="927148"/>
                          <a:pt x="1076338" y="925002"/>
                        </a:cubicBezTo>
                        <a:cubicBezTo>
                          <a:pt x="1087771" y="914275"/>
                          <a:pt x="1095631" y="906408"/>
                          <a:pt x="1100633" y="900686"/>
                        </a:cubicBezTo>
                        <a:cubicBezTo>
                          <a:pt x="1102062" y="899971"/>
                          <a:pt x="1103491" y="898541"/>
                          <a:pt x="1104205" y="897826"/>
                        </a:cubicBezTo>
                        <a:cubicBezTo>
                          <a:pt x="1113494" y="889243"/>
                          <a:pt x="1113494" y="889243"/>
                          <a:pt x="1113494" y="889243"/>
                        </a:cubicBezTo>
                        <a:cubicBezTo>
                          <a:pt x="1116352" y="886383"/>
                          <a:pt x="1120640" y="884237"/>
                          <a:pt x="1124927" y="884237"/>
                        </a:cubicBezTo>
                        <a:close/>
                        <a:moveTo>
                          <a:pt x="346518" y="565150"/>
                        </a:moveTo>
                        <a:cubicBezTo>
                          <a:pt x="324693" y="565150"/>
                          <a:pt x="306388" y="583814"/>
                          <a:pt x="306388" y="606784"/>
                        </a:cubicBezTo>
                        <a:cubicBezTo>
                          <a:pt x="306388" y="607502"/>
                          <a:pt x="306388" y="608220"/>
                          <a:pt x="306388" y="608938"/>
                        </a:cubicBezTo>
                        <a:cubicBezTo>
                          <a:pt x="307092" y="619705"/>
                          <a:pt x="312020" y="630472"/>
                          <a:pt x="319765" y="636933"/>
                        </a:cubicBezTo>
                        <a:cubicBezTo>
                          <a:pt x="326805" y="643393"/>
                          <a:pt x="336661" y="647700"/>
                          <a:pt x="346518" y="647700"/>
                        </a:cubicBezTo>
                        <a:cubicBezTo>
                          <a:pt x="369047" y="647700"/>
                          <a:pt x="387351" y="629037"/>
                          <a:pt x="387351" y="606784"/>
                        </a:cubicBezTo>
                        <a:cubicBezTo>
                          <a:pt x="387351" y="600324"/>
                          <a:pt x="385943" y="594581"/>
                          <a:pt x="383127" y="588838"/>
                        </a:cubicBezTo>
                        <a:cubicBezTo>
                          <a:pt x="378903" y="578789"/>
                          <a:pt x="370455" y="571611"/>
                          <a:pt x="360598" y="568021"/>
                        </a:cubicBezTo>
                        <a:cubicBezTo>
                          <a:pt x="356374" y="565868"/>
                          <a:pt x="351446" y="565150"/>
                          <a:pt x="346518" y="565150"/>
                        </a:cubicBezTo>
                        <a:close/>
                        <a:moveTo>
                          <a:pt x="760846" y="492125"/>
                        </a:moveTo>
                        <a:cubicBezTo>
                          <a:pt x="752187" y="492125"/>
                          <a:pt x="743528" y="494947"/>
                          <a:pt x="735591" y="499181"/>
                        </a:cubicBezTo>
                        <a:cubicBezTo>
                          <a:pt x="722602" y="506236"/>
                          <a:pt x="713221" y="519642"/>
                          <a:pt x="710335" y="535164"/>
                        </a:cubicBezTo>
                        <a:cubicBezTo>
                          <a:pt x="710335" y="537986"/>
                          <a:pt x="709613" y="540103"/>
                          <a:pt x="709613" y="542925"/>
                        </a:cubicBezTo>
                        <a:cubicBezTo>
                          <a:pt x="709613" y="571147"/>
                          <a:pt x="732704" y="593725"/>
                          <a:pt x="760846" y="593725"/>
                        </a:cubicBezTo>
                        <a:cubicBezTo>
                          <a:pt x="763011" y="593725"/>
                          <a:pt x="765176" y="593725"/>
                          <a:pt x="767341" y="593725"/>
                        </a:cubicBezTo>
                        <a:cubicBezTo>
                          <a:pt x="783216" y="591608"/>
                          <a:pt x="796926" y="583142"/>
                          <a:pt x="804864" y="570442"/>
                        </a:cubicBezTo>
                        <a:cubicBezTo>
                          <a:pt x="809915" y="562681"/>
                          <a:pt x="812801" y="553508"/>
                          <a:pt x="812801" y="542925"/>
                        </a:cubicBezTo>
                        <a:cubicBezTo>
                          <a:pt x="812801" y="542220"/>
                          <a:pt x="812801" y="540808"/>
                          <a:pt x="812801" y="539397"/>
                        </a:cubicBezTo>
                        <a:cubicBezTo>
                          <a:pt x="811358" y="515408"/>
                          <a:pt x="792597" y="495653"/>
                          <a:pt x="768062" y="492831"/>
                        </a:cubicBezTo>
                        <a:cubicBezTo>
                          <a:pt x="765898" y="492831"/>
                          <a:pt x="763733" y="492125"/>
                          <a:pt x="760846" y="492125"/>
                        </a:cubicBezTo>
                        <a:close/>
                        <a:moveTo>
                          <a:pt x="891455" y="415925"/>
                        </a:moveTo>
                        <a:cubicBezTo>
                          <a:pt x="899315" y="421636"/>
                          <a:pt x="907175" y="428060"/>
                          <a:pt x="915035" y="434485"/>
                        </a:cubicBezTo>
                        <a:cubicBezTo>
                          <a:pt x="917179" y="435913"/>
                          <a:pt x="918608" y="438054"/>
                          <a:pt x="920751" y="439482"/>
                        </a:cubicBezTo>
                        <a:cubicBezTo>
                          <a:pt x="920751" y="439482"/>
                          <a:pt x="920751" y="439482"/>
                          <a:pt x="877164" y="474460"/>
                        </a:cubicBezTo>
                        <a:cubicBezTo>
                          <a:pt x="869305" y="480885"/>
                          <a:pt x="860730" y="488023"/>
                          <a:pt x="850012" y="496589"/>
                        </a:cubicBezTo>
                        <a:cubicBezTo>
                          <a:pt x="846439" y="499445"/>
                          <a:pt x="842867" y="502300"/>
                          <a:pt x="838579" y="505155"/>
                        </a:cubicBezTo>
                        <a:cubicBezTo>
                          <a:pt x="840723" y="510152"/>
                          <a:pt x="842867" y="514435"/>
                          <a:pt x="844296" y="519432"/>
                        </a:cubicBezTo>
                        <a:cubicBezTo>
                          <a:pt x="846439" y="527285"/>
                          <a:pt x="847154" y="535137"/>
                          <a:pt x="847154" y="542989"/>
                        </a:cubicBezTo>
                        <a:cubicBezTo>
                          <a:pt x="847154" y="549414"/>
                          <a:pt x="846439" y="555124"/>
                          <a:pt x="845725" y="561549"/>
                        </a:cubicBezTo>
                        <a:cubicBezTo>
                          <a:pt x="842152" y="576540"/>
                          <a:pt x="835007" y="590103"/>
                          <a:pt x="824289" y="601524"/>
                        </a:cubicBezTo>
                        <a:cubicBezTo>
                          <a:pt x="809283" y="617942"/>
                          <a:pt x="786418" y="628650"/>
                          <a:pt x="761409" y="628650"/>
                        </a:cubicBezTo>
                        <a:cubicBezTo>
                          <a:pt x="714250" y="628650"/>
                          <a:pt x="676379" y="590103"/>
                          <a:pt x="676379" y="542989"/>
                        </a:cubicBezTo>
                        <a:cubicBezTo>
                          <a:pt x="676379" y="536564"/>
                          <a:pt x="677094" y="529426"/>
                          <a:pt x="678523" y="523715"/>
                        </a:cubicBezTo>
                        <a:cubicBezTo>
                          <a:pt x="678523" y="523715"/>
                          <a:pt x="678523" y="523715"/>
                          <a:pt x="582775" y="477316"/>
                        </a:cubicBezTo>
                        <a:cubicBezTo>
                          <a:pt x="578488" y="475174"/>
                          <a:pt x="574200" y="473033"/>
                          <a:pt x="569913" y="470891"/>
                        </a:cubicBezTo>
                        <a:cubicBezTo>
                          <a:pt x="577059" y="460183"/>
                          <a:pt x="585633" y="450903"/>
                          <a:pt x="594208" y="441623"/>
                        </a:cubicBezTo>
                        <a:cubicBezTo>
                          <a:pt x="594208" y="441623"/>
                          <a:pt x="594208" y="441623"/>
                          <a:pt x="694957" y="490165"/>
                        </a:cubicBezTo>
                        <a:cubicBezTo>
                          <a:pt x="700674" y="483026"/>
                          <a:pt x="707819" y="476602"/>
                          <a:pt x="715679" y="470891"/>
                        </a:cubicBezTo>
                        <a:cubicBezTo>
                          <a:pt x="728541" y="462325"/>
                          <a:pt x="744975" y="457328"/>
                          <a:pt x="761409" y="457328"/>
                        </a:cubicBezTo>
                        <a:cubicBezTo>
                          <a:pt x="771413" y="457328"/>
                          <a:pt x="781416" y="459470"/>
                          <a:pt x="789991" y="462325"/>
                        </a:cubicBezTo>
                        <a:cubicBezTo>
                          <a:pt x="799280" y="465894"/>
                          <a:pt x="808569" y="470891"/>
                          <a:pt x="815714" y="476602"/>
                        </a:cubicBezTo>
                        <a:cubicBezTo>
                          <a:pt x="815714" y="476602"/>
                          <a:pt x="815714" y="476602"/>
                          <a:pt x="831434" y="464466"/>
                        </a:cubicBezTo>
                        <a:cubicBezTo>
                          <a:pt x="842152" y="455900"/>
                          <a:pt x="860730" y="440910"/>
                          <a:pt x="891455" y="415925"/>
                        </a:cubicBezTo>
                        <a:close/>
                        <a:moveTo>
                          <a:pt x="772661" y="346605"/>
                        </a:moveTo>
                        <a:cubicBezTo>
                          <a:pt x="723066" y="343930"/>
                          <a:pt x="672758" y="354807"/>
                          <a:pt x="628158" y="379415"/>
                        </a:cubicBezTo>
                        <a:cubicBezTo>
                          <a:pt x="608178" y="390827"/>
                          <a:pt x="589624" y="404379"/>
                          <a:pt x="571784" y="420783"/>
                        </a:cubicBezTo>
                        <a:cubicBezTo>
                          <a:pt x="562508" y="430056"/>
                          <a:pt x="554658" y="439328"/>
                          <a:pt x="546809" y="449314"/>
                        </a:cubicBezTo>
                        <a:cubicBezTo>
                          <a:pt x="538245" y="460012"/>
                          <a:pt x="531109" y="470711"/>
                          <a:pt x="524687" y="482123"/>
                        </a:cubicBezTo>
                        <a:cubicBezTo>
                          <a:pt x="468313" y="582692"/>
                          <a:pt x="481158" y="712504"/>
                          <a:pt x="564648" y="800235"/>
                        </a:cubicBezTo>
                        <a:cubicBezTo>
                          <a:pt x="597474" y="833758"/>
                          <a:pt x="636008" y="856582"/>
                          <a:pt x="678110" y="869420"/>
                        </a:cubicBezTo>
                        <a:cubicBezTo>
                          <a:pt x="729488" y="885825"/>
                          <a:pt x="785862" y="885825"/>
                          <a:pt x="837955" y="869420"/>
                        </a:cubicBezTo>
                        <a:cubicBezTo>
                          <a:pt x="867212" y="860861"/>
                          <a:pt x="895756" y="845883"/>
                          <a:pt x="921445" y="826625"/>
                        </a:cubicBezTo>
                        <a:cubicBezTo>
                          <a:pt x="930008" y="820919"/>
                          <a:pt x="937144" y="814500"/>
                          <a:pt x="944280" y="807367"/>
                        </a:cubicBezTo>
                        <a:cubicBezTo>
                          <a:pt x="952130" y="799521"/>
                          <a:pt x="959979" y="791676"/>
                          <a:pt x="967115" y="783117"/>
                        </a:cubicBezTo>
                        <a:cubicBezTo>
                          <a:pt x="1047751" y="682548"/>
                          <a:pt x="1046324" y="537044"/>
                          <a:pt x="959979" y="437902"/>
                        </a:cubicBezTo>
                        <a:cubicBezTo>
                          <a:pt x="957125" y="435048"/>
                          <a:pt x="954270" y="431482"/>
                          <a:pt x="951416" y="427916"/>
                        </a:cubicBezTo>
                        <a:cubicBezTo>
                          <a:pt x="947135" y="423636"/>
                          <a:pt x="942853" y="419357"/>
                          <a:pt x="937858" y="415791"/>
                        </a:cubicBezTo>
                        <a:cubicBezTo>
                          <a:pt x="930008" y="408658"/>
                          <a:pt x="921445" y="401526"/>
                          <a:pt x="912882" y="395106"/>
                        </a:cubicBezTo>
                        <a:cubicBezTo>
                          <a:pt x="871137" y="365506"/>
                          <a:pt x="822256" y="349280"/>
                          <a:pt x="772661" y="346605"/>
                        </a:cubicBezTo>
                        <a:close/>
                        <a:moveTo>
                          <a:pt x="785477" y="308032"/>
                        </a:moveTo>
                        <a:cubicBezTo>
                          <a:pt x="842147" y="313027"/>
                          <a:pt x="897744" y="333721"/>
                          <a:pt x="945296" y="370115"/>
                        </a:cubicBezTo>
                        <a:cubicBezTo>
                          <a:pt x="953162" y="376537"/>
                          <a:pt x="961743" y="382959"/>
                          <a:pt x="969609" y="390809"/>
                        </a:cubicBezTo>
                        <a:cubicBezTo>
                          <a:pt x="973184" y="394377"/>
                          <a:pt x="976759" y="397231"/>
                          <a:pt x="980335" y="400799"/>
                        </a:cubicBezTo>
                        <a:cubicBezTo>
                          <a:pt x="983910" y="405081"/>
                          <a:pt x="987486" y="409363"/>
                          <a:pt x="991061" y="413644"/>
                        </a:cubicBezTo>
                        <a:cubicBezTo>
                          <a:pt x="1084021" y="521398"/>
                          <a:pt x="1089026" y="678390"/>
                          <a:pt x="1008223" y="791852"/>
                        </a:cubicBezTo>
                        <a:cubicBezTo>
                          <a:pt x="1080445" y="866780"/>
                          <a:pt x="1080445" y="866780"/>
                          <a:pt x="1080445" y="866780"/>
                        </a:cubicBezTo>
                        <a:cubicBezTo>
                          <a:pt x="1081160" y="867493"/>
                          <a:pt x="1081160" y="868207"/>
                          <a:pt x="1081875" y="868921"/>
                        </a:cubicBezTo>
                        <a:cubicBezTo>
                          <a:pt x="1083306" y="871775"/>
                          <a:pt x="1083306" y="874629"/>
                          <a:pt x="1081875" y="876770"/>
                        </a:cubicBezTo>
                        <a:cubicBezTo>
                          <a:pt x="1081875" y="876770"/>
                          <a:pt x="1081875" y="876770"/>
                          <a:pt x="1056848" y="900319"/>
                        </a:cubicBezTo>
                        <a:cubicBezTo>
                          <a:pt x="1056848" y="900319"/>
                          <a:pt x="1056848" y="900319"/>
                          <a:pt x="1055418" y="901746"/>
                        </a:cubicBezTo>
                        <a:cubicBezTo>
                          <a:pt x="1039686" y="917445"/>
                          <a:pt x="1029675" y="926722"/>
                          <a:pt x="1023954" y="931717"/>
                        </a:cubicBezTo>
                        <a:cubicBezTo>
                          <a:pt x="1014658" y="940994"/>
                          <a:pt x="1014658" y="940994"/>
                          <a:pt x="1014658" y="940994"/>
                        </a:cubicBezTo>
                        <a:cubicBezTo>
                          <a:pt x="1011798" y="944562"/>
                          <a:pt x="1006078" y="944562"/>
                          <a:pt x="1003217" y="940994"/>
                        </a:cubicBezTo>
                        <a:cubicBezTo>
                          <a:pt x="999642" y="938140"/>
                          <a:pt x="996782" y="934572"/>
                          <a:pt x="993921" y="931717"/>
                        </a:cubicBezTo>
                        <a:cubicBezTo>
                          <a:pt x="981765" y="919586"/>
                          <a:pt x="971754" y="908882"/>
                          <a:pt x="963888" y="900319"/>
                        </a:cubicBezTo>
                        <a:cubicBezTo>
                          <a:pt x="944581" y="881052"/>
                          <a:pt x="936715" y="872489"/>
                          <a:pt x="933140" y="868921"/>
                        </a:cubicBezTo>
                        <a:cubicBezTo>
                          <a:pt x="930995" y="866780"/>
                          <a:pt x="930995" y="866780"/>
                          <a:pt x="930995" y="866780"/>
                        </a:cubicBezTo>
                        <a:cubicBezTo>
                          <a:pt x="929565" y="867493"/>
                          <a:pt x="928134" y="868207"/>
                          <a:pt x="926704" y="868921"/>
                        </a:cubicBezTo>
                        <a:cubicBezTo>
                          <a:pt x="906682" y="882479"/>
                          <a:pt x="885945" y="892469"/>
                          <a:pt x="864493" y="900319"/>
                        </a:cubicBezTo>
                        <a:cubicBezTo>
                          <a:pt x="795846" y="926009"/>
                          <a:pt x="720048" y="926009"/>
                          <a:pt x="651400" y="900319"/>
                        </a:cubicBezTo>
                        <a:cubicBezTo>
                          <a:pt x="629948" y="892469"/>
                          <a:pt x="609211" y="882479"/>
                          <a:pt x="589189" y="868921"/>
                        </a:cubicBezTo>
                        <a:cubicBezTo>
                          <a:pt x="570597" y="856789"/>
                          <a:pt x="553435" y="842517"/>
                          <a:pt x="536988" y="826105"/>
                        </a:cubicBezTo>
                        <a:cubicBezTo>
                          <a:pt x="466196" y="751177"/>
                          <a:pt x="439738" y="649846"/>
                          <a:pt x="457615" y="554937"/>
                        </a:cubicBezTo>
                        <a:cubicBezTo>
                          <a:pt x="462621" y="529961"/>
                          <a:pt x="470486" y="505699"/>
                          <a:pt x="481213" y="482863"/>
                        </a:cubicBezTo>
                        <a:cubicBezTo>
                          <a:pt x="493369" y="456460"/>
                          <a:pt x="509816" y="430771"/>
                          <a:pt x="530553" y="408649"/>
                        </a:cubicBezTo>
                        <a:cubicBezTo>
                          <a:pt x="535558" y="402940"/>
                          <a:pt x="540564" y="397945"/>
                          <a:pt x="545569" y="392236"/>
                        </a:cubicBezTo>
                        <a:cubicBezTo>
                          <a:pt x="560586" y="378678"/>
                          <a:pt x="575602" y="366547"/>
                          <a:pt x="592049" y="355843"/>
                        </a:cubicBezTo>
                        <a:cubicBezTo>
                          <a:pt x="600630" y="350134"/>
                          <a:pt x="609926" y="345139"/>
                          <a:pt x="619222" y="340143"/>
                        </a:cubicBezTo>
                        <a:cubicBezTo>
                          <a:pt x="671065" y="313740"/>
                          <a:pt x="728807" y="303036"/>
                          <a:pt x="785477" y="308032"/>
                        </a:cubicBezTo>
                        <a:close/>
                        <a:moveTo>
                          <a:pt x="555676" y="304800"/>
                        </a:moveTo>
                        <a:cubicBezTo>
                          <a:pt x="570540" y="304800"/>
                          <a:pt x="583988" y="309099"/>
                          <a:pt x="595313" y="316982"/>
                        </a:cubicBezTo>
                        <a:cubicBezTo>
                          <a:pt x="584696" y="323431"/>
                          <a:pt x="574079" y="329880"/>
                          <a:pt x="563462" y="337046"/>
                        </a:cubicBezTo>
                        <a:cubicBezTo>
                          <a:pt x="561338" y="336330"/>
                          <a:pt x="558507" y="336330"/>
                          <a:pt x="555676" y="336330"/>
                        </a:cubicBezTo>
                        <a:cubicBezTo>
                          <a:pt x="533026" y="336330"/>
                          <a:pt x="515331" y="354961"/>
                          <a:pt x="515331" y="377175"/>
                        </a:cubicBezTo>
                        <a:cubicBezTo>
                          <a:pt x="515331" y="377891"/>
                          <a:pt x="515331" y="378608"/>
                          <a:pt x="515331" y="379325"/>
                        </a:cubicBezTo>
                        <a:cubicBezTo>
                          <a:pt x="506130" y="388640"/>
                          <a:pt x="498344" y="397956"/>
                          <a:pt x="490558" y="407988"/>
                        </a:cubicBezTo>
                        <a:cubicBezTo>
                          <a:pt x="486311" y="398672"/>
                          <a:pt x="484188" y="388640"/>
                          <a:pt x="484188" y="377175"/>
                        </a:cubicBezTo>
                        <a:cubicBezTo>
                          <a:pt x="484188" y="337046"/>
                          <a:pt x="516039" y="304800"/>
                          <a:pt x="555676" y="304800"/>
                        </a:cubicBezTo>
                        <a:close/>
                        <a:moveTo>
                          <a:pt x="1089384" y="233362"/>
                        </a:moveTo>
                        <a:cubicBezTo>
                          <a:pt x="1066414" y="233362"/>
                          <a:pt x="1047750" y="252026"/>
                          <a:pt x="1047750" y="274996"/>
                        </a:cubicBezTo>
                        <a:cubicBezTo>
                          <a:pt x="1047750" y="278585"/>
                          <a:pt x="1048468" y="282892"/>
                          <a:pt x="1049186" y="286481"/>
                        </a:cubicBezTo>
                        <a:cubicBezTo>
                          <a:pt x="1052775" y="296531"/>
                          <a:pt x="1059953" y="305863"/>
                          <a:pt x="1069285" y="310887"/>
                        </a:cubicBezTo>
                        <a:cubicBezTo>
                          <a:pt x="1075028" y="314476"/>
                          <a:pt x="1082206" y="315912"/>
                          <a:pt x="1089384" y="315912"/>
                        </a:cubicBezTo>
                        <a:cubicBezTo>
                          <a:pt x="1111637" y="315912"/>
                          <a:pt x="1130300" y="297249"/>
                          <a:pt x="1130300" y="274996"/>
                        </a:cubicBezTo>
                        <a:cubicBezTo>
                          <a:pt x="1130300" y="271407"/>
                          <a:pt x="1129582" y="267100"/>
                          <a:pt x="1128865" y="264229"/>
                        </a:cubicBezTo>
                        <a:cubicBezTo>
                          <a:pt x="1125993" y="253461"/>
                          <a:pt x="1118815" y="244130"/>
                          <a:pt x="1109483" y="239105"/>
                        </a:cubicBezTo>
                        <a:cubicBezTo>
                          <a:pt x="1103741" y="235516"/>
                          <a:pt x="1096562" y="233362"/>
                          <a:pt x="1089384" y="233362"/>
                        </a:cubicBezTo>
                        <a:close/>
                        <a:moveTo>
                          <a:pt x="15705" y="0"/>
                        </a:moveTo>
                        <a:cubicBezTo>
                          <a:pt x="15705" y="0"/>
                          <a:pt x="15705" y="0"/>
                          <a:pt x="1289220" y="0"/>
                        </a:cubicBezTo>
                        <a:cubicBezTo>
                          <a:pt x="1297787" y="0"/>
                          <a:pt x="1304925" y="6422"/>
                          <a:pt x="1304925" y="15698"/>
                        </a:cubicBezTo>
                        <a:cubicBezTo>
                          <a:pt x="1304925" y="15698"/>
                          <a:pt x="1304925" y="15698"/>
                          <a:pt x="1304925" y="916166"/>
                        </a:cubicBezTo>
                        <a:cubicBezTo>
                          <a:pt x="1304925" y="925441"/>
                          <a:pt x="1297787" y="931863"/>
                          <a:pt x="1289220" y="931863"/>
                        </a:cubicBezTo>
                        <a:cubicBezTo>
                          <a:pt x="1289220" y="931863"/>
                          <a:pt x="1289220" y="931863"/>
                          <a:pt x="1219977" y="931863"/>
                        </a:cubicBezTo>
                        <a:cubicBezTo>
                          <a:pt x="1219977" y="931863"/>
                          <a:pt x="1219977" y="931863"/>
                          <a:pt x="1189995" y="900468"/>
                        </a:cubicBezTo>
                        <a:cubicBezTo>
                          <a:pt x="1273516" y="900468"/>
                          <a:pt x="1273516" y="900468"/>
                          <a:pt x="1273516" y="900468"/>
                        </a:cubicBezTo>
                        <a:cubicBezTo>
                          <a:pt x="1273516" y="480916"/>
                          <a:pt x="1273516" y="264004"/>
                          <a:pt x="1273516" y="151267"/>
                        </a:cubicBezTo>
                        <a:cubicBezTo>
                          <a:pt x="1273516" y="151267"/>
                          <a:pt x="1273516" y="151267"/>
                          <a:pt x="1242106" y="175527"/>
                        </a:cubicBezTo>
                        <a:cubicBezTo>
                          <a:pt x="1242106" y="175527"/>
                          <a:pt x="1242106" y="175527"/>
                          <a:pt x="1154302" y="243312"/>
                        </a:cubicBezTo>
                        <a:cubicBezTo>
                          <a:pt x="1159299" y="253301"/>
                          <a:pt x="1161441" y="263291"/>
                          <a:pt x="1161441" y="274707"/>
                        </a:cubicBezTo>
                        <a:cubicBezTo>
                          <a:pt x="1161441" y="314664"/>
                          <a:pt x="1129317" y="346773"/>
                          <a:pt x="1089341" y="346773"/>
                        </a:cubicBezTo>
                        <a:cubicBezTo>
                          <a:pt x="1071495" y="346773"/>
                          <a:pt x="1055790" y="341065"/>
                          <a:pt x="1043655" y="331076"/>
                        </a:cubicBezTo>
                        <a:cubicBezTo>
                          <a:pt x="1043655" y="331076"/>
                          <a:pt x="1043655" y="331076"/>
                          <a:pt x="993685" y="371033"/>
                        </a:cubicBezTo>
                        <a:cubicBezTo>
                          <a:pt x="985833" y="363898"/>
                          <a:pt x="977980" y="356762"/>
                          <a:pt x="969414" y="349627"/>
                        </a:cubicBezTo>
                        <a:cubicBezTo>
                          <a:pt x="969414" y="349627"/>
                          <a:pt x="969414" y="349627"/>
                          <a:pt x="1024381" y="306102"/>
                        </a:cubicBezTo>
                        <a:cubicBezTo>
                          <a:pt x="1019384" y="296826"/>
                          <a:pt x="1016528" y="286123"/>
                          <a:pt x="1016528" y="274707"/>
                        </a:cubicBezTo>
                        <a:cubicBezTo>
                          <a:pt x="1016528" y="234750"/>
                          <a:pt x="1049365" y="201928"/>
                          <a:pt x="1089341" y="201928"/>
                        </a:cubicBezTo>
                        <a:cubicBezTo>
                          <a:pt x="1106474" y="201928"/>
                          <a:pt x="1122892" y="208349"/>
                          <a:pt x="1135028" y="219052"/>
                        </a:cubicBezTo>
                        <a:cubicBezTo>
                          <a:pt x="1135028" y="219052"/>
                          <a:pt x="1135028" y="219052"/>
                          <a:pt x="1242106" y="136283"/>
                        </a:cubicBezTo>
                        <a:cubicBezTo>
                          <a:pt x="1242106" y="136283"/>
                          <a:pt x="1242106" y="136283"/>
                          <a:pt x="1269946" y="114878"/>
                        </a:cubicBezTo>
                        <a:cubicBezTo>
                          <a:pt x="1270660" y="114164"/>
                          <a:pt x="1272088" y="113451"/>
                          <a:pt x="1273516" y="112737"/>
                        </a:cubicBezTo>
                        <a:cubicBezTo>
                          <a:pt x="1273516" y="31395"/>
                          <a:pt x="1273516" y="31395"/>
                          <a:pt x="1273516" y="31395"/>
                        </a:cubicBezTo>
                        <a:cubicBezTo>
                          <a:pt x="31410" y="31395"/>
                          <a:pt x="31410" y="31395"/>
                          <a:pt x="31410" y="31395"/>
                        </a:cubicBezTo>
                        <a:cubicBezTo>
                          <a:pt x="31410" y="406709"/>
                          <a:pt x="31410" y="620766"/>
                          <a:pt x="31410" y="741352"/>
                        </a:cubicBezTo>
                        <a:cubicBezTo>
                          <a:pt x="31410" y="741352"/>
                          <a:pt x="31410" y="741352"/>
                          <a:pt x="62819" y="726368"/>
                        </a:cubicBezTo>
                        <a:cubicBezTo>
                          <a:pt x="62819" y="726368"/>
                          <a:pt x="62819" y="726368"/>
                          <a:pt x="276976" y="623621"/>
                        </a:cubicBezTo>
                        <a:cubicBezTo>
                          <a:pt x="275548" y="617912"/>
                          <a:pt x="274834" y="612918"/>
                          <a:pt x="274834" y="607210"/>
                        </a:cubicBezTo>
                        <a:cubicBezTo>
                          <a:pt x="274834" y="567252"/>
                          <a:pt x="306957" y="534430"/>
                          <a:pt x="346933" y="534430"/>
                        </a:cubicBezTo>
                        <a:cubicBezTo>
                          <a:pt x="360496" y="534430"/>
                          <a:pt x="372632" y="537998"/>
                          <a:pt x="383340" y="543706"/>
                        </a:cubicBezTo>
                        <a:cubicBezTo>
                          <a:pt x="383340" y="543706"/>
                          <a:pt x="383340" y="543706"/>
                          <a:pt x="454725" y="465218"/>
                        </a:cubicBezTo>
                        <a:cubicBezTo>
                          <a:pt x="443304" y="489478"/>
                          <a:pt x="434737" y="514451"/>
                          <a:pt x="429026" y="540138"/>
                        </a:cubicBezTo>
                        <a:cubicBezTo>
                          <a:pt x="429026" y="540138"/>
                          <a:pt x="429026" y="540138"/>
                          <a:pt x="406183" y="565112"/>
                        </a:cubicBezTo>
                        <a:cubicBezTo>
                          <a:pt x="414749" y="577241"/>
                          <a:pt x="419746" y="591512"/>
                          <a:pt x="419746" y="607210"/>
                        </a:cubicBezTo>
                        <a:cubicBezTo>
                          <a:pt x="419746" y="647167"/>
                          <a:pt x="386909" y="679275"/>
                          <a:pt x="346933" y="679275"/>
                        </a:cubicBezTo>
                        <a:cubicBezTo>
                          <a:pt x="324090" y="679275"/>
                          <a:pt x="303388" y="668573"/>
                          <a:pt x="290539" y="651448"/>
                        </a:cubicBezTo>
                        <a:cubicBezTo>
                          <a:pt x="290539" y="651448"/>
                          <a:pt x="290539" y="651448"/>
                          <a:pt x="62819" y="761331"/>
                        </a:cubicBezTo>
                        <a:cubicBezTo>
                          <a:pt x="62819" y="761331"/>
                          <a:pt x="62819" y="761331"/>
                          <a:pt x="31410" y="776315"/>
                        </a:cubicBezTo>
                        <a:cubicBezTo>
                          <a:pt x="31410" y="900468"/>
                          <a:pt x="31410" y="900468"/>
                          <a:pt x="31410" y="900468"/>
                        </a:cubicBezTo>
                        <a:cubicBezTo>
                          <a:pt x="250563" y="900468"/>
                          <a:pt x="431168" y="900468"/>
                          <a:pt x="579650" y="900468"/>
                        </a:cubicBezTo>
                        <a:cubicBezTo>
                          <a:pt x="600351" y="913312"/>
                          <a:pt x="622481" y="924014"/>
                          <a:pt x="645324" y="931863"/>
                        </a:cubicBezTo>
                        <a:cubicBezTo>
                          <a:pt x="645324" y="931863"/>
                          <a:pt x="645324" y="931863"/>
                          <a:pt x="15705" y="931863"/>
                        </a:cubicBezTo>
                        <a:cubicBezTo>
                          <a:pt x="7139" y="931863"/>
                          <a:pt x="0" y="925441"/>
                          <a:pt x="0" y="916166"/>
                        </a:cubicBezTo>
                        <a:cubicBezTo>
                          <a:pt x="0" y="916166"/>
                          <a:pt x="0" y="916166"/>
                          <a:pt x="0" y="15698"/>
                        </a:cubicBezTo>
                        <a:cubicBezTo>
                          <a:pt x="0" y="6422"/>
                          <a:pt x="7139" y="0"/>
                          <a:pt x="15705" y="0"/>
                        </a:cubicBezTo>
                        <a:close/>
                      </a:path>
                    </a:pathLst>
                  </a:custGeom>
                  <a:solidFill>
                    <a:schemeClr val="accent1"/>
                  </a:solidFill>
                  <a:ln>
                    <a:noFill/>
                  </a:ln>
                </p:spPr>
                <p:txBody>
                  <a:bodyPr vert="horz" wrap="square" lIns="54727" tIns="27364" rIns="54727" bIns="27364" numCol="1" anchor="t" anchorCtr="0" compatLnSpc="1">
                    <a:prstTxWarp prst="textNoShape">
                      <a:avLst/>
                    </a:prstTxWarp>
                    <a:noAutofit/>
                  </a:bodyPr>
                  <a:lstStyle/>
                  <a:p>
                    <a:endParaRPr lang="es-CL"/>
                  </a:p>
                </p:txBody>
              </p:sp>
              <p:sp>
                <p:nvSpPr>
                  <p:cNvPr id="166" name="Freeform 11"/>
                  <p:cNvSpPr>
                    <a:spLocks/>
                  </p:cNvSpPr>
                  <p:nvPr/>
                </p:nvSpPr>
                <p:spPr bwMode="auto">
                  <a:xfrm>
                    <a:off x="6697662" y="3179762"/>
                    <a:ext cx="1181100" cy="654050"/>
                  </a:xfrm>
                  <a:custGeom>
                    <a:avLst/>
                    <a:gdLst>
                      <a:gd name="connsiteX0" fmla="*/ 363861 w 1181100"/>
                      <a:gd name="connsiteY0" fmla="*/ 458787 h 654050"/>
                      <a:gd name="connsiteX1" fmla="*/ 452503 w 1181100"/>
                      <a:gd name="connsiteY1" fmla="*/ 632593 h 654050"/>
                      <a:gd name="connsiteX2" fmla="*/ 474663 w 1181100"/>
                      <a:gd name="connsiteY2" fmla="*/ 654050 h 654050"/>
                      <a:gd name="connsiteX3" fmla="*/ 0 w 1181100"/>
                      <a:gd name="connsiteY3" fmla="*/ 654050 h 654050"/>
                      <a:gd name="connsiteX4" fmla="*/ 0 w 1181100"/>
                      <a:gd name="connsiteY4" fmla="*/ 581095 h 654050"/>
                      <a:gd name="connsiteX5" fmla="*/ 221605 w 1181100"/>
                      <a:gd name="connsiteY5" fmla="*/ 473807 h 654050"/>
                      <a:gd name="connsiteX6" fmla="*/ 284512 w 1181100"/>
                      <a:gd name="connsiteY6" fmla="*/ 495265 h 654050"/>
                      <a:gd name="connsiteX7" fmla="*/ 363861 w 1181100"/>
                      <a:gd name="connsiteY7" fmla="*/ 458787 h 654050"/>
                      <a:gd name="connsiteX8" fmla="*/ 881470 w 1181100"/>
                      <a:gd name="connsiteY8" fmla="*/ 250825 h 654050"/>
                      <a:gd name="connsiteX9" fmla="*/ 879327 w 1181100"/>
                      <a:gd name="connsiteY9" fmla="*/ 543393 h 654050"/>
                      <a:gd name="connsiteX10" fmla="*/ 859328 w 1181100"/>
                      <a:gd name="connsiteY10" fmla="*/ 564748 h 654050"/>
                      <a:gd name="connsiteX11" fmla="*/ 840757 w 1181100"/>
                      <a:gd name="connsiteY11" fmla="*/ 581121 h 654050"/>
                      <a:gd name="connsiteX12" fmla="*/ 840043 w 1181100"/>
                      <a:gd name="connsiteY12" fmla="*/ 581833 h 654050"/>
                      <a:gd name="connsiteX13" fmla="*/ 696476 w 1181100"/>
                      <a:gd name="connsiteY13" fmla="*/ 630238 h 654050"/>
                      <a:gd name="connsiteX14" fmla="*/ 526481 w 1181100"/>
                      <a:gd name="connsiteY14" fmla="*/ 558342 h 654050"/>
                      <a:gd name="connsiteX15" fmla="*/ 489339 w 1181100"/>
                      <a:gd name="connsiteY15" fmla="*/ 284993 h 654050"/>
                      <a:gd name="connsiteX16" fmla="*/ 586479 w 1181100"/>
                      <a:gd name="connsiteY16" fmla="*/ 331975 h 654050"/>
                      <a:gd name="connsiteX17" fmla="*/ 699333 w 1181100"/>
                      <a:gd name="connsiteY17" fmla="*/ 441599 h 654050"/>
                      <a:gd name="connsiteX18" fmla="*/ 805044 w 1181100"/>
                      <a:gd name="connsiteY18" fmla="*/ 368279 h 654050"/>
                      <a:gd name="connsiteX19" fmla="*/ 812901 w 1181100"/>
                      <a:gd name="connsiteY19" fmla="*/ 328416 h 654050"/>
                      <a:gd name="connsiteX20" fmla="*/ 811472 w 1181100"/>
                      <a:gd name="connsiteY20" fmla="*/ 314179 h 654050"/>
                      <a:gd name="connsiteX21" fmla="*/ 810758 w 1181100"/>
                      <a:gd name="connsiteY21" fmla="*/ 307061 h 654050"/>
                      <a:gd name="connsiteX22" fmla="*/ 815758 w 1181100"/>
                      <a:gd name="connsiteY22" fmla="*/ 302790 h 654050"/>
                      <a:gd name="connsiteX23" fmla="*/ 850043 w 1181100"/>
                      <a:gd name="connsiteY23" fmla="*/ 275739 h 654050"/>
                      <a:gd name="connsiteX24" fmla="*/ 881470 w 1181100"/>
                      <a:gd name="connsiteY24" fmla="*/ 250825 h 654050"/>
                      <a:gd name="connsiteX25" fmla="*/ 1181100 w 1181100"/>
                      <a:gd name="connsiteY25" fmla="*/ 0 h 654050"/>
                      <a:gd name="connsiteX26" fmla="*/ 1181100 w 1181100"/>
                      <a:gd name="connsiteY26" fmla="*/ 654050 h 654050"/>
                      <a:gd name="connsiteX27" fmla="*/ 1099004 w 1181100"/>
                      <a:gd name="connsiteY27" fmla="*/ 654050 h 654050"/>
                      <a:gd name="connsiteX28" fmla="*/ 1096863 w 1181100"/>
                      <a:gd name="connsiteY28" fmla="*/ 651908 h 654050"/>
                      <a:gd name="connsiteX29" fmla="*/ 1069022 w 1181100"/>
                      <a:gd name="connsiteY29" fmla="*/ 638342 h 654050"/>
                      <a:gd name="connsiteX30" fmla="*/ 1066166 w 1181100"/>
                      <a:gd name="connsiteY30" fmla="*/ 637628 h 654050"/>
                      <a:gd name="connsiteX31" fmla="*/ 1064024 w 1181100"/>
                      <a:gd name="connsiteY31" fmla="*/ 637628 h 654050"/>
                      <a:gd name="connsiteX32" fmla="*/ 1048319 w 1181100"/>
                      <a:gd name="connsiteY32" fmla="*/ 640484 h 654050"/>
                      <a:gd name="connsiteX33" fmla="*/ 1040466 w 1181100"/>
                      <a:gd name="connsiteY33" fmla="*/ 629773 h 654050"/>
                      <a:gd name="connsiteX34" fmla="*/ 986212 w 1181100"/>
                      <a:gd name="connsiteY34" fmla="*/ 573365 h 654050"/>
                      <a:gd name="connsiteX35" fmla="*/ 954087 w 1181100"/>
                      <a:gd name="connsiteY35" fmla="*/ 178507 h 654050"/>
                      <a:gd name="connsiteX36" fmla="*/ 985498 w 1181100"/>
                      <a:gd name="connsiteY36" fmla="*/ 153516 h 654050"/>
                      <a:gd name="connsiteX37" fmla="*/ 1028330 w 1181100"/>
                      <a:gd name="connsiteY37" fmla="*/ 162798 h 654050"/>
                      <a:gd name="connsiteX38" fmla="*/ 1131843 w 1181100"/>
                      <a:gd name="connsiteY38" fmla="*/ 59264 h 654050"/>
                      <a:gd name="connsiteX39" fmla="*/ 1129701 w 1181100"/>
                      <a:gd name="connsiteY39" fmla="*/ 39985 h 65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81100" h="654050">
                        <a:moveTo>
                          <a:pt x="363861" y="458787"/>
                        </a:moveTo>
                        <a:cubicBezTo>
                          <a:pt x="375299" y="521729"/>
                          <a:pt x="404608" y="582525"/>
                          <a:pt x="452503" y="632593"/>
                        </a:cubicBezTo>
                        <a:cubicBezTo>
                          <a:pt x="459651" y="640460"/>
                          <a:pt x="466800" y="647613"/>
                          <a:pt x="474663" y="654050"/>
                        </a:cubicBezTo>
                        <a:cubicBezTo>
                          <a:pt x="474663" y="654050"/>
                          <a:pt x="474663" y="654050"/>
                          <a:pt x="0" y="654050"/>
                        </a:cubicBezTo>
                        <a:cubicBezTo>
                          <a:pt x="0" y="654050"/>
                          <a:pt x="0" y="654050"/>
                          <a:pt x="0" y="581095"/>
                        </a:cubicBezTo>
                        <a:cubicBezTo>
                          <a:pt x="0" y="581095"/>
                          <a:pt x="0" y="581095"/>
                          <a:pt x="221605" y="473807"/>
                        </a:cubicBezTo>
                        <a:cubicBezTo>
                          <a:pt x="239476" y="487397"/>
                          <a:pt x="261637" y="495265"/>
                          <a:pt x="284512" y="495265"/>
                        </a:cubicBezTo>
                        <a:cubicBezTo>
                          <a:pt x="316681" y="495265"/>
                          <a:pt x="344560" y="480960"/>
                          <a:pt x="363861" y="458787"/>
                        </a:cubicBezTo>
                        <a:close/>
                        <a:moveTo>
                          <a:pt x="881470" y="250825"/>
                        </a:moveTo>
                        <a:cubicBezTo>
                          <a:pt x="948611" y="336246"/>
                          <a:pt x="949325" y="457972"/>
                          <a:pt x="879327" y="543393"/>
                        </a:cubicBezTo>
                        <a:cubicBezTo>
                          <a:pt x="873613" y="551223"/>
                          <a:pt x="866471" y="558342"/>
                          <a:pt x="859328" y="564748"/>
                        </a:cubicBezTo>
                        <a:cubicBezTo>
                          <a:pt x="852185" y="571867"/>
                          <a:pt x="846471" y="577562"/>
                          <a:pt x="840757" y="581121"/>
                        </a:cubicBezTo>
                        <a:cubicBezTo>
                          <a:pt x="840757" y="581121"/>
                          <a:pt x="840757" y="581121"/>
                          <a:pt x="840043" y="581833"/>
                        </a:cubicBezTo>
                        <a:cubicBezTo>
                          <a:pt x="799330" y="613154"/>
                          <a:pt x="747903" y="630238"/>
                          <a:pt x="696476" y="630238"/>
                        </a:cubicBezTo>
                        <a:cubicBezTo>
                          <a:pt x="631478" y="630238"/>
                          <a:pt x="571480" y="604612"/>
                          <a:pt x="526481" y="558342"/>
                        </a:cubicBezTo>
                        <a:cubicBezTo>
                          <a:pt x="455055" y="483598"/>
                          <a:pt x="442912" y="372550"/>
                          <a:pt x="489339" y="284993"/>
                        </a:cubicBezTo>
                        <a:cubicBezTo>
                          <a:pt x="489339" y="284993"/>
                          <a:pt x="489339" y="284993"/>
                          <a:pt x="586479" y="331975"/>
                        </a:cubicBezTo>
                        <a:cubicBezTo>
                          <a:pt x="588622" y="392482"/>
                          <a:pt x="638621" y="441599"/>
                          <a:pt x="699333" y="441599"/>
                        </a:cubicBezTo>
                        <a:cubicBezTo>
                          <a:pt x="747903" y="441599"/>
                          <a:pt x="789330" y="410990"/>
                          <a:pt x="805044" y="368279"/>
                        </a:cubicBezTo>
                        <a:cubicBezTo>
                          <a:pt x="810044" y="356178"/>
                          <a:pt x="812901" y="342653"/>
                          <a:pt x="812901" y="328416"/>
                        </a:cubicBezTo>
                        <a:cubicBezTo>
                          <a:pt x="812901" y="323433"/>
                          <a:pt x="812187" y="319162"/>
                          <a:pt x="811472" y="314179"/>
                        </a:cubicBezTo>
                        <a:cubicBezTo>
                          <a:pt x="811472" y="312043"/>
                          <a:pt x="811472" y="309196"/>
                          <a:pt x="810758" y="307061"/>
                        </a:cubicBezTo>
                        <a:cubicBezTo>
                          <a:pt x="810758" y="307061"/>
                          <a:pt x="810758" y="307061"/>
                          <a:pt x="815758" y="302790"/>
                        </a:cubicBezTo>
                        <a:cubicBezTo>
                          <a:pt x="820758" y="299230"/>
                          <a:pt x="830757" y="291400"/>
                          <a:pt x="850043" y="275739"/>
                        </a:cubicBezTo>
                        <a:cubicBezTo>
                          <a:pt x="857899" y="269333"/>
                          <a:pt x="868613" y="260791"/>
                          <a:pt x="881470" y="250825"/>
                        </a:cubicBezTo>
                        <a:close/>
                        <a:moveTo>
                          <a:pt x="1181100" y="0"/>
                        </a:moveTo>
                        <a:cubicBezTo>
                          <a:pt x="1181100" y="0"/>
                          <a:pt x="1181100" y="0"/>
                          <a:pt x="1181100" y="654050"/>
                        </a:cubicBezTo>
                        <a:cubicBezTo>
                          <a:pt x="1181100" y="654050"/>
                          <a:pt x="1181100" y="654050"/>
                          <a:pt x="1099004" y="654050"/>
                        </a:cubicBezTo>
                        <a:cubicBezTo>
                          <a:pt x="1099004" y="654050"/>
                          <a:pt x="1099004" y="654050"/>
                          <a:pt x="1096863" y="651908"/>
                        </a:cubicBezTo>
                        <a:cubicBezTo>
                          <a:pt x="1089724" y="644768"/>
                          <a:pt x="1079730" y="639770"/>
                          <a:pt x="1069022" y="638342"/>
                        </a:cubicBezTo>
                        <a:cubicBezTo>
                          <a:pt x="1069022" y="638342"/>
                          <a:pt x="1069022" y="638342"/>
                          <a:pt x="1066166" y="637628"/>
                        </a:cubicBezTo>
                        <a:cubicBezTo>
                          <a:pt x="1066166" y="637628"/>
                          <a:pt x="1066166" y="637628"/>
                          <a:pt x="1064024" y="637628"/>
                        </a:cubicBezTo>
                        <a:cubicBezTo>
                          <a:pt x="1058313" y="637628"/>
                          <a:pt x="1053316" y="638342"/>
                          <a:pt x="1048319" y="640484"/>
                        </a:cubicBezTo>
                        <a:cubicBezTo>
                          <a:pt x="1046177" y="636913"/>
                          <a:pt x="1043322" y="633343"/>
                          <a:pt x="1040466" y="629773"/>
                        </a:cubicBezTo>
                        <a:cubicBezTo>
                          <a:pt x="1040466" y="629773"/>
                          <a:pt x="1040466" y="629773"/>
                          <a:pt x="986212" y="573365"/>
                        </a:cubicBezTo>
                        <a:cubicBezTo>
                          <a:pt x="1061169" y="448410"/>
                          <a:pt x="1048319" y="289181"/>
                          <a:pt x="954087" y="178507"/>
                        </a:cubicBezTo>
                        <a:cubicBezTo>
                          <a:pt x="954087" y="178507"/>
                          <a:pt x="954087" y="178507"/>
                          <a:pt x="985498" y="153516"/>
                        </a:cubicBezTo>
                        <a:cubicBezTo>
                          <a:pt x="998348" y="159942"/>
                          <a:pt x="1013339" y="162798"/>
                          <a:pt x="1028330" y="162798"/>
                        </a:cubicBezTo>
                        <a:cubicBezTo>
                          <a:pt x="1085441" y="162798"/>
                          <a:pt x="1131843" y="116386"/>
                          <a:pt x="1131843" y="59264"/>
                        </a:cubicBezTo>
                        <a:cubicBezTo>
                          <a:pt x="1131843" y="52838"/>
                          <a:pt x="1131129" y="45698"/>
                          <a:pt x="1129701" y="39985"/>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7" name="Grupo 168"/>
            <p:cNvGrpSpPr/>
            <p:nvPr/>
          </p:nvGrpSpPr>
          <p:grpSpPr>
            <a:xfrm>
              <a:off x="8691300" y="1494503"/>
              <a:ext cx="972003" cy="1122694"/>
              <a:chOff x="8247171" y="1669461"/>
              <a:chExt cx="1047300" cy="1122694"/>
            </a:xfrm>
          </p:grpSpPr>
          <p:sp>
            <p:nvSpPr>
              <p:cNvPr id="168" name="Rectangle: Rounded Corners 214"/>
              <p:cNvSpPr/>
              <p:nvPr/>
            </p:nvSpPr>
            <p:spPr>
              <a:xfrm>
                <a:off x="8312135"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Relaciones</a:t>
                </a:r>
                <a:br>
                  <a:rPr lang="es-CL" sz="855" spc="-25">
                    <a:solidFill>
                      <a:schemeClr val="tx1"/>
                    </a:solidFill>
                  </a:rPr>
                </a:br>
                <a:r>
                  <a:rPr lang="es-CL" sz="855" spc="-25">
                    <a:solidFill>
                      <a:schemeClr val="tx1"/>
                    </a:solidFill>
                  </a:rPr>
                  <a:t>Partes Interesadas</a:t>
                </a:r>
              </a:p>
            </p:txBody>
          </p:sp>
          <p:sp>
            <p:nvSpPr>
              <p:cNvPr id="169" name="Oval 20"/>
              <p:cNvSpPr>
                <a:spLocks noChangeAspect="1" noChangeArrowheads="1"/>
              </p:cNvSpPr>
              <p:nvPr/>
            </p:nvSpPr>
            <p:spPr bwMode="auto">
              <a:xfrm>
                <a:off x="82471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11</a:t>
                </a:r>
              </a:p>
            </p:txBody>
          </p:sp>
          <p:grpSp>
            <p:nvGrpSpPr>
              <p:cNvPr id="170" name="bcgIcons_Handshake "/>
              <p:cNvGrpSpPr>
                <a:grpSpLocks noChangeAspect="1"/>
              </p:cNvGrpSpPr>
              <p:nvPr/>
            </p:nvGrpSpPr>
            <p:grpSpPr bwMode="auto">
              <a:xfrm>
                <a:off x="8594264" y="1827711"/>
                <a:ext cx="418067" cy="418454"/>
                <a:chOff x="1682" y="0"/>
                <a:chExt cx="4316" cy="4320"/>
              </a:xfrm>
            </p:grpSpPr>
            <p:sp>
              <p:nvSpPr>
                <p:cNvPr id="171"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72" name="Freeform 5"/>
                <p:cNvSpPr>
                  <a:spLocks/>
                </p:cNvSpPr>
                <p:nvPr/>
              </p:nvSpPr>
              <p:spPr bwMode="auto">
                <a:xfrm>
                  <a:off x="2699" y="763"/>
                  <a:ext cx="2730" cy="2428"/>
                </a:xfrm>
                <a:custGeom>
                  <a:avLst/>
                  <a:gdLst>
                    <a:gd name="T0" fmla="*/ 182 w 1457"/>
                    <a:gd name="T1" fmla="*/ 441 h 1295"/>
                    <a:gd name="T2" fmla="*/ 163 w 1457"/>
                    <a:gd name="T3" fmla="*/ 326 h 1295"/>
                    <a:gd name="T4" fmla="*/ 724 w 1457"/>
                    <a:gd name="T5" fmla="*/ 120 h 1295"/>
                    <a:gd name="T6" fmla="*/ 1145 w 1457"/>
                    <a:gd name="T7" fmla="*/ 295 h 1295"/>
                    <a:gd name="T8" fmla="*/ 1419 w 1457"/>
                    <a:gd name="T9" fmla="*/ 153 h 1295"/>
                    <a:gd name="T10" fmla="*/ 1457 w 1457"/>
                    <a:gd name="T11" fmla="*/ 172 h 1295"/>
                    <a:gd name="T12" fmla="*/ 1457 w 1457"/>
                    <a:gd name="T13" fmla="*/ 660 h 1295"/>
                    <a:gd name="T14" fmla="*/ 1449 w 1457"/>
                    <a:gd name="T15" fmla="*/ 672 h 1295"/>
                    <a:gd name="T16" fmla="*/ 1275 w 1457"/>
                    <a:gd name="T17" fmla="*/ 716 h 1295"/>
                    <a:gd name="T18" fmla="*/ 1263 w 1457"/>
                    <a:gd name="T19" fmla="*/ 715 h 1295"/>
                    <a:gd name="T20" fmla="*/ 668 w 1457"/>
                    <a:gd name="T21" fmla="*/ 358 h 1295"/>
                    <a:gd name="T22" fmla="*/ 462 w 1457"/>
                    <a:gd name="T23" fmla="*/ 341 h 1295"/>
                    <a:gd name="T24" fmla="*/ 421 w 1457"/>
                    <a:gd name="T25" fmla="*/ 361 h 1295"/>
                    <a:gd name="T26" fmla="*/ 182 w 1457"/>
                    <a:gd name="T27" fmla="*/ 441 h 1295"/>
                    <a:gd name="T28" fmla="*/ 592 w 1457"/>
                    <a:gd name="T29" fmla="*/ 1039 h 1295"/>
                    <a:gd name="T30" fmla="*/ 528 w 1457"/>
                    <a:gd name="T31" fmla="*/ 1079 h 1295"/>
                    <a:gd name="T32" fmla="*/ 472 w 1457"/>
                    <a:gd name="T33" fmla="*/ 1191 h 1295"/>
                    <a:gd name="T34" fmla="*/ 505 w 1457"/>
                    <a:gd name="T35" fmla="*/ 1287 h 1295"/>
                    <a:gd name="T36" fmla="*/ 505 w 1457"/>
                    <a:gd name="T37" fmla="*/ 1287 h 1295"/>
                    <a:gd name="T38" fmla="*/ 536 w 1457"/>
                    <a:gd name="T39" fmla="*/ 1295 h 1295"/>
                    <a:gd name="T40" fmla="*/ 601 w 1457"/>
                    <a:gd name="T41" fmla="*/ 1255 h 1295"/>
                    <a:gd name="T42" fmla="*/ 657 w 1457"/>
                    <a:gd name="T43" fmla="*/ 1143 h 1295"/>
                    <a:gd name="T44" fmla="*/ 624 w 1457"/>
                    <a:gd name="T45" fmla="*/ 1046 h 1295"/>
                    <a:gd name="T46" fmla="*/ 592 w 1457"/>
                    <a:gd name="T47" fmla="*/ 1039 h 1295"/>
                    <a:gd name="T48" fmla="*/ 462 w 1457"/>
                    <a:gd name="T49" fmla="*/ 901 h 1295"/>
                    <a:gd name="T50" fmla="*/ 397 w 1457"/>
                    <a:gd name="T51" fmla="*/ 941 h 1295"/>
                    <a:gd name="T52" fmla="*/ 307 w 1457"/>
                    <a:gd name="T53" fmla="*/ 1123 h 1295"/>
                    <a:gd name="T54" fmla="*/ 339 w 1457"/>
                    <a:gd name="T55" fmla="*/ 1219 h 1295"/>
                    <a:gd name="T56" fmla="*/ 339 w 1457"/>
                    <a:gd name="T57" fmla="*/ 1219 h 1295"/>
                    <a:gd name="T58" fmla="*/ 371 w 1457"/>
                    <a:gd name="T59" fmla="*/ 1227 h 1295"/>
                    <a:gd name="T60" fmla="*/ 435 w 1457"/>
                    <a:gd name="T61" fmla="*/ 1187 h 1295"/>
                    <a:gd name="T62" fmla="*/ 526 w 1457"/>
                    <a:gd name="T63" fmla="*/ 1005 h 1295"/>
                    <a:gd name="T64" fmla="*/ 493 w 1457"/>
                    <a:gd name="T65" fmla="*/ 909 h 1295"/>
                    <a:gd name="T66" fmla="*/ 493 w 1457"/>
                    <a:gd name="T67" fmla="*/ 909 h 1295"/>
                    <a:gd name="T68" fmla="*/ 462 w 1457"/>
                    <a:gd name="T69" fmla="*/ 901 h 1295"/>
                    <a:gd name="T70" fmla="*/ 298 w 1457"/>
                    <a:gd name="T71" fmla="*/ 829 h 1295"/>
                    <a:gd name="T72" fmla="*/ 233 w 1457"/>
                    <a:gd name="T73" fmla="*/ 869 h 1295"/>
                    <a:gd name="T74" fmla="*/ 150 w 1457"/>
                    <a:gd name="T75" fmla="*/ 1036 h 1295"/>
                    <a:gd name="T76" fmla="*/ 183 w 1457"/>
                    <a:gd name="T77" fmla="*/ 1132 h 1295"/>
                    <a:gd name="T78" fmla="*/ 215 w 1457"/>
                    <a:gd name="T79" fmla="*/ 1140 h 1295"/>
                    <a:gd name="T80" fmla="*/ 279 w 1457"/>
                    <a:gd name="T81" fmla="*/ 1100 h 1295"/>
                    <a:gd name="T82" fmla="*/ 362 w 1457"/>
                    <a:gd name="T83" fmla="*/ 933 h 1295"/>
                    <a:gd name="T84" fmla="*/ 330 w 1457"/>
                    <a:gd name="T85" fmla="*/ 837 h 1295"/>
                    <a:gd name="T86" fmla="*/ 330 w 1457"/>
                    <a:gd name="T87" fmla="*/ 837 h 1295"/>
                    <a:gd name="T88" fmla="*/ 298 w 1457"/>
                    <a:gd name="T89" fmla="*/ 829 h 1295"/>
                    <a:gd name="T90" fmla="*/ 131 w 1457"/>
                    <a:gd name="T91" fmla="*/ 762 h 1295"/>
                    <a:gd name="T92" fmla="*/ 66 w 1457"/>
                    <a:gd name="T93" fmla="*/ 802 h 1295"/>
                    <a:gd name="T94" fmla="*/ 18 w 1457"/>
                    <a:gd name="T95" fmla="*/ 900 h 1295"/>
                    <a:gd name="T96" fmla="*/ 50 w 1457"/>
                    <a:gd name="T97" fmla="*/ 996 h 1295"/>
                    <a:gd name="T98" fmla="*/ 82 w 1457"/>
                    <a:gd name="T99" fmla="*/ 1004 h 1295"/>
                    <a:gd name="T100" fmla="*/ 146 w 1457"/>
                    <a:gd name="T101" fmla="*/ 964 h 1295"/>
                    <a:gd name="T102" fmla="*/ 195 w 1457"/>
                    <a:gd name="T103" fmla="*/ 866 h 1295"/>
                    <a:gd name="T104" fmla="*/ 162 w 1457"/>
                    <a:gd name="T105" fmla="*/ 770 h 1295"/>
                    <a:gd name="T106" fmla="*/ 131 w 1457"/>
                    <a:gd name="T107" fmla="*/ 762 h 1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57" h="1295">
                      <a:moveTo>
                        <a:pt x="182" y="441"/>
                      </a:moveTo>
                      <a:cubicBezTo>
                        <a:pt x="138" y="419"/>
                        <a:pt x="128" y="361"/>
                        <a:pt x="163" y="326"/>
                      </a:cubicBezTo>
                      <a:cubicBezTo>
                        <a:pt x="484" y="0"/>
                        <a:pt x="654" y="98"/>
                        <a:pt x="724" y="120"/>
                      </a:cubicBezTo>
                      <a:cubicBezTo>
                        <a:pt x="823" y="149"/>
                        <a:pt x="1071" y="278"/>
                        <a:pt x="1145" y="295"/>
                      </a:cubicBezTo>
                      <a:cubicBezTo>
                        <a:pt x="1199" y="308"/>
                        <a:pt x="1348" y="206"/>
                        <a:pt x="1419" y="153"/>
                      </a:cubicBezTo>
                      <a:cubicBezTo>
                        <a:pt x="1435" y="142"/>
                        <a:pt x="1457" y="153"/>
                        <a:pt x="1457" y="172"/>
                      </a:cubicBezTo>
                      <a:cubicBezTo>
                        <a:pt x="1457" y="172"/>
                        <a:pt x="1457" y="172"/>
                        <a:pt x="1457" y="660"/>
                      </a:cubicBezTo>
                      <a:cubicBezTo>
                        <a:pt x="1457" y="666"/>
                        <a:pt x="1454" y="670"/>
                        <a:pt x="1449" y="672"/>
                      </a:cubicBezTo>
                      <a:cubicBezTo>
                        <a:pt x="1449" y="672"/>
                        <a:pt x="1449" y="672"/>
                        <a:pt x="1275" y="716"/>
                      </a:cubicBezTo>
                      <a:cubicBezTo>
                        <a:pt x="1271" y="718"/>
                        <a:pt x="1266" y="717"/>
                        <a:pt x="1263" y="715"/>
                      </a:cubicBezTo>
                      <a:cubicBezTo>
                        <a:pt x="1207" y="679"/>
                        <a:pt x="737" y="382"/>
                        <a:pt x="668" y="358"/>
                      </a:cubicBezTo>
                      <a:cubicBezTo>
                        <a:pt x="614" y="338"/>
                        <a:pt x="510" y="340"/>
                        <a:pt x="462" y="341"/>
                      </a:cubicBezTo>
                      <a:cubicBezTo>
                        <a:pt x="446" y="342"/>
                        <a:pt x="431" y="349"/>
                        <a:pt x="421" y="361"/>
                      </a:cubicBezTo>
                      <a:cubicBezTo>
                        <a:pt x="320" y="472"/>
                        <a:pt x="237" y="468"/>
                        <a:pt x="182" y="441"/>
                      </a:cubicBezTo>
                      <a:close/>
                      <a:moveTo>
                        <a:pt x="592" y="1039"/>
                      </a:moveTo>
                      <a:cubicBezTo>
                        <a:pt x="566" y="1039"/>
                        <a:pt x="541" y="1054"/>
                        <a:pt x="528" y="1079"/>
                      </a:cubicBezTo>
                      <a:cubicBezTo>
                        <a:pt x="472" y="1191"/>
                        <a:pt x="472" y="1191"/>
                        <a:pt x="472" y="1191"/>
                      </a:cubicBezTo>
                      <a:cubicBezTo>
                        <a:pt x="455" y="1227"/>
                        <a:pt x="469" y="1270"/>
                        <a:pt x="505" y="1287"/>
                      </a:cubicBezTo>
                      <a:cubicBezTo>
                        <a:pt x="505" y="1287"/>
                        <a:pt x="505" y="1287"/>
                        <a:pt x="505" y="1287"/>
                      </a:cubicBezTo>
                      <a:cubicBezTo>
                        <a:pt x="515" y="1292"/>
                        <a:pt x="526" y="1295"/>
                        <a:pt x="536" y="1295"/>
                      </a:cubicBezTo>
                      <a:cubicBezTo>
                        <a:pt x="563" y="1295"/>
                        <a:pt x="588" y="1280"/>
                        <a:pt x="601" y="1255"/>
                      </a:cubicBezTo>
                      <a:cubicBezTo>
                        <a:pt x="657" y="1143"/>
                        <a:pt x="657" y="1143"/>
                        <a:pt x="657" y="1143"/>
                      </a:cubicBezTo>
                      <a:cubicBezTo>
                        <a:pt x="674" y="1107"/>
                        <a:pt x="660" y="1064"/>
                        <a:pt x="624" y="1046"/>
                      </a:cubicBezTo>
                      <a:cubicBezTo>
                        <a:pt x="614" y="1041"/>
                        <a:pt x="603" y="1039"/>
                        <a:pt x="592" y="1039"/>
                      </a:cubicBezTo>
                      <a:moveTo>
                        <a:pt x="462" y="901"/>
                      </a:moveTo>
                      <a:cubicBezTo>
                        <a:pt x="435" y="901"/>
                        <a:pt x="410" y="916"/>
                        <a:pt x="397" y="941"/>
                      </a:cubicBezTo>
                      <a:cubicBezTo>
                        <a:pt x="307" y="1123"/>
                        <a:pt x="307" y="1123"/>
                        <a:pt x="307" y="1123"/>
                      </a:cubicBezTo>
                      <a:cubicBezTo>
                        <a:pt x="289" y="1159"/>
                        <a:pt x="304" y="1202"/>
                        <a:pt x="339" y="1219"/>
                      </a:cubicBezTo>
                      <a:cubicBezTo>
                        <a:pt x="339" y="1219"/>
                        <a:pt x="339" y="1219"/>
                        <a:pt x="339" y="1219"/>
                      </a:cubicBezTo>
                      <a:cubicBezTo>
                        <a:pt x="350" y="1224"/>
                        <a:pt x="360" y="1227"/>
                        <a:pt x="371" y="1227"/>
                      </a:cubicBezTo>
                      <a:cubicBezTo>
                        <a:pt x="397" y="1227"/>
                        <a:pt x="423" y="1212"/>
                        <a:pt x="435" y="1187"/>
                      </a:cubicBezTo>
                      <a:cubicBezTo>
                        <a:pt x="526" y="1005"/>
                        <a:pt x="526" y="1005"/>
                        <a:pt x="526" y="1005"/>
                      </a:cubicBezTo>
                      <a:cubicBezTo>
                        <a:pt x="543" y="970"/>
                        <a:pt x="529" y="927"/>
                        <a:pt x="493" y="909"/>
                      </a:cubicBezTo>
                      <a:cubicBezTo>
                        <a:pt x="493" y="909"/>
                        <a:pt x="493" y="909"/>
                        <a:pt x="493" y="909"/>
                      </a:cubicBezTo>
                      <a:cubicBezTo>
                        <a:pt x="483" y="904"/>
                        <a:pt x="472" y="901"/>
                        <a:pt x="462" y="901"/>
                      </a:cubicBezTo>
                      <a:moveTo>
                        <a:pt x="298" y="829"/>
                      </a:moveTo>
                      <a:cubicBezTo>
                        <a:pt x="271" y="829"/>
                        <a:pt x="246" y="844"/>
                        <a:pt x="233" y="869"/>
                      </a:cubicBezTo>
                      <a:cubicBezTo>
                        <a:pt x="150" y="1036"/>
                        <a:pt x="150" y="1036"/>
                        <a:pt x="150" y="1036"/>
                      </a:cubicBezTo>
                      <a:cubicBezTo>
                        <a:pt x="133" y="1072"/>
                        <a:pt x="147" y="1115"/>
                        <a:pt x="183" y="1132"/>
                      </a:cubicBezTo>
                      <a:cubicBezTo>
                        <a:pt x="193" y="1138"/>
                        <a:pt x="204" y="1140"/>
                        <a:pt x="215" y="1140"/>
                      </a:cubicBezTo>
                      <a:cubicBezTo>
                        <a:pt x="241" y="1140"/>
                        <a:pt x="266" y="1125"/>
                        <a:pt x="279" y="1100"/>
                      </a:cubicBezTo>
                      <a:cubicBezTo>
                        <a:pt x="362" y="933"/>
                        <a:pt x="362" y="933"/>
                        <a:pt x="362" y="933"/>
                      </a:cubicBezTo>
                      <a:cubicBezTo>
                        <a:pt x="379" y="898"/>
                        <a:pt x="365" y="855"/>
                        <a:pt x="330" y="837"/>
                      </a:cubicBezTo>
                      <a:cubicBezTo>
                        <a:pt x="330" y="837"/>
                        <a:pt x="330" y="837"/>
                        <a:pt x="330" y="837"/>
                      </a:cubicBezTo>
                      <a:cubicBezTo>
                        <a:pt x="319" y="832"/>
                        <a:pt x="308" y="829"/>
                        <a:pt x="298" y="829"/>
                      </a:cubicBezTo>
                      <a:moveTo>
                        <a:pt x="131" y="762"/>
                      </a:moveTo>
                      <a:cubicBezTo>
                        <a:pt x="104" y="762"/>
                        <a:pt x="79" y="777"/>
                        <a:pt x="66" y="802"/>
                      </a:cubicBezTo>
                      <a:cubicBezTo>
                        <a:pt x="18" y="900"/>
                        <a:pt x="18" y="900"/>
                        <a:pt x="18" y="900"/>
                      </a:cubicBezTo>
                      <a:cubicBezTo>
                        <a:pt x="0" y="936"/>
                        <a:pt x="14" y="979"/>
                        <a:pt x="50" y="996"/>
                      </a:cubicBezTo>
                      <a:cubicBezTo>
                        <a:pt x="60" y="1002"/>
                        <a:pt x="71" y="1004"/>
                        <a:pt x="82" y="1004"/>
                      </a:cubicBezTo>
                      <a:cubicBezTo>
                        <a:pt x="108" y="1004"/>
                        <a:pt x="133" y="989"/>
                        <a:pt x="146" y="964"/>
                      </a:cubicBezTo>
                      <a:cubicBezTo>
                        <a:pt x="195" y="866"/>
                        <a:pt x="195" y="866"/>
                        <a:pt x="195" y="866"/>
                      </a:cubicBezTo>
                      <a:cubicBezTo>
                        <a:pt x="212" y="830"/>
                        <a:pt x="198" y="787"/>
                        <a:pt x="162" y="770"/>
                      </a:cubicBezTo>
                      <a:cubicBezTo>
                        <a:pt x="152" y="765"/>
                        <a:pt x="141" y="762"/>
                        <a:pt x="131" y="762"/>
                      </a:cubicBezTo>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73" name="Freeform 6"/>
                <p:cNvSpPr>
                  <a:spLocks/>
                </p:cNvSpPr>
                <p:nvPr/>
              </p:nvSpPr>
              <p:spPr bwMode="auto">
                <a:xfrm>
                  <a:off x="2251" y="921"/>
                  <a:ext cx="3007" cy="2422"/>
                </a:xfrm>
                <a:custGeom>
                  <a:avLst/>
                  <a:gdLst>
                    <a:gd name="T0" fmla="*/ 262 w 1605"/>
                    <a:gd name="T1" fmla="*/ 725 h 1292"/>
                    <a:gd name="T2" fmla="*/ 15 w 1605"/>
                    <a:gd name="T3" fmla="*/ 587 h 1292"/>
                    <a:gd name="T4" fmla="*/ 0 w 1605"/>
                    <a:gd name="T5" fmla="*/ 37 h 1292"/>
                    <a:gd name="T6" fmla="*/ 36 w 1605"/>
                    <a:gd name="T7" fmla="*/ 0 h 1292"/>
                    <a:gd name="T8" fmla="*/ 155 w 1605"/>
                    <a:gd name="T9" fmla="*/ 96 h 1292"/>
                    <a:gd name="T10" fmla="*/ 324 w 1605"/>
                    <a:gd name="T11" fmla="*/ 190 h 1292"/>
                    <a:gd name="T12" fmla="*/ 364 w 1605"/>
                    <a:gd name="T13" fmla="*/ 178 h 1292"/>
                    <a:gd name="T14" fmla="*/ 366 w 1605"/>
                    <a:gd name="T15" fmla="*/ 207 h 1292"/>
                    <a:gd name="T16" fmla="*/ 324 w 1605"/>
                    <a:gd name="T17" fmla="*/ 226 h 1292"/>
                    <a:gd name="T18" fmla="*/ 36 w 1605"/>
                    <a:gd name="T19" fmla="*/ 36 h 1292"/>
                    <a:gd name="T20" fmla="*/ 1538 w 1605"/>
                    <a:gd name="T21" fmla="*/ 719 h 1292"/>
                    <a:gd name="T22" fmla="*/ 785 w 1605"/>
                    <a:gd name="T23" fmla="*/ 307 h 1292"/>
                    <a:gd name="T24" fmla="*/ 1544 w 1605"/>
                    <a:gd name="T25" fmla="*/ 848 h 1292"/>
                    <a:gd name="T26" fmla="*/ 1482 w 1605"/>
                    <a:gd name="T27" fmla="*/ 883 h 1292"/>
                    <a:gd name="T28" fmla="*/ 1236 w 1605"/>
                    <a:gd name="T29" fmla="*/ 747 h 1292"/>
                    <a:gd name="T30" fmla="*/ 1210 w 1605"/>
                    <a:gd name="T31" fmla="*/ 752 h 1292"/>
                    <a:gd name="T32" fmla="*/ 1380 w 1605"/>
                    <a:gd name="T33" fmla="*/ 881 h 1292"/>
                    <a:gd name="T34" fmla="*/ 1345 w 1605"/>
                    <a:gd name="T35" fmla="*/ 1015 h 1292"/>
                    <a:gd name="T36" fmla="*/ 1123 w 1605"/>
                    <a:gd name="T37" fmla="*/ 893 h 1292"/>
                    <a:gd name="T38" fmla="*/ 1098 w 1605"/>
                    <a:gd name="T39" fmla="*/ 898 h 1292"/>
                    <a:gd name="T40" fmla="*/ 1229 w 1605"/>
                    <a:gd name="T41" fmla="*/ 1002 h 1292"/>
                    <a:gd name="T42" fmla="*/ 1253 w 1605"/>
                    <a:gd name="T43" fmla="*/ 1100 h 1292"/>
                    <a:gd name="T44" fmla="*/ 1155 w 1605"/>
                    <a:gd name="T45" fmla="*/ 1124 h 1292"/>
                    <a:gd name="T46" fmla="*/ 986 w 1605"/>
                    <a:gd name="T47" fmla="*/ 1044 h 1292"/>
                    <a:gd name="T48" fmla="*/ 992 w 1605"/>
                    <a:gd name="T49" fmla="*/ 1075 h 1292"/>
                    <a:gd name="T50" fmla="*/ 1097 w 1605"/>
                    <a:gd name="T51" fmla="*/ 1222 h 1292"/>
                    <a:gd name="T52" fmla="*/ 998 w 1605"/>
                    <a:gd name="T53" fmla="*/ 1246 h 1292"/>
                    <a:gd name="T54" fmla="*/ 862 w 1605"/>
                    <a:gd name="T55" fmla="*/ 1206 h 1292"/>
                    <a:gd name="T56" fmla="*/ 1035 w 1605"/>
                    <a:gd name="T57" fmla="*/ 1292 h 1292"/>
                    <a:gd name="T58" fmla="*/ 1139 w 1605"/>
                    <a:gd name="T59" fmla="*/ 1157 h 1292"/>
                    <a:gd name="T60" fmla="*/ 1284 w 1605"/>
                    <a:gd name="T61" fmla="*/ 1119 h 1292"/>
                    <a:gd name="T62" fmla="*/ 1345 w 1605"/>
                    <a:gd name="T63" fmla="*/ 1051 h 1292"/>
                    <a:gd name="T64" fmla="*/ 1450 w 1605"/>
                    <a:gd name="T65" fmla="*/ 917 h 1292"/>
                    <a:gd name="T66" fmla="*/ 1482 w 1605"/>
                    <a:gd name="T67" fmla="*/ 919 h 1292"/>
                    <a:gd name="T68" fmla="*/ 1538 w 1605"/>
                    <a:gd name="T69" fmla="*/ 719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5" h="1292">
                      <a:moveTo>
                        <a:pt x="36" y="558"/>
                      </a:moveTo>
                      <a:cubicBezTo>
                        <a:pt x="262" y="725"/>
                        <a:pt x="262" y="725"/>
                        <a:pt x="262" y="725"/>
                      </a:cubicBezTo>
                      <a:cubicBezTo>
                        <a:pt x="246" y="757"/>
                        <a:pt x="246" y="757"/>
                        <a:pt x="246" y="757"/>
                      </a:cubicBezTo>
                      <a:cubicBezTo>
                        <a:pt x="15" y="587"/>
                        <a:pt x="15" y="587"/>
                        <a:pt x="15" y="587"/>
                      </a:cubicBezTo>
                      <a:cubicBezTo>
                        <a:pt x="6" y="580"/>
                        <a:pt x="0" y="569"/>
                        <a:pt x="0" y="558"/>
                      </a:cubicBezTo>
                      <a:cubicBezTo>
                        <a:pt x="0" y="37"/>
                        <a:pt x="0" y="37"/>
                        <a:pt x="0" y="37"/>
                      </a:cubicBezTo>
                      <a:cubicBezTo>
                        <a:pt x="0" y="24"/>
                        <a:pt x="7" y="11"/>
                        <a:pt x="18" y="5"/>
                      </a:cubicBezTo>
                      <a:cubicBezTo>
                        <a:pt x="24" y="1"/>
                        <a:pt x="30" y="0"/>
                        <a:pt x="36" y="0"/>
                      </a:cubicBezTo>
                      <a:cubicBezTo>
                        <a:pt x="45" y="0"/>
                        <a:pt x="54" y="3"/>
                        <a:pt x="61" y="9"/>
                      </a:cubicBezTo>
                      <a:cubicBezTo>
                        <a:pt x="155" y="96"/>
                        <a:pt x="155" y="96"/>
                        <a:pt x="155" y="96"/>
                      </a:cubicBezTo>
                      <a:cubicBezTo>
                        <a:pt x="156" y="97"/>
                        <a:pt x="156" y="97"/>
                        <a:pt x="156" y="97"/>
                      </a:cubicBezTo>
                      <a:cubicBezTo>
                        <a:pt x="182" y="123"/>
                        <a:pt x="263" y="190"/>
                        <a:pt x="324" y="190"/>
                      </a:cubicBezTo>
                      <a:cubicBezTo>
                        <a:pt x="336" y="190"/>
                        <a:pt x="346" y="187"/>
                        <a:pt x="355" y="182"/>
                      </a:cubicBezTo>
                      <a:cubicBezTo>
                        <a:pt x="358" y="180"/>
                        <a:pt x="361" y="179"/>
                        <a:pt x="364" y="178"/>
                      </a:cubicBezTo>
                      <a:cubicBezTo>
                        <a:pt x="413" y="161"/>
                        <a:pt x="413" y="161"/>
                        <a:pt x="413" y="161"/>
                      </a:cubicBezTo>
                      <a:cubicBezTo>
                        <a:pt x="397" y="176"/>
                        <a:pt x="382" y="191"/>
                        <a:pt x="366" y="207"/>
                      </a:cubicBezTo>
                      <a:cubicBezTo>
                        <a:pt x="361" y="212"/>
                        <a:pt x="357" y="217"/>
                        <a:pt x="353" y="222"/>
                      </a:cubicBezTo>
                      <a:cubicBezTo>
                        <a:pt x="344" y="225"/>
                        <a:pt x="334" y="226"/>
                        <a:pt x="324" y="226"/>
                      </a:cubicBezTo>
                      <a:cubicBezTo>
                        <a:pt x="234" y="226"/>
                        <a:pt x="131" y="123"/>
                        <a:pt x="131" y="123"/>
                      </a:cubicBezTo>
                      <a:cubicBezTo>
                        <a:pt x="36" y="36"/>
                        <a:pt x="36" y="36"/>
                        <a:pt x="36" y="36"/>
                      </a:cubicBezTo>
                      <a:lnTo>
                        <a:pt x="36" y="558"/>
                      </a:lnTo>
                      <a:close/>
                      <a:moveTo>
                        <a:pt x="1538" y="719"/>
                      </a:moveTo>
                      <a:cubicBezTo>
                        <a:pt x="868" y="315"/>
                        <a:pt x="868" y="315"/>
                        <a:pt x="868" y="315"/>
                      </a:cubicBezTo>
                      <a:cubicBezTo>
                        <a:pt x="850" y="312"/>
                        <a:pt x="824" y="309"/>
                        <a:pt x="785" y="307"/>
                      </a:cubicBezTo>
                      <a:cubicBezTo>
                        <a:pt x="1520" y="750"/>
                        <a:pt x="1520" y="750"/>
                        <a:pt x="1520" y="750"/>
                      </a:cubicBezTo>
                      <a:cubicBezTo>
                        <a:pt x="1553" y="770"/>
                        <a:pt x="1564" y="814"/>
                        <a:pt x="1544" y="848"/>
                      </a:cubicBezTo>
                      <a:cubicBezTo>
                        <a:pt x="1544" y="848"/>
                        <a:pt x="1544" y="848"/>
                        <a:pt x="1544" y="848"/>
                      </a:cubicBezTo>
                      <a:cubicBezTo>
                        <a:pt x="1531" y="871"/>
                        <a:pt x="1507" y="883"/>
                        <a:pt x="1482" y="883"/>
                      </a:cubicBezTo>
                      <a:cubicBezTo>
                        <a:pt x="1470" y="883"/>
                        <a:pt x="1457" y="880"/>
                        <a:pt x="1446" y="873"/>
                      </a:cubicBezTo>
                      <a:cubicBezTo>
                        <a:pt x="1236" y="747"/>
                        <a:pt x="1236" y="747"/>
                        <a:pt x="1236" y="747"/>
                      </a:cubicBezTo>
                      <a:cubicBezTo>
                        <a:pt x="1227" y="741"/>
                        <a:pt x="1216" y="743"/>
                        <a:pt x="1210" y="752"/>
                      </a:cubicBezTo>
                      <a:cubicBezTo>
                        <a:pt x="1210" y="752"/>
                        <a:pt x="1210" y="752"/>
                        <a:pt x="1210" y="752"/>
                      </a:cubicBezTo>
                      <a:cubicBezTo>
                        <a:pt x="1202" y="761"/>
                        <a:pt x="1205" y="775"/>
                        <a:pt x="1215" y="781"/>
                      </a:cubicBezTo>
                      <a:cubicBezTo>
                        <a:pt x="1380" y="881"/>
                        <a:pt x="1380" y="881"/>
                        <a:pt x="1380" y="881"/>
                      </a:cubicBezTo>
                      <a:cubicBezTo>
                        <a:pt x="1414" y="901"/>
                        <a:pt x="1427" y="947"/>
                        <a:pt x="1406" y="981"/>
                      </a:cubicBezTo>
                      <a:cubicBezTo>
                        <a:pt x="1393" y="1003"/>
                        <a:pt x="1369" y="1015"/>
                        <a:pt x="1345" y="1015"/>
                      </a:cubicBezTo>
                      <a:cubicBezTo>
                        <a:pt x="1332" y="1015"/>
                        <a:pt x="1320" y="1012"/>
                        <a:pt x="1308" y="1005"/>
                      </a:cubicBezTo>
                      <a:cubicBezTo>
                        <a:pt x="1123" y="893"/>
                        <a:pt x="1123" y="893"/>
                        <a:pt x="1123" y="893"/>
                      </a:cubicBezTo>
                      <a:cubicBezTo>
                        <a:pt x="1115" y="888"/>
                        <a:pt x="1104" y="890"/>
                        <a:pt x="1098" y="898"/>
                      </a:cubicBezTo>
                      <a:cubicBezTo>
                        <a:pt x="1098" y="898"/>
                        <a:pt x="1098" y="898"/>
                        <a:pt x="1098" y="898"/>
                      </a:cubicBezTo>
                      <a:cubicBezTo>
                        <a:pt x="1091" y="907"/>
                        <a:pt x="1093" y="920"/>
                        <a:pt x="1103" y="926"/>
                      </a:cubicBezTo>
                      <a:cubicBezTo>
                        <a:pt x="1229" y="1002"/>
                        <a:pt x="1229" y="1002"/>
                        <a:pt x="1229" y="1002"/>
                      </a:cubicBezTo>
                      <a:cubicBezTo>
                        <a:pt x="1263" y="1022"/>
                        <a:pt x="1274" y="1066"/>
                        <a:pt x="1253" y="1100"/>
                      </a:cubicBezTo>
                      <a:cubicBezTo>
                        <a:pt x="1253" y="1100"/>
                        <a:pt x="1253" y="1100"/>
                        <a:pt x="1253" y="1100"/>
                      </a:cubicBezTo>
                      <a:cubicBezTo>
                        <a:pt x="1240" y="1122"/>
                        <a:pt x="1216" y="1135"/>
                        <a:pt x="1192" y="1135"/>
                      </a:cubicBezTo>
                      <a:cubicBezTo>
                        <a:pt x="1179" y="1135"/>
                        <a:pt x="1167" y="1131"/>
                        <a:pt x="1155" y="1124"/>
                      </a:cubicBezTo>
                      <a:cubicBezTo>
                        <a:pt x="1013" y="1039"/>
                        <a:pt x="1013" y="1039"/>
                        <a:pt x="1013" y="1039"/>
                      </a:cubicBezTo>
                      <a:cubicBezTo>
                        <a:pt x="1004" y="1033"/>
                        <a:pt x="992" y="1036"/>
                        <a:pt x="986" y="1044"/>
                      </a:cubicBezTo>
                      <a:cubicBezTo>
                        <a:pt x="986" y="1044"/>
                        <a:pt x="986" y="1044"/>
                        <a:pt x="986" y="1044"/>
                      </a:cubicBezTo>
                      <a:cubicBezTo>
                        <a:pt x="978" y="1054"/>
                        <a:pt x="981" y="1068"/>
                        <a:pt x="992" y="1075"/>
                      </a:cubicBezTo>
                      <a:cubicBezTo>
                        <a:pt x="1071" y="1122"/>
                        <a:pt x="1071" y="1122"/>
                        <a:pt x="1071" y="1122"/>
                      </a:cubicBezTo>
                      <a:cubicBezTo>
                        <a:pt x="1105" y="1143"/>
                        <a:pt x="1117" y="1188"/>
                        <a:pt x="1097" y="1222"/>
                      </a:cubicBezTo>
                      <a:cubicBezTo>
                        <a:pt x="1083" y="1244"/>
                        <a:pt x="1059" y="1256"/>
                        <a:pt x="1035" y="1256"/>
                      </a:cubicBezTo>
                      <a:cubicBezTo>
                        <a:pt x="1023" y="1256"/>
                        <a:pt x="1010" y="1253"/>
                        <a:pt x="998" y="1246"/>
                      </a:cubicBezTo>
                      <a:cubicBezTo>
                        <a:pt x="884" y="1177"/>
                        <a:pt x="884" y="1177"/>
                        <a:pt x="884" y="1177"/>
                      </a:cubicBezTo>
                      <a:cubicBezTo>
                        <a:pt x="862" y="1206"/>
                        <a:pt x="862" y="1206"/>
                        <a:pt x="862" y="1206"/>
                      </a:cubicBezTo>
                      <a:cubicBezTo>
                        <a:pt x="980" y="1277"/>
                        <a:pt x="980" y="1277"/>
                        <a:pt x="980" y="1277"/>
                      </a:cubicBezTo>
                      <a:cubicBezTo>
                        <a:pt x="997" y="1287"/>
                        <a:pt x="1016" y="1292"/>
                        <a:pt x="1035" y="1292"/>
                      </a:cubicBezTo>
                      <a:cubicBezTo>
                        <a:pt x="1073" y="1292"/>
                        <a:pt x="1108" y="1272"/>
                        <a:pt x="1128" y="1240"/>
                      </a:cubicBezTo>
                      <a:cubicBezTo>
                        <a:pt x="1143" y="1214"/>
                        <a:pt x="1147" y="1184"/>
                        <a:pt x="1139" y="1157"/>
                      </a:cubicBezTo>
                      <a:cubicBezTo>
                        <a:pt x="1155" y="1166"/>
                        <a:pt x="1174" y="1171"/>
                        <a:pt x="1192" y="1171"/>
                      </a:cubicBezTo>
                      <a:cubicBezTo>
                        <a:pt x="1230" y="1171"/>
                        <a:pt x="1265" y="1151"/>
                        <a:pt x="1284" y="1119"/>
                      </a:cubicBezTo>
                      <a:cubicBezTo>
                        <a:pt x="1299" y="1094"/>
                        <a:pt x="1303" y="1066"/>
                        <a:pt x="1297" y="1040"/>
                      </a:cubicBezTo>
                      <a:cubicBezTo>
                        <a:pt x="1312" y="1047"/>
                        <a:pt x="1328" y="1051"/>
                        <a:pt x="1345" y="1051"/>
                      </a:cubicBezTo>
                      <a:cubicBezTo>
                        <a:pt x="1383" y="1051"/>
                        <a:pt x="1418" y="1031"/>
                        <a:pt x="1437" y="999"/>
                      </a:cubicBezTo>
                      <a:cubicBezTo>
                        <a:pt x="1452" y="974"/>
                        <a:pt x="1457" y="945"/>
                        <a:pt x="1450" y="917"/>
                      </a:cubicBezTo>
                      <a:cubicBezTo>
                        <a:pt x="1449" y="916"/>
                        <a:pt x="1449" y="915"/>
                        <a:pt x="1449" y="913"/>
                      </a:cubicBezTo>
                      <a:cubicBezTo>
                        <a:pt x="1459" y="917"/>
                        <a:pt x="1471" y="919"/>
                        <a:pt x="1482" y="919"/>
                      </a:cubicBezTo>
                      <a:cubicBezTo>
                        <a:pt x="1520" y="919"/>
                        <a:pt x="1555" y="899"/>
                        <a:pt x="1575" y="867"/>
                      </a:cubicBezTo>
                      <a:cubicBezTo>
                        <a:pt x="1605" y="816"/>
                        <a:pt x="1589" y="750"/>
                        <a:pt x="1538" y="719"/>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4" name="Grupo 169"/>
            <p:cNvGrpSpPr/>
            <p:nvPr/>
          </p:nvGrpSpPr>
          <p:grpSpPr>
            <a:xfrm>
              <a:off x="9743548" y="1494503"/>
              <a:ext cx="972002" cy="1122694"/>
              <a:chOff x="9330091" y="1669461"/>
              <a:chExt cx="1047299" cy="1122694"/>
            </a:xfrm>
          </p:grpSpPr>
          <p:sp>
            <p:nvSpPr>
              <p:cNvPr id="175" name="Rectangle: Rounded Corners 215"/>
              <p:cNvSpPr/>
              <p:nvPr/>
            </p:nvSpPr>
            <p:spPr>
              <a:xfrm>
                <a:off x="93950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Sistemas TI</a:t>
                </a:r>
              </a:p>
            </p:txBody>
          </p:sp>
          <p:sp>
            <p:nvSpPr>
              <p:cNvPr id="176" name="Oval 20"/>
              <p:cNvSpPr>
                <a:spLocks noChangeAspect="1" noChangeArrowheads="1"/>
              </p:cNvSpPr>
              <p:nvPr/>
            </p:nvSpPr>
            <p:spPr bwMode="auto">
              <a:xfrm>
                <a:off x="93300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12</a:t>
                </a:r>
              </a:p>
            </p:txBody>
          </p:sp>
          <p:grpSp>
            <p:nvGrpSpPr>
              <p:cNvPr id="177" name="bcgIcons_Open Ecosystem "/>
              <p:cNvGrpSpPr>
                <a:grpSpLocks noChangeAspect="1"/>
              </p:cNvGrpSpPr>
              <p:nvPr/>
            </p:nvGrpSpPr>
            <p:grpSpPr bwMode="auto">
              <a:xfrm>
                <a:off x="9677187" y="1827711"/>
                <a:ext cx="418067" cy="418454"/>
                <a:chOff x="1682" y="0"/>
                <a:chExt cx="4316" cy="4320"/>
              </a:xfrm>
            </p:grpSpPr>
            <p:sp>
              <p:nvSpPr>
                <p:cNvPr id="178"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79" name="Freeform 5"/>
                <p:cNvSpPr>
                  <a:spLocks/>
                </p:cNvSpPr>
                <p:nvPr/>
              </p:nvSpPr>
              <p:spPr bwMode="auto">
                <a:xfrm>
                  <a:off x="2250" y="351"/>
                  <a:ext cx="3177" cy="3615"/>
                </a:xfrm>
                <a:custGeom>
                  <a:avLst/>
                  <a:gdLst>
                    <a:gd name="T0" fmla="*/ 1394 w 1696"/>
                    <a:gd name="T1" fmla="*/ 1637 h 1928"/>
                    <a:gd name="T2" fmla="*/ 924 w 1696"/>
                    <a:gd name="T3" fmla="*/ 1891 h 1928"/>
                    <a:gd name="T4" fmla="*/ 908 w 1696"/>
                    <a:gd name="T5" fmla="*/ 1928 h 1928"/>
                    <a:gd name="T6" fmla="*/ 796 w 1696"/>
                    <a:gd name="T7" fmla="*/ 1823 h 1928"/>
                    <a:gd name="T8" fmla="*/ 895 w 1696"/>
                    <a:gd name="T9" fmla="*/ 1695 h 1928"/>
                    <a:gd name="T10" fmla="*/ 926 w 1696"/>
                    <a:gd name="T11" fmla="*/ 1726 h 1928"/>
                    <a:gd name="T12" fmla="*/ 1650 w 1696"/>
                    <a:gd name="T13" fmla="*/ 1143 h 1928"/>
                    <a:gd name="T14" fmla="*/ 1693 w 1696"/>
                    <a:gd name="T15" fmla="*/ 1152 h 1928"/>
                    <a:gd name="T16" fmla="*/ 804 w 1696"/>
                    <a:gd name="T17" fmla="*/ 8 h 1928"/>
                    <a:gd name="T18" fmla="*/ 772 w 1696"/>
                    <a:gd name="T19" fmla="*/ 39 h 1928"/>
                    <a:gd name="T20" fmla="*/ 302 w 1696"/>
                    <a:gd name="T21" fmla="*/ 293 h 1928"/>
                    <a:gd name="T22" fmla="*/ 19 w 1696"/>
                    <a:gd name="T23" fmla="*/ 804 h 1928"/>
                    <a:gd name="T24" fmla="*/ 46 w 1696"/>
                    <a:gd name="T25" fmla="*/ 787 h 1928"/>
                    <a:gd name="T26" fmla="*/ 770 w 1696"/>
                    <a:gd name="T27" fmla="*/ 204 h 1928"/>
                    <a:gd name="T28" fmla="*/ 786 w 1696"/>
                    <a:gd name="T29" fmla="*/ 241 h 1928"/>
                    <a:gd name="T30" fmla="*/ 900 w 1696"/>
                    <a:gd name="T31" fmla="*/ 139 h 1928"/>
                    <a:gd name="T32" fmla="*/ 1031 w 1696"/>
                    <a:gd name="T33" fmla="*/ 1376 h 1928"/>
                    <a:gd name="T34" fmla="*/ 945 w 1696"/>
                    <a:gd name="T35" fmla="*/ 1282 h 1928"/>
                    <a:gd name="T36" fmla="*/ 1397 w 1696"/>
                    <a:gd name="T37" fmla="*/ 1268 h 1928"/>
                    <a:gd name="T38" fmla="*/ 1419 w 1696"/>
                    <a:gd name="T39" fmla="*/ 636 h 1928"/>
                    <a:gd name="T40" fmla="*/ 303 w 1696"/>
                    <a:gd name="T41" fmla="*/ 614 h 1928"/>
                    <a:gd name="T42" fmla="*/ 281 w 1696"/>
                    <a:gd name="T43" fmla="*/ 1246 h 1928"/>
                    <a:gd name="T44" fmla="*/ 754 w 1696"/>
                    <a:gd name="T45" fmla="*/ 1268 h 1928"/>
                    <a:gd name="T46" fmla="*/ 675 w 1696"/>
                    <a:gd name="T47" fmla="*/ 1352 h 1928"/>
                    <a:gd name="T48" fmla="*/ 689 w 1696"/>
                    <a:gd name="T49" fmla="*/ 1390 h 1928"/>
                    <a:gd name="T50" fmla="*/ 1031 w 1696"/>
                    <a:gd name="T51" fmla="*/ 1376 h 1928"/>
                    <a:gd name="T52" fmla="*/ 798 w 1696"/>
                    <a:gd name="T53" fmla="*/ 1293 h 1928"/>
                    <a:gd name="T54" fmla="*/ 776 w 1696"/>
                    <a:gd name="T55" fmla="*/ 1224 h 1928"/>
                    <a:gd name="T56" fmla="*/ 325 w 1696"/>
                    <a:gd name="T57" fmla="*/ 658 h 1928"/>
                    <a:gd name="T58" fmla="*/ 1375 w 1696"/>
                    <a:gd name="T59" fmla="*/ 1224 h 1928"/>
                    <a:gd name="T60" fmla="*/ 901 w 1696"/>
                    <a:gd name="T61" fmla="*/ 1246 h 1928"/>
                    <a:gd name="T62" fmla="*/ 909 w 1696"/>
                    <a:gd name="T63" fmla="*/ 1309 h 1928"/>
                    <a:gd name="T64" fmla="*/ 748 w 1696"/>
                    <a:gd name="T65" fmla="*/ 1346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6"/>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moveTo>
                        <a:pt x="1031" y="1376"/>
                      </a:moveTo>
                      <a:cubicBezTo>
                        <a:pt x="1034" y="1367"/>
                        <a:pt x="1032" y="1358"/>
                        <a:pt x="1025" y="1352"/>
                      </a:cubicBezTo>
                      <a:cubicBezTo>
                        <a:pt x="945" y="1282"/>
                        <a:pt x="945" y="1282"/>
                        <a:pt x="945" y="1282"/>
                      </a:cubicBezTo>
                      <a:cubicBezTo>
                        <a:pt x="945" y="1268"/>
                        <a:pt x="945" y="1268"/>
                        <a:pt x="945" y="1268"/>
                      </a:cubicBezTo>
                      <a:cubicBezTo>
                        <a:pt x="1397" y="1268"/>
                        <a:pt x="1397" y="1268"/>
                        <a:pt x="1397" y="1268"/>
                      </a:cubicBezTo>
                      <a:cubicBezTo>
                        <a:pt x="1409" y="1268"/>
                        <a:pt x="1419" y="1258"/>
                        <a:pt x="1419" y="1246"/>
                      </a:cubicBezTo>
                      <a:cubicBezTo>
                        <a:pt x="1419" y="636"/>
                        <a:pt x="1419" y="636"/>
                        <a:pt x="1419" y="636"/>
                      </a:cubicBezTo>
                      <a:cubicBezTo>
                        <a:pt x="1419" y="624"/>
                        <a:pt x="1409" y="614"/>
                        <a:pt x="1397" y="614"/>
                      </a:cubicBezTo>
                      <a:cubicBezTo>
                        <a:pt x="303" y="614"/>
                        <a:pt x="303" y="614"/>
                        <a:pt x="303" y="614"/>
                      </a:cubicBezTo>
                      <a:cubicBezTo>
                        <a:pt x="291" y="614"/>
                        <a:pt x="281" y="624"/>
                        <a:pt x="281" y="636"/>
                      </a:cubicBezTo>
                      <a:cubicBezTo>
                        <a:pt x="281" y="1246"/>
                        <a:pt x="281" y="1246"/>
                        <a:pt x="281" y="1246"/>
                      </a:cubicBezTo>
                      <a:cubicBezTo>
                        <a:pt x="281" y="1258"/>
                        <a:pt x="291" y="1268"/>
                        <a:pt x="303" y="1268"/>
                      </a:cubicBezTo>
                      <a:cubicBezTo>
                        <a:pt x="754" y="1268"/>
                        <a:pt x="754" y="1268"/>
                        <a:pt x="754" y="1268"/>
                      </a:cubicBezTo>
                      <a:cubicBezTo>
                        <a:pt x="754" y="1282"/>
                        <a:pt x="754" y="1282"/>
                        <a:pt x="754" y="1282"/>
                      </a:cubicBezTo>
                      <a:cubicBezTo>
                        <a:pt x="675" y="1352"/>
                        <a:pt x="675" y="1352"/>
                        <a:pt x="675" y="1352"/>
                      </a:cubicBezTo>
                      <a:cubicBezTo>
                        <a:pt x="668" y="1358"/>
                        <a:pt x="666" y="1367"/>
                        <a:pt x="669" y="1376"/>
                      </a:cubicBezTo>
                      <a:cubicBezTo>
                        <a:pt x="672" y="1384"/>
                        <a:pt x="680" y="1390"/>
                        <a:pt x="689" y="1390"/>
                      </a:cubicBezTo>
                      <a:cubicBezTo>
                        <a:pt x="1010" y="1390"/>
                        <a:pt x="1010" y="1390"/>
                        <a:pt x="1010" y="1390"/>
                      </a:cubicBezTo>
                      <a:cubicBezTo>
                        <a:pt x="1020" y="1390"/>
                        <a:pt x="1028" y="1384"/>
                        <a:pt x="1031" y="1376"/>
                      </a:cubicBezTo>
                      <a:close/>
                      <a:moveTo>
                        <a:pt x="791" y="1309"/>
                      </a:moveTo>
                      <a:cubicBezTo>
                        <a:pt x="796" y="1305"/>
                        <a:pt x="798" y="1299"/>
                        <a:pt x="798" y="1293"/>
                      </a:cubicBezTo>
                      <a:cubicBezTo>
                        <a:pt x="798" y="1246"/>
                        <a:pt x="798" y="1246"/>
                        <a:pt x="798" y="1246"/>
                      </a:cubicBezTo>
                      <a:cubicBezTo>
                        <a:pt x="798" y="1234"/>
                        <a:pt x="789" y="1224"/>
                        <a:pt x="776" y="1224"/>
                      </a:cubicBezTo>
                      <a:cubicBezTo>
                        <a:pt x="325" y="1224"/>
                        <a:pt x="325" y="1224"/>
                        <a:pt x="325" y="1224"/>
                      </a:cubicBezTo>
                      <a:cubicBezTo>
                        <a:pt x="325" y="658"/>
                        <a:pt x="325" y="658"/>
                        <a:pt x="325" y="658"/>
                      </a:cubicBezTo>
                      <a:cubicBezTo>
                        <a:pt x="1375" y="658"/>
                        <a:pt x="1375" y="658"/>
                        <a:pt x="1375" y="658"/>
                      </a:cubicBezTo>
                      <a:cubicBezTo>
                        <a:pt x="1375" y="1224"/>
                        <a:pt x="1375" y="1224"/>
                        <a:pt x="1375" y="1224"/>
                      </a:cubicBezTo>
                      <a:cubicBezTo>
                        <a:pt x="923" y="1224"/>
                        <a:pt x="923" y="1224"/>
                        <a:pt x="923" y="1224"/>
                      </a:cubicBezTo>
                      <a:cubicBezTo>
                        <a:pt x="911" y="1224"/>
                        <a:pt x="901" y="1234"/>
                        <a:pt x="901" y="1246"/>
                      </a:cubicBezTo>
                      <a:cubicBezTo>
                        <a:pt x="901" y="1293"/>
                        <a:pt x="901" y="1293"/>
                        <a:pt x="901" y="1293"/>
                      </a:cubicBezTo>
                      <a:cubicBezTo>
                        <a:pt x="901" y="1299"/>
                        <a:pt x="904" y="1305"/>
                        <a:pt x="909" y="1309"/>
                      </a:cubicBezTo>
                      <a:cubicBezTo>
                        <a:pt x="951" y="1346"/>
                        <a:pt x="951" y="1346"/>
                        <a:pt x="951" y="1346"/>
                      </a:cubicBezTo>
                      <a:cubicBezTo>
                        <a:pt x="748" y="1346"/>
                        <a:pt x="748" y="1346"/>
                        <a:pt x="748" y="1346"/>
                      </a:cubicBezTo>
                      <a:lnTo>
                        <a:pt x="791" y="1309"/>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80" name="Freeform 6"/>
                <p:cNvSpPr>
                  <a:spLocks/>
                </p:cNvSpPr>
                <p:nvPr/>
              </p:nvSpPr>
              <p:spPr bwMode="auto">
                <a:xfrm>
                  <a:off x="2030"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906 w 1930"/>
                    <a:gd name="T67" fmla="*/ 1062 h 1694"/>
                    <a:gd name="T68" fmla="*/ 1027 w 1930"/>
                    <a:gd name="T69" fmla="*/ 1062 h 1694"/>
                    <a:gd name="T70" fmla="*/ 1437 w 1930"/>
                    <a:gd name="T71" fmla="*/ 1062 h 1694"/>
                    <a:gd name="T72" fmla="*/ 1446 w 1930"/>
                    <a:gd name="T73" fmla="*/ 1052 h 1694"/>
                    <a:gd name="T74" fmla="*/ 1446 w 1930"/>
                    <a:gd name="T75" fmla="*/ 596 h 1694"/>
                    <a:gd name="T76" fmla="*/ 1437 w 1930"/>
                    <a:gd name="T77" fmla="*/ 586 h 1694"/>
                    <a:gd name="T78" fmla="*/ 496 w 1930"/>
                    <a:gd name="T79" fmla="*/ 586 h 1694"/>
                    <a:gd name="T80" fmla="*/ 486 w 1930"/>
                    <a:gd name="T81" fmla="*/ 596 h 1694"/>
                    <a:gd name="T82" fmla="*/ 486 w 1930"/>
                    <a:gd name="T83" fmla="*/ 1052 h 1694"/>
                    <a:gd name="T84" fmla="*/ 496 w 1930"/>
                    <a:gd name="T85" fmla="*/ 1062 h 1694"/>
                    <a:gd name="T86" fmla="*/ 906 w 1930"/>
                    <a:gd name="T87" fmla="*/ 1062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906" y="1062"/>
                      </a:moveTo>
                      <a:cubicBezTo>
                        <a:pt x="937" y="1062"/>
                        <a:pt x="996" y="1062"/>
                        <a:pt x="1027" y="1062"/>
                      </a:cubicBezTo>
                      <a:cubicBezTo>
                        <a:pt x="1437" y="1062"/>
                        <a:pt x="1437" y="1062"/>
                        <a:pt x="1437" y="1062"/>
                      </a:cubicBezTo>
                      <a:cubicBezTo>
                        <a:pt x="1442" y="1062"/>
                        <a:pt x="1446" y="1058"/>
                        <a:pt x="1446" y="1052"/>
                      </a:cubicBezTo>
                      <a:cubicBezTo>
                        <a:pt x="1446" y="596"/>
                        <a:pt x="1446" y="596"/>
                        <a:pt x="1446" y="596"/>
                      </a:cubicBezTo>
                      <a:cubicBezTo>
                        <a:pt x="1446" y="590"/>
                        <a:pt x="1442" y="586"/>
                        <a:pt x="1437" y="586"/>
                      </a:cubicBezTo>
                      <a:cubicBezTo>
                        <a:pt x="496" y="586"/>
                        <a:pt x="496" y="586"/>
                        <a:pt x="496" y="586"/>
                      </a:cubicBezTo>
                      <a:cubicBezTo>
                        <a:pt x="491" y="586"/>
                        <a:pt x="486" y="590"/>
                        <a:pt x="486" y="596"/>
                      </a:cubicBezTo>
                      <a:cubicBezTo>
                        <a:pt x="486" y="1052"/>
                        <a:pt x="486" y="1052"/>
                        <a:pt x="486" y="1052"/>
                      </a:cubicBezTo>
                      <a:cubicBezTo>
                        <a:pt x="486" y="1058"/>
                        <a:pt x="491" y="1062"/>
                        <a:pt x="496" y="1062"/>
                      </a:cubicBezTo>
                      <a:lnTo>
                        <a:pt x="906" y="1062"/>
                      </a:ln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81" name="Grupo 170"/>
            <p:cNvGrpSpPr/>
            <p:nvPr/>
          </p:nvGrpSpPr>
          <p:grpSpPr>
            <a:xfrm>
              <a:off x="10795797" y="1494503"/>
              <a:ext cx="972002" cy="1122694"/>
              <a:chOff x="10413010" y="1669461"/>
              <a:chExt cx="1047299" cy="1122694"/>
            </a:xfrm>
          </p:grpSpPr>
          <p:sp>
            <p:nvSpPr>
              <p:cNvPr id="182" name="Rectangle: Rounded Corners 216"/>
              <p:cNvSpPr/>
              <p:nvPr/>
            </p:nvSpPr>
            <p:spPr>
              <a:xfrm>
                <a:off x="1047797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Comercial</a:t>
                </a:r>
              </a:p>
            </p:txBody>
          </p:sp>
          <p:sp>
            <p:nvSpPr>
              <p:cNvPr id="183" name="Oval 226"/>
              <p:cNvSpPr>
                <a:spLocks noChangeAspect="1" noChangeArrowheads="1"/>
              </p:cNvSpPr>
              <p:nvPr/>
            </p:nvSpPr>
            <p:spPr bwMode="auto">
              <a:xfrm>
                <a:off x="10413010"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13</a:t>
                </a:r>
              </a:p>
            </p:txBody>
          </p:sp>
          <p:grpSp>
            <p:nvGrpSpPr>
              <p:cNvPr id="184" name="bcgIcons_Gears "/>
              <p:cNvGrpSpPr>
                <a:grpSpLocks noChangeAspect="1"/>
              </p:cNvGrpSpPr>
              <p:nvPr/>
            </p:nvGrpSpPr>
            <p:grpSpPr>
              <a:xfrm>
                <a:off x="10760106" y="1827711"/>
                <a:ext cx="418067" cy="418454"/>
                <a:chOff x="5273801" y="2606040"/>
                <a:chExt cx="1644396" cy="1645920"/>
              </a:xfrm>
            </p:grpSpPr>
            <p:sp>
              <p:nvSpPr>
                <p:cNvPr id="185" name="AutoShape 23"/>
                <p:cNvSpPr>
                  <a:spLocks noChangeAspect="1"/>
                </p:cNvSpPr>
                <p:nvPr/>
              </p:nvSpPr>
              <p:spPr bwMode="auto">
                <a:xfrm>
                  <a:off x="5273801" y="2606040"/>
                  <a:ext cx="1644396" cy="1645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86" name="Group 272"/>
                <p:cNvGrpSpPr>
                  <a:grpSpLocks/>
                </p:cNvGrpSpPr>
                <p:nvPr/>
              </p:nvGrpSpPr>
              <p:grpSpPr>
                <a:xfrm>
                  <a:off x="5343905" y="2928366"/>
                  <a:ext cx="1505712" cy="995553"/>
                  <a:chOff x="5343905" y="2928366"/>
                  <a:chExt cx="1505712" cy="995553"/>
                </a:xfrm>
              </p:grpSpPr>
              <p:sp>
                <p:nvSpPr>
                  <p:cNvPr id="187" name="Freeform 25"/>
                  <p:cNvSpPr>
                    <a:spLocks/>
                  </p:cNvSpPr>
                  <p:nvPr/>
                </p:nvSpPr>
                <p:spPr bwMode="auto">
                  <a:xfrm>
                    <a:off x="5696330" y="2928366"/>
                    <a:ext cx="1153287" cy="654177"/>
                  </a:xfrm>
                  <a:custGeom>
                    <a:avLst/>
                    <a:gdLst>
                      <a:gd name="T0" fmla="*/ 1610 w 1616"/>
                      <a:gd name="T1" fmla="*/ 362 h 916"/>
                      <a:gd name="T2" fmla="*/ 1552 w 1616"/>
                      <a:gd name="T3" fmla="*/ 327 h 916"/>
                      <a:gd name="T4" fmla="*/ 1530 w 1616"/>
                      <a:gd name="T5" fmla="*/ 261 h 916"/>
                      <a:gd name="T6" fmla="*/ 1495 w 1616"/>
                      <a:gd name="T7" fmla="*/ 196 h 916"/>
                      <a:gd name="T8" fmla="*/ 1508 w 1616"/>
                      <a:gd name="T9" fmla="*/ 130 h 916"/>
                      <a:gd name="T10" fmla="*/ 1369 w 1616"/>
                      <a:gd name="T11" fmla="*/ 28 h 916"/>
                      <a:gd name="T12" fmla="*/ 1309 w 1616"/>
                      <a:gd name="T13" fmla="*/ 62 h 916"/>
                      <a:gd name="T14" fmla="*/ 1178 w 1616"/>
                      <a:gd name="T15" fmla="*/ 47 h 916"/>
                      <a:gd name="T16" fmla="*/ 1127 w 1616"/>
                      <a:gd name="T17" fmla="*/ 0 h 916"/>
                      <a:gd name="T18" fmla="*/ 1043 w 1616"/>
                      <a:gd name="T19" fmla="*/ 26 h 916"/>
                      <a:gd name="T20" fmla="*/ 967 w 1616"/>
                      <a:gd name="T21" fmla="*/ 69 h 916"/>
                      <a:gd name="T22" fmla="*/ 967 w 1616"/>
                      <a:gd name="T23" fmla="*/ 140 h 916"/>
                      <a:gd name="T24" fmla="*/ 886 w 1616"/>
                      <a:gd name="T25" fmla="*/ 246 h 916"/>
                      <a:gd name="T26" fmla="*/ 821 w 1616"/>
                      <a:gd name="T27" fmla="*/ 267 h 916"/>
                      <a:gd name="T28" fmla="*/ 798 w 1616"/>
                      <a:gd name="T29" fmla="*/ 441 h 916"/>
                      <a:gd name="T30" fmla="*/ 856 w 1616"/>
                      <a:gd name="T31" fmla="*/ 475 h 916"/>
                      <a:gd name="T32" fmla="*/ 879 w 1616"/>
                      <a:gd name="T33" fmla="*/ 546 h 916"/>
                      <a:gd name="T34" fmla="*/ 912 w 1616"/>
                      <a:gd name="T35" fmla="*/ 607 h 916"/>
                      <a:gd name="T36" fmla="*/ 896 w 1616"/>
                      <a:gd name="T37" fmla="*/ 673 h 916"/>
                      <a:gd name="T38" fmla="*/ 1031 w 1616"/>
                      <a:gd name="T39" fmla="*/ 777 h 916"/>
                      <a:gd name="T40" fmla="*/ 1089 w 1616"/>
                      <a:gd name="T41" fmla="*/ 743 h 916"/>
                      <a:gd name="T42" fmla="*/ 1236 w 1616"/>
                      <a:gd name="T43" fmla="*/ 762 h 916"/>
                      <a:gd name="T44" fmla="*/ 1287 w 1616"/>
                      <a:gd name="T45" fmla="*/ 808 h 916"/>
                      <a:gd name="T46" fmla="*/ 1366 w 1616"/>
                      <a:gd name="T47" fmla="*/ 783 h 916"/>
                      <a:gd name="T48" fmla="*/ 1440 w 1616"/>
                      <a:gd name="T49" fmla="*/ 741 h 916"/>
                      <a:gd name="T50" fmla="*/ 1440 w 1616"/>
                      <a:gd name="T51" fmla="*/ 673 h 916"/>
                      <a:gd name="T52" fmla="*/ 1528 w 1616"/>
                      <a:gd name="T53" fmla="*/ 552 h 916"/>
                      <a:gd name="T54" fmla="*/ 1591 w 1616"/>
                      <a:gd name="T55" fmla="*/ 532 h 916"/>
                      <a:gd name="T56" fmla="*/ 1610 w 1616"/>
                      <a:gd name="T57" fmla="*/ 362 h 916"/>
                      <a:gd name="T58" fmla="*/ 1276 w 1616"/>
                      <a:gd name="T59" fmla="*/ 569 h 916"/>
                      <a:gd name="T60" fmla="*/ 1041 w 1616"/>
                      <a:gd name="T61" fmla="*/ 475 h 916"/>
                      <a:gd name="T62" fmla="*/ 1133 w 1616"/>
                      <a:gd name="T63" fmla="*/ 239 h 916"/>
                      <a:gd name="T64" fmla="*/ 1367 w 1616"/>
                      <a:gd name="T65" fmla="*/ 333 h 916"/>
                      <a:gd name="T66" fmla="*/ 1276 w 1616"/>
                      <a:gd name="T67" fmla="*/ 569 h 916"/>
                      <a:gd name="T68" fmla="*/ 187 w 1616"/>
                      <a:gd name="T69" fmla="*/ 916 h 916"/>
                      <a:gd name="T70" fmla="*/ 0 w 1616"/>
                      <a:gd name="T71" fmla="*/ 729 h 916"/>
                      <a:gd name="T72" fmla="*/ 187 w 1616"/>
                      <a:gd name="T73" fmla="*/ 541 h 916"/>
                      <a:gd name="T74" fmla="*/ 375 w 1616"/>
                      <a:gd name="T75" fmla="*/ 729 h 916"/>
                      <a:gd name="T76" fmla="*/ 187 w 1616"/>
                      <a:gd name="T77"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16" h="916">
                        <a:moveTo>
                          <a:pt x="1610" y="362"/>
                        </a:moveTo>
                        <a:cubicBezTo>
                          <a:pt x="1552" y="327"/>
                          <a:pt x="1552" y="327"/>
                          <a:pt x="1552" y="327"/>
                        </a:cubicBezTo>
                        <a:cubicBezTo>
                          <a:pt x="1547" y="305"/>
                          <a:pt x="1539" y="283"/>
                          <a:pt x="1530" y="261"/>
                        </a:cubicBezTo>
                        <a:cubicBezTo>
                          <a:pt x="1521" y="239"/>
                          <a:pt x="1508" y="217"/>
                          <a:pt x="1495" y="196"/>
                        </a:cubicBezTo>
                        <a:cubicBezTo>
                          <a:pt x="1508" y="130"/>
                          <a:pt x="1508" y="130"/>
                          <a:pt x="1508" y="130"/>
                        </a:cubicBezTo>
                        <a:cubicBezTo>
                          <a:pt x="1470" y="87"/>
                          <a:pt x="1421" y="51"/>
                          <a:pt x="1369" y="28"/>
                        </a:cubicBezTo>
                        <a:cubicBezTo>
                          <a:pt x="1309" y="62"/>
                          <a:pt x="1309" y="62"/>
                          <a:pt x="1309" y="62"/>
                        </a:cubicBezTo>
                        <a:cubicBezTo>
                          <a:pt x="1266" y="48"/>
                          <a:pt x="1223" y="43"/>
                          <a:pt x="1178" y="47"/>
                        </a:cubicBezTo>
                        <a:cubicBezTo>
                          <a:pt x="1127" y="0"/>
                          <a:pt x="1127" y="0"/>
                          <a:pt x="1127" y="0"/>
                        </a:cubicBezTo>
                        <a:cubicBezTo>
                          <a:pt x="1099" y="6"/>
                          <a:pt x="1071" y="13"/>
                          <a:pt x="1043" y="26"/>
                        </a:cubicBezTo>
                        <a:cubicBezTo>
                          <a:pt x="1016" y="38"/>
                          <a:pt x="989" y="53"/>
                          <a:pt x="967" y="69"/>
                        </a:cubicBezTo>
                        <a:cubicBezTo>
                          <a:pt x="967" y="140"/>
                          <a:pt x="967" y="140"/>
                          <a:pt x="967" y="140"/>
                        </a:cubicBezTo>
                        <a:cubicBezTo>
                          <a:pt x="933" y="171"/>
                          <a:pt x="905" y="206"/>
                          <a:pt x="886" y="246"/>
                        </a:cubicBezTo>
                        <a:cubicBezTo>
                          <a:pt x="821" y="267"/>
                          <a:pt x="821" y="267"/>
                          <a:pt x="821" y="267"/>
                        </a:cubicBezTo>
                        <a:cubicBezTo>
                          <a:pt x="801" y="321"/>
                          <a:pt x="794" y="380"/>
                          <a:pt x="798" y="441"/>
                        </a:cubicBezTo>
                        <a:cubicBezTo>
                          <a:pt x="856" y="475"/>
                          <a:pt x="856" y="475"/>
                          <a:pt x="856" y="475"/>
                        </a:cubicBezTo>
                        <a:cubicBezTo>
                          <a:pt x="861" y="498"/>
                          <a:pt x="868" y="523"/>
                          <a:pt x="879" y="546"/>
                        </a:cubicBezTo>
                        <a:cubicBezTo>
                          <a:pt x="889" y="567"/>
                          <a:pt x="899" y="588"/>
                          <a:pt x="912" y="607"/>
                        </a:cubicBezTo>
                        <a:cubicBezTo>
                          <a:pt x="896" y="673"/>
                          <a:pt x="896" y="673"/>
                          <a:pt x="896" y="673"/>
                        </a:cubicBezTo>
                        <a:cubicBezTo>
                          <a:pt x="934" y="718"/>
                          <a:pt x="980" y="752"/>
                          <a:pt x="1031" y="777"/>
                        </a:cubicBezTo>
                        <a:cubicBezTo>
                          <a:pt x="1089" y="743"/>
                          <a:pt x="1089" y="743"/>
                          <a:pt x="1089" y="743"/>
                        </a:cubicBezTo>
                        <a:cubicBezTo>
                          <a:pt x="1136" y="760"/>
                          <a:pt x="1185" y="766"/>
                          <a:pt x="1236" y="762"/>
                        </a:cubicBezTo>
                        <a:cubicBezTo>
                          <a:pt x="1287" y="808"/>
                          <a:pt x="1287" y="808"/>
                          <a:pt x="1287" y="808"/>
                        </a:cubicBezTo>
                        <a:cubicBezTo>
                          <a:pt x="1312" y="802"/>
                          <a:pt x="1340" y="794"/>
                          <a:pt x="1366" y="783"/>
                        </a:cubicBezTo>
                        <a:cubicBezTo>
                          <a:pt x="1392" y="771"/>
                          <a:pt x="1416" y="757"/>
                          <a:pt x="1440" y="741"/>
                        </a:cubicBezTo>
                        <a:cubicBezTo>
                          <a:pt x="1440" y="673"/>
                          <a:pt x="1440" y="673"/>
                          <a:pt x="1440" y="673"/>
                        </a:cubicBezTo>
                        <a:cubicBezTo>
                          <a:pt x="1477" y="639"/>
                          <a:pt x="1507" y="597"/>
                          <a:pt x="1528" y="552"/>
                        </a:cubicBezTo>
                        <a:cubicBezTo>
                          <a:pt x="1591" y="532"/>
                          <a:pt x="1591" y="532"/>
                          <a:pt x="1591" y="532"/>
                        </a:cubicBezTo>
                        <a:cubicBezTo>
                          <a:pt x="1610" y="479"/>
                          <a:pt x="1616" y="420"/>
                          <a:pt x="1610" y="362"/>
                        </a:cubicBezTo>
                        <a:close/>
                        <a:moveTo>
                          <a:pt x="1276" y="569"/>
                        </a:moveTo>
                        <a:cubicBezTo>
                          <a:pt x="1185" y="610"/>
                          <a:pt x="1080" y="566"/>
                          <a:pt x="1041" y="475"/>
                        </a:cubicBezTo>
                        <a:cubicBezTo>
                          <a:pt x="1002" y="383"/>
                          <a:pt x="1043" y="278"/>
                          <a:pt x="1133" y="239"/>
                        </a:cubicBezTo>
                        <a:cubicBezTo>
                          <a:pt x="1224" y="199"/>
                          <a:pt x="1330" y="242"/>
                          <a:pt x="1367" y="333"/>
                        </a:cubicBezTo>
                        <a:cubicBezTo>
                          <a:pt x="1407" y="424"/>
                          <a:pt x="1366" y="531"/>
                          <a:pt x="1276" y="569"/>
                        </a:cubicBezTo>
                        <a:close/>
                        <a:moveTo>
                          <a:pt x="187" y="916"/>
                        </a:moveTo>
                        <a:cubicBezTo>
                          <a:pt x="84" y="916"/>
                          <a:pt x="0" y="832"/>
                          <a:pt x="0" y="729"/>
                        </a:cubicBezTo>
                        <a:cubicBezTo>
                          <a:pt x="0" y="625"/>
                          <a:pt x="84" y="541"/>
                          <a:pt x="187" y="541"/>
                        </a:cubicBezTo>
                        <a:cubicBezTo>
                          <a:pt x="291" y="541"/>
                          <a:pt x="375" y="625"/>
                          <a:pt x="375" y="729"/>
                        </a:cubicBezTo>
                        <a:cubicBezTo>
                          <a:pt x="375" y="832"/>
                          <a:pt x="291" y="916"/>
                          <a:pt x="187" y="91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88" name="Freeform 26"/>
                  <p:cNvSpPr>
                    <a:spLocks/>
                  </p:cNvSpPr>
                  <p:nvPr/>
                </p:nvSpPr>
                <p:spPr bwMode="auto">
                  <a:xfrm>
                    <a:off x="5343905" y="2961132"/>
                    <a:ext cx="971931" cy="962787"/>
                  </a:xfrm>
                  <a:custGeom>
                    <a:avLst/>
                    <a:gdLst>
                      <a:gd name="T0" fmla="*/ 638 w 1362"/>
                      <a:gd name="T1" fmla="*/ 1242 h 1348"/>
                      <a:gd name="T2" fmla="*/ 448 w 1362"/>
                      <a:gd name="T3" fmla="*/ 1319 h 1348"/>
                      <a:gd name="T4" fmla="*/ 352 w 1362"/>
                      <a:gd name="T5" fmla="*/ 1146 h 1348"/>
                      <a:gd name="T6" fmla="*/ 141 w 1362"/>
                      <a:gd name="T7" fmla="*/ 1095 h 1348"/>
                      <a:gd name="T8" fmla="*/ 46 w 1362"/>
                      <a:gd name="T9" fmla="*/ 928 h 1348"/>
                      <a:gd name="T10" fmla="*/ 0 w 1362"/>
                      <a:gd name="T11" fmla="*/ 664 h 1348"/>
                      <a:gd name="T12" fmla="*/ 32 w 1362"/>
                      <a:gd name="T13" fmla="*/ 474 h 1348"/>
                      <a:gd name="T14" fmla="*/ 212 w 1362"/>
                      <a:gd name="T15" fmla="*/ 351 h 1348"/>
                      <a:gd name="T16" fmla="*/ 244 w 1362"/>
                      <a:gd name="T17" fmla="*/ 159 h 1348"/>
                      <a:gd name="T18" fmla="*/ 451 w 1362"/>
                      <a:gd name="T19" fmla="*/ 167 h 1348"/>
                      <a:gd name="T20" fmla="*/ 592 w 1362"/>
                      <a:gd name="T21" fmla="*/ 5 h 1348"/>
                      <a:gd name="T22" fmla="*/ 784 w 1362"/>
                      <a:gd name="T23" fmla="*/ 6 h 1348"/>
                      <a:gd name="T24" fmla="*/ 1036 w 1362"/>
                      <a:gd name="T25" fmla="*/ 98 h 1348"/>
                      <a:gd name="T26" fmla="*/ 1184 w 1362"/>
                      <a:gd name="T27" fmla="*/ 220 h 1348"/>
                      <a:gd name="T28" fmla="*/ 1206 w 1362"/>
                      <a:gd name="T29" fmla="*/ 440 h 1348"/>
                      <a:gd name="T30" fmla="*/ 1351 w 1362"/>
                      <a:gd name="T31" fmla="*/ 562 h 1348"/>
                      <a:gd name="T32" fmla="*/ 1262 w 1362"/>
                      <a:gd name="T33" fmla="*/ 724 h 1348"/>
                      <a:gd name="T34" fmla="*/ 1310 w 1362"/>
                      <a:gd name="T35" fmla="*/ 940 h 1348"/>
                      <a:gd name="T36" fmla="*/ 1213 w 1362"/>
                      <a:gd name="T37" fmla="*/ 1106 h 1348"/>
                      <a:gd name="T38" fmla="*/ 1008 w 1362"/>
                      <a:gd name="T39" fmla="*/ 1278 h 1348"/>
                      <a:gd name="T40" fmla="*/ 828 w 1362"/>
                      <a:gd name="T41" fmla="*/ 1345 h 1348"/>
                      <a:gd name="T42" fmla="*/ 830 w 1362"/>
                      <a:gd name="T43" fmla="*/ 1299 h 1348"/>
                      <a:gd name="T44" fmla="*/ 965 w 1362"/>
                      <a:gd name="T45" fmla="*/ 1122 h 1348"/>
                      <a:gd name="T46" fmla="*/ 1072 w 1362"/>
                      <a:gd name="T47" fmla="*/ 1038 h 1348"/>
                      <a:gd name="T48" fmla="*/ 1264 w 1362"/>
                      <a:gd name="T49" fmla="*/ 935 h 1348"/>
                      <a:gd name="T50" fmla="*/ 1219 w 1362"/>
                      <a:gd name="T51" fmla="*/ 710 h 1348"/>
                      <a:gd name="T52" fmla="*/ 1308 w 1362"/>
                      <a:gd name="T53" fmla="*/ 570 h 1348"/>
                      <a:gd name="T54" fmla="*/ 1171 w 1362"/>
                      <a:gd name="T55" fmla="*/ 469 h 1348"/>
                      <a:gd name="T56" fmla="*/ 1142 w 1362"/>
                      <a:gd name="T57" fmla="*/ 241 h 1348"/>
                      <a:gd name="T58" fmla="*/ 915 w 1362"/>
                      <a:gd name="T59" fmla="*/ 217 h 1348"/>
                      <a:gd name="T60" fmla="*/ 802 w 1362"/>
                      <a:gd name="T61" fmla="*/ 179 h 1348"/>
                      <a:gd name="T62" fmla="*/ 610 w 1362"/>
                      <a:gd name="T63" fmla="*/ 47 h 1348"/>
                      <a:gd name="T64" fmla="*/ 458 w 1362"/>
                      <a:gd name="T65" fmla="*/ 212 h 1348"/>
                      <a:gd name="T66" fmla="*/ 272 w 1362"/>
                      <a:gd name="T67" fmla="*/ 192 h 1348"/>
                      <a:gd name="T68" fmla="*/ 254 w 1362"/>
                      <a:gd name="T69" fmla="*/ 369 h 1348"/>
                      <a:gd name="T70" fmla="*/ 70 w 1362"/>
                      <a:gd name="T71" fmla="*/ 500 h 1348"/>
                      <a:gd name="T72" fmla="*/ 143 w 1362"/>
                      <a:gd name="T73" fmla="*/ 698 h 1348"/>
                      <a:gd name="T74" fmla="*/ 170 w 1362"/>
                      <a:gd name="T75" fmla="*/ 846 h 1348"/>
                      <a:gd name="T76" fmla="*/ 168 w 1362"/>
                      <a:gd name="T77" fmla="*/ 1058 h 1348"/>
                      <a:gd name="T78" fmla="*/ 386 w 1362"/>
                      <a:gd name="T79" fmla="*/ 1115 h 1348"/>
                      <a:gd name="T80" fmla="*/ 463 w 1362"/>
                      <a:gd name="T81" fmla="*/ 1278 h 1348"/>
                      <a:gd name="T82" fmla="*/ 630 w 1362"/>
                      <a:gd name="T83" fmla="*/ 1198 h 1348"/>
                      <a:gd name="T84" fmla="*/ 742 w 1362"/>
                      <a:gd name="T85" fmla="*/ 1197 h 1348"/>
                      <a:gd name="T86" fmla="*/ 681 w 1362"/>
                      <a:gd name="T87" fmla="*/ 257 h 1348"/>
                      <a:gd name="T88" fmla="*/ 681 w 1362"/>
                      <a:gd name="T89" fmla="*/ 301 h 1348"/>
                      <a:gd name="T90" fmla="*/ 1063 w 1362"/>
                      <a:gd name="T91" fmla="*/ 683 h 1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2" h="1348">
                        <a:moveTo>
                          <a:pt x="815" y="1348"/>
                        </a:moveTo>
                        <a:cubicBezTo>
                          <a:pt x="724" y="1242"/>
                          <a:pt x="724" y="1242"/>
                          <a:pt x="724" y="1242"/>
                        </a:cubicBezTo>
                        <a:cubicBezTo>
                          <a:pt x="695" y="1244"/>
                          <a:pt x="666" y="1244"/>
                          <a:pt x="638" y="1242"/>
                        </a:cubicBezTo>
                        <a:cubicBezTo>
                          <a:pt x="547" y="1348"/>
                          <a:pt x="547" y="1348"/>
                          <a:pt x="547" y="1348"/>
                        </a:cubicBezTo>
                        <a:cubicBezTo>
                          <a:pt x="534" y="1345"/>
                          <a:pt x="534" y="1345"/>
                          <a:pt x="534" y="1345"/>
                        </a:cubicBezTo>
                        <a:cubicBezTo>
                          <a:pt x="494" y="1336"/>
                          <a:pt x="450" y="1320"/>
                          <a:pt x="448" y="1319"/>
                        </a:cubicBezTo>
                        <a:cubicBezTo>
                          <a:pt x="446" y="1318"/>
                          <a:pt x="402" y="1302"/>
                          <a:pt x="366" y="1284"/>
                        </a:cubicBezTo>
                        <a:cubicBezTo>
                          <a:pt x="354" y="1278"/>
                          <a:pt x="354" y="1278"/>
                          <a:pt x="354" y="1278"/>
                        </a:cubicBezTo>
                        <a:cubicBezTo>
                          <a:pt x="352" y="1146"/>
                          <a:pt x="352" y="1146"/>
                          <a:pt x="352" y="1146"/>
                        </a:cubicBezTo>
                        <a:cubicBezTo>
                          <a:pt x="325" y="1128"/>
                          <a:pt x="299" y="1107"/>
                          <a:pt x="275" y="1085"/>
                        </a:cubicBezTo>
                        <a:cubicBezTo>
                          <a:pt x="149" y="1105"/>
                          <a:pt x="149" y="1105"/>
                          <a:pt x="149" y="1105"/>
                        </a:cubicBezTo>
                        <a:cubicBezTo>
                          <a:pt x="141" y="1095"/>
                          <a:pt x="141" y="1095"/>
                          <a:pt x="141" y="1095"/>
                        </a:cubicBezTo>
                        <a:cubicBezTo>
                          <a:pt x="116" y="1062"/>
                          <a:pt x="93" y="1022"/>
                          <a:pt x="92" y="1020"/>
                        </a:cubicBezTo>
                        <a:cubicBezTo>
                          <a:pt x="91" y="1018"/>
                          <a:pt x="67" y="977"/>
                          <a:pt x="51" y="940"/>
                        </a:cubicBezTo>
                        <a:cubicBezTo>
                          <a:pt x="46" y="928"/>
                          <a:pt x="46" y="928"/>
                          <a:pt x="46" y="928"/>
                        </a:cubicBezTo>
                        <a:cubicBezTo>
                          <a:pt x="121" y="836"/>
                          <a:pt x="121" y="836"/>
                          <a:pt x="121" y="836"/>
                        </a:cubicBezTo>
                        <a:cubicBezTo>
                          <a:pt x="110" y="799"/>
                          <a:pt x="104" y="762"/>
                          <a:pt x="101" y="724"/>
                        </a:cubicBezTo>
                        <a:cubicBezTo>
                          <a:pt x="0" y="664"/>
                          <a:pt x="0" y="664"/>
                          <a:pt x="0" y="664"/>
                        </a:cubicBezTo>
                        <a:cubicBezTo>
                          <a:pt x="1" y="650"/>
                          <a:pt x="1" y="650"/>
                          <a:pt x="1" y="650"/>
                        </a:cubicBezTo>
                        <a:cubicBezTo>
                          <a:pt x="3" y="610"/>
                          <a:pt x="11" y="564"/>
                          <a:pt x="11" y="562"/>
                        </a:cubicBezTo>
                        <a:cubicBezTo>
                          <a:pt x="12" y="560"/>
                          <a:pt x="20" y="513"/>
                          <a:pt x="32" y="474"/>
                        </a:cubicBezTo>
                        <a:cubicBezTo>
                          <a:pt x="35" y="462"/>
                          <a:pt x="35" y="462"/>
                          <a:pt x="35" y="462"/>
                        </a:cubicBezTo>
                        <a:cubicBezTo>
                          <a:pt x="157" y="439"/>
                          <a:pt x="157" y="439"/>
                          <a:pt x="157" y="439"/>
                        </a:cubicBezTo>
                        <a:cubicBezTo>
                          <a:pt x="173" y="408"/>
                          <a:pt x="191" y="378"/>
                          <a:pt x="212" y="351"/>
                        </a:cubicBezTo>
                        <a:cubicBezTo>
                          <a:pt x="170" y="230"/>
                          <a:pt x="170" y="230"/>
                          <a:pt x="170" y="230"/>
                        </a:cubicBezTo>
                        <a:cubicBezTo>
                          <a:pt x="179" y="220"/>
                          <a:pt x="179" y="220"/>
                          <a:pt x="179" y="220"/>
                        </a:cubicBezTo>
                        <a:cubicBezTo>
                          <a:pt x="206" y="190"/>
                          <a:pt x="243" y="160"/>
                          <a:pt x="244" y="159"/>
                        </a:cubicBezTo>
                        <a:cubicBezTo>
                          <a:pt x="246" y="157"/>
                          <a:pt x="282" y="127"/>
                          <a:pt x="316" y="105"/>
                        </a:cubicBezTo>
                        <a:cubicBezTo>
                          <a:pt x="327" y="98"/>
                          <a:pt x="327" y="98"/>
                          <a:pt x="327" y="98"/>
                        </a:cubicBezTo>
                        <a:cubicBezTo>
                          <a:pt x="451" y="167"/>
                          <a:pt x="451" y="167"/>
                          <a:pt x="451" y="167"/>
                        </a:cubicBezTo>
                        <a:cubicBezTo>
                          <a:pt x="476" y="157"/>
                          <a:pt x="502" y="148"/>
                          <a:pt x="528" y="142"/>
                        </a:cubicBezTo>
                        <a:cubicBezTo>
                          <a:pt x="579" y="6"/>
                          <a:pt x="579" y="6"/>
                          <a:pt x="579" y="6"/>
                        </a:cubicBezTo>
                        <a:cubicBezTo>
                          <a:pt x="592" y="5"/>
                          <a:pt x="592" y="5"/>
                          <a:pt x="592" y="5"/>
                        </a:cubicBezTo>
                        <a:cubicBezTo>
                          <a:pt x="632" y="0"/>
                          <a:pt x="679" y="0"/>
                          <a:pt x="681" y="0"/>
                        </a:cubicBezTo>
                        <a:cubicBezTo>
                          <a:pt x="683" y="0"/>
                          <a:pt x="730" y="0"/>
                          <a:pt x="771" y="5"/>
                        </a:cubicBezTo>
                        <a:cubicBezTo>
                          <a:pt x="784" y="6"/>
                          <a:pt x="784" y="6"/>
                          <a:pt x="784" y="6"/>
                        </a:cubicBezTo>
                        <a:cubicBezTo>
                          <a:pt x="835" y="142"/>
                          <a:pt x="835" y="142"/>
                          <a:pt x="835" y="142"/>
                        </a:cubicBezTo>
                        <a:cubicBezTo>
                          <a:pt x="861" y="149"/>
                          <a:pt x="887" y="157"/>
                          <a:pt x="912" y="168"/>
                        </a:cubicBezTo>
                        <a:cubicBezTo>
                          <a:pt x="1036" y="98"/>
                          <a:pt x="1036" y="98"/>
                          <a:pt x="1036" y="98"/>
                        </a:cubicBezTo>
                        <a:cubicBezTo>
                          <a:pt x="1047" y="105"/>
                          <a:pt x="1047" y="105"/>
                          <a:pt x="1047" y="105"/>
                        </a:cubicBezTo>
                        <a:cubicBezTo>
                          <a:pt x="1081" y="128"/>
                          <a:pt x="1117" y="158"/>
                          <a:pt x="1118" y="159"/>
                        </a:cubicBezTo>
                        <a:cubicBezTo>
                          <a:pt x="1120" y="160"/>
                          <a:pt x="1156" y="191"/>
                          <a:pt x="1184" y="220"/>
                        </a:cubicBezTo>
                        <a:cubicBezTo>
                          <a:pt x="1193" y="230"/>
                          <a:pt x="1193" y="230"/>
                          <a:pt x="1193" y="230"/>
                        </a:cubicBezTo>
                        <a:cubicBezTo>
                          <a:pt x="1151" y="351"/>
                          <a:pt x="1151" y="351"/>
                          <a:pt x="1151" y="351"/>
                        </a:cubicBezTo>
                        <a:cubicBezTo>
                          <a:pt x="1172" y="379"/>
                          <a:pt x="1190" y="408"/>
                          <a:pt x="1206" y="440"/>
                        </a:cubicBezTo>
                        <a:cubicBezTo>
                          <a:pt x="1327" y="462"/>
                          <a:pt x="1327" y="462"/>
                          <a:pt x="1327" y="462"/>
                        </a:cubicBezTo>
                        <a:cubicBezTo>
                          <a:pt x="1331" y="475"/>
                          <a:pt x="1331" y="475"/>
                          <a:pt x="1331" y="475"/>
                        </a:cubicBezTo>
                        <a:cubicBezTo>
                          <a:pt x="1342" y="514"/>
                          <a:pt x="1351" y="560"/>
                          <a:pt x="1351" y="562"/>
                        </a:cubicBezTo>
                        <a:cubicBezTo>
                          <a:pt x="1351" y="564"/>
                          <a:pt x="1359" y="611"/>
                          <a:pt x="1362" y="651"/>
                        </a:cubicBezTo>
                        <a:cubicBezTo>
                          <a:pt x="1362" y="664"/>
                          <a:pt x="1362" y="664"/>
                          <a:pt x="1362" y="664"/>
                        </a:cubicBezTo>
                        <a:cubicBezTo>
                          <a:pt x="1262" y="724"/>
                          <a:pt x="1262" y="724"/>
                          <a:pt x="1262" y="724"/>
                        </a:cubicBezTo>
                        <a:cubicBezTo>
                          <a:pt x="1259" y="762"/>
                          <a:pt x="1252" y="800"/>
                          <a:pt x="1241" y="837"/>
                        </a:cubicBezTo>
                        <a:cubicBezTo>
                          <a:pt x="1316" y="928"/>
                          <a:pt x="1316" y="928"/>
                          <a:pt x="1316" y="928"/>
                        </a:cubicBezTo>
                        <a:cubicBezTo>
                          <a:pt x="1310" y="940"/>
                          <a:pt x="1310" y="940"/>
                          <a:pt x="1310" y="940"/>
                        </a:cubicBezTo>
                        <a:cubicBezTo>
                          <a:pt x="1294" y="978"/>
                          <a:pt x="1271" y="1019"/>
                          <a:pt x="1270" y="1020"/>
                        </a:cubicBezTo>
                        <a:cubicBezTo>
                          <a:pt x="1269" y="1022"/>
                          <a:pt x="1245" y="1063"/>
                          <a:pt x="1221" y="1095"/>
                        </a:cubicBezTo>
                        <a:cubicBezTo>
                          <a:pt x="1213" y="1106"/>
                          <a:pt x="1213" y="1106"/>
                          <a:pt x="1213" y="1106"/>
                        </a:cubicBezTo>
                        <a:cubicBezTo>
                          <a:pt x="1087" y="1085"/>
                          <a:pt x="1087" y="1085"/>
                          <a:pt x="1087" y="1085"/>
                        </a:cubicBezTo>
                        <a:cubicBezTo>
                          <a:pt x="1063" y="1108"/>
                          <a:pt x="1037" y="1128"/>
                          <a:pt x="1009" y="1147"/>
                        </a:cubicBezTo>
                        <a:cubicBezTo>
                          <a:pt x="1008" y="1278"/>
                          <a:pt x="1008" y="1278"/>
                          <a:pt x="1008" y="1278"/>
                        </a:cubicBezTo>
                        <a:cubicBezTo>
                          <a:pt x="996" y="1284"/>
                          <a:pt x="996" y="1284"/>
                          <a:pt x="996" y="1284"/>
                        </a:cubicBezTo>
                        <a:cubicBezTo>
                          <a:pt x="959" y="1302"/>
                          <a:pt x="915" y="1319"/>
                          <a:pt x="913" y="1319"/>
                        </a:cubicBezTo>
                        <a:cubicBezTo>
                          <a:pt x="911" y="1320"/>
                          <a:pt x="867" y="1336"/>
                          <a:pt x="828" y="1345"/>
                        </a:cubicBezTo>
                        <a:lnTo>
                          <a:pt x="815" y="1348"/>
                        </a:lnTo>
                        <a:close/>
                        <a:moveTo>
                          <a:pt x="742" y="1197"/>
                        </a:moveTo>
                        <a:cubicBezTo>
                          <a:pt x="830" y="1299"/>
                          <a:pt x="830" y="1299"/>
                          <a:pt x="830" y="1299"/>
                        </a:cubicBezTo>
                        <a:cubicBezTo>
                          <a:pt x="864" y="1290"/>
                          <a:pt x="898" y="1278"/>
                          <a:pt x="898" y="1278"/>
                        </a:cubicBezTo>
                        <a:cubicBezTo>
                          <a:pt x="899" y="1278"/>
                          <a:pt x="933" y="1265"/>
                          <a:pt x="964" y="1251"/>
                        </a:cubicBezTo>
                        <a:cubicBezTo>
                          <a:pt x="965" y="1122"/>
                          <a:pt x="965" y="1122"/>
                          <a:pt x="965" y="1122"/>
                        </a:cubicBezTo>
                        <a:cubicBezTo>
                          <a:pt x="976" y="1116"/>
                          <a:pt x="976" y="1116"/>
                          <a:pt x="976" y="1116"/>
                        </a:cubicBezTo>
                        <a:cubicBezTo>
                          <a:pt x="1008" y="1096"/>
                          <a:pt x="1037" y="1072"/>
                          <a:pt x="1064" y="1046"/>
                        </a:cubicBezTo>
                        <a:cubicBezTo>
                          <a:pt x="1072" y="1038"/>
                          <a:pt x="1072" y="1038"/>
                          <a:pt x="1072" y="1038"/>
                        </a:cubicBezTo>
                        <a:cubicBezTo>
                          <a:pt x="1193" y="1058"/>
                          <a:pt x="1193" y="1058"/>
                          <a:pt x="1193" y="1058"/>
                        </a:cubicBezTo>
                        <a:cubicBezTo>
                          <a:pt x="1213" y="1030"/>
                          <a:pt x="1232" y="999"/>
                          <a:pt x="1232" y="998"/>
                        </a:cubicBezTo>
                        <a:cubicBezTo>
                          <a:pt x="1232" y="998"/>
                          <a:pt x="1250" y="967"/>
                          <a:pt x="1264" y="935"/>
                        </a:cubicBezTo>
                        <a:cubicBezTo>
                          <a:pt x="1192" y="847"/>
                          <a:pt x="1192" y="847"/>
                          <a:pt x="1192" y="847"/>
                        </a:cubicBezTo>
                        <a:cubicBezTo>
                          <a:pt x="1196" y="835"/>
                          <a:pt x="1196" y="835"/>
                          <a:pt x="1196" y="835"/>
                        </a:cubicBezTo>
                        <a:cubicBezTo>
                          <a:pt x="1209" y="795"/>
                          <a:pt x="1217" y="753"/>
                          <a:pt x="1219" y="710"/>
                        </a:cubicBezTo>
                        <a:cubicBezTo>
                          <a:pt x="1219" y="698"/>
                          <a:pt x="1219" y="698"/>
                          <a:pt x="1219" y="698"/>
                        </a:cubicBezTo>
                        <a:cubicBezTo>
                          <a:pt x="1317" y="640"/>
                          <a:pt x="1317" y="640"/>
                          <a:pt x="1317" y="640"/>
                        </a:cubicBezTo>
                        <a:cubicBezTo>
                          <a:pt x="1314" y="606"/>
                          <a:pt x="1308" y="570"/>
                          <a:pt x="1308" y="570"/>
                        </a:cubicBezTo>
                        <a:cubicBezTo>
                          <a:pt x="1307" y="569"/>
                          <a:pt x="1301" y="534"/>
                          <a:pt x="1292" y="501"/>
                        </a:cubicBezTo>
                        <a:cubicBezTo>
                          <a:pt x="1176" y="479"/>
                          <a:pt x="1176" y="479"/>
                          <a:pt x="1176" y="479"/>
                        </a:cubicBezTo>
                        <a:cubicBezTo>
                          <a:pt x="1171" y="469"/>
                          <a:pt x="1171" y="469"/>
                          <a:pt x="1171" y="469"/>
                        </a:cubicBezTo>
                        <a:cubicBezTo>
                          <a:pt x="1154" y="433"/>
                          <a:pt x="1133" y="400"/>
                          <a:pt x="1109" y="369"/>
                        </a:cubicBezTo>
                        <a:cubicBezTo>
                          <a:pt x="1101" y="359"/>
                          <a:pt x="1101" y="359"/>
                          <a:pt x="1101" y="359"/>
                        </a:cubicBezTo>
                        <a:cubicBezTo>
                          <a:pt x="1142" y="241"/>
                          <a:pt x="1142" y="241"/>
                          <a:pt x="1142" y="241"/>
                        </a:cubicBezTo>
                        <a:cubicBezTo>
                          <a:pt x="1118" y="216"/>
                          <a:pt x="1090" y="193"/>
                          <a:pt x="1090" y="193"/>
                        </a:cubicBezTo>
                        <a:cubicBezTo>
                          <a:pt x="1090" y="193"/>
                          <a:pt x="1062" y="169"/>
                          <a:pt x="1034" y="150"/>
                        </a:cubicBezTo>
                        <a:cubicBezTo>
                          <a:pt x="915" y="217"/>
                          <a:pt x="915" y="217"/>
                          <a:pt x="915" y="217"/>
                        </a:cubicBezTo>
                        <a:cubicBezTo>
                          <a:pt x="905" y="212"/>
                          <a:pt x="905" y="212"/>
                          <a:pt x="905" y="212"/>
                        </a:cubicBezTo>
                        <a:cubicBezTo>
                          <a:pt x="875" y="199"/>
                          <a:pt x="845" y="189"/>
                          <a:pt x="813" y="182"/>
                        </a:cubicBezTo>
                        <a:cubicBezTo>
                          <a:pt x="802" y="179"/>
                          <a:pt x="802" y="179"/>
                          <a:pt x="802" y="179"/>
                        </a:cubicBezTo>
                        <a:cubicBezTo>
                          <a:pt x="752" y="47"/>
                          <a:pt x="752" y="47"/>
                          <a:pt x="752" y="47"/>
                        </a:cubicBezTo>
                        <a:cubicBezTo>
                          <a:pt x="718" y="44"/>
                          <a:pt x="682" y="44"/>
                          <a:pt x="681" y="44"/>
                        </a:cubicBezTo>
                        <a:cubicBezTo>
                          <a:pt x="681" y="44"/>
                          <a:pt x="645" y="44"/>
                          <a:pt x="610" y="47"/>
                        </a:cubicBezTo>
                        <a:cubicBezTo>
                          <a:pt x="561" y="179"/>
                          <a:pt x="561" y="179"/>
                          <a:pt x="561" y="179"/>
                        </a:cubicBezTo>
                        <a:cubicBezTo>
                          <a:pt x="549" y="182"/>
                          <a:pt x="549" y="182"/>
                          <a:pt x="549" y="182"/>
                        </a:cubicBezTo>
                        <a:cubicBezTo>
                          <a:pt x="518" y="189"/>
                          <a:pt x="488" y="199"/>
                          <a:pt x="458" y="212"/>
                        </a:cubicBezTo>
                        <a:cubicBezTo>
                          <a:pt x="448" y="217"/>
                          <a:pt x="448" y="217"/>
                          <a:pt x="448" y="217"/>
                        </a:cubicBezTo>
                        <a:cubicBezTo>
                          <a:pt x="329" y="149"/>
                          <a:pt x="329" y="149"/>
                          <a:pt x="329" y="149"/>
                        </a:cubicBezTo>
                        <a:cubicBezTo>
                          <a:pt x="300" y="169"/>
                          <a:pt x="273" y="192"/>
                          <a:pt x="272" y="192"/>
                        </a:cubicBezTo>
                        <a:cubicBezTo>
                          <a:pt x="272" y="193"/>
                          <a:pt x="244" y="216"/>
                          <a:pt x="220" y="241"/>
                        </a:cubicBezTo>
                        <a:cubicBezTo>
                          <a:pt x="262" y="359"/>
                          <a:pt x="262" y="359"/>
                          <a:pt x="262" y="359"/>
                        </a:cubicBezTo>
                        <a:cubicBezTo>
                          <a:pt x="254" y="369"/>
                          <a:pt x="254" y="369"/>
                          <a:pt x="254" y="369"/>
                        </a:cubicBezTo>
                        <a:cubicBezTo>
                          <a:pt x="229" y="399"/>
                          <a:pt x="209" y="433"/>
                          <a:pt x="192" y="468"/>
                        </a:cubicBezTo>
                        <a:cubicBezTo>
                          <a:pt x="187" y="478"/>
                          <a:pt x="187" y="478"/>
                          <a:pt x="187" y="478"/>
                        </a:cubicBezTo>
                        <a:cubicBezTo>
                          <a:pt x="70" y="500"/>
                          <a:pt x="70" y="500"/>
                          <a:pt x="70" y="500"/>
                        </a:cubicBezTo>
                        <a:cubicBezTo>
                          <a:pt x="61" y="533"/>
                          <a:pt x="55" y="569"/>
                          <a:pt x="55" y="569"/>
                        </a:cubicBezTo>
                        <a:cubicBezTo>
                          <a:pt x="55" y="570"/>
                          <a:pt x="48" y="605"/>
                          <a:pt x="45" y="640"/>
                        </a:cubicBezTo>
                        <a:cubicBezTo>
                          <a:pt x="143" y="698"/>
                          <a:pt x="143" y="698"/>
                          <a:pt x="143" y="698"/>
                        </a:cubicBezTo>
                        <a:cubicBezTo>
                          <a:pt x="144" y="709"/>
                          <a:pt x="144" y="709"/>
                          <a:pt x="144" y="709"/>
                        </a:cubicBezTo>
                        <a:cubicBezTo>
                          <a:pt x="146" y="752"/>
                          <a:pt x="154" y="794"/>
                          <a:pt x="167" y="834"/>
                        </a:cubicBezTo>
                        <a:cubicBezTo>
                          <a:pt x="170" y="846"/>
                          <a:pt x="170" y="846"/>
                          <a:pt x="170" y="846"/>
                        </a:cubicBezTo>
                        <a:cubicBezTo>
                          <a:pt x="97" y="935"/>
                          <a:pt x="97" y="935"/>
                          <a:pt x="97" y="935"/>
                        </a:cubicBezTo>
                        <a:cubicBezTo>
                          <a:pt x="112" y="966"/>
                          <a:pt x="130" y="997"/>
                          <a:pt x="130" y="998"/>
                        </a:cubicBezTo>
                        <a:cubicBezTo>
                          <a:pt x="130" y="998"/>
                          <a:pt x="148" y="1029"/>
                          <a:pt x="168" y="1058"/>
                        </a:cubicBezTo>
                        <a:cubicBezTo>
                          <a:pt x="290" y="1038"/>
                          <a:pt x="290" y="1038"/>
                          <a:pt x="290" y="1038"/>
                        </a:cubicBezTo>
                        <a:cubicBezTo>
                          <a:pt x="298" y="1045"/>
                          <a:pt x="298" y="1045"/>
                          <a:pt x="298" y="1045"/>
                        </a:cubicBezTo>
                        <a:cubicBezTo>
                          <a:pt x="324" y="1072"/>
                          <a:pt x="354" y="1095"/>
                          <a:pt x="386" y="1115"/>
                        </a:cubicBezTo>
                        <a:cubicBezTo>
                          <a:pt x="396" y="1121"/>
                          <a:pt x="396" y="1121"/>
                          <a:pt x="396" y="1121"/>
                        </a:cubicBezTo>
                        <a:cubicBezTo>
                          <a:pt x="397" y="1250"/>
                          <a:pt x="397" y="1250"/>
                          <a:pt x="397" y="1250"/>
                        </a:cubicBezTo>
                        <a:cubicBezTo>
                          <a:pt x="429" y="1265"/>
                          <a:pt x="463" y="1278"/>
                          <a:pt x="463" y="1278"/>
                        </a:cubicBezTo>
                        <a:cubicBezTo>
                          <a:pt x="463" y="1278"/>
                          <a:pt x="498" y="1290"/>
                          <a:pt x="531" y="1299"/>
                        </a:cubicBezTo>
                        <a:cubicBezTo>
                          <a:pt x="619" y="1197"/>
                          <a:pt x="619" y="1197"/>
                          <a:pt x="619" y="1197"/>
                        </a:cubicBezTo>
                        <a:cubicBezTo>
                          <a:pt x="630" y="1198"/>
                          <a:pt x="630" y="1198"/>
                          <a:pt x="630" y="1198"/>
                        </a:cubicBezTo>
                        <a:cubicBezTo>
                          <a:pt x="647" y="1199"/>
                          <a:pt x="665" y="1200"/>
                          <a:pt x="681" y="1200"/>
                        </a:cubicBezTo>
                        <a:cubicBezTo>
                          <a:pt x="698" y="1200"/>
                          <a:pt x="714" y="1199"/>
                          <a:pt x="731" y="1198"/>
                        </a:cubicBezTo>
                        <a:lnTo>
                          <a:pt x="742" y="1197"/>
                        </a:lnTo>
                        <a:close/>
                        <a:moveTo>
                          <a:pt x="681" y="1108"/>
                        </a:moveTo>
                        <a:cubicBezTo>
                          <a:pt x="447" y="1108"/>
                          <a:pt x="256" y="917"/>
                          <a:pt x="256" y="683"/>
                        </a:cubicBezTo>
                        <a:cubicBezTo>
                          <a:pt x="256" y="448"/>
                          <a:pt x="447" y="257"/>
                          <a:pt x="681" y="257"/>
                        </a:cubicBezTo>
                        <a:cubicBezTo>
                          <a:pt x="916" y="257"/>
                          <a:pt x="1107" y="448"/>
                          <a:pt x="1107" y="683"/>
                        </a:cubicBezTo>
                        <a:cubicBezTo>
                          <a:pt x="1107" y="917"/>
                          <a:pt x="916" y="1108"/>
                          <a:pt x="681" y="1108"/>
                        </a:cubicBezTo>
                        <a:close/>
                        <a:moveTo>
                          <a:pt x="681" y="301"/>
                        </a:moveTo>
                        <a:cubicBezTo>
                          <a:pt x="471" y="301"/>
                          <a:pt x="300" y="473"/>
                          <a:pt x="300" y="683"/>
                        </a:cubicBezTo>
                        <a:cubicBezTo>
                          <a:pt x="300" y="893"/>
                          <a:pt x="471" y="1064"/>
                          <a:pt x="681" y="1064"/>
                        </a:cubicBezTo>
                        <a:cubicBezTo>
                          <a:pt x="892" y="1064"/>
                          <a:pt x="1063" y="893"/>
                          <a:pt x="1063" y="683"/>
                        </a:cubicBezTo>
                        <a:cubicBezTo>
                          <a:pt x="1063" y="473"/>
                          <a:pt x="892" y="301"/>
                          <a:pt x="681" y="301"/>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89" name="Grupo 186"/>
            <p:cNvGrpSpPr/>
            <p:nvPr/>
          </p:nvGrpSpPr>
          <p:grpSpPr>
            <a:xfrm>
              <a:off x="1325570" y="1494503"/>
              <a:ext cx="972000" cy="1122694"/>
              <a:chOff x="200600" y="3064710"/>
              <a:chExt cx="1047297" cy="1122694"/>
            </a:xfrm>
          </p:grpSpPr>
          <p:sp>
            <p:nvSpPr>
              <p:cNvPr id="190" name="Rectangle: Rounded Corners 207"/>
              <p:cNvSpPr/>
              <p:nvPr/>
            </p:nvSpPr>
            <p:spPr>
              <a:xfrm>
                <a:off x="265562" y="3129671"/>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Abastecimiento Materia Prima</a:t>
                </a:r>
              </a:p>
            </p:txBody>
          </p:sp>
          <p:sp>
            <p:nvSpPr>
              <p:cNvPr id="191" name="Oval 20"/>
              <p:cNvSpPr>
                <a:spLocks noChangeAspect="1" noChangeArrowheads="1"/>
              </p:cNvSpPr>
              <p:nvPr/>
            </p:nvSpPr>
            <p:spPr bwMode="auto">
              <a:xfrm>
                <a:off x="200600" y="3064710"/>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4</a:t>
                </a:r>
              </a:p>
            </p:txBody>
          </p:sp>
          <p:pic>
            <p:nvPicPr>
              <p:cNvPr id="192" name="Gráfico 185"/>
              <p:cNvPicPr>
                <a:picLocks noChangeAspect="1"/>
              </p:cNvPicPr>
              <p:nvPr/>
            </p:nvPicPr>
            <p:blipFill>
              <a:blip>
                <a:extLst>
                  <a:ext uri="{96DAC541-7B7A-43D3-8B79-37D633B846F1}">
                    <asvg:svgBlip r:embed="rId6"/>
                  </a:ext>
                </a:extLst>
              </a:blip>
              <a:stretch>
                <a:fillRect/>
              </a:stretch>
            </p:blipFill>
            <p:spPr>
              <a:xfrm>
                <a:off x="502992" y="3161291"/>
                <a:ext cx="442093" cy="442093"/>
              </a:xfrm>
              <a:prstGeom prst="rect">
                <a:avLst/>
              </a:prstGeom>
            </p:spPr>
          </p:pic>
        </p:grpSp>
      </p:grpSp>
      <p:sp>
        <p:nvSpPr>
          <p:cNvPr id="193" name="circle"/>
          <p:cNvSpPr/>
          <p:nvPr/>
        </p:nvSpPr>
        <p:spPr>
          <a:xfrm>
            <a:off x="8160124" y="3749187"/>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a:solidFill>
                  <a:schemeClr val="tx2"/>
                </a:solidFill>
              </a14:hiddenFill>
            </a:ex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
        <p:nvSpPr>
          <p:cNvPr id="194" name="circle"/>
          <p:cNvSpPr/>
          <p:nvPr/>
        </p:nvSpPr>
        <p:spPr>
          <a:xfrm>
            <a:off x="8156195" y="4242555"/>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a:solidFill>
                  <a:schemeClr val="tx2"/>
                </a:solidFill>
              </a14:hiddenFill>
            </a:ex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Tree>
  </p:cSld>
  <p:clrMapOvr>
    <a:masterClrMapping/>
  </p:clrMapOvr>
  <mc:AlternateContent>
    <mc:Choice Requires="p14">
      <p:transition p14:dur="250">
        <p:fade/>
      </p:transition>
    </mc:Choice>
    <mc:Fallback>
      <p:transition>
        <p:fade/>
      </p:transition>
    </mc:Fallback>
  </mc:AlternateContent>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1.1 Apertura macroproceso| </a:t>
            </a:r>
            <a:r>
              <a:rPr lang="es-ES"/>
              <a:t>Gestión de Personas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4" name="Rectangle 7"/>
          <p:cNvSpPr/>
          <p:nvPr/>
        </p:nvSpPr>
        <p:spPr>
          <a:xfrm>
            <a:off x="15384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5" name="Oval 20"/>
          <p:cNvSpPr>
            <a:spLocks noChangeAspect="1" noChangeArrowheads="1"/>
          </p:cNvSpPr>
          <p:nvPr/>
        </p:nvSpPr>
        <p:spPr bwMode="auto">
          <a:xfrm>
            <a:off x="22584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1538460" y="223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Identificar necesidades estratégicas de RRHH</a:t>
            </a:r>
          </a:p>
        </p:txBody>
      </p:sp>
      <p:sp>
        <p:nvSpPr>
          <p:cNvPr id="7" name="Rectangle: Rounded Corners 37"/>
          <p:cNvSpPr/>
          <p:nvPr/>
        </p:nvSpPr>
        <p:spPr>
          <a:xfrm>
            <a:off x="19884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15384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Estimar dotación futura</a:t>
            </a:r>
          </a:p>
        </p:txBody>
      </p:sp>
      <p:sp>
        <p:nvSpPr>
          <p:cNvPr id="9" name="Rectangle: Rounded Corners 37"/>
          <p:cNvSpPr/>
          <p:nvPr/>
        </p:nvSpPr>
        <p:spPr>
          <a:xfrm>
            <a:off x="19884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36"/>
          <p:cNvSpPr/>
          <p:nvPr/>
        </p:nvSpPr>
        <p:spPr>
          <a:xfrm>
            <a:off x="15384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Diseñar plan de dotación / organigrama</a:t>
            </a:r>
          </a:p>
        </p:txBody>
      </p:sp>
      <p:sp>
        <p:nvSpPr>
          <p:cNvPr id="11" name="Rectangle: Rounded Corners 37"/>
          <p:cNvSpPr/>
          <p:nvPr/>
        </p:nvSpPr>
        <p:spPr>
          <a:xfrm>
            <a:off x="19884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A.3</a:t>
            </a:r>
          </a:p>
        </p:txBody>
      </p:sp>
      <p:sp>
        <p:nvSpPr>
          <p:cNvPr id="12" name="Rectangle 7"/>
          <p:cNvSpPr/>
          <p:nvPr/>
        </p:nvSpPr>
        <p:spPr>
          <a:xfrm>
            <a:off x="33870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13" name="Oval 20"/>
          <p:cNvSpPr>
            <a:spLocks noChangeAspect="1" noChangeArrowheads="1"/>
          </p:cNvSpPr>
          <p:nvPr/>
        </p:nvSpPr>
        <p:spPr bwMode="auto">
          <a:xfrm>
            <a:off x="41070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4" name="Rectangle 36"/>
          <p:cNvSpPr/>
          <p:nvPr/>
        </p:nvSpPr>
        <p:spPr>
          <a:xfrm>
            <a:off x="33870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Benchmark de remuneración</a:t>
            </a:r>
          </a:p>
        </p:txBody>
      </p:sp>
      <p:sp>
        <p:nvSpPr>
          <p:cNvPr id="15" name="Rectangle: Rounded Corners 37"/>
          <p:cNvSpPr/>
          <p:nvPr/>
        </p:nvSpPr>
        <p:spPr>
          <a:xfrm>
            <a:off x="38370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6" name="Rectangle 36"/>
          <p:cNvSpPr/>
          <p:nvPr/>
        </p:nvSpPr>
        <p:spPr>
          <a:xfrm>
            <a:off x="33870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Valoración del cargo y definición de bandas salariales</a:t>
            </a:r>
          </a:p>
        </p:txBody>
      </p:sp>
      <p:sp>
        <p:nvSpPr>
          <p:cNvPr id="17" name="Rectangle: Rounded Corners 37"/>
          <p:cNvSpPr/>
          <p:nvPr/>
        </p:nvSpPr>
        <p:spPr>
          <a:xfrm>
            <a:off x="38370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8" name="Rectangle 36"/>
          <p:cNvSpPr/>
          <p:nvPr/>
        </p:nvSpPr>
        <p:spPr>
          <a:xfrm>
            <a:off x="33870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Administración periódica del marco de compensación</a:t>
            </a:r>
          </a:p>
        </p:txBody>
      </p:sp>
      <p:sp>
        <p:nvSpPr>
          <p:cNvPr id="19" name="Rectangle: Rounded Corners 37"/>
          <p:cNvSpPr/>
          <p:nvPr/>
        </p:nvSpPr>
        <p:spPr>
          <a:xfrm>
            <a:off x="38370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20" name="Rectangle 36"/>
          <p:cNvSpPr/>
          <p:nvPr/>
        </p:nvSpPr>
        <p:spPr>
          <a:xfrm>
            <a:off x="33870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Gobierno y publicación del marco de compensaciones</a:t>
            </a:r>
          </a:p>
        </p:txBody>
      </p:sp>
      <p:sp>
        <p:nvSpPr>
          <p:cNvPr id="21" name="Rectangle: Rounded Corners 37"/>
          <p:cNvSpPr/>
          <p:nvPr/>
        </p:nvSpPr>
        <p:spPr>
          <a:xfrm>
            <a:off x="38370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B.4</a:t>
            </a:r>
          </a:p>
        </p:txBody>
      </p:sp>
      <p:sp>
        <p:nvSpPr>
          <p:cNvPr id="22" name="Rectangle 7"/>
          <p:cNvSpPr/>
          <p:nvPr/>
        </p:nvSpPr>
        <p:spPr>
          <a:xfrm>
            <a:off x="52356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3" name="Oval 20"/>
          <p:cNvSpPr>
            <a:spLocks noChangeAspect="1" noChangeArrowheads="1"/>
          </p:cNvSpPr>
          <p:nvPr/>
        </p:nvSpPr>
        <p:spPr bwMode="auto">
          <a:xfrm>
            <a:off x="59556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4" name="Rectangle 36"/>
          <p:cNvSpPr/>
          <p:nvPr/>
        </p:nvSpPr>
        <p:spPr>
          <a:xfrm>
            <a:off x="52356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Requisición y apertura de vacante</a:t>
            </a:r>
          </a:p>
        </p:txBody>
      </p:sp>
      <p:sp>
        <p:nvSpPr>
          <p:cNvPr id="25" name="Rectangle: Rounded Corners 37"/>
          <p:cNvSpPr/>
          <p:nvPr/>
        </p:nvSpPr>
        <p:spPr>
          <a:xfrm>
            <a:off x="56856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6" name="Rectangle 36"/>
          <p:cNvSpPr/>
          <p:nvPr/>
        </p:nvSpPr>
        <p:spPr>
          <a:xfrm>
            <a:off x="52356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Reclutamiento y preselección</a:t>
            </a:r>
          </a:p>
        </p:txBody>
      </p:sp>
      <p:sp>
        <p:nvSpPr>
          <p:cNvPr id="27" name="Rectangle: Rounded Corners 37"/>
          <p:cNvSpPr/>
          <p:nvPr/>
        </p:nvSpPr>
        <p:spPr>
          <a:xfrm>
            <a:off x="56856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8" name="Rectangle 36"/>
          <p:cNvSpPr/>
          <p:nvPr/>
        </p:nvSpPr>
        <p:spPr>
          <a:xfrm>
            <a:off x="52356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y selección de candidatos</a:t>
            </a:r>
          </a:p>
        </p:txBody>
      </p:sp>
      <p:sp>
        <p:nvSpPr>
          <p:cNvPr id="29" name="Rectangle: Rounded Corners 37"/>
          <p:cNvSpPr/>
          <p:nvPr/>
        </p:nvSpPr>
        <p:spPr>
          <a:xfrm>
            <a:off x="56856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30" name="Rectangle 36"/>
          <p:cNvSpPr/>
          <p:nvPr/>
        </p:nvSpPr>
        <p:spPr>
          <a:xfrm>
            <a:off x="52356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Verificación preocupacional y contratación</a:t>
            </a:r>
          </a:p>
        </p:txBody>
      </p:sp>
      <p:sp>
        <p:nvSpPr>
          <p:cNvPr id="31" name="Rectangle: Rounded Corners 37"/>
          <p:cNvSpPr/>
          <p:nvPr/>
        </p:nvSpPr>
        <p:spPr>
          <a:xfrm>
            <a:off x="56856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32" name="Rectangle 36"/>
          <p:cNvSpPr/>
          <p:nvPr/>
        </p:nvSpPr>
        <p:spPr>
          <a:xfrm>
            <a:off x="5235660" y="475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Incorporación y onboarding</a:t>
            </a:r>
          </a:p>
        </p:txBody>
      </p:sp>
      <p:sp>
        <p:nvSpPr>
          <p:cNvPr id="33" name="Rectangle: Rounded Corners 37"/>
          <p:cNvSpPr/>
          <p:nvPr/>
        </p:nvSpPr>
        <p:spPr>
          <a:xfrm>
            <a:off x="5685660" y="464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C.5</a:t>
            </a:r>
          </a:p>
        </p:txBody>
      </p:sp>
      <p:sp>
        <p:nvSpPr>
          <p:cNvPr id="34" name="Rectangle 7"/>
          <p:cNvSpPr/>
          <p:nvPr/>
        </p:nvSpPr>
        <p:spPr>
          <a:xfrm>
            <a:off x="70842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35" name="Oval 20"/>
          <p:cNvSpPr>
            <a:spLocks noChangeAspect="1" noChangeArrowheads="1"/>
          </p:cNvSpPr>
          <p:nvPr/>
        </p:nvSpPr>
        <p:spPr bwMode="auto">
          <a:xfrm>
            <a:off x="78042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6" name="Rectangle 36"/>
          <p:cNvSpPr/>
          <p:nvPr/>
        </p:nvSpPr>
        <p:spPr>
          <a:xfrm>
            <a:off x="70842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Formación</a:t>
            </a:r>
          </a:p>
        </p:txBody>
      </p:sp>
      <p:sp>
        <p:nvSpPr>
          <p:cNvPr id="37" name="Rectangle: Rounded Corners 37"/>
          <p:cNvSpPr/>
          <p:nvPr/>
        </p:nvSpPr>
        <p:spPr>
          <a:xfrm>
            <a:off x="75342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8" name="Rectangle 36"/>
          <p:cNvSpPr/>
          <p:nvPr/>
        </p:nvSpPr>
        <p:spPr>
          <a:xfrm>
            <a:off x="70842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Gestión del desempeño</a:t>
            </a:r>
          </a:p>
        </p:txBody>
      </p:sp>
      <p:sp>
        <p:nvSpPr>
          <p:cNvPr id="39" name="Rectangle: Rounded Corners 37"/>
          <p:cNvSpPr/>
          <p:nvPr/>
        </p:nvSpPr>
        <p:spPr>
          <a:xfrm>
            <a:off x="75342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
        <p:nvSpPr>
          <p:cNvPr id="40" name="Rectangle 36"/>
          <p:cNvSpPr/>
          <p:nvPr/>
        </p:nvSpPr>
        <p:spPr>
          <a:xfrm>
            <a:off x="70842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Carrera, sucesión y movilidad</a:t>
            </a:r>
          </a:p>
        </p:txBody>
      </p:sp>
      <p:sp>
        <p:nvSpPr>
          <p:cNvPr id="41" name="Rectangle: Rounded Corners 37"/>
          <p:cNvSpPr/>
          <p:nvPr/>
        </p:nvSpPr>
        <p:spPr>
          <a:xfrm>
            <a:off x="75342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D.3</a:t>
            </a:r>
          </a:p>
        </p:txBody>
      </p:sp>
      <p:sp>
        <p:nvSpPr>
          <p:cNvPr id="42" name="Rectangle 7"/>
          <p:cNvSpPr/>
          <p:nvPr/>
        </p:nvSpPr>
        <p:spPr>
          <a:xfrm>
            <a:off x="89328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43" name="Oval 20"/>
          <p:cNvSpPr>
            <a:spLocks noChangeAspect="1" noChangeArrowheads="1"/>
          </p:cNvSpPr>
          <p:nvPr/>
        </p:nvSpPr>
        <p:spPr bwMode="auto">
          <a:xfrm>
            <a:off x="96528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E</a:t>
            </a:r>
          </a:p>
        </p:txBody>
      </p:sp>
      <p:sp>
        <p:nvSpPr>
          <p:cNvPr id="44" name="Rectangle 36"/>
          <p:cNvSpPr/>
          <p:nvPr/>
        </p:nvSpPr>
        <p:spPr>
          <a:xfrm>
            <a:off x="89328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Remuneración y compensación</a:t>
            </a:r>
          </a:p>
        </p:txBody>
      </p:sp>
      <p:sp>
        <p:nvSpPr>
          <p:cNvPr id="45" name="Rectangle: Rounded Corners 37"/>
          <p:cNvSpPr/>
          <p:nvPr/>
        </p:nvSpPr>
        <p:spPr>
          <a:xfrm>
            <a:off x="93828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E.1</a:t>
            </a:r>
          </a:p>
        </p:txBody>
      </p:sp>
      <p:sp>
        <p:nvSpPr>
          <p:cNvPr id="46" name="Rectangle 36"/>
          <p:cNvSpPr/>
          <p:nvPr/>
        </p:nvSpPr>
        <p:spPr>
          <a:xfrm>
            <a:off x="89328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Beneficios</a:t>
            </a:r>
          </a:p>
        </p:txBody>
      </p:sp>
      <p:sp>
        <p:nvSpPr>
          <p:cNvPr id="47" name="Rectangle: Rounded Corners 37"/>
          <p:cNvSpPr/>
          <p:nvPr/>
        </p:nvSpPr>
        <p:spPr>
          <a:xfrm>
            <a:off x="93828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E.2</a:t>
            </a:r>
          </a:p>
        </p:txBody>
      </p:sp>
    </p:spTree>
  </p:cSld>
  <p:clrMapOvr>
    <a:masterClrMapping/>
  </p:clrMapOvr>
  <mc:AlternateContent>
    <mc:Choice Requires="p14">
      <p:transition p14:dur="250">
        <p:fade/>
      </p:transition>
    </mc:Choice>
    <mc:Fallback>
      <p:transition>
        <p:fade/>
      </p:transition>
    </mc:Fallback>
  </mc:AlternateContent>
</p:sld>
</file>

<file path=ppt/slides/slide3.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sz="2400">
                <a:solidFill>
                  <a:schemeClr val="tx1"/>
                </a:solidFill>
              </a:rPr>
              <a:t>1.2 Ficha resumen| </a:t>
            </a:r>
            <a:r>
              <a:rPr lang="es-CL" sz="2400"/>
              <a:t>Gestión de Personas</a:t>
            </a:r>
            <a:endParaRPr lang="es-CL"/>
          </a:p>
        </p:txBody>
      </p:sp>
      <p:grpSp>
        <p:nvGrpSpPr>
          <p:cNvPr id="3" name="Group 3"/>
          <p:cNvGrpSpPr/>
          <p:nvPr/>
        </p:nvGrpSpPr>
        <p:grpSpPr>
          <a:xfrm>
            <a:off x="630000" y="1359148"/>
            <a:ext cx="10933349" cy="332399"/>
            <a:chOff x="630000" y="1359148"/>
            <a:chExt cx="10933349" cy="332399"/>
          </a:xfrm>
        </p:grpSpPr>
        <p:sp>
          <p:nvSpPr>
            <p:cNvPr id="4" name="Rectangle: Rounded Corners 14"/>
            <p:cNvSpPr/>
            <p:nvPr/>
          </p:nvSpPr>
          <p:spPr>
            <a:xfrm>
              <a:off x="630000" y="1359148"/>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Rectangle 19"/>
            <p:cNvSpPr/>
            <p:nvPr/>
          </p:nvSpPr>
          <p:spPr>
            <a:xfrm>
              <a:off x="1720808" y="1359148"/>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grpSp>
        <p:nvGrpSpPr>
          <p:cNvPr id="6" name="Group 4"/>
          <p:cNvGrpSpPr/>
          <p:nvPr/>
        </p:nvGrpSpPr>
        <p:grpSpPr>
          <a:xfrm>
            <a:off x="630000" y="1765503"/>
            <a:ext cx="10933349" cy="332399"/>
            <a:chOff x="630000" y="1765503"/>
            <a:chExt cx="10933349" cy="332399"/>
          </a:xfrm>
        </p:grpSpPr>
        <p:sp>
          <p:nvSpPr>
            <p:cNvPr id="7" name="Rectangle: Rounded Corners 15"/>
            <p:cNvSpPr/>
            <p:nvPr/>
          </p:nvSpPr>
          <p:spPr>
            <a:xfrm>
              <a:off x="630000" y="1765503"/>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Propósito </a:t>
              </a:r>
            </a:p>
          </p:txBody>
        </p:sp>
        <p:sp>
          <p:nvSpPr>
            <p:cNvPr id="8" name="Rectangle 20"/>
            <p:cNvSpPr/>
            <p:nvPr/>
          </p:nvSpPr>
          <p:spPr>
            <a:xfrm>
              <a:off x="1720808" y="1765503"/>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sp>
        <p:nvSpPr>
          <p:cNvPr id="9" name="Rectangle: Rounded Corners 12"/>
          <p:cNvSpPr/>
          <p:nvPr/>
        </p:nvSpPr>
        <p:spPr>
          <a:xfrm>
            <a:off x="630000"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0" name="Rectangle: Rounded Corners 13"/>
          <p:cNvSpPr/>
          <p:nvPr/>
        </p:nvSpPr>
        <p:spPr>
          <a:xfrm>
            <a:off x="6322502"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11" name="Rectangle 21"/>
          <p:cNvSpPr/>
          <p:nvPr/>
        </p:nvSpPr>
        <p:spPr>
          <a:xfrm>
            <a:off x="630000"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Plan estratégico y presupuesto del negocio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Estructura organizacional vigente y proyectos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Requerimientos de dotación de las áreas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Encuestas de remuneraciones de mercado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Normativa laboral y políticas internas</a:t>
            </a:r>
          </a:p>
        </p:txBody>
      </p:sp>
      <p:sp>
        <p:nvSpPr>
          <p:cNvPr id="12" name="Rectangle 22"/>
          <p:cNvSpPr/>
          <p:nvPr/>
        </p:nvSpPr>
        <p:spPr>
          <a:xfrm>
            <a:off x="6322502"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Plan de dotación, organigrama y perfiles de cargo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Estructura de grados y bandas de renta publicada</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Personas seleccionadas, contratadas e incorporadas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Trabajadores formados y habilitados</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Evaluaciones de desempeño y planes de desarrollo</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Matriz de sucesión actualizada</a:t>
            </a:r>
          </a:p>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Ajustes de renta y beneficios aplicados</a:t>
            </a:r>
          </a:p>
        </p:txBody>
      </p:sp>
      <p:sp>
        <p:nvSpPr>
          <p:cNvPr id="13" name="Rectangle: Rounded Corners 17"/>
          <p:cNvSpPr/>
          <p:nvPr/>
        </p:nvSpPr>
        <p:spPr>
          <a:xfrm>
            <a:off x="630000"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 </a:t>
            </a:r>
          </a:p>
        </p:txBody>
      </p:sp>
      <p:sp>
        <p:nvSpPr>
          <p:cNvPr id="14" name="Rectangle: Rounded Corners 18"/>
          <p:cNvSpPr/>
          <p:nvPr/>
        </p:nvSpPr>
        <p:spPr>
          <a:xfrm>
            <a:off x="6322502"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err="1">
                <a:ln>
                  <a:noFill/>
                </a:ln>
                <a:solidFill>
                  <a:srgbClr val="FFFFFF"/>
                </a:solidFill>
                <a:effectLst/>
                <a:uLnTx/>
                <a:uFillTx/>
                <a:latin typeface="Calibri"/>
                <a:ea typeface="+mn-ea"/>
                <a:cs typeface="+mn-cs"/>
              </a:rPr>
              <a:t>KPIs</a:t>
            </a:r>
            <a:endParaRPr kumimoji="0" lang="es-CL" sz="1600"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23"/>
          <p:cNvSpPr/>
          <p:nvPr/>
        </p:nvSpPr>
        <p:spPr>
          <a:xfrm>
            <a:off x="630000"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3850" lvl="1" indent="-215900">
              <a:buClr>
                <a:srgbClr val="EA7600"/>
              </a:buClr>
              <a:buFont typeface="Trebuchet MS" panose="020B0603020202020204" pitchFamily="34" charset="0"/>
              <a:buChar char="•"/>
              <a:defRPr/>
            </a:pPr>
            <a:r>
              <a:rPr kumimoji="0" lang="es-CL" sz="1200" b="0" i="0" u="none" strike="noStrike" kern="1200" cap="none" spc="0" normalizeH="0" baseline="0">
                <a:ln>
                  <a:noFill/>
                </a:ln>
                <a:solidFill>
                  <a:srgbClr val="EA7600"/>
                </a:solidFill>
                <a:effectLst/>
                <a:uLnTx/>
                <a:uFillTx/>
                <a:latin typeface="Calibri"/>
                <a:ea typeface="+mn-ea"/>
                <a:cs typeface="+mn-cs"/>
                <a:sym typeface="Canva Sans"/>
              </a:rPr>
              <a:t>Gerencia de Personas</a:t>
            </a:r>
            <a:endParaRPr kumimoji="0" lang="es-CL"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24"/>
          <p:cNvSpPr/>
          <p:nvPr/>
        </p:nvSpPr>
        <p:spPr>
          <a:xfrm>
            <a:off x="6322502"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Cumplimiento del plan de dotación</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Tiempo de cobertura de vacantes</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696158"/>
                </a:solidFill>
                <a:effectLst/>
                <a:uLnTx/>
                <a:uFillTx/>
                <a:latin typeface="Calibri"/>
                <a:ea typeface="+mn-ea"/>
                <a:cs typeface="+mn-cs"/>
              </a:rPr>
              <a:t>% habilitados en cargo de ingreso, con dominio técnico avanzado y como back-up</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Cumplimiento del ciclo anual de desempeño</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Cobertura de sucesores en roles clave</a:t>
            </a:r>
          </a:p>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0" u="none" strike="noStrike" kern="1200" cap="none" spc="0" normalizeH="0" baseline="0">
                <a:ln>
                  <a:noFill/>
                </a:ln>
                <a:solidFill>
                  <a:srgbClr val="EA7600"/>
                </a:solidFill>
                <a:effectLst/>
                <a:uLnTx/>
                <a:uFillTx/>
                <a:latin typeface="Calibri"/>
                <a:ea typeface="+mn-ea"/>
                <a:cs typeface="+mn-cs"/>
              </a:rPr>
              <a:t>Compa-ratio promedio por banda</a:t>
            </a:r>
          </a:p>
        </p:txBody>
      </p:sp>
      <p:sp>
        <p:nvSpPr>
          <p:cNvPr id="17" name="Rectangle: Rounded Corners 2"/>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18" name="CuadroTexto 6"/>
          <p:cNvSpPr txBox="1"/>
          <p:nvPr/>
        </p:nvSpPr>
        <p:spPr>
          <a:xfrm>
            <a:off x="1711598" y="1319168"/>
            <a:ext cx="9841192" cy="430887"/>
          </a:xfrm>
          <a:prstGeom prst="rect">
            <a:avLst/>
          </a:prstGeom>
          <a:noFill/>
          <a:ln w="9525" cap="rnd" cmpd="sng" algn="ctr">
            <a:noFill/>
            <a:prstDash val="solid"/>
            <a:round/>
          </a:ln>
          <a:effectLst/>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srgbClr val="EA7600"/>
                </a:solidFill>
                <a:effectLst/>
                <a:uLnTx/>
                <a:uFillTx/>
                <a:latin typeface="Calibri"/>
                <a:ea typeface="+mn-ea"/>
                <a:cs typeface="+mn-cs"/>
              </a:rPr>
              <a:t>Gestionar el ciclo de vida de las personas del Negocio de Celulosa, desde la planificación de la dotación hasta la compensación y el desarrollo, asegurando contar con personas idóneas, habilitadas y retribuidas de forma equitativa y competitiva, alineadas con los objetivos estratégicos de la compañía.</a:t>
            </a:r>
          </a:p>
        </p:txBody>
      </p:sp>
      <p:sp>
        <p:nvSpPr>
          <p:cNvPr id="19" name="CuadroTexto 11"/>
          <p:cNvSpPr txBox="1"/>
          <p:nvPr/>
        </p:nvSpPr>
        <p:spPr>
          <a:xfrm>
            <a:off x="1701038" y="1691547"/>
            <a:ext cx="10241579" cy="430887"/>
          </a:xfrm>
          <a:prstGeom prst="rect">
            <a:avLst/>
          </a:prstGeom>
          <a:noFill/>
          <a:ln w="9525" cap="rnd" cmpd="sng" algn="ctr">
            <a:noFill/>
            <a:prstDash val="solid"/>
            <a:round/>
          </a:ln>
          <a:effectLst/>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srgbClr val="EA7600"/>
                </a:solidFill>
                <a:effectLst/>
                <a:uLnTx/>
                <a:uFillTx/>
                <a:latin typeface="Calibri"/>
                <a:ea typeface="+mn-ea"/>
                <a:cs typeface="+mn-cs"/>
              </a:rPr>
              <a:t>Asegurar que la compañía cuente con las personas, capacidades y condiciones necesarias para sostener la continuidad operacional y la seguridad, mediante procesos estandarizados y trazables en todas las plantas.</a:t>
            </a:r>
          </a:p>
        </p:txBody>
      </p:sp>
    </p:spTree>
  </p:cSld>
  <p:clrMapOvr>
    <a:masterClrMapping/>
  </p:clrMapOvr>
  <mc:AlternateContent>
    <mc:Choice Requires="p14">
      <p:transition p14:dur="250">
        <p:fade/>
      </p:transition>
    </mc:Choice>
    <mc:Fallback>
      <p:transition>
        <p:fade/>
      </p:transition>
    </mc:Fallback>
  </mc:AlternateContent>
</p:sld>
</file>

<file path=ppt/slides/slide4.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813629" y="1560600"/>
            <a:ext cx="3987846" cy="3930549"/>
          </a:xfrm>
          <a:prstGeom prst="chevron">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8" y="1571486"/>
            <a:ext cx="4095382" cy="3930549"/>
          </a:xfrm>
          <a:prstGeom prst="homePlate">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a:xfrm>
            <a:off x="630000" y="622800"/>
            <a:ext cx="10933350" cy="387798"/>
          </a:xfrm>
        </p:spPr>
        <p:txBody>
          <a:bodyPr vert="horz"/>
          <a:lstStyle/>
          <a:p>
            <a:r>
              <a:rPr lang="es-CL" sz="2800">
                <a:solidFill>
                  <a:schemeClr val="tx1"/>
                </a:solidFill>
              </a:rPr>
              <a:t>1.3 SIPOC del macroproceso| </a:t>
            </a:r>
            <a:r>
              <a:rPr lang="es-CL" sz="2800"/>
              <a:t>Gestión de Personas</a:t>
            </a:r>
          </a:p>
        </p:txBody>
      </p:sp>
      <p:graphicFrame>
        <p:nvGraphicFramePr>
          <p:cNvPr id="5" name="Table 28"/>
          <p:cNvGraphicFramePr>
            <a:graphicFrameLocks noGrp="1"/>
          </p:cNvGraphicFramePr>
          <p:nvPr>
            <p:extLst>
              <p:ext uri="{D42A27DB-BD31-4B8C-83A1-F6EECF244321}">
                <p14:modId val="628456518"/>
              </p:ext>
            </p:extLst>
          </p:nvPr>
        </p:nvGraphicFramePr>
        <p:xfrm>
          <a:off x="628650" y="1400381"/>
          <a:ext cx="3559627" cy="2749673"/>
        </p:xfrm>
        <a:graphic>
          <a:graphicData uri="http://schemas.openxmlformats.org/drawingml/2006/table">
            <a:tbl>
              <a:tblPr>
                <a:tableStyleId>{2D5ABB26-0587-4C30-8999-92F81FD0307C}</a:tableStyleId>
              </a:tblPr>
              <a:tblGrid>
                <a:gridCol w="1186543">
                  <a:extLst>
                    <a:ext uri="{9D8B030D-6E8A-4147-A177-3AD203B41FA5}">
                      <a16:colId val="216396786"/>
                    </a:ext>
                  </a:extLst>
                </a:gridCol>
                <a:gridCol w="205252">
                  <a:extLst>
                    <a:ext uri="{9D8B030D-6E8A-4147-A177-3AD203B41FA5}">
                      <a16:colId val="382253565"/>
                    </a:ext>
                  </a:extLst>
                </a:gridCol>
                <a:gridCol w="2167832">
                  <a:extLst>
                    <a:ext uri="{9D8B030D-6E8A-4147-A177-3AD203B41FA5}">
                      <a16:colId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Entradas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r>
                        <a:rPr lang="es-CL" sz="1100">
                          <a:solidFill>
                            <a:srgbClr val="EA7600"/>
                          </a:solidFill>
                        </a:rPr>
                        <a:t>Gerencia General</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Plan estratégico y presupuesto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solidFill>
                            <a:srgbClr val="EA7600"/>
                          </a:solidFill>
                        </a:rPr>
                        <a:t>Áreas solicitantes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Requerimientos de dotación y vacantes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solidFill>
                            <a:srgbClr val="EA7600"/>
                          </a:solidFill>
                        </a:rPr>
                        <a:t>Mercado / consultoras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Encuestas de remuneraciones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solidFill>
                            <a:srgbClr val="EA7600"/>
                          </a:solidFill>
                        </a:rPr>
                        <a:t>Gerencias de planta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Necesidades de formación técnica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solidFill>
                            <a:srgbClr val="EA7600"/>
                          </a:solidFill>
                        </a:rPr>
                        <a:t>G. Requisitos Legales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0" u="none" strike="noStrike">
                          <a:solidFill>
                            <a:srgbClr val="EA7600"/>
                          </a:solidFill>
                          <a:effectLst/>
                          <a:latin typeface="+mn-lt"/>
                        </a:rPr>
                        <a:t>Normativa laboral vigente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bl>
          </a:graphicData>
        </a:graphic>
      </p:graphicFrame>
      <p:graphicFrame>
        <p:nvGraphicFramePr>
          <p:cNvPr id="6" name="Table 30"/>
          <p:cNvGraphicFramePr>
            <a:graphicFrameLocks noGrp="1"/>
          </p:cNvGraphicFramePr>
          <p:nvPr/>
        </p:nvGraphicFramePr>
        <p:xfrm>
          <a:off x="4771121" y="1500078"/>
          <a:ext cx="2855868" cy="561839"/>
        </p:xfrm>
        <a:graphic>
          <a:graphicData uri="http://schemas.openxmlformats.org/drawingml/2006/table">
            <a:tbl>
              <a:tblPr>
                <a:tableStyleId>{2D5ABB26-0587-4C30-8999-92F81FD0307C}</a:tableStyleId>
              </a:tblPr>
              <a:tblGrid>
                <a:gridCol w="2855868">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0" i="0" u="none" strike="noStrike">
                          <a:solidFill>
                            <a:schemeClr val="tx1"/>
                          </a:solidFill>
                          <a:effectLst/>
                          <a:latin typeface="Calibri" panose="020F0502020204030204" pitchFamily="34" charset="0"/>
                        </a:rPr>
                        <a:t>Proceso</a:t>
                      </a:r>
                      <a:r>
                        <a:rPr lang="en-US" sz="1800" b="0" i="0" u="none" strike="noStrike">
                          <a:solidFill>
                            <a:schemeClr val="tx1"/>
                          </a:solidFill>
                          <a:effectLst/>
                          <a:latin typeface="Calibri" panose="020F0502020204030204" pitchFamily="34" charset="0"/>
                        </a:rPr>
                        <a:t>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7" name="Rectangle 63"/>
          <p:cNvSpPr/>
          <p:nvPr/>
        </p:nvSpPr>
        <p:spPr>
          <a:xfrm>
            <a:off x="517672" y="5656120"/>
            <a:ext cx="11227982" cy="953575"/>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8" name="ee4pHeader2"/>
          <p:cNvSpPr>
            <a:spLocks noChangeArrowheads="1"/>
          </p:cNvSpPr>
          <p:nvPr/>
        </p:nvSpPr>
        <p:spPr bwMode="gray">
          <a:xfrm>
            <a:off x="9228656" y="6609696"/>
            <a:ext cx="216620" cy="138499"/>
          </a:xfrm>
          <a:prstGeom prst="rect">
            <a:avLst/>
          </a:prstGeom>
          <a:noFill/>
          <a:ln w="635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9" name="ee4pContent5"/>
          <p:cNvSpPr txBox="1"/>
          <p:nvPr/>
        </p:nvSpPr>
        <p:spPr>
          <a:xfrm>
            <a:off x="9516560" y="6574367"/>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0" name="ee4pHeader2"/>
          <p:cNvSpPr>
            <a:spLocks noChangeArrowheads="1"/>
          </p:cNvSpPr>
          <p:nvPr/>
        </p:nvSpPr>
        <p:spPr bwMode="gray">
          <a:xfrm>
            <a:off x="10352320" y="6609696"/>
            <a:ext cx="216620" cy="138499"/>
          </a:xfrm>
          <a:prstGeom prst="rect">
            <a:avLst/>
          </a:prstGeom>
          <a:noFill/>
          <a:ln w="635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1" name="ee4pContent5"/>
          <p:cNvSpPr txBox="1"/>
          <p:nvPr/>
        </p:nvSpPr>
        <p:spPr>
          <a:xfrm>
            <a:off x="10640224" y="6574367"/>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2" name="Rectangle: Rounded Corners 8"/>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13" name="Rectangle: Rounded Corners 9"/>
          <p:cNvSpPr/>
          <p:nvPr/>
        </p:nvSpPr>
        <p:spPr>
          <a:xfrm>
            <a:off x="628650" y="1142329"/>
            <a:ext cx="720000"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4" name="Rectangle 10"/>
          <p:cNvSpPr/>
          <p:nvPr/>
        </p:nvSpPr>
        <p:spPr>
          <a:xfrm>
            <a:off x="1350201" y="1142329"/>
            <a:ext cx="10224000" cy="332399"/>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EA7600"/>
                </a:solidFill>
                <a:effectLst/>
                <a:uLnTx/>
                <a:uFillTx/>
                <a:latin typeface="Calibri"/>
                <a:ea typeface="+mn-ea"/>
                <a:cs typeface="+mn-cs"/>
              </a:rPr>
              <a:t>Gestionar el ciclo de vida de las personas del Negocio de Celulosa, desde la planificación de la dotación hasta la compensación y el desarrollo, asegurando contar con personas idóneas, habilitadas y retribuidas de forma equitativa y competitiva, alineadas con los objetivos estratégicos de la compañía.</a:t>
            </a:r>
          </a:p>
        </p:txBody>
      </p:sp>
      <p:graphicFrame>
        <p:nvGraphicFramePr>
          <p:cNvPr id="15" name="Table 28"/>
          <p:cNvGraphicFramePr>
            <a:graphicFrameLocks noGrp="1"/>
          </p:cNvGraphicFramePr>
          <p:nvPr/>
        </p:nvGraphicFramePr>
        <p:xfrm>
          <a:off x="8123898" y="1390542"/>
          <a:ext cx="3236047" cy="3334211"/>
        </p:xfrm>
        <a:graphic>
          <a:graphicData uri="http://schemas.openxmlformats.org/drawingml/2006/table">
            <a:tbl>
              <a:tblPr>
                <a:tableStyleId>{2D5ABB26-0587-4C30-8999-92F81FD0307C}</a:tableStyleId>
              </a:tblPr>
              <a:tblGrid>
                <a:gridCol w="1332160">
                  <a:extLst>
                    <a:ext uri="{9D8B030D-6E8A-4147-A177-3AD203B41FA5}">
                      <a16:colId val="216396786"/>
                    </a:ext>
                  </a:extLst>
                </a:gridCol>
                <a:gridCol w="202423">
                  <a:extLst>
                    <a:ext uri="{9D8B030D-6E8A-4147-A177-3AD203B41FA5}">
                      <a16:colId val="382253565"/>
                    </a:ext>
                  </a:extLst>
                </a:gridCol>
                <a:gridCol w="1701464">
                  <a:extLst>
                    <a:ext uri="{9D8B030D-6E8A-4147-A177-3AD203B41FA5}">
                      <a16:colId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r>
                        <a:rPr lang="es-CL" sz="1100"/>
                        <a:t>Plan de dotación y organigrama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solidFill>
                            <a:srgbClr val="EA7600"/>
                          </a:solidFill>
                        </a:rPr>
                        <a:t>Gerencia de Personas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t>Bandas de renta por grado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solidFill>
                            <a:srgbClr val="EA7600"/>
                          </a:solidFill>
                        </a:rPr>
                        <a:t>SG Compensaciones y Beneficios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584537">
                <a:tc>
                  <a:txBody>
                    <a:bodyPr/>
                    <a:lstStyle/>
                    <a:p>
                      <a:r>
                        <a:rPr lang="es-CL" sz="1100"/>
                        <a:t>Personas contratadas e incorporadas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t>Área Solicitante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t>Trabajadores habilitados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t>Jefatura Directa</a:t>
                      </a:r>
                    </a:p>
                    <a:p>
                      <a:r>
                        <a:rPr lang="es-CL" sz="1100"/>
                        <a:t>Gerente de Planta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t>Planes de desarrollo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t>Trabajador</a:t>
                      </a:r>
                    </a:p>
                    <a:p>
                      <a:r>
                        <a:rPr lang="es-CL" sz="1100"/>
                        <a:t>Jefatura Directa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r h="419691">
                <a:tc>
                  <a:txBody>
                    <a:bodyPr/>
                    <a:lstStyle/>
                    <a:p>
                      <a:r>
                        <a:rPr lang="es-CL" sz="1100"/>
                        <a:t>Ajustes de renta y beneficios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a:solidFill>
                            <a:srgbClr val="EA7600"/>
                          </a:solidFill>
                        </a:rPr>
                        <a:t>Remuneraciones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bl>
          </a:graphicData>
        </a:graphic>
      </p:graphicFrame>
      <p:sp>
        <p:nvSpPr>
          <p:cNvPr id="16" name="ee4pHeader1"/>
          <p:cNvSpPr>
            <a:spLocks noChangeArrowheads="1"/>
          </p:cNvSpPr>
          <p:nvPr/>
        </p:nvSpPr>
        <p:spPr bwMode="gray">
          <a:xfrm>
            <a:off x="4788000" y="21960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Necesidad estratégica y plan de dotación</a:t>
            </a:r>
            <a:endParaRPr kumimoji="0" lang="es-CL" sz="12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7" name="Oval 20"/>
          <p:cNvSpPr>
            <a:spLocks noChangeAspect="1" noChangeArrowheads="1"/>
          </p:cNvSpPr>
          <p:nvPr/>
        </p:nvSpPr>
        <p:spPr bwMode="auto">
          <a:xfrm>
            <a:off x="4572000" y="21780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18" name="ee4pHeader1"/>
          <p:cNvSpPr>
            <a:spLocks noChangeArrowheads="1"/>
          </p:cNvSpPr>
          <p:nvPr/>
        </p:nvSpPr>
        <p:spPr bwMode="gray">
          <a:xfrm>
            <a:off x="4788000" y="28008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Valoración de cargo y banda de renta</a:t>
            </a:r>
            <a:endParaRPr kumimoji="0" lang="es-CL" sz="12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9" name="Oval 20"/>
          <p:cNvSpPr>
            <a:spLocks noChangeAspect="1" noChangeArrowheads="1"/>
          </p:cNvSpPr>
          <p:nvPr/>
        </p:nvSpPr>
        <p:spPr bwMode="auto">
          <a:xfrm>
            <a:off x="4572000" y="27828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cxnSp>
        <p:nvCxnSpPr>
          <p:cNvPr id="20" name="Straight Arrow Connector 11"/>
          <p:cNvCxnSpPr>
            <a:cxnSpLocks/>
          </p:cNvCxnSpPr>
          <p:nvPr/>
        </p:nvCxnSpPr>
        <p:spPr>
          <a:xfrm>
            <a:off x="6215400" y="25200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ee4pHeader1"/>
          <p:cNvSpPr>
            <a:spLocks noChangeArrowheads="1"/>
          </p:cNvSpPr>
          <p:nvPr/>
        </p:nvSpPr>
        <p:spPr bwMode="gray">
          <a:xfrm>
            <a:off x="4788000" y="34056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Atracción y selección de personas</a:t>
            </a:r>
            <a:endParaRPr kumimoji="0" lang="es-CL" sz="12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22" name="Oval 20"/>
          <p:cNvSpPr>
            <a:spLocks noChangeAspect="1" noChangeArrowheads="1"/>
          </p:cNvSpPr>
          <p:nvPr/>
        </p:nvSpPr>
        <p:spPr bwMode="auto">
          <a:xfrm>
            <a:off x="4572000" y="33876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cxnSp>
        <p:nvCxnSpPr>
          <p:cNvPr id="23" name="Straight Arrow Connector 11"/>
          <p:cNvCxnSpPr>
            <a:cxnSpLocks/>
          </p:cNvCxnSpPr>
          <p:nvPr/>
        </p:nvCxnSpPr>
        <p:spPr>
          <a:xfrm>
            <a:off x="6215400" y="31248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ee4pHeader1"/>
          <p:cNvSpPr>
            <a:spLocks noChangeArrowheads="1"/>
          </p:cNvSpPr>
          <p:nvPr/>
        </p:nvSpPr>
        <p:spPr bwMode="gray">
          <a:xfrm>
            <a:off x="4788000" y="40104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Desarrollo organizacional</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25" name="Oval 20"/>
          <p:cNvSpPr>
            <a:spLocks noChangeAspect="1" noChangeArrowheads="1"/>
          </p:cNvSpPr>
          <p:nvPr/>
        </p:nvSpPr>
        <p:spPr bwMode="auto">
          <a:xfrm>
            <a:off x="4572000" y="39924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cxnSp>
        <p:nvCxnSpPr>
          <p:cNvPr id="26" name="Straight Arrow Connector 11"/>
          <p:cNvCxnSpPr>
            <a:cxnSpLocks/>
          </p:cNvCxnSpPr>
          <p:nvPr/>
        </p:nvCxnSpPr>
        <p:spPr>
          <a:xfrm>
            <a:off x="6215400" y="37296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ee4pHeader1"/>
          <p:cNvSpPr>
            <a:spLocks noChangeArrowheads="1"/>
          </p:cNvSpPr>
          <p:nvPr/>
        </p:nvSpPr>
        <p:spPr bwMode="gray">
          <a:xfrm>
            <a:off x="4788000" y="46152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Compensaciones y beneficios</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28" name="Oval 20"/>
          <p:cNvSpPr>
            <a:spLocks noChangeAspect="1" noChangeArrowheads="1"/>
          </p:cNvSpPr>
          <p:nvPr/>
        </p:nvSpPr>
        <p:spPr bwMode="auto">
          <a:xfrm>
            <a:off x="4572000" y="45972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E</a:t>
            </a:r>
          </a:p>
        </p:txBody>
      </p:sp>
      <p:cxnSp>
        <p:nvCxnSpPr>
          <p:cNvPr id="29" name="Straight Arrow Connector 11"/>
          <p:cNvCxnSpPr>
            <a:cxnSpLocks/>
          </p:cNvCxnSpPr>
          <p:nvPr/>
        </p:nvCxnSpPr>
        <p:spPr>
          <a:xfrm>
            <a:off x="6215400" y="43344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Connector 18"/>
          <p:cNvCxnSpPr>
            <a:cxnSpLocks/>
          </p:cNvCxnSpPr>
          <p:nvPr/>
        </p:nvCxnSpPr>
        <p:spPr>
          <a:xfrm>
            <a:off x="4338000" y="2048381"/>
            <a:ext cx="0" cy="2101673"/>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18"/>
          <p:cNvCxnSpPr>
            <a:cxnSpLocks/>
          </p:cNvCxnSpPr>
          <p:nvPr/>
        </p:nvCxnSpPr>
        <p:spPr>
          <a:xfrm>
            <a:off x="8082000" y="2038542"/>
            <a:ext cx="0" cy="2686211"/>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11"/>
          <p:cNvCxnSpPr>
            <a:cxnSpLocks/>
          </p:cNvCxnSpPr>
          <p:nvPr/>
        </p:nvCxnSpPr>
        <p:spPr>
          <a:xfrm>
            <a:off x="4338000" y="3567600"/>
            <a:ext cx="216000" cy="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11"/>
          <p:cNvCxnSpPr>
            <a:cxnSpLocks/>
          </p:cNvCxnSpPr>
          <p:nvPr/>
        </p:nvCxnSpPr>
        <p:spPr>
          <a:xfrm>
            <a:off x="7642800" y="3567600"/>
            <a:ext cx="421200" cy="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4" name="Table 64"/>
          <p:cNvGraphicFramePr>
            <a:graphicFrameLocks noGrp="1"/>
          </p:cNvGraphicFramePr>
          <p:nvPr/>
        </p:nvGraphicFramePr>
        <p:xfrm>
          <a:off x="756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Estratégica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5" name="Table 64"/>
          <p:cNvGraphicFramePr>
            <a:graphicFrameLocks noGrp="1"/>
          </p:cNvGraphicFramePr>
          <p:nvPr/>
        </p:nvGraphicFramePr>
        <p:xfrm>
          <a:off x="2304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6" name="Table 64"/>
          <p:cNvGraphicFramePr>
            <a:graphicFrameLocks noGrp="1"/>
          </p:cNvGraphicFramePr>
          <p:nvPr/>
        </p:nvGraphicFramePr>
        <p:xfrm>
          <a:off x="3852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Seguridad</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7" name="Table 64"/>
          <p:cNvGraphicFramePr>
            <a:graphicFrameLocks noGrp="1"/>
          </p:cNvGraphicFramePr>
          <p:nvPr/>
        </p:nvGraphicFramePr>
        <p:xfrm>
          <a:off x="5400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8" name="Table 64"/>
          <p:cNvGraphicFramePr>
            <a:graphicFrameLocks noGrp="1"/>
          </p:cNvGraphicFramePr>
          <p:nvPr/>
        </p:nvGraphicFramePr>
        <p:xfrm>
          <a:off x="6948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compras y contratos</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 Ficha resumen| </a:t>
            </a:r>
            <a:r>
              <a:rPr lang="es-CL"/>
              <a:t>Necesidad estratégica y plan de dotación</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900" b="1">
                <a:solidFill>
                  <a:srgbClr val="EA7600"/>
                </a:solidFill>
              </a:rPr>
              <a:t>Necesidad estratégica y plan de dotación</a:t>
            </a:r>
            <a:endParaRPr lang="es-CL" sz="9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Identificar las necesidades estratégicas de personas y traducirlas en un plan de dotación, organigrama y perfiles de cargo aprobados, que cubran los requerimientos actuales y futuros del negocio.</a:t>
            </a:r>
            <a:endParaRPr lang="es-ES" sz="12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EA7600"/>
                </a:solidFill>
                <a:ea typeface="Calibri"/>
                <a:cs typeface="Calibri"/>
              </a:rPr>
              <a:t>Gerencia de Personas</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rPr>
              <a:t>Plan estratégico del negocio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Estructura organizacional vigente</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Perfiles de cargo y familias de cargos</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Cambios de estructura y proyectos</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Plan de dotación con perfiles requeridos</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Organigrama, perfil de cargo y costo organigrama</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rgbClr val="EA7600"/>
                </a:solidFill>
                <a:ea typeface="Calibri"/>
                <a:cs typeface="Calibri"/>
              </a:rPr>
              <a:t>SuccessFactors (organigrama de posiciones)</a:t>
            </a:r>
            <a:endParaRPr lang="es-ES" sz="1400">
              <a:solidFill>
                <a:schemeClr val="tx1"/>
              </a:solidFill>
              <a:ea typeface="Calibri"/>
              <a:cs typeface="Calibri"/>
            </a:endParaRPr>
          </a:p>
          <a:p>
            <a:pPr marL="377825" lvl="1" indent="-251460">
              <a:buFont typeface="Trebuchet MS,Sans-Serif"/>
              <a:buChar char="•"/>
            </a:pPr>
            <a:r>
              <a:rPr lang="es-CL" sz="1400">
                <a:solidFill>
                  <a:srgbClr val="EA7600"/>
                </a:solidFill>
                <a:ea typeface="Calibri"/>
                <a:cs typeface="Calibri"/>
              </a:rPr>
              <a:t>Office 365</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Dotación real vs. plan de dotación</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Desviación del costo de organigrama</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Tree>
  </p:cSld>
  <p:clrMapOvr>
    <a:masterClrMapping/>
  </p:clrMapOvr>
  <mc:AlternateContent>
    <mc:Choice Requires="p14">
      <p:transition p14:dur="250">
        <p:fade/>
      </p:transition>
    </mc:Choice>
    <mc:Fallback>
      <p:transition>
        <p:fade/>
      </p:transition>
    </mc:Fallback>
  </mc:AlternateContent>
</p:sld>
</file>

<file path=ppt/slides/slide6.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A.</a:t>
            </a:r>
            <a:r>
              <a:rPr lang="es-CL" sz="2400">
                <a:solidFill>
                  <a:schemeClr val="tx1"/>
                </a:solidFill>
              </a:rPr>
              <a:t> SIPOC| </a:t>
            </a:r>
            <a:r>
              <a:rPr lang="es-CL" sz="2400"/>
              <a:t>Necesidad estratégica y plan de dotación</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404705"/>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Plan de dotación con perfiles requeridos</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Gerencia de Personas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Organigrama, perfil y costo organigrama</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 B</a:t>
                      </a:r>
                    </a:p>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 C</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Identificar las necesidades estratégicas de personas y traducirlas en un plan de dotación, organigrama y perfiles de cargo aprobados, que cubran los requerimientos actuales y futuros del negocio.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Necesidad estratégica y plan de dotación</a:t>
            </a:r>
            <a:endParaRPr lang="es-CL" sz="9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727631"/>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Gerencia General</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Plan estratégico del negocio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Líderes de área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Cambios de estructura y proyectos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SG Compensaciones y Beneficios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Familias de cargos y niveles de grado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000">
                <a:solidFill>
                  <a:srgbClr val="696158"/>
                </a:solidFill>
                <a:latin typeface="Calibri"/>
              </a:rPr>
              <a:t>Identificar necesidades estratégicas de RRHH</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A.1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Estimar dotación futura</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A.2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ee4pHeader1"/>
          <p:cNvSpPr>
            <a:spLocks noChangeArrowheads="1"/>
          </p:cNvSpPr>
          <p:nvPr/>
        </p:nvSpPr>
        <p:spPr bwMode="gray">
          <a:xfrm>
            <a:off x="5040000" y="29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Diseñar plan de dotación / organigrama</a:t>
            </a:r>
          </a:p>
        </p:txBody>
      </p:sp>
      <p:sp>
        <p:nvSpPr>
          <p:cNvPr id="23" name="Oval 20"/>
          <p:cNvSpPr>
            <a:spLocks noChangeAspect="1" noChangeArrowheads="1"/>
          </p:cNvSpPr>
          <p:nvPr/>
        </p:nvSpPr>
        <p:spPr bwMode="auto">
          <a:xfrm>
            <a:off x="4752000" y="29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A.3</a:t>
            </a:r>
          </a:p>
        </p:txBody>
      </p:sp>
      <p:cxnSp>
        <p:nvCxnSpPr>
          <p:cNvPr id="24" name="Straight Arrow Connector 11"/>
          <p:cNvCxnSpPr>
            <a:cxnSpLocks/>
          </p:cNvCxnSpPr>
          <p:nvPr/>
        </p:nvCxnSpPr>
        <p:spPr>
          <a:xfrm>
            <a:off x="6120000" y="28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10"/>
          <p:cNvCxnSpPr>
            <a:cxnSpLocks/>
          </p:cNvCxnSpPr>
          <p:nvPr/>
        </p:nvCxnSpPr>
        <p:spPr>
          <a:xfrm>
            <a:off x="4320000" y="2089502"/>
            <a:ext cx="0" cy="1259631"/>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10"/>
          <p:cNvCxnSpPr>
            <a:cxnSpLocks/>
          </p:cNvCxnSpPr>
          <p:nvPr/>
        </p:nvCxnSpPr>
        <p:spPr>
          <a:xfrm>
            <a:off x="7812000" y="2075078"/>
            <a:ext cx="0" cy="828705"/>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11"/>
          <p:cNvCxnSpPr>
            <a:cxnSpLocks/>
          </p:cNvCxnSpPr>
          <p:nvPr/>
        </p:nvCxnSpPr>
        <p:spPr>
          <a:xfrm>
            <a:off x="4320000" y="2700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11"/>
          <p:cNvCxnSpPr>
            <a:cxnSpLocks/>
          </p:cNvCxnSpPr>
          <p:nvPr/>
        </p:nvCxnSpPr>
        <p:spPr>
          <a:xfrm>
            <a:off x="7200000" y="2700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9"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Estratégica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0"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1" name="Table 29"/>
          <p:cNvGraphicFramePr>
            <a:graphicFrameLocks noGrp="1"/>
          </p:cNvGraphicFramePr>
          <p:nvPr/>
        </p:nvGraphicFramePr>
        <p:xfrm>
          <a:off x="3852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7.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A.1 Flujograma subproceso| </a:t>
            </a:r>
            <a:r>
              <a:rPr lang="es-CL">
                <a:solidFill>
                  <a:srgbClr val="BFB800"/>
                </a:solidFill>
              </a:rPr>
              <a:t>Identificar necesidades estratégicas de RRHH</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Identificar las necesidades estratégicas de personas a partir de la estrategia del negocio, como base para estimar la dotación futura.</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Gestión Estratégica</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Office 365</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Necesidades estratégicas validadas en plazo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Gerencia de Personas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Identificar necesidades estratégicas de RRHH</a:t>
            </a:r>
          </a:p>
        </p:txBody>
      </p:sp>
      <p:sp>
        <p:nvSpPr>
          <p:cNvPr id="23" name="Oval 34"/>
          <p:cNvSpPr/>
          <p:nvPr/>
        </p:nvSpPr>
        <p:spPr>
          <a:xfrm>
            <a:off x="1859428"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Plan estratégico del negocio</a:t>
            </a:r>
          </a:p>
        </p:txBody>
      </p:sp>
      <p:sp>
        <p:nvSpPr>
          <p:cNvPr id="24"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Identificar necesidades estratégicas de RRHH</a:t>
            </a:r>
          </a:p>
        </p:txBody>
      </p:sp>
      <p:sp>
        <p:nvSpPr>
          <p:cNvPr id="25"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A.1.1</a:t>
            </a:r>
          </a:p>
        </p:txBody>
      </p:sp>
      <p:sp>
        <p:nvSpPr>
          <p:cNvPr id="26" name="Oval 15"/>
          <p:cNvSpPr/>
          <p:nvPr/>
        </p:nvSpPr>
        <p:spPr>
          <a:xfrm>
            <a:off x="7142540"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Necesidades estratégicas de RRHH identificadas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27" name="Conector recto de flecha 47"/>
          <p:cNvCxnSpPr>
            <a:cxnSpLocks/>
          </p:cNvCxnSpPr>
          <p:nvPr/>
        </p:nvCxnSpPr>
        <p:spPr>
          <a:xfrm>
            <a:off x="2939428" y="3612539"/>
            <a:ext cx="1633556"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47"/>
          <p:cNvCxnSpPr>
            <a:cxnSpLocks/>
          </p:cNvCxnSpPr>
          <p:nvPr/>
        </p:nvCxnSpPr>
        <p:spPr>
          <a:xfrm>
            <a:off x="5508984" y="3612539"/>
            <a:ext cx="1633556"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.1 Actividades y tareas| </a:t>
            </a:r>
            <a:r>
              <a:rPr lang="es-CL" sz="2400"/>
              <a:t>Identificar necesidades estratégicas de RRHH</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091850"/>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Identificar necesidades estratégicas de RRHH</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Revisar la estrategia y los objetivos del negocio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Gerencia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Identificar los requerimientos de personas derivados de la estrategia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Gerencia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Identificar necesidades estratégicas de RRHH</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7" name="Rectangle: Rounded Corners 20"/>
          <p:cNvSpPr/>
          <p:nvPr/>
        </p:nvSpPr>
        <p:spPr>
          <a:xfrm>
            <a:off x="363262" y="18453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A.1.1</a:t>
            </a:r>
          </a:p>
        </p:txBody>
      </p:sp>
    </p:spTree>
  </p:cSld>
  <p:clrMapOvr>
    <a:masterClrMapping/>
  </p:clrMapOvr>
  <mc:AlternateContent>
    <mc:Choice Requires="p14">
      <p:transition p14:dur="250">
        <p:fade/>
      </p:transition>
    </mc:Choice>
    <mc:Fallback>
      <p:transition>
        <p:fade/>
      </p:transition>
    </mc:Fallback>
  </mc:AlternateContent>
</p:sld>
</file>

<file path=ppt/slides/slide9.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A.2 Flujograma subproceso| </a:t>
            </a:r>
            <a:r>
              <a:rPr lang="es-CL">
                <a:solidFill>
                  <a:srgbClr val="BFB800"/>
                </a:solidFill>
              </a:rPr>
              <a:t>Estimar dotación futura</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Estimar la dotación futura requerida a partir de los perfiles de cargo, la dotación actual, la estructura vigente y los proyectos del negocio.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Líderes de área</a:t>
              </a:r>
            </a:p>
            <a:p>
              <a:pPr marL="323850" lvl="1" indent="-215900"/>
              <a:r>
                <a:rPr lang="es-CL" sz="1200">
                  <a:solidFill>
                    <a:srgbClr val="EA7600"/>
                  </a:solidFill>
                  <a:latin typeface="+mn-lt"/>
                  <a:ea typeface="Calibri"/>
                  <a:cs typeface="Calibri"/>
                </a:rPr>
                <a:t>SG Compensaciones y Beneficios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rgbClr val="EA7600"/>
                  </a:solidFill>
                  <a:latin typeface="+mn-lt"/>
                  <a:ea typeface="Calibri"/>
                  <a:cs typeface="Calibri"/>
                </a:rPr>
                <a:t>Office 365</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Dotación estimada vs. real</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Gerencia de Personas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Estimar dotación futura</a:t>
            </a:r>
          </a:p>
        </p:txBody>
      </p:sp>
      <p:sp>
        <p:nvSpPr>
          <p:cNvPr id="23" name="Oval 34"/>
          <p:cNvSpPr/>
          <p:nvPr/>
        </p:nvSpPr>
        <p:spPr>
          <a:xfrm>
            <a:off x="1199039" y="23940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Necesidades estratégicas de RRHH</a:t>
            </a:r>
          </a:p>
        </p:txBody>
      </p:sp>
      <p:sp>
        <p:nvSpPr>
          <p:cNvPr id="24" name="Rectangle: Rounded Corners 39"/>
          <p:cNvSpPr/>
          <p:nvPr/>
        </p:nvSpPr>
        <p:spPr>
          <a:xfrm>
            <a:off x="2591817"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Recopilar información de perfiles de cargo</a:t>
            </a:r>
          </a:p>
        </p:txBody>
      </p:sp>
      <p:sp>
        <p:nvSpPr>
          <p:cNvPr id="25" name="Rectangle: Rounded Corners 40"/>
          <p:cNvSpPr/>
          <p:nvPr/>
        </p:nvSpPr>
        <p:spPr>
          <a:xfrm>
            <a:off x="2852817"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A.2.1</a:t>
            </a:r>
          </a:p>
        </p:txBody>
      </p:sp>
      <p:sp>
        <p:nvSpPr>
          <p:cNvPr id="26" name="Rectangle: Rounded Corners 39"/>
          <p:cNvSpPr/>
          <p:nvPr/>
        </p:nvSpPr>
        <p:spPr>
          <a:xfrm>
            <a:off x="3912595"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Gestionar familias de cargos y niveles de grado</a:t>
            </a:r>
          </a:p>
        </p:txBody>
      </p:sp>
      <p:sp>
        <p:nvSpPr>
          <p:cNvPr id="27" name="Rectangle: Rounded Corners 40"/>
          <p:cNvSpPr/>
          <p:nvPr/>
        </p:nvSpPr>
        <p:spPr>
          <a:xfrm>
            <a:off x="4173595"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A.2.2</a:t>
            </a:r>
          </a:p>
        </p:txBody>
      </p:sp>
      <p:sp>
        <p:nvSpPr>
          <p:cNvPr id="28" name="Rectangle: Rounded Corners 39"/>
          <p:cNvSpPr/>
          <p:nvPr/>
        </p:nvSpPr>
        <p:spPr>
          <a:xfrm>
            <a:off x="5233373"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Evaluar la dotación actual</a:t>
            </a:r>
          </a:p>
        </p:txBody>
      </p:sp>
      <p:sp>
        <p:nvSpPr>
          <p:cNvPr id="29" name="Rectangle: Rounded Corners 40"/>
          <p:cNvSpPr/>
          <p:nvPr/>
        </p:nvSpPr>
        <p:spPr>
          <a:xfrm>
            <a:off x="5494373"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A.2.3</a:t>
            </a:r>
          </a:p>
        </p:txBody>
      </p:sp>
      <p:sp>
        <p:nvSpPr>
          <p:cNvPr id="30" name="Rectangle: Rounded Corners 39"/>
          <p:cNvSpPr/>
          <p:nvPr/>
        </p:nvSpPr>
        <p:spPr>
          <a:xfrm>
            <a:off x="6554151"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Validar la estructura organizacional vigente</a:t>
            </a:r>
          </a:p>
        </p:txBody>
      </p:sp>
      <p:sp>
        <p:nvSpPr>
          <p:cNvPr id="31" name="Rectangle: Rounded Corners 40"/>
          <p:cNvSpPr/>
          <p:nvPr/>
        </p:nvSpPr>
        <p:spPr>
          <a:xfrm>
            <a:off x="6815151"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A.2.4</a:t>
            </a:r>
          </a:p>
        </p:txBody>
      </p:sp>
      <p:sp>
        <p:nvSpPr>
          <p:cNvPr id="32" name="Rectangle: Rounded Corners 39"/>
          <p:cNvSpPr/>
          <p:nvPr/>
        </p:nvSpPr>
        <p:spPr>
          <a:xfrm>
            <a:off x="7874929"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Analizar cambios de estructura y proyectos</a:t>
            </a:r>
          </a:p>
        </p:txBody>
      </p:sp>
      <p:sp>
        <p:nvSpPr>
          <p:cNvPr id="33" name="Rectangle: Rounded Corners 40"/>
          <p:cNvSpPr/>
          <p:nvPr/>
        </p:nvSpPr>
        <p:spPr>
          <a:xfrm>
            <a:off x="8135929"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A.2.5</a:t>
            </a:r>
          </a:p>
        </p:txBody>
      </p:sp>
      <p:sp>
        <p:nvSpPr>
          <p:cNvPr id="34" name="Rectangle: Rounded Corners 39"/>
          <p:cNvSpPr/>
          <p:nvPr/>
        </p:nvSpPr>
        <p:spPr>
          <a:xfrm>
            <a:off x="7874929" y="4266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Estimar dotación futura según proyecciones</a:t>
            </a:r>
          </a:p>
        </p:txBody>
      </p:sp>
      <p:sp>
        <p:nvSpPr>
          <p:cNvPr id="35" name="Rectangle: Rounded Corners 40"/>
          <p:cNvSpPr/>
          <p:nvPr/>
        </p:nvSpPr>
        <p:spPr>
          <a:xfrm>
            <a:off x="8135929" y="4168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A.2.6</a:t>
            </a:r>
          </a:p>
        </p:txBody>
      </p:sp>
      <p:sp>
        <p:nvSpPr>
          <p:cNvPr id="36" name="Oval 15"/>
          <p:cNvSpPr/>
          <p:nvPr/>
        </p:nvSpPr>
        <p:spPr>
          <a:xfrm>
            <a:off x="6482151" y="42660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Dotación futura estimada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7" name="Conector recto de flecha 47"/>
          <p:cNvCxnSpPr>
            <a:cxnSpLocks/>
          </p:cNvCxnSpPr>
          <p:nvPr/>
        </p:nvCxnSpPr>
        <p:spPr>
          <a:xfrm>
            <a:off x="2279039" y="2718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47"/>
          <p:cNvCxnSpPr>
            <a:cxnSpLocks/>
          </p:cNvCxnSpPr>
          <p:nvPr/>
        </p:nvCxnSpPr>
        <p:spPr>
          <a:xfrm>
            <a:off x="3527817"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47"/>
          <p:cNvCxnSpPr>
            <a:cxnSpLocks/>
          </p:cNvCxnSpPr>
          <p:nvPr/>
        </p:nvCxnSpPr>
        <p:spPr>
          <a:xfrm>
            <a:off x="4848595"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47"/>
          <p:cNvCxnSpPr>
            <a:cxnSpLocks/>
          </p:cNvCxnSpPr>
          <p:nvPr/>
        </p:nvCxnSpPr>
        <p:spPr>
          <a:xfrm>
            <a:off x="6169373"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7"/>
          <p:cNvCxnSpPr>
            <a:cxnSpLocks/>
          </p:cNvCxnSpPr>
          <p:nvPr/>
        </p:nvCxnSpPr>
        <p:spPr>
          <a:xfrm>
            <a:off x="7490151"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7"/>
          <p:cNvCxnSpPr>
            <a:cxnSpLocks/>
          </p:cNvCxnSpPr>
          <p:nvPr/>
        </p:nvCxnSpPr>
        <p:spPr>
          <a:xfrm>
            <a:off x="8342929" y="3042039"/>
            <a:ext cx="0" cy="1224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7"/>
          <p:cNvCxnSpPr>
            <a:cxnSpLocks/>
          </p:cNvCxnSpPr>
          <p:nvPr/>
        </p:nvCxnSpPr>
        <p:spPr>
          <a:xfrm flipH="1">
            <a:off x="7562151" y="4590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10.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.2 Actividades y tareas| </a:t>
            </a:r>
            <a:r>
              <a:rPr lang="es-CL" sz="2400"/>
              <a:t>Estimar dotación futura</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90021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Recopilar información de perfiles de cargo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Recopilar los perfiles de cargo vigentes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Gestionar familias de cargos y niveles de grado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Actualizar familias de cargos y niveles de grado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Evaluar la dotación actual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Levantar la dotación actual por área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Validar la estructura organizacional vigente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Validar la estructura con los líderes de área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Analizar cambios de estructura y proyectos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Identificar cambios de estructura y proyectos que impactan la dotación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Estimar dotación futura según proyecciones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Proyectar la dotación requerida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Estimar dotación futura</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7" name="Rectangle: Rounded Corners 20"/>
          <p:cNvSpPr/>
          <p:nvPr/>
        </p:nvSpPr>
        <p:spPr>
          <a:xfrm>
            <a:off x="363262" y="17377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A.2.1</a:t>
            </a:r>
          </a:p>
        </p:txBody>
      </p:sp>
      <p:sp>
        <p:nvSpPr>
          <p:cNvPr id="8" name="Rectangle: Rounded Corners 20"/>
          <p:cNvSpPr/>
          <p:nvPr/>
        </p:nvSpPr>
        <p:spPr>
          <a:xfrm>
            <a:off x="363262" y="21754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A.2.2</a:t>
            </a:r>
          </a:p>
        </p:txBody>
      </p:sp>
      <p:sp>
        <p:nvSpPr>
          <p:cNvPr id="9" name="Rectangle: Rounded Corners 20"/>
          <p:cNvSpPr/>
          <p:nvPr/>
        </p:nvSpPr>
        <p:spPr>
          <a:xfrm>
            <a:off x="363262" y="253071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A.2.3</a:t>
            </a:r>
          </a:p>
        </p:txBody>
      </p:sp>
      <p:sp>
        <p:nvSpPr>
          <p:cNvPr id="10" name="Rectangle: Rounded Corners 20"/>
          <p:cNvSpPr/>
          <p:nvPr/>
        </p:nvSpPr>
        <p:spPr>
          <a:xfrm>
            <a:off x="363262" y="288598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A.2.4</a:t>
            </a:r>
          </a:p>
        </p:txBody>
      </p:sp>
      <p:sp>
        <p:nvSpPr>
          <p:cNvPr id="11" name="Rectangle: Rounded Corners 20"/>
          <p:cNvSpPr/>
          <p:nvPr/>
        </p:nvSpPr>
        <p:spPr>
          <a:xfrm>
            <a:off x="363262" y="332368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A.2.5</a:t>
            </a:r>
          </a:p>
        </p:txBody>
      </p:sp>
      <p:sp>
        <p:nvSpPr>
          <p:cNvPr id="12" name="Rectangle: Rounded Corners 20"/>
          <p:cNvSpPr/>
          <p:nvPr/>
        </p:nvSpPr>
        <p:spPr>
          <a:xfrm>
            <a:off x="363262" y="376137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A.2.6</a:t>
            </a:r>
          </a:p>
        </p:txBody>
      </p:sp>
    </p:spTree>
  </p:cSld>
  <p:clrMapOvr>
    <a:masterClrMapping/>
  </p:clrMapOvr>
  <mc:AlternateContent>
    <mc:Choice Requires="p14">
      <p:transition p14:dur="250">
        <p:fade/>
      </p:transition>
    </mc:Choice>
    <mc:Fallback>
      <p:transition>
        <p:fade/>
      </p:transition>
    </mc:Fallback>
  </mc:AlternateContent>
</p:sld>
</file>

<file path=ppt/slides/slide11.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A.3 Flujograma subproceso| </a:t>
            </a:r>
            <a:r>
              <a:rPr lang="es-CL">
                <a:solidFill>
                  <a:srgbClr val="BFB800"/>
                </a:solidFill>
              </a:rPr>
              <a:t>Diseñar plan de dotación / organigrama</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Diseñar y validar el plan de dotación con los líderes de área y emitir el organigrama, perfil de cargo y costo organigrama aprobados por la Gerencia de Personas.</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Líderes de área</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rgbClr val="EA7600"/>
                  </a:solidFill>
                  <a:latin typeface="+mn-lt"/>
                  <a:ea typeface="Calibri"/>
                  <a:cs typeface="Calibri"/>
                </a:rPr>
                <a:t>Office 365</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Plan de dotación aprobado en plazo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Gerencia de Personas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Diseñar plan de dotación / organigrama</a:t>
            </a:r>
          </a:p>
        </p:txBody>
      </p:sp>
      <p:sp>
        <p:nvSpPr>
          <p:cNvPr id="23" name="Oval 34"/>
          <p:cNvSpPr/>
          <p:nvPr/>
        </p:nvSpPr>
        <p:spPr>
          <a:xfrm>
            <a:off x="1159650" y="3288539"/>
            <a:ext cx="970095"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Dotación futura estimada</a:t>
            </a:r>
          </a:p>
        </p:txBody>
      </p:sp>
      <p:sp>
        <p:nvSpPr>
          <p:cNvPr id="24" name="Rectangle: Rounded Corners 39"/>
          <p:cNvSpPr/>
          <p:nvPr/>
        </p:nvSpPr>
        <p:spPr>
          <a:xfrm>
            <a:off x="2308793"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Diseñar plan de dotación con perfiles requeridos</a:t>
            </a:r>
          </a:p>
        </p:txBody>
      </p:sp>
      <p:sp>
        <p:nvSpPr>
          <p:cNvPr id="25" name="Rectangle: Rounded Corners 40"/>
          <p:cNvSpPr/>
          <p:nvPr/>
        </p:nvSpPr>
        <p:spPr>
          <a:xfrm>
            <a:off x="2569793"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A.3.1</a:t>
            </a:r>
          </a:p>
        </p:txBody>
      </p:sp>
      <p:sp>
        <p:nvSpPr>
          <p:cNvPr id="26" name="Rectangle: Rounded Corners 39"/>
          <p:cNvSpPr/>
          <p:nvPr/>
        </p:nvSpPr>
        <p:spPr>
          <a:xfrm>
            <a:off x="3440889"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Validar plan con líderes de área</a:t>
            </a:r>
          </a:p>
        </p:txBody>
      </p:sp>
      <p:sp>
        <p:nvSpPr>
          <p:cNvPr id="27" name="Rectangle: Rounded Corners 40"/>
          <p:cNvSpPr/>
          <p:nvPr/>
        </p:nvSpPr>
        <p:spPr>
          <a:xfrm>
            <a:off x="3701889"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A.3.2</a:t>
            </a:r>
          </a:p>
        </p:txBody>
      </p:sp>
      <p:sp>
        <p:nvSpPr>
          <p:cNvPr id="28"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Ajustar según feedback de líderes</a:t>
            </a:r>
          </a:p>
        </p:txBody>
      </p:sp>
      <p:sp>
        <p:nvSpPr>
          <p:cNvPr id="29"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A.3.3</a:t>
            </a:r>
          </a:p>
        </p:txBody>
      </p:sp>
      <p:sp>
        <p:nvSpPr>
          <p:cNvPr id="30" name="Rombo 43"/>
          <p:cNvSpPr/>
          <p:nvPr/>
        </p:nvSpPr>
        <p:spPr>
          <a:xfrm>
            <a:off x="5705079"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¿Aprobado por Gerencia de Personas?</a:t>
            </a:r>
          </a:p>
        </p:txBody>
      </p:sp>
      <p:sp>
        <p:nvSpPr>
          <p:cNvPr id="31" name="Rectangle: Rounded Corners 39"/>
          <p:cNvSpPr/>
          <p:nvPr/>
        </p:nvSpPr>
        <p:spPr>
          <a:xfrm>
            <a:off x="6837175"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Emitir organigrama, perfil de cargo y costo organigrama</a:t>
            </a:r>
          </a:p>
        </p:txBody>
      </p:sp>
      <p:sp>
        <p:nvSpPr>
          <p:cNvPr id="32" name="Rectangle: Rounded Corners 40"/>
          <p:cNvSpPr/>
          <p:nvPr/>
        </p:nvSpPr>
        <p:spPr>
          <a:xfrm>
            <a:off x="7098175"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A.3.4</a:t>
            </a:r>
          </a:p>
        </p:txBody>
      </p:sp>
      <p:sp>
        <p:nvSpPr>
          <p:cNvPr id="33" name="Oval 15"/>
          <p:cNvSpPr/>
          <p:nvPr/>
        </p:nvSpPr>
        <p:spPr>
          <a:xfrm>
            <a:off x="7952223" y="3288539"/>
            <a:ext cx="970095"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Organigrama, perfil de cargo y costo organigrama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4" name="Conector recto de flecha 47"/>
          <p:cNvCxnSpPr>
            <a:cxnSpLocks/>
          </p:cNvCxnSpPr>
          <p:nvPr/>
        </p:nvCxnSpPr>
        <p:spPr>
          <a:xfrm>
            <a:off x="2129745" y="3612539"/>
            <a:ext cx="17904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3244793"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47"/>
          <p:cNvCxnSpPr>
            <a:cxnSpLocks/>
          </p:cNvCxnSpPr>
          <p:nvPr/>
        </p:nvCxnSpPr>
        <p:spPr>
          <a:xfrm>
            <a:off x="4376889"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47"/>
          <p:cNvCxnSpPr>
            <a:cxnSpLocks/>
          </p:cNvCxnSpPr>
          <p:nvPr/>
        </p:nvCxnSpPr>
        <p:spPr>
          <a:xfrm>
            <a:off x="5508984"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47"/>
          <p:cNvCxnSpPr>
            <a:cxnSpLocks/>
          </p:cNvCxnSpPr>
          <p:nvPr/>
        </p:nvCxnSpPr>
        <p:spPr>
          <a:xfrm>
            <a:off x="6641079"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9" name="CuadroTexto 176"/>
          <p:cNvSpPr txBox="1"/>
          <p:nvPr/>
        </p:nvSpPr>
        <p:spPr>
          <a:xfrm>
            <a:off x="6659079"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40" name="Conector recto de flecha 47"/>
          <p:cNvCxnSpPr>
            <a:cxnSpLocks/>
          </p:cNvCxnSpPr>
          <p:nvPr/>
        </p:nvCxnSpPr>
        <p:spPr>
          <a:xfrm>
            <a:off x="7773175" y="3612539"/>
            <a:ext cx="17904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1" name="CuadroTexto 176"/>
          <p:cNvSpPr txBox="1"/>
          <p:nvPr/>
        </p:nvSpPr>
        <p:spPr>
          <a:xfrm>
            <a:off x="5571032" y="4296539"/>
            <a:ext cx="1204095" cy="468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EA7600"/>
                </a:solidFill>
                <a:effectLst/>
                <a:uLnTx/>
                <a:uFillTx/>
                <a:latin typeface="Calibri"/>
                <a:ea typeface="+mn-ea"/>
                <a:cs typeface="+mn-cs"/>
              </a:rPr>
              <a:t>Vuelve a A.3.3</a:t>
            </a:r>
          </a:p>
        </p:txBody>
      </p:sp>
      <p:cxnSp>
        <p:nvCxnSpPr>
          <p:cNvPr id="42" name="Conector recto de flecha 47"/>
          <p:cNvCxnSpPr>
            <a:cxnSpLocks/>
          </p:cNvCxnSpPr>
          <p:nvPr/>
        </p:nvCxnSpPr>
        <p:spPr>
          <a:xfrm>
            <a:off x="6173079"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3" name="CuadroTexto 176"/>
          <p:cNvSpPr txBox="1"/>
          <p:nvPr/>
        </p:nvSpPr>
        <p:spPr>
          <a:xfrm>
            <a:off x="6209079"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1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.3 Actividades y tareas| </a:t>
            </a:r>
            <a:r>
              <a:rPr lang="es-CL" sz="2400"/>
              <a:t>Diseñar plan de dotación / organigrama</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85998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Diseñar plan de dotación con perfiles requeridos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Elaborar propuesta de plan de dotación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Validar plan con líderes de área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Presentar el plan a los líderes de área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Ajustar según feedback de líderes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Incorporar observaciones de los líderes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Emitir organigrama, perfil de cargo y costo organigrama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Emitir y comunicar los documentos aprobados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Diseñar plan de dotación / organigrama</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7" name="Rectangle: Rounded Corners 20"/>
          <p:cNvSpPr/>
          <p:nvPr/>
        </p:nvSpPr>
        <p:spPr>
          <a:xfrm>
            <a:off x="363262" y="17377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A.3.1</a:t>
            </a:r>
          </a:p>
        </p:txBody>
      </p:sp>
      <p:sp>
        <p:nvSpPr>
          <p:cNvPr id="8" name="Rectangle: Rounded Corners 20"/>
          <p:cNvSpPr/>
          <p:nvPr/>
        </p:nvSpPr>
        <p:spPr>
          <a:xfrm>
            <a:off x="363262" y="209302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A.3.2</a:t>
            </a:r>
          </a:p>
        </p:txBody>
      </p:sp>
      <p:sp>
        <p:nvSpPr>
          <p:cNvPr id="9" name="Rectangle: Rounded Corners 20"/>
          <p:cNvSpPr/>
          <p:nvPr/>
        </p:nvSpPr>
        <p:spPr>
          <a:xfrm>
            <a:off x="363262" y="236587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A.3.3</a:t>
            </a:r>
          </a:p>
        </p:txBody>
      </p:sp>
      <p:sp>
        <p:nvSpPr>
          <p:cNvPr id="10" name="Rectangle: Rounded Corners 20"/>
          <p:cNvSpPr/>
          <p:nvPr/>
        </p:nvSpPr>
        <p:spPr>
          <a:xfrm>
            <a:off x="363262" y="27211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A.3.4</a:t>
            </a:r>
          </a:p>
        </p:txBody>
      </p:sp>
    </p:spTree>
  </p:cSld>
  <p:clrMapOvr>
    <a:masterClrMapping/>
  </p:clrMapOvr>
  <mc:AlternateContent>
    <mc:Choice Requires="p14">
      <p:transition p14:dur="250">
        <p:fade/>
      </p:transition>
    </mc:Choice>
    <mc:Fallback>
      <p:transition>
        <p:fade/>
      </p:transition>
    </mc:Fallback>
  </mc:AlternateContent>
</p:sld>
</file>

<file path=ppt/slides/slide13.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Personas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4" name="Rectangle 7"/>
          <p:cNvSpPr/>
          <p:nvPr/>
        </p:nvSpPr>
        <p:spPr>
          <a:xfrm>
            <a:off x="15384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5" name="Oval 20"/>
          <p:cNvSpPr>
            <a:spLocks noChangeAspect="1" noChangeArrowheads="1"/>
          </p:cNvSpPr>
          <p:nvPr/>
        </p:nvSpPr>
        <p:spPr bwMode="auto">
          <a:xfrm>
            <a:off x="22584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1538460" y="223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Identificar necesidades estratégicas de RRHH</a:t>
            </a:r>
          </a:p>
        </p:txBody>
      </p:sp>
      <p:sp>
        <p:nvSpPr>
          <p:cNvPr id="7" name="Rectangle: Rounded Corners 37"/>
          <p:cNvSpPr/>
          <p:nvPr/>
        </p:nvSpPr>
        <p:spPr>
          <a:xfrm>
            <a:off x="19884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15384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Estimar dotación futura</a:t>
            </a:r>
          </a:p>
        </p:txBody>
      </p:sp>
      <p:sp>
        <p:nvSpPr>
          <p:cNvPr id="9" name="Rectangle: Rounded Corners 37"/>
          <p:cNvSpPr/>
          <p:nvPr/>
        </p:nvSpPr>
        <p:spPr>
          <a:xfrm>
            <a:off x="19884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36"/>
          <p:cNvSpPr/>
          <p:nvPr/>
        </p:nvSpPr>
        <p:spPr>
          <a:xfrm>
            <a:off x="15384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Diseñar plan de dotación / organigrama</a:t>
            </a:r>
          </a:p>
        </p:txBody>
      </p:sp>
      <p:sp>
        <p:nvSpPr>
          <p:cNvPr id="11" name="Rectangle: Rounded Corners 37"/>
          <p:cNvSpPr/>
          <p:nvPr/>
        </p:nvSpPr>
        <p:spPr>
          <a:xfrm>
            <a:off x="19884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A.3</a:t>
            </a:r>
          </a:p>
        </p:txBody>
      </p:sp>
      <p:sp>
        <p:nvSpPr>
          <p:cNvPr id="12" name="Rectangle 7"/>
          <p:cNvSpPr/>
          <p:nvPr/>
        </p:nvSpPr>
        <p:spPr>
          <a:xfrm>
            <a:off x="33870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13" name="Oval 20"/>
          <p:cNvSpPr>
            <a:spLocks noChangeAspect="1" noChangeArrowheads="1"/>
          </p:cNvSpPr>
          <p:nvPr/>
        </p:nvSpPr>
        <p:spPr bwMode="auto">
          <a:xfrm>
            <a:off x="41070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4" name="Rectangle 36"/>
          <p:cNvSpPr/>
          <p:nvPr/>
        </p:nvSpPr>
        <p:spPr>
          <a:xfrm>
            <a:off x="33870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Benchmark de remuneración</a:t>
            </a:r>
          </a:p>
        </p:txBody>
      </p:sp>
      <p:sp>
        <p:nvSpPr>
          <p:cNvPr id="15" name="Rectangle: Rounded Corners 37"/>
          <p:cNvSpPr/>
          <p:nvPr/>
        </p:nvSpPr>
        <p:spPr>
          <a:xfrm>
            <a:off x="38370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6" name="Rectangle 36"/>
          <p:cNvSpPr/>
          <p:nvPr/>
        </p:nvSpPr>
        <p:spPr>
          <a:xfrm>
            <a:off x="33870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Valoración del cargo y definición de bandas salariales</a:t>
            </a:r>
          </a:p>
        </p:txBody>
      </p:sp>
      <p:sp>
        <p:nvSpPr>
          <p:cNvPr id="17" name="Rectangle: Rounded Corners 37"/>
          <p:cNvSpPr/>
          <p:nvPr/>
        </p:nvSpPr>
        <p:spPr>
          <a:xfrm>
            <a:off x="38370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8" name="Rectangle 36"/>
          <p:cNvSpPr/>
          <p:nvPr/>
        </p:nvSpPr>
        <p:spPr>
          <a:xfrm>
            <a:off x="33870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Administración periódica del marco de compensación</a:t>
            </a:r>
          </a:p>
        </p:txBody>
      </p:sp>
      <p:sp>
        <p:nvSpPr>
          <p:cNvPr id="19" name="Rectangle: Rounded Corners 37"/>
          <p:cNvSpPr/>
          <p:nvPr/>
        </p:nvSpPr>
        <p:spPr>
          <a:xfrm>
            <a:off x="38370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20" name="Rectangle 36"/>
          <p:cNvSpPr/>
          <p:nvPr/>
        </p:nvSpPr>
        <p:spPr>
          <a:xfrm>
            <a:off x="33870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Gobierno y publicación del marco de compensaciones</a:t>
            </a:r>
          </a:p>
        </p:txBody>
      </p:sp>
      <p:sp>
        <p:nvSpPr>
          <p:cNvPr id="21" name="Rectangle: Rounded Corners 37"/>
          <p:cNvSpPr/>
          <p:nvPr/>
        </p:nvSpPr>
        <p:spPr>
          <a:xfrm>
            <a:off x="38370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B.4</a:t>
            </a:r>
          </a:p>
        </p:txBody>
      </p:sp>
      <p:sp>
        <p:nvSpPr>
          <p:cNvPr id="22" name="Rectangle 7"/>
          <p:cNvSpPr/>
          <p:nvPr/>
        </p:nvSpPr>
        <p:spPr>
          <a:xfrm>
            <a:off x="52356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3" name="Oval 20"/>
          <p:cNvSpPr>
            <a:spLocks noChangeAspect="1" noChangeArrowheads="1"/>
          </p:cNvSpPr>
          <p:nvPr/>
        </p:nvSpPr>
        <p:spPr bwMode="auto">
          <a:xfrm>
            <a:off x="59556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4" name="Rectangle 36"/>
          <p:cNvSpPr/>
          <p:nvPr/>
        </p:nvSpPr>
        <p:spPr>
          <a:xfrm>
            <a:off x="52356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Requisición y apertura de vacante</a:t>
            </a:r>
          </a:p>
        </p:txBody>
      </p:sp>
      <p:sp>
        <p:nvSpPr>
          <p:cNvPr id="25" name="Rectangle: Rounded Corners 37"/>
          <p:cNvSpPr/>
          <p:nvPr/>
        </p:nvSpPr>
        <p:spPr>
          <a:xfrm>
            <a:off x="56856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6" name="Rectangle 36"/>
          <p:cNvSpPr/>
          <p:nvPr/>
        </p:nvSpPr>
        <p:spPr>
          <a:xfrm>
            <a:off x="52356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Reclutamiento y preselección</a:t>
            </a:r>
          </a:p>
        </p:txBody>
      </p:sp>
      <p:sp>
        <p:nvSpPr>
          <p:cNvPr id="27" name="Rectangle: Rounded Corners 37"/>
          <p:cNvSpPr/>
          <p:nvPr/>
        </p:nvSpPr>
        <p:spPr>
          <a:xfrm>
            <a:off x="56856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8" name="Rectangle 36"/>
          <p:cNvSpPr/>
          <p:nvPr/>
        </p:nvSpPr>
        <p:spPr>
          <a:xfrm>
            <a:off x="52356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y selección de candidatos</a:t>
            </a:r>
          </a:p>
        </p:txBody>
      </p:sp>
      <p:sp>
        <p:nvSpPr>
          <p:cNvPr id="29" name="Rectangle: Rounded Corners 37"/>
          <p:cNvSpPr/>
          <p:nvPr/>
        </p:nvSpPr>
        <p:spPr>
          <a:xfrm>
            <a:off x="56856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30" name="Rectangle 36"/>
          <p:cNvSpPr/>
          <p:nvPr/>
        </p:nvSpPr>
        <p:spPr>
          <a:xfrm>
            <a:off x="52356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Verificación preocupacional y contratación</a:t>
            </a:r>
          </a:p>
        </p:txBody>
      </p:sp>
      <p:sp>
        <p:nvSpPr>
          <p:cNvPr id="31" name="Rectangle: Rounded Corners 37"/>
          <p:cNvSpPr/>
          <p:nvPr/>
        </p:nvSpPr>
        <p:spPr>
          <a:xfrm>
            <a:off x="56856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32" name="Rectangle 36"/>
          <p:cNvSpPr/>
          <p:nvPr/>
        </p:nvSpPr>
        <p:spPr>
          <a:xfrm>
            <a:off x="5235660" y="475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Incorporación y onboarding</a:t>
            </a:r>
          </a:p>
        </p:txBody>
      </p:sp>
      <p:sp>
        <p:nvSpPr>
          <p:cNvPr id="33" name="Rectangle: Rounded Corners 37"/>
          <p:cNvSpPr/>
          <p:nvPr/>
        </p:nvSpPr>
        <p:spPr>
          <a:xfrm>
            <a:off x="5685660" y="464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C.5</a:t>
            </a:r>
          </a:p>
        </p:txBody>
      </p:sp>
      <p:sp>
        <p:nvSpPr>
          <p:cNvPr id="34" name="Rectangle 7"/>
          <p:cNvSpPr/>
          <p:nvPr/>
        </p:nvSpPr>
        <p:spPr>
          <a:xfrm>
            <a:off x="70842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35" name="Oval 20"/>
          <p:cNvSpPr>
            <a:spLocks noChangeAspect="1" noChangeArrowheads="1"/>
          </p:cNvSpPr>
          <p:nvPr/>
        </p:nvSpPr>
        <p:spPr bwMode="auto">
          <a:xfrm>
            <a:off x="78042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6" name="Rectangle 36"/>
          <p:cNvSpPr/>
          <p:nvPr/>
        </p:nvSpPr>
        <p:spPr>
          <a:xfrm>
            <a:off x="70842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Formación</a:t>
            </a:r>
          </a:p>
        </p:txBody>
      </p:sp>
      <p:sp>
        <p:nvSpPr>
          <p:cNvPr id="37" name="Rectangle: Rounded Corners 37"/>
          <p:cNvSpPr/>
          <p:nvPr/>
        </p:nvSpPr>
        <p:spPr>
          <a:xfrm>
            <a:off x="75342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8" name="Rectangle 36"/>
          <p:cNvSpPr/>
          <p:nvPr/>
        </p:nvSpPr>
        <p:spPr>
          <a:xfrm>
            <a:off x="70842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Gestión del desempeño</a:t>
            </a:r>
          </a:p>
        </p:txBody>
      </p:sp>
      <p:sp>
        <p:nvSpPr>
          <p:cNvPr id="39" name="Rectangle: Rounded Corners 37"/>
          <p:cNvSpPr/>
          <p:nvPr/>
        </p:nvSpPr>
        <p:spPr>
          <a:xfrm>
            <a:off x="75342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
        <p:nvSpPr>
          <p:cNvPr id="40" name="Rectangle 36"/>
          <p:cNvSpPr/>
          <p:nvPr/>
        </p:nvSpPr>
        <p:spPr>
          <a:xfrm>
            <a:off x="70842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Carrera, sucesión y movilidad</a:t>
            </a:r>
          </a:p>
        </p:txBody>
      </p:sp>
      <p:sp>
        <p:nvSpPr>
          <p:cNvPr id="41" name="Rectangle: Rounded Corners 37"/>
          <p:cNvSpPr/>
          <p:nvPr/>
        </p:nvSpPr>
        <p:spPr>
          <a:xfrm>
            <a:off x="75342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D.3</a:t>
            </a:r>
          </a:p>
        </p:txBody>
      </p:sp>
      <p:sp>
        <p:nvSpPr>
          <p:cNvPr id="42" name="Rectangle 7"/>
          <p:cNvSpPr/>
          <p:nvPr/>
        </p:nvSpPr>
        <p:spPr>
          <a:xfrm>
            <a:off x="89328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43" name="Oval 20"/>
          <p:cNvSpPr>
            <a:spLocks noChangeAspect="1" noChangeArrowheads="1"/>
          </p:cNvSpPr>
          <p:nvPr/>
        </p:nvSpPr>
        <p:spPr bwMode="auto">
          <a:xfrm>
            <a:off x="96528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E</a:t>
            </a:r>
          </a:p>
        </p:txBody>
      </p:sp>
      <p:sp>
        <p:nvSpPr>
          <p:cNvPr id="44" name="Rectangle 36"/>
          <p:cNvSpPr/>
          <p:nvPr/>
        </p:nvSpPr>
        <p:spPr>
          <a:xfrm>
            <a:off x="89328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Remuneración y compensación</a:t>
            </a:r>
          </a:p>
        </p:txBody>
      </p:sp>
      <p:sp>
        <p:nvSpPr>
          <p:cNvPr id="45" name="Rectangle: Rounded Corners 37"/>
          <p:cNvSpPr/>
          <p:nvPr/>
        </p:nvSpPr>
        <p:spPr>
          <a:xfrm>
            <a:off x="93828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E.1</a:t>
            </a:r>
          </a:p>
        </p:txBody>
      </p:sp>
      <p:sp>
        <p:nvSpPr>
          <p:cNvPr id="46" name="Rectangle 36"/>
          <p:cNvSpPr/>
          <p:nvPr/>
        </p:nvSpPr>
        <p:spPr>
          <a:xfrm>
            <a:off x="89328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Beneficios</a:t>
            </a:r>
          </a:p>
        </p:txBody>
      </p:sp>
      <p:sp>
        <p:nvSpPr>
          <p:cNvPr id="47" name="Rectangle: Rounded Corners 37"/>
          <p:cNvSpPr/>
          <p:nvPr/>
        </p:nvSpPr>
        <p:spPr>
          <a:xfrm>
            <a:off x="93828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E.2</a:t>
            </a:r>
          </a:p>
        </p:txBody>
      </p:sp>
    </p:spTree>
  </p:cSld>
  <p:clrMapOvr>
    <a:masterClrMapping/>
  </p:clrMapOvr>
  <mc:AlternateContent>
    <mc:Choice Requires="p14">
      <p:transition p14:dur="250">
        <p:fade/>
      </p:transition>
    </mc:Choice>
    <mc:Fallback>
      <p:transition>
        <p:fade/>
      </p:transition>
    </mc:Fallback>
  </mc:AlternateContent>
</p:sld>
</file>

<file path=ppt/slides/slide14.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 Ficha resumen| </a:t>
            </a:r>
            <a:r>
              <a:rPr lang="es-CL"/>
              <a:t>Valoración de cargo y banda de renta</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900" b="1">
                <a:solidFill>
                  <a:srgbClr val="EA7600"/>
                </a:solidFill>
              </a:rPr>
              <a:t>Valoración de cargo y banda de renta</a:t>
            </a:r>
            <a:endParaRPr lang="es-CL" sz="9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Valorar los cargos y definir su grado y banda de renta a partir del mercado y de la estructura interna, asegurando un marco de compensaciones equitativo, competitivo y coherente con el presupuesto.</a:t>
            </a:r>
            <a:endParaRPr lang="es-ES" sz="12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696158"/>
                </a:solidFill>
                <a:ea typeface="Calibri"/>
                <a:cs typeface="Calibri"/>
              </a:rPr>
              <a:t>SG Compensaciones y Beneficios</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rPr>
              <a:t>Encuestas de remuneraciones de mercado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Sueldos y beneficios internos actuales</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Perfiles de cargo</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Presupuesto disponible</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Grado registrado en el código de posición</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Banda de renta asociada a cada grado</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Esquema de compensaciones y rango de renta por cargo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rgbClr val="EA7600"/>
                </a:solidFill>
                <a:ea typeface="Calibri"/>
                <a:cs typeface="Calibri"/>
              </a:rPr>
              <a:t>Encuestas de remuneraciones</a:t>
            </a:r>
            <a:endParaRPr lang="es-ES" sz="1400">
              <a:solidFill>
                <a:schemeClr val="tx1"/>
              </a:solidFill>
              <a:ea typeface="Calibri"/>
              <a:cs typeface="Calibri"/>
            </a:endParaRPr>
          </a:p>
          <a:p>
            <a:pPr marL="377825" lvl="1" indent="-251460">
              <a:buFont typeface="Trebuchet MS,Sans-Serif"/>
              <a:buChar char="•"/>
            </a:pPr>
            <a:r>
              <a:rPr lang="es-CL" sz="1400">
                <a:solidFill>
                  <a:srgbClr val="EA7600"/>
                </a:solidFill>
                <a:ea typeface="Calibri"/>
                <a:cs typeface="Calibri"/>
              </a:rPr>
              <a:t>SuccessFactors</a:t>
            </a:r>
            <a:endParaRPr lang="es-ES" sz="1400">
              <a:solidFill>
                <a:schemeClr val="tx1"/>
              </a:solidFill>
              <a:ea typeface="Calibri"/>
              <a:cs typeface="Calibri"/>
            </a:endParaRPr>
          </a:p>
          <a:p>
            <a:pPr marL="377825" lvl="1" indent="-251460">
              <a:buFont typeface="Trebuchet MS,Sans-Serif"/>
              <a:buChar char="•"/>
            </a:pPr>
            <a:r>
              <a:rPr lang="es-CL" sz="1400">
                <a:solidFill>
                  <a:srgbClr val="EA7600"/>
                </a:solidFill>
                <a:ea typeface="Calibri"/>
                <a:cs typeface="Calibri"/>
              </a:rPr>
              <a:t>Office 365</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cargos con grado asignado</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Posicionamiento de bandas vs. mercado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Tree>
  </p:cSld>
  <p:clrMapOvr>
    <a:masterClrMapping/>
  </p:clrMapOvr>
  <mc:AlternateContent>
    <mc:Choice Requires="p14">
      <p:transition p14:dur="250">
        <p:fade/>
      </p:transition>
    </mc:Choice>
    <mc:Fallback>
      <p:transition>
        <p:fade/>
      </p:transition>
    </mc:Fallback>
  </mc:AlternateContent>
</p:sld>
</file>

<file path=ppt/slides/slide15.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B.</a:t>
            </a:r>
            <a:r>
              <a:rPr lang="es-CL" sz="2400">
                <a:solidFill>
                  <a:schemeClr val="tx1"/>
                </a:solidFill>
              </a:rPr>
              <a:t> SIPOC| </a:t>
            </a:r>
            <a:r>
              <a:rPr lang="es-CL" sz="2400"/>
              <a:t>Valoración de cargo y banda de renta</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404705"/>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Grado y banda de renta por cargo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 C</a:t>
                      </a:r>
                    </a:p>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Proceso 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Esquema de compensaciones publicado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Gerencia de Personas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Valorar los cargos y definir su grado y banda de renta a partir del mercado y de la estructura interna, asegurando un marco de compensaciones equitativo, competitivo y coherente con el presupuesto.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endParaRPr lang="es-CL" sz="9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631939"/>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Consultoras de mercado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Encuestas de remuneraciones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Perfiles de cargo y organigrama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Gestión Financiera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Presupuesto disponible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Benchmark de remuneración</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000">
                <a:solidFill>
                  <a:srgbClr val="696158"/>
                </a:solidFill>
                <a:latin typeface="Calibri"/>
              </a:rPr>
              <a:t>Valoración del cargo y definición de bandas salariales</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ee4pHeader1"/>
          <p:cNvSpPr>
            <a:spLocks noChangeArrowheads="1"/>
          </p:cNvSpPr>
          <p:nvPr/>
        </p:nvSpPr>
        <p:spPr bwMode="gray">
          <a:xfrm>
            <a:off x="5040000" y="29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000">
                <a:solidFill>
                  <a:srgbClr val="696158"/>
                </a:solidFill>
                <a:latin typeface="Calibri"/>
              </a:rPr>
              <a:t>Administración periódica del marco de compensación</a:t>
            </a:r>
          </a:p>
        </p:txBody>
      </p:sp>
      <p:sp>
        <p:nvSpPr>
          <p:cNvPr id="23" name="Oval 20"/>
          <p:cNvSpPr>
            <a:spLocks noChangeAspect="1" noChangeArrowheads="1"/>
          </p:cNvSpPr>
          <p:nvPr/>
        </p:nvSpPr>
        <p:spPr bwMode="auto">
          <a:xfrm>
            <a:off x="4752000" y="29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B.3</a:t>
            </a:r>
          </a:p>
        </p:txBody>
      </p:sp>
      <p:cxnSp>
        <p:nvCxnSpPr>
          <p:cNvPr id="24" name="Straight Arrow Connector 11"/>
          <p:cNvCxnSpPr>
            <a:cxnSpLocks/>
          </p:cNvCxnSpPr>
          <p:nvPr/>
        </p:nvCxnSpPr>
        <p:spPr>
          <a:xfrm>
            <a:off x="6120000" y="28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ee4pHeader1"/>
          <p:cNvSpPr>
            <a:spLocks noChangeArrowheads="1"/>
          </p:cNvSpPr>
          <p:nvPr/>
        </p:nvSpPr>
        <p:spPr bwMode="gray">
          <a:xfrm>
            <a:off x="5040000" y="34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000">
                <a:solidFill>
                  <a:srgbClr val="696158"/>
                </a:solidFill>
                <a:latin typeface="Calibri"/>
              </a:rPr>
              <a:t>Gobierno y publicación del marco de compensaciones</a:t>
            </a:r>
          </a:p>
        </p:txBody>
      </p:sp>
      <p:sp>
        <p:nvSpPr>
          <p:cNvPr id="26" name="Oval 20"/>
          <p:cNvSpPr>
            <a:spLocks noChangeAspect="1" noChangeArrowheads="1"/>
          </p:cNvSpPr>
          <p:nvPr/>
        </p:nvSpPr>
        <p:spPr bwMode="auto">
          <a:xfrm>
            <a:off x="4752000" y="34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B.4</a:t>
            </a:r>
          </a:p>
        </p:txBody>
      </p:sp>
      <p:cxnSp>
        <p:nvCxnSpPr>
          <p:cNvPr id="27" name="Straight Arrow Connector 11"/>
          <p:cNvCxnSpPr>
            <a:cxnSpLocks/>
          </p:cNvCxnSpPr>
          <p:nvPr/>
        </p:nvCxnSpPr>
        <p:spPr>
          <a:xfrm>
            <a:off x="6120000" y="33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10"/>
          <p:cNvCxnSpPr>
            <a:cxnSpLocks/>
          </p:cNvCxnSpPr>
          <p:nvPr/>
        </p:nvCxnSpPr>
        <p:spPr>
          <a:xfrm>
            <a:off x="4320000" y="2089502"/>
            <a:ext cx="0" cy="1163939"/>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10"/>
          <p:cNvCxnSpPr>
            <a:cxnSpLocks/>
          </p:cNvCxnSpPr>
          <p:nvPr/>
        </p:nvCxnSpPr>
        <p:spPr>
          <a:xfrm>
            <a:off x="7812000" y="2075078"/>
            <a:ext cx="0" cy="84992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11"/>
          <p:cNvCxnSpPr>
            <a:cxnSpLocks/>
          </p:cNvCxnSpPr>
          <p:nvPr/>
        </p:nvCxnSpPr>
        <p:spPr>
          <a:xfrm>
            <a:off x="4320000" y="2925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11"/>
          <p:cNvCxnSpPr>
            <a:cxnSpLocks/>
          </p:cNvCxnSpPr>
          <p:nvPr/>
        </p:nvCxnSpPr>
        <p:spPr>
          <a:xfrm>
            <a:off x="7200000" y="2925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2"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3"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16.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B.1 Flujograma subproceso| </a:t>
            </a:r>
            <a:r>
              <a:rPr lang="es-CL">
                <a:solidFill>
                  <a:srgbClr val="BFB800"/>
                </a:solidFill>
              </a:rPr>
              <a:t>Benchmark de remuneración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Obtener información de mercado y comparar cada cargo contra el mercado por rubro, nivel y años de experiencia.</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Consultoras de mercado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Encuestas de remuneraciones</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Cargos con job matching vigente</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SG Compensaciones y Beneficios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Benchmark de remuneración</a:t>
            </a:r>
          </a:p>
        </p:txBody>
      </p:sp>
      <p:sp>
        <p:nvSpPr>
          <p:cNvPr id="23" name="Oval 34"/>
          <p:cNvSpPr/>
          <p:nvPr/>
        </p:nvSpPr>
        <p:spPr>
          <a:xfrm>
            <a:off x="1331117"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Requerimiento de valoración</a:t>
            </a:r>
          </a:p>
        </p:txBody>
      </p:sp>
      <p:sp>
        <p:nvSpPr>
          <p:cNvPr id="24" name="Rectangle: Rounded Corners 39"/>
          <p:cNvSpPr/>
          <p:nvPr/>
        </p:nvSpPr>
        <p:spPr>
          <a:xfrm>
            <a:off x="298805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Cotizar y adquirir encuestas de remuneraciones de mercado</a:t>
            </a:r>
          </a:p>
        </p:txBody>
      </p:sp>
      <p:sp>
        <p:nvSpPr>
          <p:cNvPr id="25" name="Rectangle: Rounded Corners 40"/>
          <p:cNvSpPr/>
          <p:nvPr/>
        </p:nvSpPr>
        <p:spPr>
          <a:xfrm>
            <a:off x="324905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B.1.1</a:t>
            </a:r>
          </a:p>
        </p:txBody>
      </p:sp>
      <p:sp>
        <p:nvSpPr>
          <p:cNvPr id="26"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Recopilar datos del mercado laboral desde las encuestas</a:t>
            </a:r>
          </a:p>
        </p:txBody>
      </p:sp>
      <p:sp>
        <p:nvSpPr>
          <p:cNvPr id="27"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B.1.2</a:t>
            </a:r>
          </a:p>
        </p:txBody>
      </p:sp>
      <p:sp>
        <p:nvSpPr>
          <p:cNvPr id="28" name="Rectangle: Rounded Corners 39"/>
          <p:cNvSpPr/>
          <p:nvPr/>
        </p:nvSpPr>
        <p:spPr>
          <a:xfrm>
            <a:off x="6157918"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Job matching: comparar el cargo contra el mercado</a:t>
            </a:r>
          </a:p>
        </p:txBody>
      </p:sp>
      <p:sp>
        <p:nvSpPr>
          <p:cNvPr id="29" name="Rectangle: Rounded Corners 40"/>
          <p:cNvSpPr/>
          <p:nvPr/>
        </p:nvSpPr>
        <p:spPr>
          <a:xfrm>
            <a:off x="6418918"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B.1.3</a:t>
            </a:r>
          </a:p>
        </p:txBody>
      </p:sp>
      <p:sp>
        <p:nvSpPr>
          <p:cNvPr id="30" name="Oval 15"/>
          <p:cNvSpPr/>
          <p:nvPr/>
        </p:nvSpPr>
        <p:spPr>
          <a:xfrm>
            <a:off x="7670851"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Cargo comparado con el mercado</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1" name="Conector recto de flecha 47"/>
          <p:cNvCxnSpPr>
            <a:cxnSpLocks/>
          </p:cNvCxnSpPr>
          <p:nvPr/>
        </p:nvCxnSpPr>
        <p:spPr>
          <a:xfrm>
            <a:off x="2411117"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47"/>
          <p:cNvCxnSpPr>
            <a:cxnSpLocks/>
          </p:cNvCxnSpPr>
          <p:nvPr/>
        </p:nvCxnSpPr>
        <p:spPr>
          <a:xfrm>
            <a:off x="3924050"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5508984"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7093918"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.1 Actividades y tareas| </a:t>
            </a:r>
            <a:r>
              <a:rPr lang="es-CL" sz="2400"/>
              <a:t>Benchmark de remuneración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75198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Cotizar y adquirir encuestas de remuneraciones de mercado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Cotizar y adquirir encuestas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Compensaciones y Beneficios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Recopilar datos del mercado laboral desde las encuestas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Extraer datos del mercado laboral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Job matching: comparar el cargo contra el mercado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Comparar el cargo por rubro, nivel y años de experiencia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Compensaciones y Beneficios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Benchmark de remuneración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7" name="Rectangle: Rounded Corners 20"/>
          <p:cNvSpPr/>
          <p:nvPr/>
        </p:nvSpPr>
        <p:spPr>
          <a:xfrm>
            <a:off x="363262" y="17377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B.1.1</a:t>
            </a:r>
          </a:p>
        </p:txBody>
      </p:sp>
      <p:sp>
        <p:nvSpPr>
          <p:cNvPr id="8" name="Rectangle: Rounded Corners 20"/>
          <p:cNvSpPr/>
          <p:nvPr/>
        </p:nvSpPr>
        <p:spPr>
          <a:xfrm>
            <a:off x="363262" y="21754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B.1.2</a:t>
            </a:r>
          </a:p>
        </p:txBody>
      </p:sp>
      <p:sp>
        <p:nvSpPr>
          <p:cNvPr id="9" name="Rectangle: Rounded Corners 20"/>
          <p:cNvSpPr/>
          <p:nvPr/>
        </p:nvSpPr>
        <p:spPr>
          <a:xfrm>
            <a:off x="363262" y="26131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B.1.3</a:t>
            </a:r>
          </a:p>
        </p:txBody>
      </p:sp>
    </p:spTree>
  </p:cSld>
  <p:clrMapOvr>
    <a:masterClrMapping/>
  </p:clrMapOvr>
  <mc:AlternateContent>
    <mc:Choice Requires="p14">
      <p:transition p14:dur="250">
        <p:fade/>
      </p:transition>
    </mc:Choice>
    <mc:Fallback>
      <p:transition>
        <p:fade/>
      </p:transition>
    </mc:Fallback>
  </mc:AlternateContent>
</p:sld>
</file>

<file path=ppt/slides/slide18.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B.2 Flujograma subproceso| </a:t>
            </a:r>
            <a:r>
              <a:rPr lang="es-CL">
                <a:solidFill>
                  <a:srgbClr val="BFB800"/>
                </a:solidFill>
              </a:rPr>
              <a:t>Valoración del cargo y definición de bandas salariales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Valorar el cargo, asignarle un grado en la estructura y registrarlo en su código de posición. La valoración es del cargo, no de la persona.</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Gestión Sistemas TI</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SuccessFactors</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cargos con grado registrado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SG Compensaciones y Beneficios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Valoración del cargo y definición de bandas salariales</a:t>
            </a:r>
          </a:p>
        </p:txBody>
      </p:sp>
      <p:sp>
        <p:nvSpPr>
          <p:cNvPr id="23" name="Oval 34"/>
          <p:cNvSpPr/>
          <p:nvPr/>
        </p:nvSpPr>
        <p:spPr>
          <a:xfrm>
            <a:off x="1331117"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Cargo comparado con el mercado</a:t>
            </a:r>
          </a:p>
        </p:txBody>
      </p:sp>
      <p:sp>
        <p:nvSpPr>
          <p:cNvPr id="24" name="Rectangle: Rounded Corners 39"/>
          <p:cNvSpPr/>
          <p:nvPr/>
        </p:nvSpPr>
        <p:spPr>
          <a:xfrm>
            <a:off x="298805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Recopilar sueldos y beneficios internos actuales</a:t>
            </a:r>
          </a:p>
        </p:txBody>
      </p:sp>
      <p:sp>
        <p:nvSpPr>
          <p:cNvPr id="25" name="Rectangle: Rounded Corners 40"/>
          <p:cNvSpPr/>
          <p:nvPr/>
        </p:nvSpPr>
        <p:spPr>
          <a:xfrm>
            <a:off x="324905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B.2.1</a:t>
            </a:r>
          </a:p>
        </p:txBody>
      </p:sp>
      <p:sp>
        <p:nvSpPr>
          <p:cNvPr id="26"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Valorar el cargo y asignarle un grado en la estructura</a:t>
            </a:r>
          </a:p>
        </p:txBody>
      </p:sp>
      <p:sp>
        <p:nvSpPr>
          <p:cNvPr id="27"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B.2.2</a:t>
            </a:r>
          </a:p>
        </p:txBody>
      </p:sp>
      <p:sp>
        <p:nvSpPr>
          <p:cNvPr id="28" name="Rectangle: Rounded Corners 39"/>
          <p:cNvSpPr/>
          <p:nvPr/>
        </p:nvSpPr>
        <p:spPr>
          <a:xfrm>
            <a:off x="6157918"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Registrar el grado en el código de posición del cargo</a:t>
            </a:r>
          </a:p>
        </p:txBody>
      </p:sp>
      <p:sp>
        <p:nvSpPr>
          <p:cNvPr id="29" name="Rectangle: Rounded Corners 40"/>
          <p:cNvSpPr/>
          <p:nvPr/>
        </p:nvSpPr>
        <p:spPr>
          <a:xfrm>
            <a:off x="6418918"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B.2.3</a:t>
            </a:r>
          </a:p>
        </p:txBody>
      </p:sp>
      <p:sp>
        <p:nvSpPr>
          <p:cNvPr id="30" name="Oval 15"/>
          <p:cNvSpPr/>
          <p:nvPr/>
        </p:nvSpPr>
        <p:spPr>
          <a:xfrm>
            <a:off x="7670851"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Grado registrado en el código de posición</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1" name="Conector recto de flecha 47"/>
          <p:cNvCxnSpPr>
            <a:cxnSpLocks/>
          </p:cNvCxnSpPr>
          <p:nvPr/>
        </p:nvCxnSpPr>
        <p:spPr>
          <a:xfrm>
            <a:off x="2411117"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47"/>
          <p:cNvCxnSpPr>
            <a:cxnSpLocks/>
          </p:cNvCxnSpPr>
          <p:nvPr/>
        </p:nvCxnSpPr>
        <p:spPr>
          <a:xfrm>
            <a:off x="3924050"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5508984"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7093918"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19.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.2 Actividades y tareas| </a:t>
            </a:r>
            <a:r>
              <a:rPr lang="es-CL" sz="2400"/>
              <a:t>Valoración del cargo y definición de bandas salariales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75198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Recopilar sueldos y beneficios internos actuales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Consolidar sueldos y beneficios internos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Valorar el cargo y asignarle un grado en la estructura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Valorar el cargo (no la persona) y asignar grado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Compensaciones y Beneficios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Registrar el grado en el código de posición del cargo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Registrar el grado en el código de posición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Compensaciones y Beneficios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Valoración del cargo y definición de bandas salariales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7" name="Rectangle: Rounded Corners 20"/>
          <p:cNvSpPr/>
          <p:nvPr/>
        </p:nvSpPr>
        <p:spPr>
          <a:xfrm>
            <a:off x="363262" y="17377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B.2.1</a:t>
            </a:r>
          </a:p>
        </p:txBody>
      </p:sp>
      <p:sp>
        <p:nvSpPr>
          <p:cNvPr id="8" name="Rectangle: Rounded Corners 20"/>
          <p:cNvSpPr/>
          <p:nvPr/>
        </p:nvSpPr>
        <p:spPr>
          <a:xfrm>
            <a:off x="363262" y="21754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B.2.2</a:t>
            </a:r>
          </a:p>
        </p:txBody>
      </p:sp>
      <p:sp>
        <p:nvSpPr>
          <p:cNvPr id="9" name="Rectangle: Rounded Corners 20"/>
          <p:cNvSpPr/>
          <p:nvPr/>
        </p:nvSpPr>
        <p:spPr>
          <a:xfrm>
            <a:off x="363262" y="26131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B.2.3</a:t>
            </a:r>
          </a:p>
        </p:txBody>
      </p:sp>
    </p:spTree>
  </p:cSld>
  <p:clrMapOvr>
    <a:masterClrMapping/>
  </p:clrMapOvr>
  <mc:AlternateContent>
    <mc:Choice Requires="p14">
      <p:transition p14:dur="250">
        <p:fade/>
      </p:transition>
    </mc:Choice>
    <mc:Fallback>
      <p:transition>
        <p:fade/>
      </p:transition>
    </mc:Fallback>
  </mc:AlternateContent>
</p:sld>
</file>

<file path=ppt/slides/slide20.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B.3 Flujograma subproceso| </a:t>
            </a:r>
            <a:r>
              <a:rPr lang="es-CL">
                <a:solidFill>
                  <a:srgbClr val="BFB800"/>
                </a:solidFill>
              </a:rPr>
              <a:t>Administración periódica del marco de compensación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Analizar las bandas salariales, definir la banda de renta de cada grado y revisar su coherencia con el presupuesto.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Gestión Financiera</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Office 365</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Desviación de bandas vs. presupuesto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SG Compensaciones y Beneficios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Administración periódica del marco de compensación</a:t>
            </a:r>
          </a:p>
        </p:txBody>
      </p:sp>
      <p:sp>
        <p:nvSpPr>
          <p:cNvPr id="23" name="Oval 34"/>
          <p:cNvSpPr/>
          <p:nvPr/>
        </p:nvSpPr>
        <p:spPr>
          <a:xfrm>
            <a:off x="1331117"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Grado registrado</a:t>
            </a:r>
          </a:p>
        </p:txBody>
      </p:sp>
      <p:sp>
        <p:nvSpPr>
          <p:cNvPr id="24" name="Rectangle: Rounded Corners 39"/>
          <p:cNvSpPr/>
          <p:nvPr/>
        </p:nvSpPr>
        <p:spPr>
          <a:xfrm>
            <a:off x="298805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Analizar bandas salariales</a:t>
            </a:r>
          </a:p>
        </p:txBody>
      </p:sp>
      <p:sp>
        <p:nvSpPr>
          <p:cNvPr id="25" name="Rectangle: Rounded Corners 40"/>
          <p:cNvSpPr/>
          <p:nvPr/>
        </p:nvSpPr>
        <p:spPr>
          <a:xfrm>
            <a:off x="324905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B.3.1</a:t>
            </a:r>
          </a:p>
        </p:txBody>
      </p:sp>
      <p:sp>
        <p:nvSpPr>
          <p:cNvPr id="26"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Definir la banda de renta asociada a cada grado</a:t>
            </a:r>
          </a:p>
        </p:txBody>
      </p:sp>
      <p:sp>
        <p:nvSpPr>
          <p:cNvPr id="27"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B.3.2</a:t>
            </a:r>
          </a:p>
        </p:txBody>
      </p:sp>
      <p:sp>
        <p:nvSpPr>
          <p:cNvPr id="28" name="Rectangle: Rounded Corners 39"/>
          <p:cNvSpPr/>
          <p:nvPr/>
        </p:nvSpPr>
        <p:spPr>
          <a:xfrm>
            <a:off x="6157918"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Revisar coherencia contra presupuesto disponible</a:t>
            </a:r>
          </a:p>
        </p:txBody>
      </p:sp>
      <p:sp>
        <p:nvSpPr>
          <p:cNvPr id="29" name="Rectangle: Rounded Corners 40"/>
          <p:cNvSpPr/>
          <p:nvPr/>
        </p:nvSpPr>
        <p:spPr>
          <a:xfrm>
            <a:off x="6418918"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B.3.3</a:t>
            </a:r>
          </a:p>
        </p:txBody>
      </p:sp>
      <p:sp>
        <p:nvSpPr>
          <p:cNvPr id="30" name="Oval 15"/>
          <p:cNvSpPr/>
          <p:nvPr/>
        </p:nvSpPr>
        <p:spPr>
          <a:xfrm>
            <a:off x="7670851"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Bandas de renta definidas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1" name="Conector recto de flecha 47"/>
          <p:cNvCxnSpPr>
            <a:cxnSpLocks/>
          </p:cNvCxnSpPr>
          <p:nvPr/>
        </p:nvCxnSpPr>
        <p:spPr>
          <a:xfrm>
            <a:off x="2411117"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47"/>
          <p:cNvCxnSpPr>
            <a:cxnSpLocks/>
          </p:cNvCxnSpPr>
          <p:nvPr/>
        </p:nvCxnSpPr>
        <p:spPr>
          <a:xfrm>
            <a:off x="3924050"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5508984"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7093918"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21.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.3 Actividades y tareas| </a:t>
            </a:r>
            <a:r>
              <a:rPr lang="es-CL" sz="2400"/>
              <a:t>Administración periódica del marco de compensación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587142"/>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Analizar bandas salariales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Analizar la estructura de bandas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Definir la banda de renta asociada a cada grado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Definir mínimo, punto medio y máximo por grado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Revisar coherencia contra presupuesto disponible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Contrastar bandas con el presupuesto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Administración periódica del marco de compensación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B.3.1</a:t>
            </a:r>
          </a:p>
        </p:txBody>
      </p:sp>
      <p:sp>
        <p:nvSpPr>
          <p:cNvPr id="8" name="Rectangle: Rounded Corners 20"/>
          <p:cNvSpPr/>
          <p:nvPr/>
        </p:nvSpPr>
        <p:spPr>
          <a:xfrm>
            <a:off x="363262" y="20106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B.3.2</a:t>
            </a:r>
          </a:p>
        </p:txBody>
      </p:sp>
      <p:sp>
        <p:nvSpPr>
          <p:cNvPr id="9" name="Rectangle: Rounded Corners 20"/>
          <p:cNvSpPr/>
          <p:nvPr/>
        </p:nvSpPr>
        <p:spPr>
          <a:xfrm>
            <a:off x="363262" y="244829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B.3.3</a:t>
            </a:r>
          </a:p>
        </p:txBody>
      </p:sp>
    </p:spTree>
  </p:cSld>
  <p:clrMapOvr>
    <a:masterClrMapping/>
  </p:clrMapOvr>
  <mc:AlternateContent>
    <mc:Choice Requires="p14">
      <p:transition p14:dur="250">
        <p:fade/>
      </p:transition>
    </mc:Choice>
    <mc:Fallback>
      <p:transition>
        <p:fade/>
      </p:transition>
    </mc:Fallback>
  </mc:AlternateContent>
</p:sld>
</file>

<file path=ppt/slides/slide22.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B.4 Flujograma subproceso| </a:t>
            </a:r>
            <a:r>
              <a:rPr lang="es-CL">
                <a:solidFill>
                  <a:srgbClr val="BFB800"/>
                </a:solidFill>
              </a:rPr>
              <a:t>Gobierno y publicación del marco de compensaciones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Aprobar, publicar y conservar vigente el marco de compensaciones, revalorizándolo anualmente y administrándolo de forma transversal.</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Gerencia de Personas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rgbClr val="EA7600"/>
                  </a:solidFill>
                  <a:latin typeface="+mn-lt"/>
                  <a:ea typeface="Calibri"/>
                  <a:cs typeface="Calibri"/>
                </a:rPr>
                <a:t>Office 365</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Marco publicado y revalorizado en plazo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SG Compensaciones y Beneficios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Gobierno y publicación del marco de compensaciones</a:t>
            </a:r>
          </a:p>
        </p:txBody>
      </p:sp>
      <p:sp>
        <p:nvSpPr>
          <p:cNvPr id="23" name="Oval 34"/>
          <p:cNvSpPr/>
          <p:nvPr/>
        </p:nvSpPr>
        <p:spPr>
          <a:xfrm>
            <a:off x="1199039"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Bandas de renta definidas</a:t>
            </a:r>
          </a:p>
        </p:txBody>
      </p:sp>
      <p:sp>
        <p:nvSpPr>
          <p:cNvPr id="24" name="Rectangle: Rounded Corners 39"/>
          <p:cNvSpPr/>
          <p:nvPr/>
        </p:nvSpPr>
        <p:spPr>
          <a:xfrm>
            <a:off x="259181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Validar y aprobar la estructura de compensaciones</a:t>
            </a:r>
          </a:p>
        </p:txBody>
      </p:sp>
      <p:sp>
        <p:nvSpPr>
          <p:cNvPr id="25" name="Rectangle: Rounded Corners 40"/>
          <p:cNvSpPr/>
          <p:nvPr/>
        </p:nvSpPr>
        <p:spPr>
          <a:xfrm>
            <a:off x="2852817"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B.4.1</a:t>
            </a:r>
          </a:p>
        </p:txBody>
      </p:sp>
      <p:sp>
        <p:nvSpPr>
          <p:cNvPr id="26" name="Rectangle: Rounded Corners 39"/>
          <p:cNvSpPr/>
          <p:nvPr/>
        </p:nvSpPr>
        <p:spPr>
          <a:xfrm>
            <a:off x="3912595"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Publicar esquema de compensaciones y rango de renta por cargo</a:t>
            </a:r>
          </a:p>
        </p:txBody>
      </p:sp>
      <p:sp>
        <p:nvSpPr>
          <p:cNvPr id="27" name="Rectangle: Rounded Corners 40"/>
          <p:cNvSpPr/>
          <p:nvPr/>
        </p:nvSpPr>
        <p:spPr>
          <a:xfrm>
            <a:off x="4173595"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B.4.2</a:t>
            </a:r>
          </a:p>
        </p:txBody>
      </p:sp>
      <p:sp>
        <p:nvSpPr>
          <p:cNvPr id="28" name="Rectangle: Rounded Corners 39"/>
          <p:cNvSpPr/>
          <p:nvPr/>
        </p:nvSpPr>
        <p:spPr>
          <a:xfrm>
            <a:off x="5233373"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Revalorizar anualmente el valor en pesos de cada grado</a:t>
            </a:r>
          </a:p>
        </p:txBody>
      </p:sp>
      <p:sp>
        <p:nvSpPr>
          <p:cNvPr id="29" name="Rectangle: Rounded Corners 40"/>
          <p:cNvSpPr/>
          <p:nvPr/>
        </p:nvSpPr>
        <p:spPr>
          <a:xfrm>
            <a:off x="5494373"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B.4.3</a:t>
            </a:r>
          </a:p>
        </p:txBody>
      </p:sp>
      <p:sp>
        <p:nvSpPr>
          <p:cNvPr id="30" name="Rectangle: Rounded Corners 39"/>
          <p:cNvSpPr/>
          <p:nvPr/>
        </p:nvSpPr>
        <p:spPr>
          <a:xfrm>
            <a:off x="6554151"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Administrar el marco de compensaciones transversalmente</a:t>
            </a:r>
          </a:p>
        </p:txBody>
      </p:sp>
      <p:sp>
        <p:nvSpPr>
          <p:cNvPr id="31" name="Rectangle: Rounded Corners 40"/>
          <p:cNvSpPr/>
          <p:nvPr/>
        </p:nvSpPr>
        <p:spPr>
          <a:xfrm>
            <a:off x="6815151"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B.4.4</a:t>
            </a:r>
          </a:p>
        </p:txBody>
      </p:sp>
      <p:sp>
        <p:nvSpPr>
          <p:cNvPr id="32" name="Oval 15"/>
          <p:cNvSpPr/>
          <p:nvPr/>
        </p:nvSpPr>
        <p:spPr>
          <a:xfrm>
            <a:off x="7802929"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Esquema de compensaciones vigente</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3" name="Conector recto de flecha 47"/>
          <p:cNvCxnSpPr>
            <a:cxnSpLocks/>
          </p:cNvCxnSpPr>
          <p:nvPr/>
        </p:nvCxnSpPr>
        <p:spPr>
          <a:xfrm>
            <a:off x="2279039"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47"/>
          <p:cNvCxnSpPr>
            <a:cxnSpLocks/>
          </p:cNvCxnSpPr>
          <p:nvPr/>
        </p:nvCxnSpPr>
        <p:spPr>
          <a:xfrm>
            <a:off x="3527817"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4848595"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47"/>
          <p:cNvCxnSpPr>
            <a:cxnSpLocks/>
          </p:cNvCxnSpPr>
          <p:nvPr/>
        </p:nvCxnSpPr>
        <p:spPr>
          <a:xfrm>
            <a:off x="6169373"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47"/>
          <p:cNvCxnSpPr>
            <a:cxnSpLocks/>
          </p:cNvCxnSpPr>
          <p:nvPr/>
        </p:nvCxnSpPr>
        <p:spPr>
          <a:xfrm>
            <a:off x="7490151"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2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.4 Actividades y tareas| </a:t>
            </a:r>
            <a:r>
              <a:rPr lang="es-CL" sz="2400"/>
              <a:t>Gobierno y publicación del marco de compensaciones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189680"/>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Validar y aprobar la estructura de compensaciones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Presentar y aprobar la estructura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Publicar esquema de compensaciones y rango de renta por cargo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Publicar el esquema y los rangos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Revalorizar anualmente el valor en pesos de cada grado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Revalorizar según IPC y ajustes internos (el grado no cambia, cambia su valor)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Compensaciones y Beneficios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Administrar el marco de compensaciones transversalmente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Ajustar la magnitud del marco en celulosa, madera y forestal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Compensaciones y Beneficios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Gobierno y publicación del marco de compensaciones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7" name="Rectangle: Rounded Corners 20"/>
          <p:cNvSpPr/>
          <p:nvPr/>
        </p:nvSpPr>
        <p:spPr>
          <a:xfrm>
            <a:off x="363262" y="17377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B.4.1</a:t>
            </a:r>
          </a:p>
        </p:txBody>
      </p:sp>
      <p:sp>
        <p:nvSpPr>
          <p:cNvPr id="8" name="Rectangle: Rounded Corners 20"/>
          <p:cNvSpPr/>
          <p:nvPr/>
        </p:nvSpPr>
        <p:spPr>
          <a:xfrm>
            <a:off x="363262" y="21754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B.4.2</a:t>
            </a:r>
          </a:p>
        </p:txBody>
      </p:sp>
      <p:sp>
        <p:nvSpPr>
          <p:cNvPr id="9" name="Rectangle: Rounded Corners 20"/>
          <p:cNvSpPr/>
          <p:nvPr/>
        </p:nvSpPr>
        <p:spPr>
          <a:xfrm>
            <a:off x="363262" y="26131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B.4.3</a:t>
            </a:r>
          </a:p>
        </p:txBody>
      </p:sp>
      <p:sp>
        <p:nvSpPr>
          <p:cNvPr id="10" name="Rectangle: Rounded Corners 20"/>
          <p:cNvSpPr/>
          <p:nvPr/>
        </p:nvSpPr>
        <p:spPr>
          <a:xfrm>
            <a:off x="363262" y="305083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B.4.4</a:t>
            </a:r>
          </a:p>
        </p:txBody>
      </p:sp>
    </p:spTree>
  </p:cSld>
  <p:clrMapOvr>
    <a:masterClrMapping/>
  </p:clrMapOvr>
  <mc:AlternateContent>
    <mc:Choice Requires="p14">
      <p:transition p14:dur="250">
        <p:fade/>
      </p:transition>
    </mc:Choice>
    <mc:Fallback>
      <p:transition>
        <p:fade/>
      </p:transition>
    </mc:Fallback>
  </mc:AlternateContent>
</p:sld>
</file>

<file path=ppt/slides/slide24.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Personas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4" name="Rectangle 7"/>
          <p:cNvSpPr/>
          <p:nvPr/>
        </p:nvSpPr>
        <p:spPr>
          <a:xfrm>
            <a:off x="15384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5" name="Oval 20"/>
          <p:cNvSpPr>
            <a:spLocks noChangeAspect="1" noChangeArrowheads="1"/>
          </p:cNvSpPr>
          <p:nvPr/>
        </p:nvSpPr>
        <p:spPr bwMode="auto">
          <a:xfrm>
            <a:off x="22584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1538460" y="223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Identificar necesidades estratégicas de RRHH</a:t>
            </a:r>
          </a:p>
        </p:txBody>
      </p:sp>
      <p:sp>
        <p:nvSpPr>
          <p:cNvPr id="7" name="Rectangle: Rounded Corners 37"/>
          <p:cNvSpPr/>
          <p:nvPr/>
        </p:nvSpPr>
        <p:spPr>
          <a:xfrm>
            <a:off x="19884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15384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Estimar dotación futura</a:t>
            </a:r>
          </a:p>
        </p:txBody>
      </p:sp>
      <p:sp>
        <p:nvSpPr>
          <p:cNvPr id="9" name="Rectangle: Rounded Corners 37"/>
          <p:cNvSpPr/>
          <p:nvPr/>
        </p:nvSpPr>
        <p:spPr>
          <a:xfrm>
            <a:off x="19884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36"/>
          <p:cNvSpPr/>
          <p:nvPr/>
        </p:nvSpPr>
        <p:spPr>
          <a:xfrm>
            <a:off x="15384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Diseñar plan de dotación / organigrama</a:t>
            </a:r>
          </a:p>
        </p:txBody>
      </p:sp>
      <p:sp>
        <p:nvSpPr>
          <p:cNvPr id="11" name="Rectangle: Rounded Corners 37"/>
          <p:cNvSpPr/>
          <p:nvPr/>
        </p:nvSpPr>
        <p:spPr>
          <a:xfrm>
            <a:off x="19884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A.3</a:t>
            </a:r>
          </a:p>
        </p:txBody>
      </p:sp>
      <p:sp>
        <p:nvSpPr>
          <p:cNvPr id="12" name="Rectangle 7"/>
          <p:cNvSpPr/>
          <p:nvPr/>
        </p:nvSpPr>
        <p:spPr>
          <a:xfrm>
            <a:off x="33870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13" name="Oval 20"/>
          <p:cNvSpPr>
            <a:spLocks noChangeAspect="1" noChangeArrowheads="1"/>
          </p:cNvSpPr>
          <p:nvPr/>
        </p:nvSpPr>
        <p:spPr bwMode="auto">
          <a:xfrm>
            <a:off x="41070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4" name="Rectangle 36"/>
          <p:cNvSpPr/>
          <p:nvPr/>
        </p:nvSpPr>
        <p:spPr>
          <a:xfrm>
            <a:off x="33870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Benchmark de remuneración</a:t>
            </a:r>
          </a:p>
        </p:txBody>
      </p:sp>
      <p:sp>
        <p:nvSpPr>
          <p:cNvPr id="15" name="Rectangle: Rounded Corners 37"/>
          <p:cNvSpPr/>
          <p:nvPr/>
        </p:nvSpPr>
        <p:spPr>
          <a:xfrm>
            <a:off x="38370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6" name="Rectangle 36"/>
          <p:cNvSpPr/>
          <p:nvPr/>
        </p:nvSpPr>
        <p:spPr>
          <a:xfrm>
            <a:off x="33870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Valoración del cargo y definición de bandas salariales</a:t>
            </a:r>
          </a:p>
        </p:txBody>
      </p:sp>
      <p:sp>
        <p:nvSpPr>
          <p:cNvPr id="17" name="Rectangle: Rounded Corners 37"/>
          <p:cNvSpPr/>
          <p:nvPr/>
        </p:nvSpPr>
        <p:spPr>
          <a:xfrm>
            <a:off x="38370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8" name="Rectangle 36"/>
          <p:cNvSpPr/>
          <p:nvPr/>
        </p:nvSpPr>
        <p:spPr>
          <a:xfrm>
            <a:off x="33870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Administración periódica del marco de compensación</a:t>
            </a:r>
          </a:p>
        </p:txBody>
      </p:sp>
      <p:sp>
        <p:nvSpPr>
          <p:cNvPr id="19" name="Rectangle: Rounded Corners 37"/>
          <p:cNvSpPr/>
          <p:nvPr/>
        </p:nvSpPr>
        <p:spPr>
          <a:xfrm>
            <a:off x="38370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20" name="Rectangle 36"/>
          <p:cNvSpPr/>
          <p:nvPr/>
        </p:nvSpPr>
        <p:spPr>
          <a:xfrm>
            <a:off x="33870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Gobierno y publicación del marco de compensaciones</a:t>
            </a:r>
          </a:p>
        </p:txBody>
      </p:sp>
      <p:sp>
        <p:nvSpPr>
          <p:cNvPr id="21" name="Rectangle: Rounded Corners 37"/>
          <p:cNvSpPr/>
          <p:nvPr/>
        </p:nvSpPr>
        <p:spPr>
          <a:xfrm>
            <a:off x="38370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B.4</a:t>
            </a:r>
          </a:p>
        </p:txBody>
      </p:sp>
      <p:sp>
        <p:nvSpPr>
          <p:cNvPr id="22" name="Rectangle 7"/>
          <p:cNvSpPr/>
          <p:nvPr/>
        </p:nvSpPr>
        <p:spPr>
          <a:xfrm>
            <a:off x="52356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3" name="Oval 20"/>
          <p:cNvSpPr>
            <a:spLocks noChangeAspect="1" noChangeArrowheads="1"/>
          </p:cNvSpPr>
          <p:nvPr/>
        </p:nvSpPr>
        <p:spPr bwMode="auto">
          <a:xfrm>
            <a:off x="59556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4" name="Rectangle 36"/>
          <p:cNvSpPr/>
          <p:nvPr/>
        </p:nvSpPr>
        <p:spPr>
          <a:xfrm>
            <a:off x="52356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Requisición y apertura de vacante</a:t>
            </a:r>
          </a:p>
        </p:txBody>
      </p:sp>
      <p:sp>
        <p:nvSpPr>
          <p:cNvPr id="25" name="Rectangle: Rounded Corners 37"/>
          <p:cNvSpPr/>
          <p:nvPr/>
        </p:nvSpPr>
        <p:spPr>
          <a:xfrm>
            <a:off x="56856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6" name="Rectangle 36"/>
          <p:cNvSpPr/>
          <p:nvPr/>
        </p:nvSpPr>
        <p:spPr>
          <a:xfrm>
            <a:off x="52356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Reclutamiento y preselección</a:t>
            </a:r>
          </a:p>
        </p:txBody>
      </p:sp>
      <p:sp>
        <p:nvSpPr>
          <p:cNvPr id="27" name="Rectangle: Rounded Corners 37"/>
          <p:cNvSpPr/>
          <p:nvPr/>
        </p:nvSpPr>
        <p:spPr>
          <a:xfrm>
            <a:off x="56856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8" name="Rectangle 36"/>
          <p:cNvSpPr/>
          <p:nvPr/>
        </p:nvSpPr>
        <p:spPr>
          <a:xfrm>
            <a:off x="52356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y selección de candidatos</a:t>
            </a:r>
          </a:p>
        </p:txBody>
      </p:sp>
      <p:sp>
        <p:nvSpPr>
          <p:cNvPr id="29" name="Rectangle: Rounded Corners 37"/>
          <p:cNvSpPr/>
          <p:nvPr/>
        </p:nvSpPr>
        <p:spPr>
          <a:xfrm>
            <a:off x="56856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30" name="Rectangle 36"/>
          <p:cNvSpPr/>
          <p:nvPr/>
        </p:nvSpPr>
        <p:spPr>
          <a:xfrm>
            <a:off x="52356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Verificación preocupacional y contratación</a:t>
            </a:r>
          </a:p>
        </p:txBody>
      </p:sp>
      <p:sp>
        <p:nvSpPr>
          <p:cNvPr id="31" name="Rectangle: Rounded Corners 37"/>
          <p:cNvSpPr/>
          <p:nvPr/>
        </p:nvSpPr>
        <p:spPr>
          <a:xfrm>
            <a:off x="56856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32" name="Rectangle 36"/>
          <p:cNvSpPr/>
          <p:nvPr/>
        </p:nvSpPr>
        <p:spPr>
          <a:xfrm>
            <a:off x="5235660" y="475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Incorporación y onboarding</a:t>
            </a:r>
          </a:p>
        </p:txBody>
      </p:sp>
      <p:sp>
        <p:nvSpPr>
          <p:cNvPr id="33" name="Rectangle: Rounded Corners 37"/>
          <p:cNvSpPr/>
          <p:nvPr/>
        </p:nvSpPr>
        <p:spPr>
          <a:xfrm>
            <a:off x="5685660" y="464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C.5</a:t>
            </a:r>
          </a:p>
        </p:txBody>
      </p:sp>
      <p:sp>
        <p:nvSpPr>
          <p:cNvPr id="34" name="Rectangle 7"/>
          <p:cNvSpPr/>
          <p:nvPr/>
        </p:nvSpPr>
        <p:spPr>
          <a:xfrm>
            <a:off x="70842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35" name="Oval 20"/>
          <p:cNvSpPr>
            <a:spLocks noChangeAspect="1" noChangeArrowheads="1"/>
          </p:cNvSpPr>
          <p:nvPr/>
        </p:nvSpPr>
        <p:spPr bwMode="auto">
          <a:xfrm>
            <a:off x="78042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6" name="Rectangle 36"/>
          <p:cNvSpPr/>
          <p:nvPr/>
        </p:nvSpPr>
        <p:spPr>
          <a:xfrm>
            <a:off x="70842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Formación</a:t>
            </a:r>
          </a:p>
        </p:txBody>
      </p:sp>
      <p:sp>
        <p:nvSpPr>
          <p:cNvPr id="37" name="Rectangle: Rounded Corners 37"/>
          <p:cNvSpPr/>
          <p:nvPr/>
        </p:nvSpPr>
        <p:spPr>
          <a:xfrm>
            <a:off x="75342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8" name="Rectangle 36"/>
          <p:cNvSpPr/>
          <p:nvPr/>
        </p:nvSpPr>
        <p:spPr>
          <a:xfrm>
            <a:off x="70842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Gestión del desempeño</a:t>
            </a:r>
          </a:p>
        </p:txBody>
      </p:sp>
      <p:sp>
        <p:nvSpPr>
          <p:cNvPr id="39" name="Rectangle: Rounded Corners 37"/>
          <p:cNvSpPr/>
          <p:nvPr/>
        </p:nvSpPr>
        <p:spPr>
          <a:xfrm>
            <a:off x="75342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
        <p:nvSpPr>
          <p:cNvPr id="40" name="Rectangle 36"/>
          <p:cNvSpPr/>
          <p:nvPr/>
        </p:nvSpPr>
        <p:spPr>
          <a:xfrm>
            <a:off x="70842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Carrera, sucesión y movilidad</a:t>
            </a:r>
          </a:p>
        </p:txBody>
      </p:sp>
      <p:sp>
        <p:nvSpPr>
          <p:cNvPr id="41" name="Rectangle: Rounded Corners 37"/>
          <p:cNvSpPr/>
          <p:nvPr/>
        </p:nvSpPr>
        <p:spPr>
          <a:xfrm>
            <a:off x="75342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D.3</a:t>
            </a:r>
          </a:p>
        </p:txBody>
      </p:sp>
      <p:sp>
        <p:nvSpPr>
          <p:cNvPr id="42" name="Rectangle 7"/>
          <p:cNvSpPr/>
          <p:nvPr/>
        </p:nvSpPr>
        <p:spPr>
          <a:xfrm>
            <a:off x="89328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43" name="Oval 20"/>
          <p:cNvSpPr>
            <a:spLocks noChangeAspect="1" noChangeArrowheads="1"/>
          </p:cNvSpPr>
          <p:nvPr/>
        </p:nvSpPr>
        <p:spPr bwMode="auto">
          <a:xfrm>
            <a:off x="96528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E</a:t>
            </a:r>
          </a:p>
        </p:txBody>
      </p:sp>
      <p:sp>
        <p:nvSpPr>
          <p:cNvPr id="44" name="Rectangle 36"/>
          <p:cNvSpPr/>
          <p:nvPr/>
        </p:nvSpPr>
        <p:spPr>
          <a:xfrm>
            <a:off x="89328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Remuneración y compensación</a:t>
            </a:r>
          </a:p>
        </p:txBody>
      </p:sp>
      <p:sp>
        <p:nvSpPr>
          <p:cNvPr id="45" name="Rectangle: Rounded Corners 37"/>
          <p:cNvSpPr/>
          <p:nvPr/>
        </p:nvSpPr>
        <p:spPr>
          <a:xfrm>
            <a:off x="93828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E.1</a:t>
            </a:r>
          </a:p>
        </p:txBody>
      </p:sp>
      <p:sp>
        <p:nvSpPr>
          <p:cNvPr id="46" name="Rectangle 36"/>
          <p:cNvSpPr/>
          <p:nvPr/>
        </p:nvSpPr>
        <p:spPr>
          <a:xfrm>
            <a:off x="89328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Beneficios</a:t>
            </a:r>
          </a:p>
        </p:txBody>
      </p:sp>
      <p:sp>
        <p:nvSpPr>
          <p:cNvPr id="47" name="Rectangle: Rounded Corners 37"/>
          <p:cNvSpPr/>
          <p:nvPr/>
        </p:nvSpPr>
        <p:spPr>
          <a:xfrm>
            <a:off x="93828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E.2</a:t>
            </a:r>
          </a:p>
        </p:txBody>
      </p:sp>
    </p:spTree>
  </p:cSld>
  <p:clrMapOvr>
    <a:masterClrMapping/>
  </p:clrMapOvr>
  <mc:AlternateContent>
    <mc:Choice Requires="p14">
      <p:transition p14:dur="250">
        <p:fade/>
      </p:transition>
    </mc:Choice>
    <mc:Fallback>
      <p:transition>
        <p:fade/>
      </p:transition>
    </mc:Fallback>
  </mc:AlternateContent>
</p:sld>
</file>

<file path=ppt/slides/slide25.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 Ficha resumen| </a:t>
            </a:r>
            <a:r>
              <a:rPr lang="es-CL"/>
              <a:t>Atracción y selección de personas</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900" b="1">
                <a:solidFill>
                  <a:srgbClr val="EA7600"/>
                </a:solidFill>
              </a:rPr>
              <a:t>Atracción y selección de personas</a:t>
            </a:r>
            <a:endParaRPr lang="es-CL" sz="9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Atraer, evaluar, seleccionar, contratar e incorporar a las personas idóneas para cada vacante, en los plazos requeridos y promoviendo la inclusión de mujeres y personas con discapacidad (PcD).</a:t>
            </a:r>
            <a:endParaRPr lang="es-ES" sz="12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EA7600"/>
                </a:solidFill>
                <a:ea typeface="Calibri"/>
                <a:cs typeface="Calibri"/>
              </a:rPr>
              <a:t>Jefatura de Atracción y Selección</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rPr>
              <a:t>Necesidad de personal del Área Solicitante</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696158"/>
                </a:solidFill>
              </a:rPr>
              <a:t>Perfil de cargo y rango de renta</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696158"/>
                </a:solidFill>
              </a:rPr>
              <a:t>Posición vacante en organigrama (SSFF)</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696158"/>
                </a:solidFill>
              </a:rPr>
              <a:t>Condiciones contractuales, turnos y horarios</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Trabajador contratado y registrado en sistemas</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Proceso de selección cerrado en SSFF</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Trabajador incorporado al Área Solicitante</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chemeClr val="tx1"/>
                </a:solidFill>
                <a:ea typeface="Calibri"/>
                <a:cs typeface="Calibri"/>
              </a:rPr>
              <a:t>SuccessFactors (Reclutamiento e Incorporación)</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Portal ARAUCO</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LinkedIn y portales externos</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Encuesta HAL y pruebas psicométricas</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Tiempo de cobertura de vacante</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procesos con candidatas mujeres y PcD</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Tasa de aceptación de carta oferta</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Tree>
  </p:cSld>
  <p:clrMapOvr>
    <a:masterClrMapping/>
  </p:clrMapOvr>
  <mc:AlternateContent>
    <mc:Choice Requires="p14">
      <p:transition p14:dur="250">
        <p:fade/>
      </p:transition>
    </mc:Choice>
    <mc:Fallback>
      <p:transition>
        <p:fade/>
      </p:transition>
    </mc:Fallback>
  </mc:AlternateContent>
</p:sld>
</file>

<file path=ppt/slides/slide26.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C.</a:t>
            </a:r>
            <a:r>
              <a:rPr lang="es-CL" sz="2400">
                <a:solidFill>
                  <a:schemeClr val="tx1"/>
                </a:solidFill>
              </a:rPr>
              <a:t> SIPOC| </a:t>
            </a:r>
            <a:r>
              <a:rPr lang="es-CL" sz="2400"/>
              <a:t>Atracción y selección de personas</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633013"/>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Trabajador contratado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Área Solicitante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Proceso cerrado en SSFF</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Gerencia de Personas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Trabajador incorporado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Área Solicitante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Atraer, evaluar, seleccionar, contratar e incorporar a las personas idóneas para cada vacante, en los plazos requeridos y promoviendo la inclusión de mujeres y personas con discapacidad (PcD).</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endParaRPr lang="es-CL" sz="9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860247"/>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rowSpan="2">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Área Solicitante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Necesidad de personal</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vMerge="1">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Cargo y N° de vacantes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EP</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Rango de renta, perfil y condiciones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B</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Grado y banda de renta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Requisición y apertura de vacante</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Reclutamiento y preselección</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ee4pHeader1"/>
          <p:cNvSpPr>
            <a:spLocks noChangeArrowheads="1"/>
          </p:cNvSpPr>
          <p:nvPr/>
        </p:nvSpPr>
        <p:spPr bwMode="gray">
          <a:xfrm>
            <a:off x="5040000" y="29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Evaluación y selección de candidatos</a:t>
            </a:r>
          </a:p>
        </p:txBody>
      </p:sp>
      <p:sp>
        <p:nvSpPr>
          <p:cNvPr id="23" name="Oval 20"/>
          <p:cNvSpPr>
            <a:spLocks noChangeAspect="1" noChangeArrowheads="1"/>
          </p:cNvSpPr>
          <p:nvPr/>
        </p:nvSpPr>
        <p:spPr bwMode="auto">
          <a:xfrm>
            <a:off x="4752000" y="29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C.3</a:t>
            </a:r>
          </a:p>
        </p:txBody>
      </p:sp>
      <p:cxnSp>
        <p:nvCxnSpPr>
          <p:cNvPr id="24" name="Straight Arrow Connector 11"/>
          <p:cNvCxnSpPr>
            <a:cxnSpLocks/>
          </p:cNvCxnSpPr>
          <p:nvPr/>
        </p:nvCxnSpPr>
        <p:spPr>
          <a:xfrm>
            <a:off x="6120000" y="28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ee4pHeader1"/>
          <p:cNvSpPr>
            <a:spLocks noChangeArrowheads="1"/>
          </p:cNvSpPr>
          <p:nvPr/>
        </p:nvSpPr>
        <p:spPr bwMode="gray">
          <a:xfrm>
            <a:off x="5040000" y="34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000">
                <a:solidFill>
                  <a:srgbClr val="696158"/>
                </a:solidFill>
                <a:latin typeface="Calibri"/>
              </a:rPr>
              <a:t>Verificación preocupacional y contratación</a:t>
            </a:r>
          </a:p>
        </p:txBody>
      </p:sp>
      <p:sp>
        <p:nvSpPr>
          <p:cNvPr id="26" name="Oval 20"/>
          <p:cNvSpPr>
            <a:spLocks noChangeAspect="1" noChangeArrowheads="1"/>
          </p:cNvSpPr>
          <p:nvPr/>
        </p:nvSpPr>
        <p:spPr bwMode="auto">
          <a:xfrm>
            <a:off x="4752000" y="34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C.4</a:t>
            </a:r>
          </a:p>
        </p:txBody>
      </p:sp>
      <p:cxnSp>
        <p:nvCxnSpPr>
          <p:cNvPr id="27" name="Straight Arrow Connector 11"/>
          <p:cNvCxnSpPr>
            <a:cxnSpLocks/>
          </p:cNvCxnSpPr>
          <p:nvPr/>
        </p:nvCxnSpPr>
        <p:spPr>
          <a:xfrm>
            <a:off x="6120000" y="33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ee4pHeader1"/>
          <p:cNvSpPr>
            <a:spLocks noChangeArrowheads="1"/>
          </p:cNvSpPr>
          <p:nvPr/>
        </p:nvSpPr>
        <p:spPr bwMode="gray">
          <a:xfrm>
            <a:off x="5040000" y="38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Incorporación y onboarding</a:t>
            </a:r>
          </a:p>
        </p:txBody>
      </p:sp>
      <p:sp>
        <p:nvSpPr>
          <p:cNvPr id="29" name="Oval 20"/>
          <p:cNvSpPr>
            <a:spLocks noChangeAspect="1" noChangeArrowheads="1"/>
          </p:cNvSpPr>
          <p:nvPr/>
        </p:nvSpPr>
        <p:spPr bwMode="auto">
          <a:xfrm>
            <a:off x="4752000" y="38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C.5</a:t>
            </a:r>
          </a:p>
        </p:txBody>
      </p:sp>
      <p:cxnSp>
        <p:nvCxnSpPr>
          <p:cNvPr id="30" name="Straight Arrow Connector 11"/>
          <p:cNvCxnSpPr>
            <a:cxnSpLocks/>
          </p:cNvCxnSpPr>
          <p:nvPr/>
        </p:nvCxnSpPr>
        <p:spPr>
          <a:xfrm>
            <a:off x="6120000" y="37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Connector 10"/>
          <p:cNvCxnSpPr>
            <a:cxnSpLocks/>
          </p:cNvCxnSpPr>
          <p:nvPr/>
        </p:nvCxnSpPr>
        <p:spPr>
          <a:xfrm>
            <a:off x="4320000" y="2089502"/>
            <a:ext cx="0" cy="1392247"/>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10"/>
          <p:cNvCxnSpPr>
            <a:cxnSpLocks/>
          </p:cNvCxnSpPr>
          <p:nvPr/>
        </p:nvCxnSpPr>
        <p:spPr>
          <a:xfrm>
            <a:off x="7812000" y="2075078"/>
            <a:ext cx="0" cy="107492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Straight Arrow Connector 11"/>
          <p:cNvCxnSpPr>
            <a:cxnSpLocks/>
          </p:cNvCxnSpPr>
          <p:nvPr/>
        </p:nvCxnSpPr>
        <p:spPr>
          <a:xfrm>
            <a:off x="4320000" y="3150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11"/>
          <p:cNvCxnSpPr>
            <a:cxnSpLocks/>
          </p:cNvCxnSpPr>
          <p:nvPr/>
        </p:nvCxnSpPr>
        <p:spPr>
          <a:xfrm>
            <a:off x="7200000" y="3150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5"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de Seguridad</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6"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7" name="Table 29"/>
          <p:cNvGraphicFramePr>
            <a:graphicFrameLocks noGrp="1"/>
          </p:cNvGraphicFramePr>
          <p:nvPr/>
        </p:nvGraphicFramePr>
        <p:xfrm>
          <a:off x="3852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Requisitos Legales y Compromisos</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27.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C.1 Flujograma subproceso| </a:t>
            </a:r>
            <a:r>
              <a:rPr lang="es-CL">
                <a:solidFill>
                  <a:srgbClr val="BFB800"/>
                </a:solidFill>
              </a:rPr>
              <a:t>Requisición y apertura de vacante</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Validar, priorizar y formalizar la necesidad de personal, abrir el proceso en SSFF y definir la estrategia de búsqueda y publicación.</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Área Solicitante</a:t>
              </a:r>
            </a:p>
            <a:p>
              <a:pPr marL="323850" lvl="1" indent="-215900"/>
              <a:r>
                <a:rPr lang="es-CL" sz="1200">
                  <a:latin typeface="+mn-lt"/>
                  <a:ea typeface="Calibri"/>
                  <a:cs typeface="Calibri"/>
                </a:rPr>
                <a:t>EP</a:t>
              </a:r>
            </a:p>
            <a:p>
              <a:pPr marL="323850" lvl="1" indent="-215900"/>
              <a:r>
                <a:rPr lang="es-CL" sz="1200">
                  <a:latin typeface="+mn-lt"/>
                  <a:ea typeface="Calibri"/>
                  <a:cs typeface="Calibri"/>
                </a:rPr>
                <a:t>Operaciones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Portal ARAUCO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LinkedIn</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Días entre requerimiento y publicación</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Jefatura de Atracción y Selección</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Requisición y apertura de vacante</a:t>
            </a:r>
          </a:p>
        </p:txBody>
      </p:sp>
      <p:sp>
        <p:nvSpPr>
          <p:cNvPr id="23" name="Oval 34"/>
          <p:cNvSpPr/>
          <p:nvPr/>
        </p:nvSpPr>
        <p:spPr>
          <a:xfrm>
            <a:off x="1159650" y="3288539"/>
            <a:ext cx="970095"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Necesidad de personal</a:t>
            </a:r>
          </a:p>
        </p:txBody>
      </p:sp>
      <p:sp>
        <p:nvSpPr>
          <p:cNvPr id="24" name="Rectangle: Rounded Corners 39"/>
          <p:cNvSpPr/>
          <p:nvPr/>
        </p:nvSpPr>
        <p:spPr>
          <a:xfrm>
            <a:off x="2308793"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Validar y comunicar la necesidad de personal</a:t>
            </a:r>
          </a:p>
        </p:txBody>
      </p:sp>
      <p:sp>
        <p:nvSpPr>
          <p:cNvPr id="25" name="Rectangle: Rounded Corners 40"/>
          <p:cNvSpPr/>
          <p:nvPr/>
        </p:nvSpPr>
        <p:spPr>
          <a:xfrm>
            <a:off x="2569793"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C.1.1</a:t>
            </a:r>
          </a:p>
        </p:txBody>
      </p:sp>
      <p:sp>
        <p:nvSpPr>
          <p:cNvPr id="26" name="Rectangle: Rounded Corners 39"/>
          <p:cNvSpPr/>
          <p:nvPr/>
        </p:nvSpPr>
        <p:spPr>
          <a:xfrm>
            <a:off x="3440889"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Definir condiciones y abrir el proceso</a:t>
            </a:r>
          </a:p>
        </p:txBody>
      </p:sp>
      <p:sp>
        <p:nvSpPr>
          <p:cNvPr id="27" name="Rectangle: Rounded Corners 40"/>
          <p:cNvSpPr/>
          <p:nvPr/>
        </p:nvSpPr>
        <p:spPr>
          <a:xfrm>
            <a:off x="3701889"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C.1.2</a:t>
            </a:r>
          </a:p>
        </p:txBody>
      </p:sp>
      <p:sp>
        <p:nvSpPr>
          <p:cNvPr id="28"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Definir búsqueda y publicación</a:t>
            </a:r>
          </a:p>
        </p:txBody>
      </p:sp>
      <p:sp>
        <p:nvSpPr>
          <p:cNvPr id="29"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C.1.3</a:t>
            </a:r>
          </a:p>
        </p:txBody>
      </p:sp>
      <p:sp>
        <p:nvSpPr>
          <p:cNvPr id="30" name="Rombo 43"/>
          <p:cNvSpPr/>
          <p:nvPr/>
        </p:nvSpPr>
        <p:spPr>
          <a:xfrm>
            <a:off x="5705079"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¿Proceso masivo o individual?</a:t>
            </a:r>
          </a:p>
        </p:txBody>
      </p:sp>
      <p:sp>
        <p:nvSpPr>
          <p:cNvPr id="31" name="Rectangle: Rounded Corners 39"/>
          <p:cNvSpPr/>
          <p:nvPr/>
        </p:nvSpPr>
        <p:spPr>
          <a:xfrm>
            <a:off x="6837175"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Coordinar proceso masivo</a:t>
            </a:r>
          </a:p>
        </p:txBody>
      </p:sp>
      <p:sp>
        <p:nvSpPr>
          <p:cNvPr id="32" name="Rectangle: Rounded Corners 40"/>
          <p:cNvSpPr/>
          <p:nvPr/>
        </p:nvSpPr>
        <p:spPr>
          <a:xfrm>
            <a:off x="7098175"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C.1.4</a:t>
            </a:r>
          </a:p>
        </p:txBody>
      </p:sp>
      <p:sp>
        <p:nvSpPr>
          <p:cNvPr id="33" name="Oval 15"/>
          <p:cNvSpPr/>
          <p:nvPr/>
        </p:nvSpPr>
        <p:spPr>
          <a:xfrm>
            <a:off x="7952223" y="3288539"/>
            <a:ext cx="970095"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Vacante abierta y publicada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4" name="Conector recto de flecha 47"/>
          <p:cNvCxnSpPr>
            <a:cxnSpLocks/>
          </p:cNvCxnSpPr>
          <p:nvPr/>
        </p:nvCxnSpPr>
        <p:spPr>
          <a:xfrm>
            <a:off x="2129745" y="3612539"/>
            <a:ext cx="17904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3244793"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47"/>
          <p:cNvCxnSpPr>
            <a:cxnSpLocks/>
          </p:cNvCxnSpPr>
          <p:nvPr/>
        </p:nvCxnSpPr>
        <p:spPr>
          <a:xfrm>
            <a:off x="4376889"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47"/>
          <p:cNvCxnSpPr>
            <a:cxnSpLocks/>
          </p:cNvCxnSpPr>
          <p:nvPr/>
        </p:nvCxnSpPr>
        <p:spPr>
          <a:xfrm>
            <a:off x="5508984"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47"/>
          <p:cNvCxnSpPr>
            <a:cxnSpLocks/>
          </p:cNvCxnSpPr>
          <p:nvPr/>
        </p:nvCxnSpPr>
        <p:spPr>
          <a:xfrm>
            <a:off x="6641079"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9" name="CuadroTexto 176"/>
          <p:cNvSpPr txBox="1"/>
          <p:nvPr/>
        </p:nvSpPr>
        <p:spPr>
          <a:xfrm>
            <a:off x="6659079"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40" name="Conector recto de flecha 47"/>
          <p:cNvCxnSpPr>
            <a:cxnSpLocks/>
          </p:cNvCxnSpPr>
          <p:nvPr/>
        </p:nvCxnSpPr>
        <p:spPr>
          <a:xfrm>
            <a:off x="7773175" y="3612539"/>
            <a:ext cx="17904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1" name="Oval 15"/>
          <p:cNvSpPr/>
          <p:nvPr/>
        </p:nvSpPr>
        <p:spPr>
          <a:xfrm>
            <a:off x="5661032" y="4296539"/>
            <a:ext cx="1024095"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Individual: vacante publicada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2" name="Conector recto de flecha 47"/>
          <p:cNvCxnSpPr>
            <a:cxnSpLocks/>
          </p:cNvCxnSpPr>
          <p:nvPr/>
        </p:nvCxnSpPr>
        <p:spPr>
          <a:xfrm>
            <a:off x="6173079"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3" name="CuadroTexto 176"/>
          <p:cNvSpPr txBox="1"/>
          <p:nvPr/>
        </p:nvSpPr>
        <p:spPr>
          <a:xfrm>
            <a:off x="6209079"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2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.1 Actividades y tareas| </a:t>
            </a:r>
            <a:r>
              <a:rPr lang="es-CL" sz="2400"/>
              <a:t>Requisición y apertura de vacante</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4758986"/>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4">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Validar y comunicar la necesidad de personal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Verificar disponibilidad de la vacante con el área de Personas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 · garantiza Generalista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Comunicar el requerimiento a EP y A&amp;S: cargo y N° de vacantes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Recibir la necesidad de personal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Priorizar la necesidad según urgencia en reunión de inicio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4">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Definir condiciones y abrir el proceso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Disponer rango de renta, posición vacante, perfil de cargo, condiciones contractuales, movilización, turnos y horarios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EP</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Abrir el proceso desde el organigrama de posiciones en SSFF</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Aprobar incorporando los apartados de su área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Completar los detalles de publicación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4">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Definir búsqueda y publicación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fuentes de búsqueda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 +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modalidad de publicación: interna, externa o mixta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 +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la oferta a publicar en portal ARAUCO y plataformas, considerando atracción de mujeres y PcD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 +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Enviar la necesidad a las fuentes de búsqueda: LinkedIn y otros portales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Coordinar proceso masivo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Asegurar plazos por zona/planta, N° y disponibilidad de vacantes, compensaciones, perfiles y propuesta de valor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Obtener validación de Operaciones y de EP</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Coordinar reunión semanal de seguimiento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Requisición y apertura de vacante</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7" name="Rectangle: Rounded Corners 20"/>
          <p:cNvSpPr/>
          <p:nvPr/>
        </p:nvSpPr>
        <p:spPr>
          <a:xfrm>
            <a:off x="363262" y="200700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C.1.1</a:t>
            </a:r>
          </a:p>
        </p:txBody>
      </p:sp>
      <p:sp>
        <p:nvSpPr>
          <p:cNvPr id="8" name="Rectangle: Rounded Corners 20"/>
          <p:cNvSpPr/>
          <p:nvPr/>
        </p:nvSpPr>
        <p:spPr>
          <a:xfrm>
            <a:off x="363262" y="30656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C.1.2</a:t>
            </a:r>
          </a:p>
        </p:txBody>
      </p:sp>
      <p:sp>
        <p:nvSpPr>
          <p:cNvPr id="9" name="Rectangle: Rounded Corners 20"/>
          <p:cNvSpPr/>
          <p:nvPr/>
        </p:nvSpPr>
        <p:spPr>
          <a:xfrm>
            <a:off x="363262" y="428906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C.1.3</a:t>
            </a:r>
          </a:p>
        </p:txBody>
      </p:sp>
      <p:sp>
        <p:nvSpPr>
          <p:cNvPr id="10" name="Rectangle: Rounded Corners 20"/>
          <p:cNvSpPr/>
          <p:nvPr/>
        </p:nvSpPr>
        <p:spPr>
          <a:xfrm>
            <a:off x="363262" y="539049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C.1.4</a:t>
            </a:r>
          </a:p>
        </p:txBody>
      </p:sp>
    </p:spTree>
  </p:cSld>
  <p:clrMapOvr>
    <a:masterClrMapping/>
  </p:clrMapOvr>
  <mc:AlternateContent>
    <mc:Choice Requires="p14">
      <p:transition p14:dur="250">
        <p:fade/>
      </p:transition>
    </mc:Choice>
    <mc:Fallback>
      <p:transition>
        <p:fade/>
      </p:transition>
    </mc:Fallback>
  </mc:AlternateContent>
</p:sld>
</file>

<file path=ppt/slides/slide29.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C.2 Flujograma subproceso| </a:t>
            </a:r>
            <a:r>
              <a:rPr lang="es-CL">
                <a:solidFill>
                  <a:srgbClr val="BFB800"/>
                </a:solidFill>
              </a:rPr>
              <a:t>Reclutamiento y preselección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Publicar la vacante, recepcionar y filtrar postulaciones y obtener de la jefatura solicitante los candidatos que avanzan.</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Consultora de Selección</a:t>
              </a:r>
            </a:p>
            <a:p>
              <a:pPr marL="323850" lvl="1" indent="-215900"/>
              <a:r>
                <a:rPr lang="es-CL" sz="1200">
                  <a:latin typeface="+mn-lt"/>
                  <a:ea typeface="Calibri"/>
                  <a:cs typeface="Calibri"/>
                </a:rPr>
                <a:t>Jefatura Solicitante</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Portal ARAUCO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N° de postulantes por vacante</a:t>
              </a:r>
            </a:p>
            <a:p>
              <a:pPr marL="377825" lvl="1" indent="-251460"/>
              <a:r>
                <a:rPr lang="es-CL" sz="1200">
                  <a:solidFill>
                    <a:srgbClr val="EA7600"/>
                  </a:solidFill>
                  <a:ea typeface="Calibri"/>
                  <a:cs typeface="Calibri"/>
                </a:rPr>
                <a:t>% de candidatas mujeres y PcD preseleccionadas</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Jefatura de Atracción y Selección</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Reclutamiento y preselección</a:t>
            </a:r>
          </a:p>
        </p:txBody>
      </p:sp>
      <p:sp>
        <p:nvSpPr>
          <p:cNvPr id="23" name="Oval 34"/>
          <p:cNvSpPr/>
          <p:nvPr/>
        </p:nvSpPr>
        <p:spPr>
          <a:xfrm>
            <a:off x="1331117"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Vacante publicada</a:t>
            </a:r>
          </a:p>
        </p:txBody>
      </p:sp>
      <p:sp>
        <p:nvSpPr>
          <p:cNvPr id="24" name="Rectangle: Rounded Corners 39"/>
          <p:cNvSpPr/>
          <p:nvPr/>
        </p:nvSpPr>
        <p:spPr>
          <a:xfrm>
            <a:off x="298805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Reclutamiento y filtro curricular</a:t>
            </a:r>
          </a:p>
        </p:txBody>
      </p:sp>
      <p:sp>
        <p:nvSpPr>
          <p:cNvPr id="25" name="Rectangle: Rounded Corners 40"/>
          <p:cNvSpPr/>
          <p:nvPr/>
        </p:nvSpPr>
        <p:spPr>
          <a:xfrm>
            <a:off x="324905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C.2.1</a:t>
            </a:r>
          </a:p>
        </p:txBody>
      </p:sp>
      <p:sp>
        <p:nvSpPr>
          <p:cNvPr id="26"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Revisión del área solicitante</a:t>
            </a:r>
          </a:p>
        </p:txBody>
      </p:sp>
      <p:sp>
        <p:nvSpPr>
          <p:cNvPr id="27"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C.2.2</a:t>
            </a:r>
          </a:p>
        </p:txBody>
      </p:sp>
      <p:sp>
        <p:nvSpPr>
          <p:cNvPr id="28" name="Rombo 43"/>
          <p:cNvSpPr/>
          <p:nvPr/>
        </p:nvSpPr>
        <p:spPr>
          <a:xfrm>
            <a:off x="6157918"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¿Algún perfil se ajusta?</a:t>
            </a:r>
          </a:p>
        </p:txBody>
      </p:sp>
      <p:sp>
        <p:nvSpPr>
          <p:cNvPr id="29" name="Oval 15"/>
          <p:cNvSpPr/>
          <p:nvPr/>
        </p:nvSpPr>
        <p:spPr>
          <a:xfrm>
            <a:off x="7670851"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Candidatos preseleccionados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0" name="Conector recto de flecha 47"/>
          <p:cNvCxnSpPr>
            <a:cxnSpLocks/>
          </p:cNvCxnSpPr>
          <p:nvPr/>
        </p:nvCxnSpPr>
        <p:spPr>
          <a:xfrm>
            <a:off x="2411117"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47"/>
          <p:cNvCxnSpPr>
            <a:cxnSpLocks/>
          </p:cNvCxnSpPr>
          <p:nvPr/>
        </p:nvCxnSpPr>
        <p:spPr>
          <a:xfrm>
            <a:off x="3924050"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47"/>
          <p:cNvCxnSpPr>
            <a:cxnSpLocks/>
          </p:cNvCxnSpPr>
          <p:nvPr/>
        </p:nvCxnSpPr>
        <p:spPr>
          <a:xfrm>
            <a:off x="5508984"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7093918"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4" name="CuadroTexto 176"/>
          <p:cNvSpPr txBox="1"/>
          <p:nvPr/>
        </p:nvSpPr>
        <p:spPr>
          <a:xfrm>
            <a:off x="7111918"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sp>
        <p:nvSpPr>
          <p:cNvPr id="35" name="CuadroTexto 176"/>
          <p:cNvSpPr txBox="1"/>
          <p:nvPr/>
        </p:nvSpPr>
        <p:spPr>
          <a:xfrm>
            <a:off x="6013918" y="4296539"/>
            <a:ext cx="1224000" cy="468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Segunda entrega de filtro CV · vuelve a C.2.1</a:t>
            </a:r>
          </a:p>
        </p:txBody>
      </p:sp>
      <p:cxnSp>
        <p:nvCxnSpPr>
          <p:cNvPr id="36" name="Conector recto de flecha 47"/>
          <p:cNvCxnSpPr>
            <a:cxnSpLocks/>
          </p:cNvCxnSpPr>
          <p:nvPr/>
        </p:nvCxnSpPr>
        <p:spPr>
          <a:xfrm>
            <a:off x="6625918"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7" name="CuadroTexto 176"/>
          <p:cNvSpPr txBox="1"/>
          <p:nvPr/>
        </p:nvSpPr>
        <p:spPr>
          <a:xfrm>
            <a:off x="6661918"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30.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.2 Actividades y tareas| </a:t>
            </a:r>
            <a:r>
              <a:rPr lang="es-CL" sz="2400"/>
              <a:t>Reclutamiento y preselección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5003032"/>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9">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Reclutamiento y filtro curricular</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Compliance: rol supervisor y extranjero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antecedente Ex ARAUCO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condición de extranjero y visa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el perfil de cargo con el Área Solicitante si es necesario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Abrir el proceso en plataforma SSFF</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Publicar en portal interno y portales externos de empleo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Recepcionar postulaciones a través del portal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Aplicar filtro curricular intencionando candidatas mujeres y PcD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Dar acceso a la Jefatura Solicitante a los CV</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7">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Revisión del área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los CV según los requisitos del perfil de cargo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Jefatura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Preseleccionar máximo 6 perfiles, intencionando mujeres y PcD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Jefatura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Acordar una segunda entrega de filtro CV</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Comunicar a A&amp;S los candidatos que avanzan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Notificar a la persona si pasó o no a la siguiente etapa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Notificar y agradecer a los no seleccionados por filtro de jefatura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En masivos, avanzar sin revisión de jefatura, previa revisión telefónica de antecedentes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Reclutamiento y preselección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7" name="Rectangle: Rounded Corners 20"/>
          <p:cNvSpPr/>
          <p:nvPr/>
        </p:nvSpPr>
        <p:spPr>
          <a:xfrm>
            <a:off x="363262" y="278196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C.2.1</a:t>
            </a:r>
          </a:p>
        </p:txBody>
      </p:sp>
      <p:sp>
        <p:nvSpPr>
          <p:cNvPr id="8" name="Rectangle: Rounded Corners 20"/>
          <p:cNvSpPr/>
          <p:nvPr/>
        </p:nvSpPr>
        <p:spPr>
          <a:xfrm>
            <a:off x="363262" y="506402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C.2.2</a:t>
            </a:r>
          </a:p>
        </p:txBody>
      </p:sp>
    </p:spTree>
  </p:cSld>
  <p:clrMapOvr>
    <a:masterClrMapping/>
  </p:clrMapOvr>
  <mc:AlternateContent>
    <mc:Choice Requires="p14">
      <p:transition p14:dur="250">
        <p:fade/>
      </p:transition>
    </mc:Choice>
    <mc:Fallback>
      <p:transition>
        <p:fade/>
      </p:transition>
    </mc:Fallback>
  </mc:AlternateContent>
</p:sld>
</file>

<file path=ppt/slides/slide31.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C.3 Flujograma subproceso| </a:t>
            </a:r>
            <a:r>
              <a:rPr lang="es-CL">
                <a:solidFill>
                  <a:srgbClr val="BFB800"/>
                </a:solidFill>
              </a:rPr>
              <a:t>Evaluación y selección de candidatos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Evaluar a los candidatos preseleccionados en lo psicolaboral, técnico y con la jefatura solicitante, y definir el candidato seleccionado.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Consultora de Selección</a:t>
              </a:r>
            </a:p>
            <a:p>
              <a:pPr marL="323850" lvl="1" indent="-215900"/>
              <a:r>
                <a:rPr lang="es-CL" sz="1200">
                  <a:latin typeface="+mn-lt"/>
                  <a:ea typeface="Calibri"/>
                  <a:cs typeface="Calibri"/>
                </a:rPr>
                <a:t>Equipo de Inclusión</a:t>
              </a:r>
            </a:p>
            <a:p>
              <a:pPr marL="323850" lvl="1" indent="-215900"/>
              <a:r>
                <a:rPr lang="es-CL" sz="1200">
                  <a:latin typeface="+mn-lt"/>
                  <a:ea typeface="Calibri"/>
                  <a:cs typeface="Calibri"/>
                </a:rPr>
                <a:t>Terapeuta Ocupacional</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Encuesta HAL</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Pruebas psicométricas y técnicas</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candidatos recomendables</a:t>
              </a:r>
            </a:p>
            <a:p>
              <a:pPr marL="377825" lvl="1" indent="-251460"/>
              <a:r>
                <a:rPr lang="es-CL" sz="1200">
                  <a:solidFill>
                    <a:srgbClr val="EA7600"/>
                  </a:solidFill>
                  <a:ea typeface="Calibri"/>
                  <a:cs typeface="Calibri"/>
                </a:rPr>
                <a:t>Días de evaluación por proceso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Jefatura de Atracción y Selección</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Evaluación y selección de candidatos</a:t>
            </a:r>
          </a:p>
        </p:txBody>
      </p:sp>
      <p:sp>
        <p:nvSpPr>
          <p:cNvPr id="23" name="Oval 34"/>
          <p:cNvSpPr/>
          <p:nvPr/>
        </p:nvSpPr>
        <p:spPr>
          <a:xfrm>
            <a:off x="1199039"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Candidatos preseleccionados</a:t>
            </a:r>
          </a:p>
        </p:txBody>
      </p:sp>
      <p:sp>
        <p:nvSpPr>
          <p:cNvPr id="24" name="Rectangle: Rounded Corners 39"/>
          <p:cNvSpPr/>
          <p:nvPr/>
        </p:nvSpPr>
        <p:spPr>
          <a:xfrm>
            <a:off x="2591817"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Evaluación de selección · psicolaboral</a:t>
            </a:r>
          </a:p>
        </p:txBody>
      </p:sp>
      <p:sp>
        <p:nvSpPr>
          <p:cNvPr id="25" name="Rectangle: Rounded Corners 40"/>
          <p:cNvSpPr/>
          <p:nvPr/>
        </p:nvSpPr>
        <p:spPr>
          <a:xfrm>
            <a:off x="2852817"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C.3.1</a:t>
            </a:r>
          </a:p>
        </p:txBody>
      </p:sp>
      <p:sp>
        <p:nvSpPr>
          <p:cNvPr id="26" name="Rombo 43"/>
          <p:cNvSpPr/>
          <p:nvPr/>
        </p:nvSpPr>
        <p:spPr>
          <a:xfrm>
            <a:off x="3912595"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Resultado: ¿Recomendable?</a:t>
            </a:r>
          </a:p>
        </p:txBody>
      </p:sp>
      <p:sp>
        <p:nvSpPr>
          <p:cNvPr id="27" name="Rectangle: Rounded Corners 39"/>
          <p:cNvSpPr/>
          <p:nvPr/>
        </p:nvSpPr>
        <p:spPr>
          <a:xfrm>
            <a:off x="5233373"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Evaluación del área solicitante</a:t>
            </a:r>
          </a:p>
        </p:txBody>
      </p:sp>
      <p:sp>
        <p:nvSpPr>
          <p:cNvPr id="28" name="Rectangle: Rounded Corners 40"/>
          <p:cNvSpPr/>
          <p:nvPr/>
        </p:nvSpPr>
        <p:spPr>
          <a:xfrm>
            <a:off x="5494373"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C.3.2</a:t>
            </a:r>
          </a:p>
        </p:txBody>
      </p:sp>
      <p:sp>
        <p:nvSpPr>
          <p:cNvPr id="29" name="Rombo 43"/>
          <p:cNvSpPr/>
          <p:nvPr/>
        </p:nvSpPr>
        <p:spPr>
          <a:xfrm>
            <a:off x="6554151"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¿Avanza?</a:t>
            </a:r>
          </a:p>
        </p:txBody>
      </p:sp>
      <p:sp>
        <p:nvSpPr>
          <p:cNvPr id="30" name="Oval 15"/>
          <p:cNvSpPr/>
          <p:nvPr/>
        </p:nvSpPr>
        <p:spPr>
          <a:xfrm>
            <a:off x="7802929"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Candidato seleccionado para examen médico</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1" name="Conector recto de flecha 47"/>
          <p:cNvCxnSpPr>
            <a:cxnSpLocks/>
          </p:cNvCxnSpPr>
          <p:nvPr/>
        </p:nvCxnSpPr>
        <p:spPr>
          <a:xfrm>
            <a:off x="2279039"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47"/>
          <p:cNvCxnSpPr>
            <a:cxnSpLocks/>
          </p:cNvCxnSpPr>
          <p:nvPr/>
        </p:nvCxnSpPr>
        <p:spPr>
          <a:xfrm>
            <a:off x="3527817"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4848595"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4" name="CuadroTexto 176"/>
          <p:cNvSpPr txBox="1"/>
          <p:nvPr/>
        </p:nvSpPr>
        <p:spPr>
          <a:xfrm>
            <a:off x="4866595"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35" name="Conector recto de flecha 47"/>
          <p:cNvCxnSpPr>
            <a:cxnSpLocks/>
          </p:cNvCxnSpPr>
          <p:nvPr/>
        </p:nvCxnSpPr>
        <p:spPr>
          <a:xfrm>
            <a:off x="6169373" y="36125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47"/>
          <p:cNvCxnSpPr>
            <a:cxnSpLocks/>
          </p:cNvCxnSpPr>
          <p:nvPr/>
        </p:nvCxnSpPr>
        <p:spPr>
          <a:xfrm>
            <a:off x="7490151" y="36125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7" name="CuadroTexto 176"/>
          <p:cNvSpPr txBox="1"/>
          <p:nvPr/>
        </p:nvSpPr>
        <p:spPr>
          <a:xfrm>
            <a:off x="7508151"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sp>
        <p:nvSpPr>
          <p:cNvPr id="38" name="Oval 15"/>
          <p:cNvSpPr/>
          <p:nvPr/>
        </p:nvSpPr>
        <p:spPr>
          <a:xfrm>
            <a:off x="3840595" y="4296539"/>
            <a:ext cx="1080000"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No recomendable: feedback verbal</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9" name="Conector recto de flecha 47"/>
          <p:cNvCxnSpPr>
            <a:cxnSpLocks/>
          </p:cNvCxnSpPr>
          <p:nvPr/>
        </p:nvCxnSpPr>
        <p:spPr>
          <a:xfrm>
            <a:off x="4380595"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0" name="CuadroTexto 176"/>
          <p:cNvSpPr txBox="1"/>
          <p:nvPr/>
        </p:nvSpPr>
        <p:spPr>
          <a:xfrm>
            <a:off x="4416595"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
        <p:nvSpPr>
          <p:cNvPr id="41" name="Oval 15"/>
          <p:cNvSpPr/>
          <p:nvPr/>
        </p:nvSpPr>
        <p:spPr>
          <a:xfrm>
            <a:off x="6482151" y="4296539"/>
            <a:ext cx="1080000"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Razón de no continuidad informada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2" name="Conector recto de flecha 47"/>
          <p:cNvCxnSpPr>
            <a:cxnSpLocks/>
          </p:cNvCxnSpPr>
          <p:nvPr/>
        </p:nvCxnSpPr>
        <p:spPr>
          <a:xfrm>
            <a:off x="7022151"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3" name="CuadroTexto 176"/>
          <p:cNvSpPr txBox="1"/>
          <p:nvPr/>
        </p:nvSpPr>
        <p:spPr>
          <a:xfrm>
            <a:off x="7058151"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3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.3 Actividades y tareas| </a:t>
            </a:r>
            <a:r>
              <a:rPr lang="es-CL" sz="2400"/>
              <a:t>Evaluación y selección de candidatos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3288264"/>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1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Evaluación de selección · psicolaboral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Contactar a los candidatos preseleccionados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Aplicar entrevista psicolaboral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Aplicar encuesta HAL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Aplicar pruebas psicométricas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Aplicar pruebas técnicas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Levantar referencias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Elaborar informe de resultados psicolaboral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Cargar los resultados en SSFF</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Consultora de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Retroalimentar al Área Solicitante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Notificar a los postulantes descartados su no continuidad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No Recomendable: no compartir el informe psicolaboral, entregar feedback verbal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Evaluación y selección de candidatos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7" name="Rectangle: Rounded Corners 20"/>
          <p:cNvSpPr/>
          <p:nvPr/>
        </p:nvSpPr>
        <p:spPr>
          <a:xfrm>
            <a:off x="363262" y="294358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C.3.1</a:t>
            </a:r>
          </a:p>
        </p:txBody>
      </p:sp>
    </p:spTree>
  </p:cSld>
  <p:clrMapOvr>
    <a:masterClrMapping/>
  </p:clrMapOvr>
  <mc:AlternateContent>
    <mc:Choice Requires="p14">
      <p:transition p14:dur="250">
        <p:fade/>
      </p:transition>
    </mc:Choice>
    <mc:Fallback>
      <p:transition>
        <p:fade/>
      </p:transition>
    </mc:Fallback>
  </mc:AlternateContent>
</p:sld>
</file>

<file path=ppt/slides/slide3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.3 Actividades y tareas| </a:t>
            </a:r>
            <a:r>
              <a:rPr lang="es-CL" sz="2400"/>
              <a:t>Evaluación y selección de candidatos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304421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10">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Evaluación del área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Entregar la pauta de entrevista a la jefatura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Coordinar la entrevista con el jefe del área solicitante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Realizar como mínimo una entrevista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Jefatura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Añadir una instancia de entrevista de la jefatura siguiente en la línea (opcional)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Evaluar según la pauta o los criterios de la jefatura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Retroalimentar lo observado e indicar si avanza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Jefatura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Señalar la razón de la no continuidad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Jefatura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Si es PcD recomendable: contactar al equipo de Inclusión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Selección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Gestionar análisis funcional y análisis del puesto de trabajo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Terapeuta Ocupacional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el candidato seleccionado para examen médico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Evaluación y selección de candidatos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7" name="Rectangle: Rounded Corners 20"/>
          <p:cNvSpPr/>
          <p:nvPr/>
        </p:nvSpPr>
        <p:spPr>
          <a:xfrm>
            <a:off x="363262" y="282156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C.3.2</a:t>
            </a:r>
          </a:p>
        </p:txBody>
      </p:sp>
    </p:spTree>
  </p:cSld>
  <p:clrMapOvr>
    <a:masterClrMapping/>
  </p:clrMapOvr>
  <mc:AlternateContent>
    <mc:Choice Requires="p14">
      <p:transition p14:dur="250">
        <p:fade/>
      </p:transition>
    </mc:Choice>
    <mc:Fallback>
      <p:transition>
        <p:fade/>
      </p:transition>
    </mc:Fallback>
  </mc:AlternateContent>
</p:sld>
</file>

<file path=ppt/slides/slide34.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C.4 Flujograma subproceso| </a:t>
            </a:r>
            <a:r>
              <a:rPr lang="es-CL">
                <a:solidFill>
                  <a:srgbClr val="BFB800"/>
                </a:solidFill>
              </a:rPr>
              <a:t>Verificación preocupacional y contratación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Verificar la aptitud del candidato mediante el examen preocupacional y formalizar su contratación con la carta oferta y el contrato.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Laboratorios externos</a:t>
              </a:r>
            </a:p>
            <a:p>
              <a:pPr marL="323850" lvl="1" indent="-215900"/>
              <a:r>
                <a:rPr lang="es-CL" sz="1200">
                  <a:latin typeface="+mn-lt"/>
                  <a:ea typeface="Calibri"/>
                  <a:cs typeface="Calibri"/>
                </a:rPr>
                <a:t>SSO</a:t>
              </a:r>
            </a:p>
            <a:p>
              <a:pPr marL="323850" lvl="1" indent="-215900"/>
              <a:r>
                <a:rPr lang="es-CL" sz="1200">
                  <a:latin typeface="+mn-lt"/>
                  <a:ea typeface="Calibri"/>
                  <a:cs typeface="Calibri"/>
                </a:rPr>
                <a:t>DEI</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Sistemas internos de registro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Tasa de aceptación de carta oferta</a:t>
              </a:r>
            </a:p>
            <a:p>
              <a:pPr marL="377825" lvl="1" indent="-251460"/>
              <a:r>
                <a:rPr lang="es-CL" sz="1200">
                  <a:solidFill>
                    <a:srgbClr val="EA7600"/>
                  </a:solidFill>
                  <a:ea typeface="Calibri"/>
                  <a:cs typeface="Calibri"/>
                </a:rPr>
                <a:t>Días entre selección y firma de contrato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Generalista de Personas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Verificación preocupacional y contratación</a:t>
            </a:r>
          </a:p>
        </p:txBody>
      </p:sp>
      <p:sp>
        <p:nvSpPr>
          <p:cNvPr id="23" name="Oval 34"/>
          <p:cNvSpPr/>
          <p:nvPr/>
        </p:nvSpPr>
        <p:spPr>
          <a:xfrm>
            <a:off x="1331117"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Candidato seleccionado</a:t>
            </a:r>
          </a:p>
        </p:txBody>
      </p:sp>
      <p:sp>
        <p:nvSpPr>
          <p:cNvPr id="24" name="Rectangle: Rounded Corners 39"/>
          <p:cNvSpPr/>
          <p:nvPr/>
        </p:nvSpPr>
        <p:spPr>
          <a:xfrm>
            <a:off x="2988050"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Examen preocupacional</a:t>
            </a:r>
          </a:p>
        </p:txBody>
      </p:sp>
      <p:sp>
        <p:nvSpPr>
          <p:cNvPr id="25" name="Rectangle: Rounded Corners 40"/>
          <p:cNvSpPr/>
          <p:nvPr/>
        </p:nvSpPr>
        <p:spPr>
          <a:xfrm>
            <a:off x="3249050"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C.4.1</a:t>
            </a:r>
          </a:p>
        </p:txBody>
      </p:sp>
      <p:sp>
        <p:nvSpPr>
          <p:cNvPr id="26"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Contratación y carta oferta</a:t>
            </a:r>
          </a:p>
        </p:txBody>
      </p:sp>
      <p:sp>
        <p:nvSpPr>
          <p:cNvPr id="27"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C.4.2</a:t>
            </a:r>
          </a:p>
        </p:txBody>
      </p:sp>
      <p:sp>
        <p:nvSpPr>
          <p:cNvPr id="28" name="Rombo 43"/>
          <p:cNvSpPr/>
          <p:nvPr/>
        </p:nvSpPr>
        <p:spPr>
          <a:xfrm>
            <a:off x="6157918"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¿Acepta la carta oferta?</a:t>
            </a:r>
          </a:p>
        </p:txBody>
      </p:sp>
      <p:sp>
        <p:nvSpPr>
          <p:cNvPr id="29" name="Oval 15"/>
          <p:cNvSpPr/>
          <p:nvPr/>
        </p:nvSpPr>
        <p:spPr>
          <a:xfrm>
            <a:off x="7670851"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Trabajador contratado</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0" name="Conector recto de flecha 47"/>
          <p:cNvCxnSpPr>
            <a:cxnSpLocks/>
          </p:cNvCxnSpPr>
          <p:nvPr/>
        </p:nvCxnSpPr>
        <p:spPr>
          <a:xfrm>
            <a:off x="2411117"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1" name="Conector recto de flecha 47"/>
          <p:cNvCxnSpPr>
            <a:cxnSpLocks/>
          </p:cNvCxnSpPr>
          <p:nvPr/>
        </p:nvCxnSpPr>
        <p:spPr>
          <a:xfrm>
            <a:off x="3924050"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47"/>
          <p:cNvCxnSpPr>
            <a:cxnSpLocks/>
          </p:cNvCxnSpPr>
          <p:nvPr/>
        </p:nvCxnSpPr>
        <p:spPr>
          <a:xfrm>
            <a:off x="5508984" y="3612539"/>
            <a:ext cx="648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47"/>
          <p:cNvCxnSpPr>
            <a:cxnSpLocks/>
          </p:cNvCxnSpPr>
          <p:nvPr/>
        </p:nvCxnSpPr>
        <p:spPr>
          <a:xfrm>
            <a:off x="7093918" y="3612539"/>
            <a:ext cx="576934"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4" name="CuadroTexto 176"/>
          <p:cNvSpPr txBox="1"/>
          <p:nvPr/>
        </p:nvSpPr>
        <p:spPr>
          <a:xfrm>
            <a:off x="7111918"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sp>
        <p:nvSpPr>
          <p:cNvPr id="35" name="Oval 15"/>
          <p:cNvSpPr/>
          <p:nvPr/>
        </p:nvSpPr>
        <p:spPr>
          <a:xfrm>
            <a:off x="6085918" y="4296539"/>
            <a:ext cx="1080000"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Contraoferta o decisión del Área Solicitante</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6" name="Conector recto de flecha 47"/>
          <p:cNvCxnSpPr>
            <a:cxnSpLocks/>
          </p:cNvCxnSpPr>
          <p:nvPr/>
        </p:nvCxnSpPr>
        <p:spPr>
          <a:xfrm>
            <a:off x="6625918"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37" name="CuadroTexto 176"/>
          <p:cNvSpPr txBox="1"/>
          <p:nvPr/>
        </p:nvSpPr>
        <p:spPr>
          <a:xfrm>
            <a:off x="6661918"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35.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.4 Actividades y tareas| </a:t>
            </a:r>
            <a:r>
              <a:rPr lang="es-CL" sz="2400"/>
              <a:t>Verificación preocupacional y contratación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3209064"/>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10">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Examen preocupacional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Oficina o masivo: coordinar los exámenes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Equipo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Planta o zona: coordinar los exámenes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Coordinar con los laboratorios externos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Citar a los candidatos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Descargar los resultados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y gestionar el resultado de los exámenes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Validar los resultados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Cargar los resultados en el perfil de la persona en SSFF</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Notificar al Área Solicitante para posicionar a la persona en el sistema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PcD: reunión de retroalimentación con Área Solicitante, SSO y DEI para determinar ajustes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Verificación preocupacional y contratación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7" name="Rectangle: Rounded Corners 20"/>
          <p:cNvSpPr/>
          <p:nvPr/>
        </p:nvSpPr>
        <p:spPr>
          <a:xfrm>
            <a:off x="363262" y="290398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C.4.1</a:t>
            </a:r>
          </a:p>
        </p:txBody>
      </p:sp>
    </p:spTree>
  </p:cSld>
  <p:clrMapOvr>
    <a:masterClrMapping/>
  </p:clrMapOvr>
  <mc:AlternateContent>
    <mc:Choice Requires="p14">
      <p:transition p14:dur="250">
        <p:fade/>
      </p:transition>
    </mc:Choice>
    <mc:Fallback>
      <p:transition>
        <p:fade/>
      </p:transition>
    </mc:Fallback>
  </mc:AlternateContent>
</p:sld>
</file>

<file path=ppt/slides/slide36.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.4 Actividades y tareas| </a:t>
            </a:r>
            <a:r>
              <a:rPr lang="es-CL" sz="2400"/>
              <a:t>Verificación preocupacional y contratación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4838186"/>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16">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Contratación y carta oferta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Posicionar al candidato para el proceso de contratación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Solicitar la documentación para el contrato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Cargar los documentos al sistema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El propio postulante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Preparar la propuesta de renta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Validar la propuesta de renta entre Generalista y Área Solicitante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Desatar la cadena de aprobación de la propuesta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Generar el flujo de contratación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Generar la carta oferta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Individual: entregar la carta oferta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Solicitante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Masivo: generar y entregar la carta oferta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Analizar si es factible una contraoferta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Rechazo reiterativo: informar al Área Solicitante y resguardar la continuidad operacional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Personas + A&amp;S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Registrar al trabajador en los sistemas internos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Firmar el contrato de trabajo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Generar credenciales y accesos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Cerrar el proceso de selección en SSFF, módulo Reclutamiento e Incorporación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Verificación preocupacional y contratación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7" name="Rectangle: Rounded Corners 20"/>
          <p:cNvSpPr/>
          <p:nvPr/>
        </p:nvSpPr>
        <p:spPr>
          <a:xfrm>
            <a:off x="363262" y="371854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C.4.2</a:t>
            </a:r>
          </a:p>
        </p:txBody>
      </p:sp>
    </p:spTree>
  </p:cSld>
  <p:clrMapOvr>
    <a:masterClrMapping/>
  </p:clrMapOvr>
  <mc:AlternateContent>
    <mc:Choice Requires="p14">
      <p:transition p14:dur="250">
        <p:fade/>
      </p:transition>
    </mc:Choice>
    <mc:Fallback>
      <p:transition>
        <p:fade/>
      </p:transition>
    </mc:Fallback>
  </mc:AlternateContent>
</p:sld>
</file>

<file path=ppt/slides/slide37.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C.5 Flujograma subproceso| </a:t>
            </a:r>
            <a:r>
              <a:rPr lang="es-CL">
                <a:solidFill>
                  <a:srgbClr val="BFB800"/>
                </a:solidFill>
              </a:rPr>
              <a:t>Incorporación y onboarding</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Incorporar al nuevo trabajador con la bienvenida, la inducción Sello Arauco, la charla de seguridad y la entrega de equipos y accesos.</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Gestión de Seguridad</a:t>
              </a:r>
            </a:p>
            <a:p>
              <a:pPr marL="323850" lvl="1" indent="-215900"/>
              <a:r>
                <a:rPr lang="es-CL" sz="1200">
                  <a:latin typeface="+mn-lt"/>
                  <a:ea typeface="Calibri"/>
                  <a:cs typeface="Calibri"/>
                </a:rPr>
                <a:t>Área Solicitante</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SuccessFactors</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ingresos con inducción completa</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Generalista de Personas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Incorporación y onboarding</a:t>
            </a:r>
          </a:p>
        </p:txBody>
      </p:sp>
      <p:sp>
        <p:nvSpPr>
          <p:cNvPr id="23" name="Oval 34"/>
          <p:cNvSpPr/>
          <p:nvPr/>
        </p:nvSpPr>
        <p:spPr>
          <a:xfrm>
            <a:off x="1859428"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Trabajador contratado</a:t>
            </a:r>
          </a:p>
        </p:txBody>
      </p:sp>
      <p:sp>
        <p:nvSpPr>
          <p:cNvPr id="24"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Onboarding e incorporación</a:t>
            </a:r>
          </a:p>
        </p:txBody>
      </p:sp>
      <p:sp>
        <p:nvSpPr>
          <p:cNvPr id="25"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C.5.1</a:t>
            </a:r>
          </a:p>
        </p:txBody>
      </p:sp>
      <p:sp>
        <p:nvSpPr>
          <p:cNvPr id="26" name="Oval 15"/>
          <p:cNvSpPr/>
          <p:nvPr/>
        </p:nvSpPr>
        <p:spPr>
          <a:xfrm>
            <a:off x="7142540"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EA7600"/>
                </a:solidFill>
                <a:effectLst/>
                <a:uLnTx/>
                <a:uFillTx/>
                <a:latin typeface="Calibri"/>
                <a:ea typeface="+mn-ea"/>
                <a:cs typeface="+mn-cs"/>
              </a:rPr>
              <a:t>Trabajador incorporado al área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27" name="Conector recto de flecha 47"/>
          <p:cNvCxnSpPr>
            <a:cxnSpLocks/>
          </p:cNvCxnSpPr>
          <p:nvPr/>
        </p:nvCxnSpPr>
        <p:spPr>
          <a:xfrm>
            <a:off x="2939428" y="3612539"/>
            <a:ext cx="1633556"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47"/>
          <p:cNvCxnSpPr>
            <a:cxnSpLocks/>
          </p:cNvCxnSpPr>
          <p:nvPr/>
        </p:nvCxnSpPr>
        <p:spPr>
          <a:xfrm>
            <a:off x="5508984" y="3612539"/>
            <a:ext cx="1633556"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3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.5 Actividades y tareas| </a:t>
            </a:r>
            <a:r>
              <a:rPr lang="es-CL" sz="2400"/>
              <a:t>Incorporación y onboarding</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720972"/>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8">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Onboarding e incorporación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Ejecutar la bienvenida institucional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Ejecutar la inducción inicial Sello Arauco: compañía, negocio, cultura, seguridad y forma de trabajar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Explicar normativa interna, beneficios y reglamento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Realizar la charla inicial de Seguridad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Entregar EPP y ropa corporativa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Asignar herramientas, equipos y accesos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Coordinar y derivar al nuevo trabajador con el Área Solicitante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Velar por el adecuado proceso de incorporación, último hito de la experiencia del postulante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Incorporación y onboarding</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7" name="Rectangle: Rounded Corners 20"/>
          <p:cNvSpPr/>
          <p:nvPr/>
        </p:nvSpPr>
        <p:spPr>
          <a:xfrm>
            <a:off x="363262" y="26599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C.5.1</a:t>
            </a:r>
          </a:p>
        </p:txBody>
      </p:sp>
    </p:spTree>
  </p:cSld>
  <p:clrMapOvr>
    <a:masterClrMapping/>
  </p:clrMapOvr>
  <mc:AlternateContent>
    <mc:Choice Requires="p14">
      <p:transition p14:dur="250">
        <p:fade/>
      </p:transition>
    </mc:Choice>
    <mc:Fallback>
      <p:transition>
        <p:fade/>
      </p:transition>
    </mc:Fallback>
  </mc:AlternateContent>
</p:sld>
</file>

<file path=ppt/slides/slide39.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Personas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4" name="Rectangle 7"/>
          <p:cNvSpPr/>
          <p:nvPr/>
        </p:nvSpPr>
        <p:spPr>
          <a:xfrm>
            <a:off x="15384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5" name="Oval 20"/>
          <p:cNvSpPr>
            <a:spLocks noChangeAspect="1" noChangeArrowheads="1"/>
          </p:cNvSpPr>
          <p:nvPr/>
        </p:nvSpPr>
        <p:spPr bwMode="auto">
          <a:xfrm>
            <a:off x="22584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1538460" y="223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Identificar necesidades estratégicas de RRHH</a:t>
            </a:r>
          </a:p>
        </p:txBody>
      </p:sp>
      <p:sp>
        <p:nvSpPr>
          <p:cNvPr id="7" name="Rectangle: Rounded Corners 37"/>
          <p:cNvSpPr/>
          <p:nvPr/>
        </p:nvSpPr>
        <p:spPr>
          <a:xfrm>
            <a:off x="19884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15384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Estimar dotación futura</a:t>
            </a:r>
          </a:p>
        </p:txBody>
      </p:sp>
      <p:sp>
        <p:nvSpPr>
          <p:cNvPr id="9" name="Rectangle: Rounded Corners 37"/>
          <p:cNvSpPr/>
          <p:nvPr/>
        </p:nvSpPr>
        <p:spPr>
          <a:xfrm>
            <a:off x="19884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36"/>
          <p:cNvSpPr/>
          <p:nvPr/>
        </p:nvSpPr>
        <p:spPr>
          <a:xfrm>
            <a:off x="15384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Diseñar plan de dotación / organigrama</a:t>
            </a:r>
          </a:p>
        </p:txBody>
      </p:sp>
      <p:sp>
        <p:nvSpPr>
          <p:cNvPr id="11" name="Rectangle: Rounded Corners 37"/>
          <p:cNvSpPr/>
          <p:nvPr/>
        </p:nvSpPr>
        <p:spPr>
          <a:xfrm>
            <a:off x="19884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A.3</a:t>
            </a:r>
          </a:p>
        </p:txBody>
      </p:sp>
      <p:sp>
        <p:nvSpPr>
          <p:cNvPr id="12" name="Rectangle 7"/>
          <p:cNvSpPr/>
          <p:nvPr/>
        </p:nvSpPr>
        <p:spPr>
          <a:xfrm>
            <a:off x="33870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13" name="Oval 20"/>
          <p:cNvSpPr>
            <a:spLocks noChangeAspect="1" noChangeArrowheads="1"/>
          </p:cNvSpPr>
          <p:nvPr/>
        </p:nvSpPr>
        <p:spPr bwMode="auto">
          <a:xfrm>
            <a:off x="41070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4" name="Rectangle 36"/>
          <p:cNvSpPr/>
          <p:nvPr/>
        </p:nvSpPr>
        <p:spPr>
          <a:xfrm>
            <a:off x="33870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Benchmark de remuneración</a:t>
            </a:r>
          </a:p>
        </p:txBody>
      </p:sp>
      <p:sp>
        <p:nvSpPr>
          <p:cNvPr id="15" name="Rectangle: Rounded Corners 37"/>
          <p:cNvSpPr/>
          <p:nvPr/>
        </p:nvSpPr>
        <p:spPr>
          <a:xfrm>
            <a:off x="38370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6" name="Rectangle 36"/>
          <p:cNvSpPr/>
          <p:nvPr/>
        </p:nvSpPr>
        <p:spPr>
          <a:xfrm>
            <a:off x="33870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Valoración del cargo y definición de bandas salariales</a:t>
            </a:r>
          </a:p>
        </p:txBody>
      </p:sp>
      <p:sp>
        <p:nvSpPr>
          <p:cNvPr id="17" name="Rectangle: Rounded Corners 37"/>
          <p:cNvSpPr/>
          <p:nvPr/>
        </p:nvSpPr>
        <p:spPr>
          <a:xfrm>
            <a:off x="38370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8" name="Rectangle 36"/>
          <p:cNvSpPr/>
          <p:nvPr/>
        </p:nvSpPr>
        <p:spPr>
          <a:xfrm>
            <a:off x="33870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Administración periódica del marco de compensación</a:t>
            </a:r>
          </a:p>
        </p:txBody>
      </p:sp>
      <p:sp>
        <p:nvSpPr>
          <p:cNvPr id="19" name="Rectangle: Rounded Corners 37"/>
          <p:cNvSpPr/>
          <p:nvPr/>
        </p:nvSpPr>
        <p:spPr>
          <a:xfrm>
            <a:off x="38370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20" name="Rectangle 36"/>
          <p:cNvSpPr/>
          <p:nvPr/>
        </p:nvSpPr>
        <p:spPr>
          <a:xfrm>
            <a:off x="33870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Gobierno y publicación del marco de compensaciones</a:t>
            </a:r>
          </a:p>
        </p:txBody>
      </p:sp>
      <p:sp>
        <p:nvSpPr>
          <p:cNvPr id="21" name="Rectangle: Rounded Corners 37"/>
          <p:cNvSpPr/>
          <p:nvPr/>
        </p:nvSpPr>
        <p:spPr>
          <a:xfrm>
            <a:off x="38370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B.4</a:t>
            </a:r>
          </a:p>
        </p:txBody>
      </p:sp>
      <p:sp>
        <p:nvSpPr>
          <p:cNvPr id="22" name="Rectangle 7"/>
          <p:cNvSpPr/>
          <p:nvPr/>
        </p:nvSpPr>
        <p:spPr>
          <a:xfrm>
            <a:off x="52356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3" name="Oval 20"/>
          <p:cNvSpPr>
            <a:spLocks noChangeAspect="1" noChangeArrowheads="1"/>
          </p:cNvSpPr>
          <p:nvPr/>
        </p:nvSpPr>
        <p:spPr bwMode="auto">
          <a:xfrm>
            <a:off x="59556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4" name="Rectangle 36"/>
          <p:cNvSpPr/>
          <p:nvPr/>
        </p:nvSpPr>
        <p:spPr>
          <a:xfrm>
            <a:off x="52356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Requisición y apertura de vacante</a:t>
            </a:r>
          </a:p>
        </p:txBody>
      </p:sp>
      <p:sp>
        <p:nvSpPr>
          <p:cNvPr id="25" name="Rectangle: Rounded Corners 37"/>
          <p:cNvSpPr/>
          <p:nvPr/>
        </p:nvSpPr>
        <p:spPr>
          <a:xfrm>
            <a:off x="56856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6" name="Rectangle 36"/>
          <p:cNvSpPr/>
          <p:nvPr/>
        </p:nvSpPr>
        <p:spPr>
          <a:xfrm>
            <a:off x="52356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Reclutamiento y preselección</a:t>
            </a:r>
          </a:p>
        </p:txBody>
      </p:sp>
      <p:sp>
        <p:nvSpPr>
          <p:cNvPr id="27" name="Rectangle: Rounded Corners 37"/>
          <p:cNvSpPr/>
          <p:nvPr/>
        </p:nvSpPr>
        <p:spPr>
          <a:xfrm>
            <a:off x="56856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8" name="Rectangle 36"/>
          <p:cNvSpPr/>
          <p:nvPr/>
        </p:nvSpPr>
        <p:spPr>
          <a:xfrm>
            <a:off x="52356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y selección de candidatos</a:t>
            </a:r>
          </a:p>
        </p:txBody>
      </p:sp>
      <p:sp>
        <p:nvSpPr>
          <p:cNvPr id="29" name="Rectangle: Rounded Corners 37"/>
          <p:cNvSpPr/>
          <p:nvPr/>
        </p:nvSpPr>
        <p:spPr>
          <a:xfrm>
            <a:off x="56856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30" name="Rectangle 36"/>
          <p:cNvSpPr/>
          <p:nvPr/>
        </p:nvSpPr>
        <p:spPr>
          <a:xfrm>
            <a:off x="52356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Verificación preocupacional y contratación</a:t>
            </a:r>
          </a:p>
        </p:txBody>
      </p:sp>
      <p:sp>
        <p:nvSpPr>
          <p:cNvPr id="31" name="Rectangle: Rounded Corners 37"/>
          <p:cNvSpPr/>
          <p:nvPr/>
        </p:nvSpPr>
        <p:spPr>
          <a:xfrm>
            <a:off x="56856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32" name="Rectangle 36"/>
          <p:cNvSpPr/>
          <p:nvPr/>
        </p:nvSpPr>
        <p:spPr>
          <a:xfrm>
            <a:off x="5235660" y="475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Incorporación y onboarding</a:t>
            </a:r>
          </a:p>
        </p:txBody>
      </p:sp>
      <p:sp>
        <p:nvSpPr>
          <p:cNvPr id="33" name="Rectangle: Rounded Corners 37"/>
          <p:cNvSpPr/>
          <p:nvPr/>
        </p:nvSpPr>
        <p:spPr>
          <a:xfrm>
            <a:off x="5685660" y="464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C.5</a:t>
            </a:r>
          </a:p>
        </p:txBody>
      </p:sp>
      <p:sp>
        <p:nvSpPr>
          <p:cNvPr id="34" name="Rectangle 7"/>
          <p:cNvSpPr/>
          <p:nvPr/>
        </p:nvSpPr>
        <p:spPr>
          <a:xfrm>
            <a:off x="70842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35" name="Oval 20"/>
          <p:cNvSpPr>
            <a:spLocks noChangeAspect="1" noChangeArrowheads="1"/>
          </p:cNvSpPr>
          <p:nvPr/>
        </p:nvSpPr>
        <p:spPr bwMode="auto">
          <a:xfrm>
            <a:off x="78042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6" name="Rectangle 36"/>
          <p:cNvSpPr/>
          <p:nvPr/>
        </p:nvSpPr>
        <p:spPr>
          <a:xfrm>
            <a:off x="70842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Formación</a:t>
            </a:r>
          </a:p>
        </p:txBody>
      </p:sp>
      <p:sp>
        <p:nvSpPr>
          <p:cNvPr id="37" name="Rectangle: Rounded Corners 37"/>
          <p:cNvSpPr/>
          <p:nvPr/>
        </p:nvSpPr>
        <p:spPr>
          <a:xfrm>
            <a:off x="75342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8" name="Rectangle 36"/>
          <p:cNvSpPr/>
          <p:nvPr/>
        </p:nvSpPr>
        <p:spPr>
          <a:xfrm>
            <a:off x="70842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Gestión del desempeño</a:t>
            </a:r>
          </a:p>
        </p:txBody>
      </p:sp>
      <p:sp>
        <p:nvSpPr>
          <p:cNvPr id="39" name="Rectangle: Rounded Corners 37"/>
          <p:cNvSpPr/>
          <p:nvPr/>
        </p:nvSpPr>
        <p:spPr>
          <a:xfrm>
            <a:off x="75342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
        <p:nvSpPr>
          <p:cNvPr id="40" name="Rectangle 36"/>
          <p:cNvSpPr/>
          <p:nvPr/>
        </p:nvSpPr>
        <p:spPr>
          <a:xfrm>
            <a:off x="70842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Carrera, sucesión y movilidad</a:t>
            </a:r>
          </a:p>
        </p:txBody>
      </p:sp>
      <p:sp>
        <p:nvSpPr>
          <p:cNvPr id="41" name="Rectangle: Rounded Corners 37"/>
          <p:cNvSpPr/>
          <p:nvPr/>
        </p:nvSpPr>
        <p:spPr>
          <a:xfrm>
            <a:off x="75342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D.3</a:t>
            </a:r>
          </a:p>
        </p:txBody>
      </p:sp>
      <p:sp>
        <p:nvSpPr>
          <p:cNvPr id="42" name="Rectangle 7"/>
          <p:cNvSpPr/>
          <p:nvPr/>
        </p:nvSpPr>
        <p:spPr>
          <a:xfrm>
            <a:off x="89328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43" name="Oval 20"/>
          <p:cNvSpPr>
            <a:spLocks noChangeAspect="1" noChangeArrowheads="1"/>
          </p:cNvSpPr>
          <p:nvPr/>
        </p:nvSpPr>
        <p:spPr bwMode="auto">
          <a:xfrm>
            <a:off x="96528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E</a:t>
            </a:r>
          </a:p>
        </p:txBody>
      </p:sp>
      <p:sp>
        <p:nvSpPr>
          <p:cNvPr id="44" name="Rectangle 36"/>
          <p:cNvSpPr/>
          <p:nvPr/>
        </p:nvSpPr>
        <p:spPr>
          <a:xfrm>
            <a:off x="89328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Remuneración y compensación</a:t>
            </a:r>
          </a:p>
        </p:txBody>
      </p:sp>
      <p:sp>
        <p:nvSpPr>
          <p:cNvPr id="45" name="Rectangle: Rounded Corners 37"/>
          <p:cNvSpPr/>
          <p:nvPr/>
        </p:nvSpPr>
        <p:spPr>
          <a:xfrm>
            <a:off x="93828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E.1</a:t>
            </a:r>
          </a:p>
        </p:txBody>
      </p:sp>
      <p:sp>
        <p:nvSpPr>
          <p:cNvPr id="46" name="Rectangle 36"/>
          <p:cNvSpPr/>
          <p:nvPr/>
        </p:nvSpPr>
        <p:spPr>
          <a:xfrm>
            <a:off x="89328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Beneficios</a:t>
            </a:r>
          </a:p>
        </p:txBody>
      </p:sp>
      <p:sp>
        <p:nvSpPr>
          <p:cNvPr id="47" name="Rectangle: Rounded Corners 37"/>
          <p:cNvSpPr/>
          <p:nvPr/>
        </p:nvSpPr>
        <p:spPr>
          <a:xfrm>
            <a:off x="93828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E.2</a:t>
            </a:r>
          </a:p>
        </p:txBody>
      </p:sp>
    </p:spTree>
  </p:cSld>
  <p:clrMapOvr>
    <a:masterClrMapping/>
  </p:clrMapOvr>
  <mc:AlternateContent>
    <mc:Choice Requires="p14">
      <p:transition p14:dur="250">
        <p:fade/>
      </p:transition>
    </mc:Choice>
    <mc:Fallback>
      <p:transition>
        <p:fade/>
      </p:transition>
    </mc:Fallback>
  </mc:AlternateContent>
</p:sld>
</file>

<file path=ppt/slides/slide40.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 Ficha resumen| </a:t>
            </a:r>
            <a:r>
              <a:rPr lang="es-CL"/>
              <a:t>Desarrollo organizacional</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Desarrollo organizacional</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Desarrollar las capacidades de las personas mediante la formación y habilitación técnica, la gestión del desempeño y la gestión de carrera, sucesión y movilidad, asegurando la continuidad operacional.</a:t>
            </a:r>
            <a:endParaRPr lang="es-ES" sz="12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EA7600"/>
                </a:solidFill>
                <a:ea typeface="Calibri"/>
                <a:cs typeface="Calibri"/>
              </a:rPr>
              <a:t>SG Formación y Cultura</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EA7600"/>
                </a:solidFill>
              </a:rPr>
              <a:t>Brechas de formación detectadas</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Procedimientos, controles y tareas críticas</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Calendario anual de evaluación</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EA7600"/>
                </a:solidFill>
              </a:rPr>
              <a:t>Roles clave y posiciones con riesgo de vacancia</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Trabajadores habilitados en su cargo</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Calificaciones de desempeño cargadas al perfil</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Planes y compromisos de desarrollo</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Matriz de sucesión actualizada</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chemeClr val="tx1"/>
                </a:solidFill>
                <a:ea typeface="Calibri"/>
                <a:cs typeface="Calibri"/>
              </a:rPr>
              <a:t>SuccessFactors (Desempeño y módulos complementarios)</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Plataforma e-learning</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Guías de Entrenamiento en Terreno</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chemeClr val="tx1"/>
                </a:solidFill>
                <a:ea typeface="Calibri"/>
                <a:cs typeface="Calibri"/>
              </a:rPr>
              <a:t>% habilitados en cargo de ingreso, con dominio técnico avanzado y como back-up</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cumplimiento del ciclo de desempeño</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roles clave con sucesor</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Tree>
  </p:cSld>
  <p:clrMapOvr>
    <a:masterClrMapping/>
  </p:clrMapOvr>
  <mc:AlternateContent>
    <mc:Choice Requires="p14">
      <p:transition p14:dur="250">
        <p:fade/>
      </p:transition>
    </mc:Choice>
    <mc:Fallback>
      <p:transition>
        <p:fade/>
      </p:transition>
    </mc:Fallback>
  </mc:AlternateContent>
</p:sld>
</file>

<file path=ppt/slides/slide41.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D.</a:t>
            </a:r>
            <a:r>
              <a:rPr lang="es-CL" sz="2400">
                <a:solidFill>
                  <a:schemeClr val="tx1"/>
                </a:solidFill>
              </a:rPr>
              <a:t> SIPOC| </a:t>
            </a:r>
            <a:r>
              <a:rPr lang="es-CL" sz="2400"/>
              <a:t>Desarrollo organizacional</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989243"/>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584537">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Trabajador habilitado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Jefatura Directa</a:t>
                      </a:r>
                    </a:p>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Gerente de Planta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Calificaciones y planes de desarrollo</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Trabajador</a:t>
                      </a:r>
                    </a:p>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RRHH Local</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Matriz de sucesión</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SG Formación y Cultura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Desarrollar las capacidades de las personas mediante la formación y habilitación técnica, la gestión del desempeño y la gestión de carrera, sucesión y movilidad, asegurando la continuidad operacional.</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631939"/>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C</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Trabajador incorporado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Superintendentes e Ingenieros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Procedimientos, controles y tareas críticas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419691">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696158"/>
                          </a:solidFill>
                          <a:effectLst/>
                          <a:latin typeface="+mn-lt"/>
                          <a:ea typeface="+mn-ea"/>
                          <a:cs typeface="+mn-cs"/>
                        </a:rPr>
                        <a:t>SG Formación y Cultura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Calendario del proceso de evaluación</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Formación</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D.1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Gestión del desempeño</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D.2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ee4pHeader1"/>
          <p:cNvSpPr>
            <a:spLocks noChangeArrowheads="1"/>
          </p:cNvSpPr>
          <p:nvPr/>
        </p:nvSpPr>
        <p:spPr bwMode="gray">
          <a:xfrm>
            <a:off x="5040000" y="29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Carrera, sucesión y movilidad</a:t>
            </a:r>
          </a:p>
        </p:txBody>
      </p:sp>
      <p:sp>
        <p:nvSpPr>
          <p:cNvPr id="23" name="Oval 20"/>
          <p:cNvSpPr>
            <a:spLocks noChangeAspect="1" noChangeArrowheads="1"/>
          </p:cNvSpPr>
          <p:nvPr/>
        </p:nvSpPr>
        <p:spPr bwMode="auto">
          <a:xfrm>
            <a:off x="4752000" y="29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D.3</a:t>
            </a:r>
          </a:p>
        </p:txBody>
      </p:sp>
      <p:cxnSp>
        <p:nvCxnSpPr>
          <p:cNvPr id="24" name="Straight Arrow Connector 11"/>
          <p:cNvCxnSpPr>
            <a:cxnSpLocks/>
          </p:cNvCxnSpPr>
          <p:nvPr/>
        </p:nvCxnSpPr>
        <p:spPr>
          <a:xfrm>
            <a:off x="6120000" y="28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10"/>
          <p:cNvCxnSpPr>
            <a:cxnSpLocks/>
          </p:cNvCxnSpPr>
          <p:nvPr/>
        </p:nvCxnSpPr>
        <p:spPr>
          <a:xfrm>
            <a:off x="4320000" y="2089502"/>
            <a:ext cx="0" cy="1163939"/>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10"/>
          <p:cNvCxnSpPr>
            <a:cxnSpLocks/>
          </p:cNvCxnSpPr>
          <p:nvPr/>
        </p:nvCxnSpPr>
        <p:spPr>
          <a:xfrm>
            <a:off x="7812000" y="2075078"/>
            <a:ext cx="0" cy="1413243"/>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11"/>
          <p:cNvCxnSpPr>
            <a:cxnSpLocks/>
          </p:cNvCxnSpPr>
          <p:nvPr/>
        </p:nvCxnSpPr>
        <p:spPr>
          <a:xfrm>
            <a:off x="4320000" y="2700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11"/>
          <p:cNvCxnSpPr>
            <a:cxnSpLocks/>
          </p:cNvCxnSpPr>
          <p:nvPr/>
        </p:nvCxnSpPr>
        <p:spPr>
          <a:xfrm>
            <a:off x="7200000" y="2700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9"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de Seguridad</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0"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42.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D.1 Flujograma subproceso| </a:t>
            </a:r>
            <a:r>
              <a:rPr lang="es-CL">
                <a:solidFill>
                  <a:srgbClr val="BFB800"/>
                </a:solidFill>
              </a:rPr>
              <a:t>Formación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Diagnosticar brechas, diseñar y ejecutar la formación técnica y normativa, y evaluar y formalizar la habilitación del trabajador en su cargo.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Superintendentes e Ingenieros</a:t>
              </a:r>
            </a:p>
            <a:p>
              <a:pPr marL="323850" lvl="1" indent="-215900"/>
              <a:r>
                <a:rPr lang="es-CL" sz="1200">
                  <a:latin typeface="+mn-lt"/>
                  <a:ea typeface="Calibri"/>
                  <a:cs typeface="Calibri"/>
                </a:rPr>
                <a:t>Tutores Internos</a:t>
              </a:r>
            </a:p>
            <a:p>
              <a:pPr marL="323850" lvl="1" indent="-215900"/>
              <a:r>
                <a:rPr lang="es-CL" sz="1200">
                  <a:latin typeface="+mn-lt"/>
                  <a:ea typeface="Calibri"/>
                  <a:cs typeface="Calibri"/>
                </a:rPr>
                <a:t>Gerencia Técnica</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Plataforma e-learning</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Guías de Entrenamiento en Terreno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Rúbricas de evaluación</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chemeClr val="tx1"/>
                  </a:solidFill>
                  <a:ea typeface="Calibri"/>
                  <a:cs typeface="Calibri"/>
                </a:rPr>
                <a:t>% habilitados en cargo de ingreso, con dominio técnico avanzado y como back-up</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SG Formación / Jefe de Formación</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Formación</a:t>
            </a:r>
          </a:p>
        </p:txBody>
      </p:sp>
      <p:sp>
        <p:nvSpPr>
          <p:cNvPr id="23" name="Oval 34"/>
          <p:cNvSpPr/>
          <p:nvPr/>
        </p:nvSpPr>
        <p:spPr>
          <a:xfrm>
            <a:off x="1199039" y="23940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Necesidad de formación técnica</a:t>
            </a:r>
          </a:p>
        </p:txBody>
      </p:sp>
      <p:sp>
        <p:nvSpPr>
          <p:cNvPr id="24" name="Rectangle: Rounded Corners 39"/>
          <p:cNvSpPr/>
          <p:nvPr/>
        </p:nvSpPr>
        <p:spPr>
          <a:xfrm>
            <a:off x="2591817"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Definir lineamientos y estándares</a:t>
            </a:r>
          </a:p>
        </p:txBody>
      </p:sp>
      <p:sp>
        <p:nvSpPr>
          <p:cNvPr id="25" name="Rectangle: Rounded Corners 40"/>
          <p:cNvSpPr/>
          <p:nvPr/>
        </p:nvSpPr>
        <p:spPr>
          <a:xfrm>
            <a:off x="2852817"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D.1.1</a:t>
            </a:r>
          </a:p>
        </p:txBody>
      </p:sp>
      <p:sp>
        <p:nvSpPr>
          <p:cNvPr id="26" name="Rectangle: Rounded Corners 39"/>
          <p:cNvSpPr/>
          <p:nvPr/>
        </p:nvSpPr>
        <p:spPr>
          <a:xfrm>
            <a:off x="3912595"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Diagnóstico de brechas y diseño</a:t>
            </a:r>
          </a:p>
        </p:txBody>
      </p:sp>
      <p:sp>
        <p:nvSpPr>
          <p:cNvPr id="27" name="Rectangle: Rounded Corners 40"/>
          <p:cNvSpPr/>
          <p:nvPr/>
        </p:nvSpPr>
        <p:spPr>
          <a:xfrm>
            <a:off x="4173595"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D.1.2</a:t>
            </a:r>
          </a:p>
        </p:txBody>
      </p:sp>
      <p:sp>
        <p:nvSpPr>
          <p:cNvPr id="28" name="Rectangle: Rounded Corners 39"/>
          <p:cNvSpPr/>
          <p:nvPr/>
        </p:nvSpPr>
        <p:spPr>
          <a:xfrm>
            <a:off x="5233373"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Planificación y coordinación</a:t>
            </a:r>
          </a:p>
        </p:txBody>
      </p:sp>
      <p:sp>
        <p:nvSpPr>
          <p:cNvPr id="29" name="Rectangle: Rounded Corners 40"/>
          <p:cNvSpPr/>
          <p:nvPr/>
        </p:nvSpPr>
        <p:spPr>
          <a:xfrm>
            <a:off x="5494373"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D.1.3</a:t>
            </a:r>
          </a:p>
        </p:txBody>
      </p:sp>
      <p:sp>
        <p:nvSpPr>
          <p:cNvPr id="30" name="Rectangle: Rounded Corners 39"/>
          <p:cNvSpPr/>
          <p:nvPr/>
        </p:nvSpPr>
        <p:spPr>
          <a:xfrm>
            <a:off x="6554151"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Ejecución de la formación</a:t>
            </a:r>
          </a:p>
        </p:txBody>
      </p:sp>
      <p:sp>
        <p:nvSpPr>
          <p:cNvPr id="31" name="Rectangle: Rounded Corners 40"/>
          <p:cNvSpPr/>
          <p:nvPr/>
        </p:nvSpPr>
        <p:spPr>
          <a:xfrm>
            <a:off x="6815151"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D.1.4</a:t>
            </a:r>
          </a:p>
        </p:txBody>
      </p:sp>
      <p:sp>
        <p:nvSpPr>
          <p:cNvPr id="32" name="Rectangle: Rounded Corners 39"/>
          <p:cNvSpPr/>
          <p:nvPr/>
        </p:nvSpPr>
        <p:spPr>
          <a:xfrm>
            <a:off x="7874929"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Evaluación y habilitación</a:t>
            </a:r>
          </a:p>
        </p:txBody>
      </p:sp>
      <p:sp>
        <p:nvSpPr>
          <p:cNvPr id="33" name="Rectangle: Rounded Corners 40"/>
          <p:cNvSpPr/>
          <p:nvPr/>
        </p:nvSpPr>
        <p:spPr>
          <a:xfrm>
            <a:off x="8135929"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D.1.5</a:t>
            </a:r>
          </a:p>
        </p:txBody>
      </p:sp>
      <p:sp>
        <p:nvSpPr>
          <p:cNvPr id="34" name="Rombo 43"/>
          <p:cNvSpPr/>
          <p:nvPr/>
        </p:nvSpPr>
        <p:spPr>
          <a:xfrm>
            <a:off x="7874929" y="41760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¿Habilitado?</a:t>
            </a:r>
          </a:p>
        </p:txBody>
      </p:sp>
      <p:sp>
        <p:nvSpPr>
          <p:cNvPr id="35" name="Rectangle: Rounded Corners 39"/>
          <p:cNvSpPr/>
          <p:nvPr/>
        </p:nvSpPr>
        <p:spPr>
          <a:xfrm>
            <a:off x="6554151" y="4266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Medición de eficacia y KPI</a:t>
            </a:r>
          </a:p>
        </p:txBody>
      </p:sp>
      <p:sp>
        <p:nvSpPr>
          <p:cNvPr id="36" name="Rectangle: Rounded Corners 40"/>
          <p:cNvSpPr/>
          <p:nvPr/>
        </p:nvSpPr>
        <p:spPr>
          <a:xfrm>
            <a:off x="6815151" y="4168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D.1.6</a:t>
            </a:r>
          </a:p>
        </p:txBody>
      </p:sp>
      <p:sp>
        <p:nvSpPr>
          <p:cNvPr id="37" name="Oval 15"/>
          <p:cNvSpPr/>
          <p:nvPr/>
        </p:nvSpPr>
        <p:spPr>
          <a:xfrm>
            <a:off x="5161373" y="42660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Trabajador habilitado</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8" name="Conector recto de flecha 47"/>
          <p:cNvCxnSpPr>
            <a:cxnSpLocks/>
          </p:cNvCxnSpPr>
          <p:nvPr/>
        </p:nvCxnSpPr>
        <p:spPr>
          <a:xfrm>
            <a:off x="2279039" y="2718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47"/>
          <p:cNvCxnSpPr>
            <a:cxnSpLocks/>
          </p:cNvCxnSpPr>
          <p:nvPr/>
        </p:nvCxnSpPr>
        <p:spPr>
          <a:xfrm>
            <a:off x="3527817"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47"/>
          <p:cNvCxnSpPr>
            <a:cxnSpLocks/>
          </p:cNvCxnSpPr>
          <p:nvPr/>
        </p:nvCxnSpPr>
        <p:spPr>
          <a:xfrm>
            <a:off x="4848595"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7"/>
          <p:cNvCxnSpPr>
            <a:cxnSpLocks/>
          </p:cNvCxnSpPr>
          <p:nvPr/>
        </p:nvCxnSpPr>
        <p:spPr>
          <a:xfrm>
            <a:off x="6169373"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7"/>
          <p:cNvCxnSpPr>
            <a:cxnSpLocks/>
          </p:cNvCxnSpPr>
          <p:nvPr/>
        </p:nvCxnSpPr>
        <p:spPr>
          <a:xfrm>
            <a:off x="7490151"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7"/>
          <p:cNvCxnSpPr>
            <a:cxnSpLocks/>
          </p:cNvCxnSpPr>
          <p:nvPr/>
        </p:nvCxnSpPr>
        <p:spPr>
          <a:xfrm>
            <a:off x="8342929" y="3042039"/>
            <a:ext cx="0" cy="1134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7"/>
          <p:cNvCxnSpPr>
            <a:cxnSpLocks/>
          </p:cNvCxnSpPr>
          <p:nvPr/>
        </p:nvCxnSpPr>
        <p:spPr>
          <a:xfrm flipH="1">
            <a:off x="7490151" y="4590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5" name="CuadroTexto 176"/>
          <p:cNvSpPr txBox="1"/>
          <p:nvPr/>
        </p:nvSpPr>
        <p:spPr>
          <a:xfrm>
            <a:off x="7568929" y="44100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46" name="Conector recto de flecha 47"/>
          <p:cNvCxnSpPr>
            <a:cxnSpLocks/>
          </p:cNvCxnSpPr>
          <p:nvPr/>
        </p:nvCxnSpPr>
        <p:spPr>
          <a:xfrm flipH="1">
            <a:off x="6241373" y="4590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7" name="CuadroTexto 176"/>
          <p:cNvSpPr txBox="1"/>
          <p:nvPr/>
        </p:nvSpPr>
        <p:spPr>
          <a:xfrm>
            <a:off x="7730929" y="5274039"/>
            <a:ext cx="1224000" cy="468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Plan de reforzamiento · vuelve a D.1.4</a:t>
            </a:r>
          </a:p>
        </p:txBody>
      </p:sp>
      <p:cxnSp>
        <p:nvCxnSpPr>
          <p:cNvPr id="48" name="Conector recto de flecha 47"/>
          <p:cNvCxnSpPr>
            <a:cxnSpLocks/>
          </p:cNvCxnSpPr>
          <p:nvPr/>
        </p:nvCxnSpPr>
        <p:spPr>
          <a:xfrm>
            <a:off x="8342929" y="50040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9" name="CuadroTexto 176"/>
          <p:cNvSpPr txBox="1"/>
          <p:nvPr/>
        </p:nvSpPr>
        <p:spPr>
          <a:xfrm>
            <a:off x="8378929" y="50220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4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.1 Actividades y tareas| </a:t>
            </a:r>
            <a:r>
              <a:rPr lang="es-CL" sz="2400"/>
              <a:t>Formación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4356540"/>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08891">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Definir lineamientos y estándares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lineamientos del procedimiento de Formación Técnica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Formación / Jefe de Formación · A: Gerencia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y validar procedimientos, controles y tareas críticas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Superintendentes e Ingenieros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Diagnóstico de brechas y diseño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Ejecutar el diagnóstico de brechas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Especialista de Formación · A: Jefatura Directa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Diseñar programas formativos transversales y específicos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Especialista de Formación · A: SG de Formación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Diseñar y desarrollar las Guías de Entrenamiento en Terreno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Especialista de Formación · A: Jefe de Formación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Planificación y coordinación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Planificar y coordinar el proceso formativo en planta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 · A: Superintendente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Gestionar participación y disponibilidad de trabajadores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5">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Ejecución de la formación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Formación E-learning: nivelación teórica de fundamentos técnicos, procedimientos, riesgos y controles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Entrenamiento en Terreno: revisión teórica en sala y aplicación práctica acompañada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Tutores Internos · A: Jefatura Directa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Análisis de Casos Operacionales: operación normal, detenciones y partidas, condiciones anómalas o de emergencia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Ingenieros / Superintendentes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Formación Normativa: matrices obligatorias, certificaciones, licencias habilitantes y renovaciones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Cumplir las horas de vuelo: tiempo mínimo de práctica efectiva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Formación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7" name="Rectangle: Rounded Corners 20"/>
          <p:cNvSpPr/>
          <p:nvPr/>
        </p:nvSpPr>
        <p:spPr>
          <a:xfrm>
            <a:off x="363262" y="18453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D.1.1</a:t>
            </a:r>
          </a:p>
        </p:txBody>
      </p:sp>
      <p:sp>
        <p:nvSpPr>
          <p:cNvPr id="8" name="Rectangle: Rounded Corners 20"/>
          <p:cNvSpPr/>
          <p:nvPr/>
        </p:nvSpPr>
        <p:spPr>
          <a:xfrm>
            <a:off x="363262" y="253791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D.1.2</a:t>
            </a:r>
          </a:p>
        </p:txBody>
      </p:sp>
      <p:sp>
        <p:nvSpPr>
          <p:cNvPr id="9" name="Rectangle: Rounded Corners 20"/>
          <p:cNvSpPr/>
          <p:nvPr/>
        </p:nvSpPr>
        <p:spPr>
          <a:xfrm>
            <a:off x="363262" y="323045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D.1.3</a:t>
            </a:r>
          </a:p>
        </p:txBody>
      </p:sp>
      <p:sp>
        <p:nvSpPr>
          <p:cNvPr id="10" name="Rectangle: Rounded Corners 20"/>
          <p:cNvSpPr/>
          <p:nvPr/>
        </p:nvSpPr>
        <p:spPr>
          <a:xfrm>
            <a:off x="363262" y="449673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D.1.4</a:t>
            </a:r>
          </a:p>
        </p:txBody>
      </p:sp>
    </p:spTree>
  </p:cSld>
  <p:clrMapOvr>
    <a:masterClrMapping/>
  </p:clrMapOvr>
  <mc:AlternateContent>
    <mc:Choice Requires="p14">
      <p:transition p14:dur="250">
        <p:fade/>
      </p:transition>
    </mc:Choice>
    <mc:Fallback>
      <p:transition>
        <p:fade/>
      </p:transition>
    </mc:Fallback>
  </mc:AlternateContent>
</p:sld>
</file>

<file path=ppt/slides/slide44.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.1 Actividades y tareas| </a:t>
            </a:r>
            <a:r>
              <a:rPr lang="es-CL" sz="2400"/>
              <a:t>Formación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3136310"/>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08891">
                <a:tc rowSpan="5">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Evaluación y habilitación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Evaluar al trabajador en procedimientos, controles, comprensión del proceso, riesgos y toma de decisiones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Tutor / Jefatura Directa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Comité de calibración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Generalista de Personas · A: Superintendente de Personas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Comité de evaluación y habilitación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Superintendentes / Jefaturas · A: Gerente de Planta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No habilitado: definir plan de reforzamiento y reentrenamiento en procedimientos y controles críticos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Formalizar la habilitación con jefaturas, Personas y Gerencia Técnica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Medición de eficacia y KPI</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Medir eficacia con rúbricas y nota mínima de aprobación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Área de Formación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Seguir los KPI de habilitación: cargo de ingreso, dominio técnico avanzado y back-up</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Formación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7" name="Rectangle: Rounded Corners 20"/>
          <p:cNvSpPr/>
          <p:nvPr/>
        </p:nvSpPr>
        <p:spPr>
          <a:xfrm>
            <a:off x="363262" y="254114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D.1.5</a:t>
            </a:r>
          </a:p>
        </p:txBody>
      </p:sp>
      <p:sp>
        <p:nvSpPr>
          <p:cNvPr id="8" name="Rectangle: Rounded Corners 20"/>
          <p:cNvSpPr/>
          <p:nvPr/>
        </p:nvSpPr>
        <p:spPr>
          <a:xfrm>
            <a:off x="363262" y="388984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D.1.6</a:t>
            </a:r>
          </a:p>
        </p:txBody>
      </p:sp>
    </p:spTree>
  </p:cSld>
  <p:clrMapOvr>
    <a:masterClrMapping/>
  </p:clrMapOvr>
  <mc:AlternateContent>
    <mc:Choice Requires="p14">
      <p:transition p14:dur="250">
        <p:fade/>
      </p:transition>
    </mc:Choice>
    <mc:Fallback>
      <p:transition>
        <p:fade/>
      </p:transition>
    </mc:Fallback>
  </mc:AlternateContent>
</p:sld>
</file>

<file path=ppt/slides/slide45.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D.2 Flujograma subproceso| </a:t>
            </a:r>
            <a:r>
              <a:rPr lang="es-CL">
                <a:solidFill>
                  <a:srgbClr val="BFB800"/>
                </a:solidFill>
              </a:rPr>
              <a:t>Gestión del desempeño</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Gestionar el ciclo anual de desempeño por olas, desde la fijación de objetivos hasta la calibración, la retroalimentación y los planes de desarrollo.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RRHH Local / Generalistas</a:t>
              </a:r>
            </a:p>
            <a:p>
              <a:pPr marL="323850" lvl="1" indent="-215900"/>
              <a:r>
                <a:rPr lang="es-CL" sz="1200">
                  <a:latin typeface="+mn-lt"/>
                  <a:ea typeface="Calibri"/>
                  <a:cs typeface="Calibri"/>
                </a:rPr>
                <a:t>Jefatura Directa</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SuccessFactors · módulo Desempeño</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Material comunicacional y guías</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formularios cerrados en plazo</a:t>
              </a:r>
            </a:p>
            <a:p>
              <a:pPr marL="377825" lvl="1" indent="-251460"/>
              <a:r>
                <a:rPr lang="es-CL" sz="1200">
                  <a:solidFill>
                    <a:srgbClr val="EA7600"/>
                  </a:solidFill>
                  <a:ea typeface="Calibri"/>
                  <a:cs typeface="Calibri"/>
                </a:rPr>
                <a:t>% de bajo desempeño con compromiso de desarrollo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chemeClr val="tx1"/>
                  </a:solidFill>
                  <a:latin typeface="+mn-lt"/>
                  <a:cs typeface="Calibri"/>
                  <a:sym typeface="+mn-lt"/>
                </a:rPr>
                <a:t>SG Formación y Cultura</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Gestión del desempeño</a:t>
            </a:r>
          </a:p>
        </p:txBody>
      </p:sp>
      <p:sp>
        <p:nvSpPr>
          <p:cNvPr id="23" name="Oval 34"/>
          <p:cNvSpPr/>
          <p:nvPr/>
        </p:nvSpPr>
        <p:spPr>
          <a:xfrm>
            <a:off x="1159650" y="3288539"/>
            <a:ext cx="970095"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Calendario del proceso de evaluación</a:t>
            </a:r>
          </a:p>
        </p:txBody>
      </p:sp>
      <p:sp>
        <p:nvSpPr>
          <p:cNvPr id="24" name="Rectangle: Rounded Corners 39"/>
          <p:cNvSpPr/>
          <p:nvPr/>
        </p:nvSpPr>
        <p:spPr>
          <a:xfrm>
            <a:off x="2308793"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Definir objetivos de roles</a:t>
            </a:r>
          </a:p>
        </p:txBody>
      </p:sp>
      <p:sp>
        <p:nvSpPr>
          <p:cNvPr id="25" name="Rectangle: Rounded Corners 40"/>
          <p:cNvSpPr/>
          <p:nvPr/>
        </p:nvSpPr>
        <p:spPr>
          <a:xfrm>
            <a:off x="2569793"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D.2.1</a:t>
            </a:r>
          </a:p>
        </p:txBody>
      </p:sp>
      <p:sp>
        <p:nvSpPr>
          <p:cNvPr id="26" name="Rectangle: Rounded Corners 39"/>
          <p:cNvSpPr/>
          <p:nvPr/>
        </p:nvSpPr>
        <p:spPr>
          <a:xfrm>
            <a:off x="3440889"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Preparación herramienta de evaluación</a:t>
            </a:r>
          </a:p>
        </p:txBody>
      </p:sp>
      <p:sp>
        <p:nvSpPr>
          <p:cNvPr id="27" name="Rectangle: Rounded Corners 40"/>
          <p:cNvSpPr/>
          <p:nvPr/>
        </p:nvSpPr>
        <p:spPr>
          <a:xfrm>
            <a:off x="3701889"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D.2.2</a:t>
            </a:r>
          </a:p>
        </p:txBody>
      </p:sp>
      <p:sp>
        <p:nvSpPr>
          <p:cNvPr id="28"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Ejecución y calibración</a:t>
            </a:r>
          </a:p>
        </p:txBody>
      </p:sp>
      <p:sp>
        <p:nvSpPr>
          <p:cNvPr id="29"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D.2.3</a:t>
            </a:r>
          </a:p>
        </p:txBody>
      </p:sp>
      <p:sp>
        <p:nvSpPr>
          <p:cNvPr id="30" name="Rectangle: Rounded Corners 39"/>
          <p:cNvSpPr/>
          <p:nvPr/>
        </p:nvSpPr>
        <p:spPr>
          <a:xfrm>
            <a:off x="5705079"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Análisis de resultados y compromiso</a:t>
            </a:r>
          </a:p>
        </p:txBody>
      </p:sp>
      <p:sp>
        <p:nvSpPr>
          <p:cNvPr id="31" name="Rectangle: Rounded Corners 40"/>
          <p:cNvSpPr/>
          <p:nvPr/>
        </p:nvSpPr>
        <p:spPr>
          <a:xfrm>
            <a:off x="5966079"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D.2.4</a:t>
            </a:r>
          </a:p>
        </p:txBody>
      </p:sp>
      <p:sp>
        <p:nvSpPr>
          <p:cNvPr id="32" name="Rombo 43"/>
          <p:cNvSpPr/>
          <p:nvPr/>
        </p:nvSpPr>
        <p:spPr>
          <a:xfrm>
            <a:off x="6837175" y="31985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¿Bajo desempeño?</a:t>
            </a:r>
          </a:p>
        </p:txBody>
      </p:sp>
      <p:sp>
        <p:nvSpPr>
          <p:cNvPr id="33" name="Oval 15"/>
          <p:cNvSpPr/>
          <p:nvPr/>
        </p:nvSpPr>
        <p:spPr>
          <a:xfrm>
            <a:off x="7952223" y="3288539"/>
            <a:ext cx="970095"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Compromiso y plan de desarrollo registrados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4" name="Conector recto de flecha 47"/>
          <p:cNvCxnSpPr>
            <a:cxnSpLocks/>
          </p:cNvCxnSpPr>
          <p:nvPr/>
        </p:nvCxnSpPr>
        <p:spPr>
          <a:xfrm>
            <a:off x="2129745" y="3612539"/>
            <a:ext cx="17904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47"/>
          <p:cNvCxnSpPr>
            <a:cxnSpLocks/>
          </p:cNvCxnSpPr>
          <p:nvPr/>
        </p:nvCxnSpPr>
        <p:spPr>
          <a:xfrm>
            <a:off x="3244793"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47"/>
          <p:cNvCxnSpPr>
            <a:cxnSpLocks/>
          </p:cNvCxnSpPr>
          <p:nvPr/>
        </p:nvCxnSpPr>
        <p:spPr>
          <a:xfrm>
            <a:off x="4376889"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47"/>
          <p:cNvCxnSpPr>
            <a:cxnSpLocks/>
          </p:cNvCxnSpPr>
          <p:nvPr/>
        </p:nvCxnSpPr>
        <p:spPr>
          <a:xfrm>
            <a:off x="5508984"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8" name="Conector recto de flecha 47"/>
          <p:cNvCxnSpPr>
            <a:cxnSpLocks/>
          </p:cNvCxnSpPr>
          <p:nvPr/>
        </p:nvCxnSpPr>
        <p:spPr>
          <a:xfrm>
            <a:off x="6641079" y="3612539"/>
            <a:ext cx="196095"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39" name="Conector recto de flecha 47"/>
          <p:cNvCxnSpPr>
            <a:cxnSpLocks/>
          </p:cNvCxnSpPr>
          <p:nvPr/>
        </p:nvCxnSpPr>
        <p:spPr>
          <a:xfrm>
            <a:off x="7773175" y="3612539"/>
            <a:ext cx="17904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0" name="CuadroTexto 176"/>
          <p:cNvSpPr txBox="1"/>
          <p:nvPr/>
        </p:nvSpPr>
        <p:spPr>
          <a:xfrm>
            <a:off x="7791175" y="3432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sp>
        <p:nvSpPr>
          <p:cNvPr id="41" name="Oval 15"/>
          <p:cNvSpPr/>
          <p:nvPr/>
        </p:nvSpPr>
        <p:spPr>
          <a:xfrm>
            <a:off x="6793127" y="4296539"/>
            <a:ext cx="1024095"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Resultados entregados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42" name="Conector recto de flecha 47"/>
          <p:cNvCxnSpPr>
            <a:cxnSpLocks/>
          </p:cNvCxnSpPr>
          <p:nvPr/>
        </p:nvCxnSpPr>
        <p:spPr>
          <a:xfrm>
            <a:off x="7305175" y="40265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3" name="CuadroTexto 176"/>
          <p:cNvSpPr txBox="1"/>
          <p:nvPr/>
        </p:nvSpPr>
        <p:spPr>
          <a:xfrm>
            <a:off x="7341175" y="40445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46.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.2 Actividades y tareas| </a:t>
            </a:r>
            <a:r>
              <a:rPr lang="es-CL" sz="2400"/>
              <a:t>Gestión del desempeño</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4270894"/>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4">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Definir objetivos de roles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Establecer el calendario del proceso de evaluación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Formación y Cultura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Ola 1 · febrero a abril: fijar objetivos del rol ejecutivo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objetivos individuales: trabajador y jefatura acuerdan actividades y proyectos clave (solo rol supervisor y ejecutivo)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Establecer competencias clave a evaluar por rol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9">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Preparación herramienta de evaluación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Ola 2 · mayo: preparación del rol general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Planificar: calendario, novedades de plataforma y validación con las localidades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Probar las plantillas de desempeño y rellenar el formulario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Configurar la plataforma SuccessFactors módulo Desempeño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Formación y Cultura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Preparar el material comunicacional: correo, pantallas, comunicados, diarios murales y folletos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Diseñar el material de acompañamiento: guías, videos y paso a paso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localmente por planta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RRHH Local / Generalistas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Coordinar la validación de los trabajadores participantes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Consolidar el universo de trabajadores a evaluar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Gestión del desempeño</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7" name="Rectangle: Rounded Corners 20"/>
          <p:cNvSpPr/>
          <p:nvPr/>
        </p:nvSpPr>
        <p:spPr>
          <a:xfrm>
            <a:off x="363262" y="208942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D.2.1</a:t>
            </a:r>
          </a:p>
        </p:txBody>
      </p:sp>
      <p:sp>
        <p:nvSpPr>
          <p:cNvPr id="8" name="Rectangle: Rounded Corners 20"/>
          <p:cNvSpPr/>
          <p:nvPr/>
        </p:nvSpPr>
        <p:spPr>
          <a:xfrm>
            <a:off x="363262" y="400541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D.2.2</a:t>
            </a:r>
          </a:p>
        </p:txBody>
      </p:sp>
    </p:spTree>
  </p:cSld>
  <p:clrMapOvr>
    <a:masterClrMapping/>
  </p:clrMapOvr>
  <mc:AlternateContent>
    <mc:Choice Requires="p14">
      <p:transition p14:dur="250">
        <p:fade/>
      </p:transition>
    </mc:Choice>
    <mc:Fallback>
      <p:transition>
        <p:fade/>
      </p:transition>
    </mc:Fallback>
  </mc:AlternateContent>
</p:sld>
</file>

<file path=ppt/slides/slide4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.2 Actividades y tareas| </a:t>
            </a:r>
            <a:r>
              <a:rPr lang="es-CL" sz="2400"/>
              <a:t>Gestión del desempeño</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4435740"/>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1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Ejecución y calibración</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Ola 2 · junio: comienza el proceso propiamente tal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Lanzar los formularios a los trabajadores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Formación y Cultura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Autoevaluación: califica competencias y objetivos (referencial, no entra en la nota final)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Trabajador</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Evaluación: la jefatura directa califica competencias y objetivos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Jefatura Directa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Organizar los comités de calibración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Calibración: RRHH y jefaturas revisan la distribución, balancean y acuerdan el esperable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Facilitar la instancia de calibración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Retroalimentación estructurada jefatura-trabajador: fortalezas y áreas de mejora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Jefatura Directa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El trabajador confirma y envía su feedback</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Trabajador</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Cierre masivo de formularios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Cerrar y cargar las calificaciones al perfil del trabajador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Calcular escala de 5 puntos, rango de desempeño y de potencial (potencial solo supervisor y ejecutivo)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Mostrar los resultados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Gestión del desempeño</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7" name="Rectangle: Rounded Corners 20"/>
          <p:cNvSpPr/>
          <p:nvPr/>
        </p:nvSpPr>
        <p:spPr>
          <a:xfrm>
            <a:off x="363262" y="3517326"/>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D.2.3</a:t>
            </a:r>
          </a:p>
        </p:txBody>
      </p:sp>
    </p:spTree>
  </p:cSld>
  <p:clrMapOvr>
    <a:masterClrMapping/>
  </p:clrMapOvr>
  <mc:AlternateContent>
    <mc:Choice Requires="p14">
      <p:transition p14:dur="250">
        <p:fade/>
      </p:transition>
    </mc:Choice>
    <mc:Fallback>
      <p:transition>
        <p:fade/>
      </p:transition>
    </mc:Fallback>
  </mc:AlternateContent>
</p:sld>
</file>

<file path=ppt/slides/slide4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.2 Actividades y tareas| </a:t>
            </a:r>
            <a:r>
              <a:rPr lang="es-CL" sz="2400"/>
              <a:t>Gestión del desempeño</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909634"/>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4">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Análisis de resultados y compromiso</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Analizar hallazgos y entregar resultados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SG Formación y Cultura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Bajo desempeño: aplicar compromiso de desarrollo y registrar en Bitácora de Desarrollo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Implementar planes de desarrollo y registrar en módulos complementarios de SuccessFactors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RRHH Local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Ola 3 · octubre a diciembre: repetir el ciclo para el rol supervisor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Gestión del desempeño</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7" name="Rectangle: Rounded Corners 20"/>
          <p:cNvSpPr/>
          <p:nvPr/>
        </p:nvSpPr>
        <p:spPr>
          <a:xfrm>
            <a:off x="363262" y="225427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D.2.4</a:t>
            </a:r>
          </a:p>
        </p:txBody>
      </p:sp>
    </p:spTree>
  </p:cSld>
  <p:clrMapOvr>
    <a:masterClrMapping/>
  </p:clrMapOvr>
  <mc:AlternateContent>
    <mc:Choice Requires="p14">
      <p:transition p14:dur="250">
        <p:fade/>
      </p:transition>
    </mc:Choice>
    <mc:Fallback>
      <p:transition>
        <p:fade/>
      </p:transition>
    </mc:Fallback>
  </mc:AlternateContent>
</p:sld>
</file>

<file path=ppt/slides/slide49.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D.3 Flujograma subproceso| </a:t>
            </a:r>
            <a:r>
              <a:rPr lang="es-CL">
                <a:solidFill>
                  <a:srgbClr val="BFB800"/>
                </a:solidFill>
              </a:rPr>
              <a:t>Carrera, sucesión y movilidad</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Asegurar la cobertura de los roles clave identificando y preparando sucesores, y gestionar la promoción, el descenso y la movilidad interna.</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latin typeface="+mn-lt"/>
                  <a:ea typeface="Calibri"/>
                  <a:cs typeface="Calibri"/>
                </a:rPr>
                <a:t>Equipo ejecutivo</a:t>
              </a:r>
            </a:p>
            <a:p>
              <a:pPr marL="323850" lvl="1" indent="-215900"/>
              <a:r>
                <a:rPr lang="es-CL" sz="1200">
                  <a:latin typeface="+mn-lt"/>
                  <a:ea typeface="Calibri"/>
                  <a:cs typeface="Calibri"/>
                </a:rPr>
                <a:t>Comité de sucesión</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rgbClr val="EA7600"/>
                  </a:solidFill>
                  <a:latin typeface="+mn-lt"/>
                  <a:ea typeface="Calibri"/>
                  <a:cs typeface="Calibri"/>
                </a:rPr>
                <a:t>SuccessFactors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rgbClr val="EA7600"/>
                  </a:solidFill>
                  <a:latin typeface="+mn-lt"/>
                  <a:ea typeface="Calibri"/>
                  <a:cs typeface="Calibri"/>
                </a:rPr>
                <a:t>Matriz de sucesión</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 de roles clave con sucesor</a:t>
              </a:r>
            </a:p>
            <a:p>
              <a:pPr marL="377825" lvl="1" indent="-251460"/>
              <a:r>
                <a:rPr lang="es-CL" sz="1200">
                  <a:solidFill>
                    <a:srgbClr val="EA7600"/>
                  </a:solidFill>
                  <a:ea typeface="Calibri"/>
                  <a:cs typeface="Calibri"/>
                </a:rPr>
                <a:t>% de posiciones sin cobertura</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SG Formación y Cultura</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Carrera, sucesión y movilidad</a:t>
            </a:r>
          </a:p>
        </p:txBody>
      </p:sp>
      <p:sp>
        <p:nvSpPr>
          <p:cNvPr id="23" name="Oval 34"/>
          <p:cNvSpPr/>
          <p:nvPr/>
        </p:nvSpPr>
        <p:spPr>
          <a:xfrm>
            <a:off x="1199039" y="23940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Roles clave del negocio</a:t>
            </a:r>
          </a:p>
        </p:txBody>
      </p:sp>
      <p:sp>
        <p:nvSpPr>
          <p:cNvPr id="24" name="Rectangle: Rounded Corners 39"/>
          <p:cNvSpPr/>
          <p:nvPr/>
        </p:nvSpPr>
        <p:spPr>
          <a:xfrm>
            <a:off x="2591817"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Definir roles clave y riesgo de vacancia</a:t>
            </a:r>
          </a:p>
        </p:txBody>
      </p:sp>
      <p:sp>
        <p:nvSpPr>
          <p:cNvPr id="25" name="Rectangle: Rounded Corners 40"/>
          <p:cNvSpPr/>
          <p:nvPr/>
        </p:nvSpPr>
        <p:spPr>
          <a:xfrm>
            <a:off x="2852817"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D.3.1</a:t>
            </a:r>
          </a:p>
        </p:txBody>
      </p:sp>
      <p:sp>
        <p:nvSpPr>
          <p:cNvPr id="26" name="Rectangle: Rounded Corners 39"/>
          <p:cNvSpPr/>
          <p:nvPr/>
        </p:nvSpPr>
        <p:spPr>
          <a:xfrm>
            <a:off x="3912595"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Validar posiciones del rol supervisor</a:t>
            </a:r>
          </a:p>
        </p:txBody>
      </p:sp>
      <p:sp>
        <p:nvSpPr>
          <p:cNvPr id="27" name="Rectangle: Rounded Corners 40"/>
          <p:cNvSpPr/>
          <p:nvPr/>
        </p:nvSpPr>
        <p:spPr>
          <a:xfrm>
            <a:off x="4173595"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D.3.2</a:t>
            </a:r>
          </a:p>
        </p:txBody>
      </p:sp>
      <p:sp>
        <p:nvSpPr>
          <p:cNvPr id="28" name="Rectangle: Rounded Corners 39"/>
          <p:cNvSpPr/>
          <p:nvPr/>
        </p:nvSpPr>
        <p:spPr>
          <a:xfrm>
            <a:off x="5233373"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Mapear talento e identificar sucesores</a:t>
            </a:r>
          </a:p>
        </p:txBody>
      </p:sp>
      <p:sp>
        <p:nvSpPr>
          <p:cNvPr id="29" name="Rectangle: Rounded Corners 40"/>
          <p:cNvSpPr/>
          <p:nvPr/>
        </p:nvSpPr>
        <p:spPr>
          <a:xfrm>
            <a:off x="5494373"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D.3.3</a:t>
            </a:r>
          </a:p>
        </p:txBody>
      </p:sp>
      <p:sp>
        <p:nvSpPr>
          <p:cNvPr id="30" name="Rectangle: Rounded Corners 39"/>
          <p:cNvSpPr/>
          <p:nvPr/>
        </p:nvSpPr>
        <p:spPr>
          <a:xfrm>
            <a:off x="6554151"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Analizar cobertura y planificar formación de sucesores</a:t>
            </a:r>
          </a:p>
        </p:txBody>
      </p:sp>
      <p:sp>
        <p:nvSpPr>
          <p:cNvPr id="31" name="Rectangle: Rounded Corners 40"/>
          <p:cNvSpPr/>
          <p:nvPr/>
        </p:nvSpPr>
        <p:spPr>
          <a:xfrm>
            <a:off x="6815151"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D.3.4</a:t>
            </a:r>
          </a:p>
        </p:txBody>
      </p:sp>
      <p:sp>
        <p:nvSpPr>
          <p:cNvPr id="32" name="Rectangle: Rounded Corners 39"/>
          <p:cNvSpPr/>
          <p:nvPr/>
        </p:nvSpPr>
        <p:spPr>
          <a:xfrm>
            <a:off x="7874929"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Formación para el desarrollo y back-up operacional</a:t>
            </a:r>
          </a:p>
        </p:txBody>
      </p:sp>
      <p:sp>
        <p:nvSpPr>
          <p:cNvPr id="33" name="Rectangle: Rounded Corners 40"/>
          <p:cNvSpPr/>
          <p:nvPr/>
        </p:nvSpPr>
        <p:spPr>
          <a:xfrm>
            <a:off x="8135929"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D.3.5</a:t>
            </a:r>
          </a:p>
        </p:txBody>
      </p:sp>
      <p:sp>
        <p:nvSpPr>
          <p:cNvPr id="34" name="Rectangle: Rounded Corners 39"/>
          <p:cNvSpPr/>
          <p:nvPr/>
        </p:nvSpPr>
        <p:spPr>
          <a:xfrm>
            <a:off x="7874929" y="4266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Validar carrera y alinear con estrategia</a:t>
            </a:r>
          </a:p>
        </p:txBody>
      </p:sp>
      <p:sp>
        <p:nvSpPr>
          <p:cNvPr id="35" name="Rectangle: Rounded Corners 40"/>
          <p:cNvSpPr/>
          <p:nvPr/>
        </p:nvSpPr>
        <p:spPr>
          <a:xfrm>
            <a:off x="8135929" y="4168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D.3.6</a:t>
            </a:r>
          </a:p>
        </p:txBody>
      </p:sp>
      <p:sp>
        <p:nvSpPr>
          <p:cNvPr id="36" name="Rectangle: Rounded Corners 39"/>
          <p:cNvSpPr/>
          <p:nvPr/>
        </p:nvSpPr>
        <p:spPr>
          <a:xfrm>
            <a:off x="6554151" y="4266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Gestionar promoción y movilidad interna</a:t>
            </a:r>
          </a:p>
        </p:txBody>
      </p:sp>
      <p:sp>
        <p:nvSpPr>
          <p:cNvPr id="37" name="Rectangle: Rounded Corners 40"/>
          <p:cNvSpPr/>
          <p:nvPr/>
        </p:nvSpPr>
        <p:spPr>
          <a:xfrm>
            <a:off x="6815151" y="4168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D.3.7</a:t>
            </a:r>
          </a:p>
        </p:txBody>
      </p:sp>
      <p:sp>
        <p:nvSpPr>
          <p:cNvPr id="38" name="Oval 15"/>
          <p:cNvSpPr/>
          <p:nvPr/>
        </p:nvSpPr>
        <p:spPr>
          <a:xfrm>
            <a:off x="5161373" y="42660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Matriz de sucesión actualizada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9" name="Conector recto de flecha 47"/>
          <p:cNvCxnSpPr>
            <a:cxnSpLocks/>
          </p:cNvCxnSpPr>
          <p:nvPr/>
        </p:nvCxnSpPr>
        <p:spPr>
          <a:xfrm>
            <a:off x="2279039" y="2718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47"/>
          <p:cNvCxnSpPr>
            <a:cxnSpLocks/>
          </p:cNvCxnSpPr>
          <p:nvPr/>
        </p:nvCxnSpPr>
        <p:spPr>
          <a:xfrm>
            <a:off x="3527817"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7"/>
          <p:cNvCxnSpPr>
            <a:cxnSpLocks/>
          </p:cNvCxnSpPr>
          <p:nvPr/>
        </p:nvCxnSpPr>
        <p:spPr>
          <a:xfrm>
            <a:off x="4848595"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7"/>
          <p:cNvCxnSpPr>
            <a:cxnSpLocks/>
          </p:cNvCxnSpPr>
          <p:nvPr/>
        </p:nvCxnSpPr>
        <p:spPr>
          <a:xfrm>
            <a:off x="6169373"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7"/>
          <p:cNvCxnSpPr>
            <a:cxnSpLocks/>
          </p:cNvCxnSpPr>
          <p:nvPr/>
        </p:nvCxnSpPr>
        <p:spPr>
          <a:xfrm>
            <a:off x="7490151"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7"/>
          <p:cNvCxnSpPr>
            <a:cxnSpLocks/>
          </p:cNvCxnSpPr>
          <p:nvPr/>
        </p:nvCxnSpPr>
        <p:spPr>
          <a:xfrm>
            <a:off x="8342929" y="3042039"/>
            <a:ext cx="0" cy="1224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7"/>
          <p:cNvCxnSpPr>
            <a:cxnSpLocks/>
          </p:cNvCxnSpPr>
          <p:nvPr/>
        </p:nvCxnSpPr>
        <p:spPr>
          <a:xfrm flipH="1">
            <a:off x="7490151" y="4590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7"/>
          <p:cNvCxnSpPr>
            <a:cxnSpLocks/>
          </p:cNvCxnSpPr>
          <p:nvPr/>
        </p:nvCxnSpPr>
        <p:spPr>
          <a:xfrm flipH="1">
            <a:off x="6241373" y="4590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50.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.3 Actividades y tareas| </a:t>
            </a:r>
            <a:r>
              <a:rPr lang="es-CL" sz="2400"/>
              <a:t>Carrera, sucesión y movilidad</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398364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Definir roles clave y riesgo de vacancia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Definir roles clave y posiciones con riesgo de vacancia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Validar posiciones del rol supervisor</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Validar con el equipo ejecutivo las posiciones de rol supervisor</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Mapear talento e identificar sucesores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Mapear el talento: desempeño, competencias y proyección de desarrollo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Identificar sucesores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Analizar cobertura y planificar formación de sucesores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Analizar riesgo de posiciones con y sin cobertura (control)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Elaborar planes de formación individual para sucesores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Formación para el desarrollo y back-up operacional</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rgbClr val="EA7600"/>
                          </a:solidFill>
                          <a:effectLst/>
                          <a:latin typeface="+mn-lt"/>
                          <a:ea typeface="+mn-ea"/>
                          <a:cs typeface="+mn-cs"/>
                        </a:rPr>
                        <a:t>Ejecutar la formación de sucesores según el subproceso D.1</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37691">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Validar carrera y alinear con estrategia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Comité de sucesión: validar sucesores y alinear con la estrategia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2">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Gestionar promoción y movilidad interna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Gestionar promoción, descenso y movilidad interna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y actualizar la matriz de sucesión y reportar avances a SG</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Carrera, sucesión y movilidad</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7" name="Rectangle: Rounded Corners 20"/>
          <p:cNvSpPr/>
          <p:nvPr/>
        </p:nvSpPr>
        <p:spPr>
          <a:xfrm>
            <a:off x="363262" y="173775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D.3.1</a:t>
            </a:r>
          </a:p>
        </p:txBody>
      </p:sp>
      <p:sp>
        <p:nvSpPr>
          <p:cNvPr id="8" name="Rectangle: Rounded Corners 20"/>
          <p:cNvSpPr/>
          <p:nvPr/>
        </p:nvSpPr>
        <p:spPr>
          <a:xfrm>
            <a:off x="363262" y="217545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D.3.2</a:t>
            </a:r>
          </a:p>
        </p:txBody>
      </p:sp>
      <p:sp>
        <p:nvSpPr>
          <p:cNvPr id="9" name="Rectangle: Rounded Corners 20"/>
          <p:cNvSpPr/>
          <p:nvPr/>
        </p:nvSpPr>
        <p:spPr>
          <a:xfrm>
            <a:off x="363262" y="272076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D.3.3</a:t>
            </a:r>
          </a:p>
        </p:txBody>
      </p:sp>
      <p:sp>
        <p:nvSpPr>
          <p:cNvPr id="10" name="Rectangle: Rounded Corners 20"/>
          <p:cNvSpPr/>
          <p:nvPr/>
        </p:nvSpPr>
        <p:spPr>
          <a:xfrm>
            <a:off x="363262" y="3291280"/>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D.3.4</a:t>
            </a:r>
          </a:p>
        </p:txBody>
      </p:sp>
      <p:sp>
        <p:nvSpPr>
          <p:cNvPr id="11" name="Rectangle: Rounded Corners 20"/>
          <p:cNvSpPr/>
          <p:nvPr/>
        </p:nvSpPr>
        <p:spPr>
          <a:xfrm>
            <a:off x="363262" y="3754172"/>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D.3.5</a:t>
            </a:r>
          </a:p>
        </p:txBody>
      </p:sp>
      <p:sp>
        <p:nvSpPr>
          <p:cNvPr id="12" name="Rectangle: Rounded Corners 20"/>
          <p:cNvSpPr/>
          <p:nvPr/>
        </p:nvSpPr>
        <p:spPr>
          <a:xfrm>
            <a:off x="363262" y="4191864"/>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D.3.6</a:t>
            </a:r>
          </a:p>
        </p:txBody>
      </p:sp>
      <p:sp>
        <p:nvSpPr>
          <p:cNvPr id="13" name="Rectangle: Rounded Corners 20"/>
          <p:cNvSpPr/>
          <p:nvPr/>
        </p:nvSpPr>
        <p:spPr>
          <a:xfrm>
            <a:off x="363262" y="4737179"/>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D.3.7</a:t>
            </a:r>
          </a:p>
        </p:txBody>
      </p:sp>
    </p:spTree>
  </p:cSld>
  <p:clrMapOvr>
    <a:masterClrMapping/>
  </p:clrMapOvr>
  <mc:AlternateContent>
    <mc:Choice Requires="p14">
      <p:transition p14:dur="250">
        <p:fade/>
      </p:transition>
    </mc:Choice>
    <mc:Fallback>
      <p:transition>
        <p:fade/>
      </p:transition>
    </mc:Fallback>
  </mc:AlternateContent>
</p:sld>
</file>

<file path=ppt/slides/slide51.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Personas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4" name="Rectangle 7"/>
          <p:cNvSpPr/>
          <p:nvPr/>
        </p:nvSpPr>
        <p:spPr>
          <a:xfrm>
            <a:off x="15384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Necesidad estratégica y plan de dotación</a:t>
            </a:r>
          </a:p>
        </p:txBody>
      </p:sp>
      <p:sp>
        <p:nvSpPr>
          <p:cNvPr id="5" name="Oval 20"/>
          <p:cNvSpPr>
            <a:spLocks noChangeAspect="1" noChangeArrowheads="1"/>
          </p:cNvSpPr>
          <p:nvPr/>
        </p:nvSpPr>
        <p:spPr bwMode="auto">
          <a:xfrm>
            <a:off x="22584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1538460" y="223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Identificar necesidades estratégicas de RRHH</a:t>
            </a:r>
          </a:p>
        </p:txBody>
      </p:sp>
      <p:sp>
        <p:nvSpPr>
          <p:cNvPr id="7" name="Rectangle: Rounded Corners 37"/>
          <p:cNvSpPr/>
          <p:nvPr/>
        </p:nvSpPr>
        <p:spPr>
          <a:xfrm>
            <a:off x="19884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15384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Estimar dotación futura</a:t>
            </a:r>
          </a:p>
        </p:txBody>
      </p:sp>
      <p:sp>
        <p:nvSpPr>
          <p:cNvPr id="9" name="Rectangle: Rounded Corners 37"/>
          <p:cNvSpPr/>
          <p:nvPr/>
        </p:nvSpPr>
        <p:spPr>
          <a:xfrm>
            <a:off x="19884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36"/>
          <p:cNvSpPr/>
          <p:nvPr/>
        </p:nvSpPr>
        <p:spPr>
          <a:xfrm>
            <a:off x="15384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Diseñar plan de dotación / organigrama</a:t>
            </a:r>
          </a:p>
        </p:txBody>
      </p:sp>
      <p:sp>
        <p:nvSpPr>
          <p:cNvPr id="11" name="Rectangle: Rounded Corners 37"/>
          <p:cNvSpPr/>
          <p:nvPr/>
        </p:nvSpPr>
        <p:spPr>
          <a:xfrm>
            <a:off x="19884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A.3</a:t>
            </a:r>
          </a:p>
        </p:txBody>
      </p:sp>
      <p:sp>
        <p:nvSpPr>
          <p:cNvPr id="12" name="Rectangle 7"/>
          <p:cNvSpPr/>
          <p:nvPr/>
        </p:nvSpPr>
        <p:spPr>
          <a:xfrm>
            <a:off x="33870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Valoración de cargo y banda de renta</a:t>
            </a:r>
          </a:p>
        </p:txBody>
      </p:sp>
      <p:sp>
        <p:nvSpPr>
          <p:cNvPr id="13" name="Oval 20"/>
          <p:cNvSpPr>
            <a:spLocks noChangeAspect="1" noChangeArrowheads="1"/>
          </p:cNvSpPr>
          <p:nvPr/>
        </p:nvSpPr>
        <p:spPr bwMode="auto">
          <a:xfrm>
            <a:off x="41070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4" name="Rectangle 36"/>
          <p:cNvSpPr/>
          <p:nvPr/>
        </p:nvSpPr>
        <p:spPr>
          <a:xfrm>
            <a:off x="33870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Benchmark de remuneración</a:t>
            </a:r>
          </a:p>
        </p:txBody>
      </p:sp>
      <p:sp>
        <p:nvSpPr>
          <p:cNvPr id="15" name="Rectangle: Rounded Corners 37"/>
          <p:cNvSpPr/>
          <p:nvPr/>
        </p:nvSpPr>
        <p:spPr>
          <a:xfrm>
            <a:off x="38370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6" name="Rectangle 36"/>
          <p:cNvSpPr/>
          <p:nvPr/>
        </p:nvSpPr>
        <p:spPr>
          <a:xfrm>
            <a:off x="3387060" y="286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Valoración del cargo y definición de bandas salariales</a:t>
            </a:r>
          </a:p>
        </p:txBody>
      </p:sp>
      <p:sp>
        <p:nvSpPr>
          <p:cNvPr id="17" name="Rectangle: Rounded Corners 37"/>
          <p:cNvSpPr/>
          <p:nvPr/>
        </p:nvSpPr>
        <p:spPr>
          <a:xfrm>
            <a:off x="38370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8" name="Rectangle 36"/>
          <p:cNvSpPr/>
          <p:nvPr/>
        </p:nvSpPr>
        <p:spPr>
          <a:xfrm>
            <a:off x="33870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Administración periódica del marco de compensación</a:t>
            </a:r>
          </a:p>
        </p:txBody>
      </p:sp>
      <p:sp>
        <p:nvSpPr>
          <p:cNvPr id="19" name="Rectangle: Rounded Corners 37"/>
          <p:cNvSpPr/>
          <p:nvPr/>
        </p:nvSpPr>
        <p:spPr>
          <a:xfrm>
            <a:off x="38370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20" name="Rectangle 36"/>
          <p:cNvSpPr/>
          <p:nvPr/>
        </p:nvSpPr>
        <p:spPr>
          <a:xfrm>
            <a:off x="33870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Gobierno y publicación del marco de compensaciones</a:t>
            </a:r>
          </a:p>
        </p:txBody>
      </p:sp>
      <p:sp>
        <p:nvSpPr>
          <p:cNvPr id="21" name="Rectangle: Rounded Corners 37"/>
          <p:cNvSpPr/>
          <p:nvPr/>
        </p:nvSpPr>
        <p:spPr>
          <a:xfrm>
            <a:off x="38370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B.4</a:t>
            </a:r>
          </a:p>
        </p:txBody>
      </p:sp>
      <p:sp>
        <p:nvSpPr>
          <p:cNvPr id="22" name="Rectangle 7"/>
          <p:cNvSpPr/>
          <p:nvPr/>
        </p:nvSpPr>
        <p:spPr>
          <a:xfrm>
            <a:off x="52356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Atracción y selección de personas</a:t>
            </a:r>
          </a:p>
        </p:txBody>
      </p:sp>
      <p:sp>
        <p:nvSpPr>
          <p:cNvPr id="23" name="Oval 20"/>
          <p:cNvSpPr>
            <a:spLocks noChangeAspect="1" noChangeArrowheads="1"/>
          </p:cNvSpPr>
          <p:nvPr/>
        </p:nvSpPr>
        <p:spPr bwMode="auto">
          <a:xfrm>
            <a:off x="59556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4" name="Rectangle 36"/>
          <p:cNvSpPr/>
          <p:nvPr/>
        </p:nvSpPr>
        <p:spPr>
          <a:xfrm>
            <a:off x="52356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Requisición y apertura de vacante</a:t>
            </a:r>
          </a:p>
        </p:txBody>
      </p:sp>
      <p:sp>
        <p:nvSpPr>
          <p:cNvPr id="25" name="Rectangle: Rounded Corners 37"/>
          <p:cNvSpPr/>
          <p:nvPr/>
        </p:nvSpPr>
        <p:spPr>
          <a:xfrm>
            <a:off x="56856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6" name="Rectangle 36"/>
          <p:cNvSpPr/>
          <p:nvPr/>
        </p:nvSpPr>
        <p:spPr>
          <a:xfrm>
            <a:off x="52356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Reclutamiento y preselección</a:t>
            </a:r>
          </a:p>
        </p:txBody>
      </p:sp>
      <p:sp>
        <p:nvSpPr>
          <p:cNvPr id="27" name="Rectangle: Rounded Corners 37"/>
          <p:cNvSpPr/>
          <p:nvPr/>
        </p:nvSpPr>
        <p:spPr>
          <a:xfrm>
            <a:off x="56856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8" name="Rectangle 36"/>
          <p:cNvSpPr/>
          <p:nvPr/>
        </p:nvSpPr>
        <p:spPr>
          <a:xfrm>
            <a:off x="5235660" y="349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y selección de candidatos</a:t>
            </a:r>
          </a:p>
        </p:txBody>
      </p:sp>
      <p:sp>
        <p:nvSpPr>
          <p:cNvPr id="29" name="Rectangle: Rounded Corners 37"/>
          <p:cNvSpPr/>
          <p:nvPr/>
        </p:nvSpPr>
        <p:spPr>
          <a:xfrm>
            <a:off x="56856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30" name="Rectangle 36"/>
          <p:cNvSpPr/>
          <p:nvPr/>
        </p:nvSpPr>
        <p:spPr>
          <a:xfrm>
            <a:off x="5235660" y="412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Verificación preocupacional y contratación</a:t>
            </a:r>
          </a:p>
        </p:txBody>
      </p:sp>
      <p:sp>
        <p:nvSpPr>
          <p:cNvPr id="31" name="Rectangle: Rounded Corners 37"/>
          <p:cNvSpPr/>
          <p:nvPr/>
        </p:nvSpPr>
        <p:spPr>
          <a:xfrm>
            <a:off x="5685660" y="401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32" name="Rectangle 36"/>
          <p:cNvSpPr/>
          <p:nvPr/>
        </p:nvSpPr>
        <p:spPr>
          <a:xfrm>
            <a:off x="5235660" y="475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Incorporación y onboarding</a:t>
            </a:r>
          </a:p>
        </p:txBody>
      </p:sp>
      <p:sp>
        <p:nvSpPr>
          <p:cNvPr id="33" name="Rectangle: Rounded Corners 37"/>
          <p:cNvSpPr/>
          <p:nvPr/>
        </p:nvSpPr>
        <p:spPr>
          <a:xfrm>
            <a:off x="5685660" y="464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C.5</a:t>
            </a:r>
          </a:p>
        </p:txBody>
      </p:sp>
      <p:sp>
        <p:nvSpPr>
          <p:cNvPr id="34" name="Rectangle 7"/>
          <p:cNvSpPr/>
          <p:nvPr/>
        </p:nvSpPr>
        <p:spPr>
          <a:xfrm>
            <a:off x="70842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Desarrollo organizacional</a:t>
            </a:r>
          </a:p>
        </p:txBody>
      </p:sp>
      <p:sp>
        <p:nvSpPr>
          <p:cNvPr id="35" name="Oval 20"/>
          <p:cNvSpPr>
            <a:spLocks noChangeAspect="1" noChangeArrowheads="1"/>
          </p:cNvSpPr>
          <p:nvPr/>
        </p:nvSpPr>
        <p:spPr bwMode="auto">
          <a:xfrm>
            <a:off x="78042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6" name="Rectangle 36"/>
          <p:cNvSpPr/>
          <p:nvPr/>
        </p:nvSpPr>
        <p:spPr>
          <a:xfrm>
            <a:off x="70842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Formación</a:t>
            </a:r>
          </a:p>
        </p:txBody>
      </p:sp>
      <p:sp>
        <p:nvSpPr>
          <p:cNvPr id="37" name="Rectangle: Rounded Corners 37"/>
          <p:cNvSpPr/>
          <p:nvPr/>
        </p:nvSpPr>
        <p:spPr>
          <a:xfrm>
            <a:off x="75342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8" name="Rectangle 36"/>
          <p:cNvSpPr/>
          <p:nvPr/>
        </p:nvSpPr>
        <p:spPr>
          <a:xfrm>
            <a:off x="70842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Gestión del desempeño</a:t>
            </a:r>
          </a:p>
        </p:txBody>
      </p:sp>
      <p:sp>
        <p:nvSpPr>
          <p:cNvPr id="39" name="Rectangle: Rounded Corners 37"/>
          <p:cNvSpPr/>
          <p:nvPr/>
        </p:nvSpPr>
        <p:spPr>
          <a:xfrm>
            <a:off x="75342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
        <p:nvSpPr>
          <p:cNvPr id="40" name="Rectangle 36"/>
          <p:cNvSpPr/>
          <p:nvPr/>
        </p:nvSpPr>
        <p:spPr>
          <a:xfrm>
            <a:off x="70842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Carrera, sucesión y movilidad</a:t>
            </a:r>
          </a:p>
        </p:txBody>
      </p:sp>
      <p:sp>
        <p:nvSpPr>
          <p:cNvPr id="41" name="Rectangle: Rounded Corners 37"/>
          <p:cNvSpPr/>
          <p:nvPr/>
        </p:nvSpPr>
        <p:spPr>
          <a:xfrm>
            <a:off x="75342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D.3</a:t>
            </a:r>
          </a:p>
        </p:txBody>
      </p:sp>
      <p:sp>
        <p:nvSpPr>
          <p:cNvPr id="42" name="Rectangle 7"/>
          <p:cNvSpPr/>
          <p:nvPr/>
        </p:nvSpPr>
        <p:spPr>
          <a:xfrm>
            <a:off x="89328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43" name="Oval 20"/>
          <p:cNvSpPr>
            <a:spLocks noChangeAspect="1" noChangeArrowheads="1"/>
          </p:cNvSpPr>
          <p:nvPr/>
        </p:nvSpPr>
        <p:spPr bwMode="auto">
          <a:xfrm>
            <a:off x="96528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E</a:t>
            </a:r>
          </a:p>
        </p:txBody>
      </p:sp>
      <p:sp>
        <p:nvSpPr>
          <p:cNvPr id="44" name="Rectangle 36"/>
          <p:cNvSpPr/>
          <p:nvPr/>
        </p:nvSpPr>
        <p:spPr>
          <a:xfrm>
            <a:off x="89328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Remuneración y compensación</a:t>
            </a:r>
          </a:p>
        </p:txBody>
      </p:sp>
      <p:sp>
        <p:nvSpPr>
          <p:cNvPr id="45" name="Rectangle: Rounded Corners 37"/>
          <p:cNvSpPr/>
          <p:nvPr/>
        </p:nvSpPr>
        <p:spPr>
          <a:xfrm>
            <a:off x="93828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E.1</a:t>
            </a:r>
          </a:p>
        </p:txBody>
      </p:sp>
      <p:sp>
        <p:nvSpPr>
          <p:cNvPr id="46" name="Rectangle 36"/>
          <p:cNvSpPr/>
          <p:nvPr/>
        </p:nvSpPr>
        <p:spPr>
          <a:xfrm>
            <a:off x="89328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Beneficios</a:t>
            </a:r>
          </a:p>
        </p:txBody>
      </p:sp>
      <p:sp>
        <p:nvSpPr>
          <p:cNvPr id="47" name="Rectangle: Rounded Corners 37"/>
          <p:cNvSpPr/>
          <p:nvPr/>
        </p:nvSpPr>
        <p:spPr>
          <a:xfrm>
            <a:off x="93828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E.2</a:t>
            </a:r>
          </a:p>
        </p:txBody>
      </p:sp>
    </p:spTree>
  </p:cSld>
  <p:clrMapOvr>
    <a:masterClrMapping/>
  </p:clrMapOvr>
  <mc:AlternateContent>
    <mc:Choice Requires="p14">
      <p:transition p14:dur="250">
        <p:fade/>
      </p:transition>
    </mc:Choice>
    <mc:Fallback>
      <p:transition>
        <p:fade/>
      </p:transition>
    </mc:Fallback>
  </mc:AlternateContent>
</p:sld>
</file>

<file path=ppt/slides/slide52.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E.</a:t>
            </a:r>
            <a:r>
              <a:rPr lang="es-CL" sz="2400">
                <a:solidFill>
                  <a:schemeClr val="tx1"/>
                </a:solidFill>
              </a:rPr>
              <a:t> Ficha resumen| </a:t>
            </a:r>
            <a:r>
              <a:rPr lang="es-CL"/>
              <a:t>Compensaciones y beneficios</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Compensaciones y beneficios</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Revisar periódicamente la renta y los beneficios de las personas, aplicando los mecanismos de ajuste definidos para asegurar equidad interna, competitividad externa y coherencia con el presupuesto.</a:t>
            </a:r>
            <a:endParaRPr lang="es-ES" sz="12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a:solidFill>
                  <a:srgbClr val="EA7600"/>
                </a:solidFill>
                <a:ea typeface="Calibri"/>
                <a:cs typeface="Calibri"/>
              </a:rPr>
              <a:t>SG Compensaciones y Beneficios</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rPr>
              <a:t>Rentas actuales y estructura de bandas</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696158"/>
                </a:solidFill>
              </a:rPr>
              <a:t>Evaluaciones de desempeño y antigüedad</a:t>
            </a:r>
            <a:endParaRPr lang="en-US" sz="1400">
              <a:solidFill>
                <a:srgbClr val="696158"/>
              </a:solidFill>
              <a:ea typeface="Calibri"/>
              <a:cs typeface="Calibri"/>
            </a:endParaRPr>
          </a:p>
          <a:p>
            <a:pPr marL="377825" lvl="1" indent="-251460">
              <a:spcAft>
                <a:spcPts val="200"/>
              </a:spcAft>
              <a:buClr>
                <a:srgbClr val="EA7600"/>
              </a:buClr>
              <a:buFont typeface="Trebuchet MS" panose="020B0603020202020204" pitchFamily="34" charset="0"/>
              <a:buChar char="•"/>
            </a:pPr>
            <a:r>
              <a:rPr lang="es-CL" sz="1400">
                <a:solidFill>
                  <a:srgbClr val="696158"/>
                </a:solidFill>
              </a:rPr>
              <a:t>Presupuesto disponible para el ajuste</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Ajustes ingresados en el sistema de remuneraciones</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Beneficios aplicados y reflejados en nómina</a:t>
            </a:r>
          </a:p>
          <a:p>
            <a:pPr marL="377825" lvl="1" indent="-251460">
              <a:spcAft>
                <a:spcPts val="200"/>
              </a:spcAft>
              <a:buClr>
                <a:srgbClr val="EA7600"/>
              </a:buClr>
              <a:buFont typeface="Trebuchet MS" panose="020B0603020202020204" pitchFamily="34" charset="0"/>
              <a:buChar char="•"/>
            </a:pPr>
            <a:r>
              <a:rPr lang="es-CL" sz="1400">
                <a:solidFill>
                  <a:srgbClr val="696158"/>
                </a:solidFill>
                <a:cs typeface="Calibri"/>
              </a:rPr>
              <a:t>Procedimientos ajustados</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a:solidFill>
                  <a:schemeClr val="tx1"/>
                </a:solidFill>
                <a:ea typeface="Calibri"/>
                <a:cs typeface="Calibri"/>
              </a:rPr>
              <a:t>Sistema de remuneraciones</a:t>
            </a:r>
            <a:endParaRPr lang="es-ES" sz="1400">
              <a:solidFill>
                <a:schemeClr val="tx1"/>
              </a:solidFill>
              <a:ea typeface="Calibri"/>
              <a:cs typeface="Calibri"/>
            </a:endParaRPr>
          </a:p>
          <a:p>
            <a:pPr marL="377825" lvl="1" indent="-251460">
              <a:buFont typeface="Trebuchet MS,Sans-Serif"/>
              <a:buChar char="•"/>
            </a:pPr>
            <a:r>
              <a:rPr lang="es-CL" sz="1400">
                <a:solidFill>
                  <a:schemeClr val="tx1"/>
                </a:solidFill>
                <a:ea typeface="Calibri"/>
                <a:cs typeface="Calibri"/>
              </a:rPr>
              <a:t>Matriz de mérito</a:t>
            </a:r>
            <a:endParaRPr lang="es-ES" sz="1400">
              <a:solidFill>
                <a:schemeClr val="tx1"/>
              </a:solidFill>
              <a:ea typeface="Calibri"/>
              <a:cs typeface="Calibri"/>
            </a:endParaRPr>
          </a:p>
          <a:p>
            <a:pPr marL="377825" lvl="1" indent="-251460">
              <a:buFont typeface="Trebuchet MS,Sans-Serif"/>
              <a:buChar char="•"/>
            </a:pPr>
            <a:r>
              <a:rPr lang="es-CL" sz="1400">
                <a:solidFill>
                  <a:srgbClr val="EA7600"/>
                </a:solidFill>
                <a:ea typeface="Calibri"/>
                <a:cs typeface="Calibri"/>
              </a:rPr>
              <a:t>Office 365</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a:solidFill>
                  <a:schemeClr val="tx1"/>
                </a:solidFill>
                <a:ea typeface="Calibri"/>
                <a:cs typeface="Calibri"/>
              </a:rPr>
              <a:t>Compa-ratio por persona y banda</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 de presupuesto de ajuste ejecutado</a:t>
            </a:r>
          </a:p>
          <a:p>
            <a:pPr marL="377825" lvl="1" indent="-251460">
              <a:buClr>
                <a:srgbClr val="EA7600"/>
              </a:buClr>
              <a:buFont typeface="Trebuchet MS" panose="020B0603020202020204" pitchFamily="34" charset="0"/>
              <a:buChar char="•"/>
            </a:pPr>
            <a:r>
              <a:rPr lang="es-CL" sz="1400">
                <a:solidFill>
                  <a:srgbClr val="EA7600"/>
                </a:solidFill>
                <a:ea typeface="Calibri"/>
                <a:cs typeface="Calibri"/>
              </a:rPr>
              <a:t>Desviaciones en nómina</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Tree>
  </p:cSld>
  <p:clrMapOvr>
    <a:masterClrMapping/>
  </p:clrMapOvr>
  <mc:AlternateContent>
    <mc:Choice Requires="p14">
      <p:transition p14:dur="250">
        <p:fade/>
      </p:transition>
    </mc:Choice>
    <mc:Fallback>
      <p:transition>
        <p:fade/>
      </p:transition>
    </mc:Fallback>
  </mc:AlternateContent>
</p:sld>
</file>

<file path=ppt/slides/slide53.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E.</a:t>
            </a:r>
            <a:r>
              <a:rPr lang="es-CL" sz="2400">
                <a:solidFill>
                  <a:schemeClr val="tx1"/>
                </a:solidFill>
              </a:rPr>
              <a:t> SIPOC| </a:t>
            </a:r>
            <a:r>
              <a:rPr lang="es-CL" sz="2400"/>
              <a:t>Compensaciones y beneficios</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1309013"/>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Ajustes de renta</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Remuneraciones</a:t>
                      </a:r>
                    </a:p>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Trabajador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kern="1200">
                          <a:solidFill>
                            <a:srgbClr val="696158"/>
                          </a:solidFill>
                          <a:effectLst/>
                          <a:latin typeface="+mn-lt"/>
                        </a:rPr>
                        <a:t>Beneficios aplicados</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Trabajador</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Revisar periódicamente la renta y los beneficios de las personas, aplicando los mecanismos de ajuste definidos para asegurar equidad interna, competitividad externa y coherencia con el presupuesto.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Compensaciones y beneficios</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1440555"/>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B</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EA7600"/>
                          </a:solidFill>
                          <a:effectLst/>
                          <a:latin typeface="+mn-lt"/>
                        </a:rPr>
                        <a:t>Estructura de bandas</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Proceso D</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Notas de desempeño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0" u="none" strike="noStrike" kern="1200">
                          <a:solidFill>
                            <a:srgbClr val="EA7600"/>
                          </a:solidFill>
                          <a:effectLst/>
                          <a:latin typeface="+mn-lt"/>
                          <a:ea typeface="+mn-ea"/>
                          <a:cs typeface="+mn-cs"/>
                        </a:rPr>
                        <a:t>Gestión Financiera</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Presupuesto disponible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Remuneración y compensación</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E.1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Beneficios</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E.2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10"/>
          <p:cNvCxnSpPr>
            <a:cxnSpLocks/>
          </p:cNvCxnSpPr>
          <p:nvPr/>
        </p:nvCxnSpPr>
        <p:spPr>
          <a:xfrm>
            <a:off x="4320000" y="2089502"/>
            <a:ext cx="0" cy="972555"/>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10"/>
          <p:cNvCxnSpPr>
            <a:cxnSpLocks/>
          </p:cNvCxnSpPr>
          <p:nvPr/>
        </p:nvCxnSpPr>
        <p:spPr>
          <a:xfrm>
            <a:off x="7812000" y="2075078"/>
            <a:ext cx="0" cy="733013"/>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1"/>
          <p:cNvCxnSpPr>
            <a:cxnSpLocks/>
          </p:cNvCxnSpPr>
          <p:nvPr/>
        </p:nvCxnSpPr>
        <p:spPr>
          <a:xfrm>
            <a:off x="4320000" y="2475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1"/>
          <p:cNvCxnSpPr>
            <a:cxnSpLocks/>
          </p:cNvCxnSpPr>
          <p:nvPr/>
        </p:nvCxnSpPr>
        <p:spPr>
          <a:xfrm>
            <a:off x="7200000" y="2475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6"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27" name="Table 29"/>
          <p:cNvGraphicFramePr>
            <a:graphicFrameLocks noGrp="1"/>
          </p:cNvGraphicFramePr>
          <p:nvPr/>
        </p:nvGraphicFramePr>
        <p:xfrm>
          <a:off x="2304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Sistemas TI</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54.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E.1 Flujograma subproceso| </a:t>
            </a:r>
            <a:r>
              <a:rPr lang="es-CL">
                <a:solidFill>
                  <a:srgbClr val="BFB800"/>
                </a:solidFill>
              </a:rPr>
              <a:t>Remuneración y compensación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Diagnosticar la equidad y competitividad de las rentas, aplicar el mecanismo de ajuste que corresponda y aprobar e implementar la propuesta.</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Gerencia de Personas</a:t>
              </a:r>
            </a:p>
            <a:p>
              <a:pPr marL="323850" lvl="1" indent="-215900"/>
              <a:r>
                <a:rPr lang="es-CL" sz="1200">
                  <a:solidFill>
                    <a:srgbClr val="EA7600"/>
                  </a:solidFill>
                  <a:latin typeface="+mn-lt"/>
                  <a:ea typeface="Calibri"/>
                  <a:cs typeface="Calibri"/>
                </a:rPr>
                <a:t>Gestión Financiera</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Sistema de remuneraciones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Matriz de mérito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chemeClr val="tx1"/>
                  </a:solidFill>
                  <a:ea typeface="Calibri"/>
                  <a:cs typeface="Calibri"/>
                </a:rPr>
                <a:t>Compa-ratio</a:t>
              </a:r>
            </a:p>
            <a:p>
              <a:pPr marL="377825" lvl="1" indent="-251460"/>
              <a:r>
                <a:rPr lang="es-CL" sz="1200">
                  <a:solidFill>
                    <a:srgbClr val="EA7600"/>
                  </a:solidFill>
                  <a:ea typeface="Calibri"/>
                  <a:cs typeface="Calibri"/>
                </a:rPr>
                <a:t>Cargos críticos ajustados</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SG Compensaciones y Beneficios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Remuneración y compensación</a:t>
            </a:r>
          </a:p>
        </p:txBody>
      </p:sp>
      <p:sp>
        <p:nvSpPr>
          <p:cNvPr id="23" name="Oval 34"/>
          <p:cNvSpPr/>
          <p:nvPr/>
        </p:nvSpPr>
        <p:spPr>
          <a:xfrm>
            <a:off x="1199039" y="23940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696158"/>
                </a:solidFill>
                <a:latin typeface="Calibri"/>
              </a:rPr>
              <a:t>Rentas actuales y presupuesto</a:t>
            </a:r>
          </a:p>
        </p:txBody>
      </p:sp>
      <p:sp>
        <p:nvSpPr>
          <p:cNvPr id="24" name="Rectangle: Rounded Corners 39"/>
          <p:cNvSpPr/>
          <p:nvPr/>
        </p:nvSpPr>
        <p:spPr>
          <a:xfrm>
            <a:off x="2591817"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Recopilación de antecedentes</a:t>
            </a:r>
          </a:p>
        </p:txBody>
      </p:sp>
      <p:sp>
        <p:nvSpPr>
          <p:cNvPr id="25" name="Rectangle: Rounded Corners 40"/>
          <p:cNvSpPr/>
          <p:nvPr/>
        </p:nvSpPr>
        <p:spPr>
          <a:xfrm>
            <a:off x="2852817"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E.1.1</a:t>
            </a:r>
          </a:p>
        </p:txBody>
      </p:sp>
      <p:sp>
        <p:nvSpPr>
          <p:cNvPr id="26" name="Rectangle: Rounded Corners 39"/>
          <p:cNvSpPr/>
          <p:nvPr/>
        </p:nvSpPr>
        <p:spPr>
          <a:xfrm>
            <a:off x="3912595"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Diagnóstico de equidad y competitividad</a:t>
            </a:r>
          </a:p>
        </p:txBody>
      </p:sp>
      <p:sp>
        <p:nvSpPr>
          <p:cNvPr id="27" name="Rectangle: Rounded Corners 40"/>
          <p:cNvSpPr/>
          <p:nvPr/>
        </p:nvSpPr>
        <p:spPr>
          <a:xfrm>
            <a:off x="4173595"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E.1.2</a:t>
            </a:r>
          </a:p>
        </p:txBody>
      </p:sp>
      <p:sp>
        <p:nvSpPr>
          <p:cNvPr id="28" name="Rombo 43"/>
          <p:cNvSpPr/>
          <p:nvPr/>
        </p:nvSpPr>
        <p:spPr>
          <a:xfrm>
            <a:off x="5233373" y="23040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¿Qué mecanismo de ajuste aplica?</a:t>
            </a:r>
          </a:p>
        </p:txBody>
      </p:sp>
      <p:sp>
        <p:nvSpPr>
          <p:cNvPr id="29" name="Rectangle: Rounded Corners 39"/>
          <p:cNvSpPr/>
          <p:nvPr/>
        </p:nvSpPr>
        <p:spPr>
          <a:xfrm>
            <a:off x="6554151"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Aplicar mecanismos de ajuste</a:t>
            </a:r>
          </a:p>
        </p:txBody>
      </p:sp>
      <p:sp>
        <p:nvSpPr>
          <p:cNvPr id="30" name="Rectangle: Rounded Corners 40"/>
          <p:cNvSpPr/>
          <p:nvPr/>
        </p:nvSpPr>
        <p:spPr>
          <a:xfrm>
            <a:off x="6815151"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E.1.3</a:t>
            </a:r>
          </a:p>
        </p:txBody>
      </p:sp>
      <p:sp>
        <p:nvSpPr>
          <p:cNvPr id="31" name="Rectangle: Rounded Corners 39"/>
          <p:cNvSpPr/>
          <p:nvPr/>
        </p:nvSpPr>
        <p:spPr>
          <a:xfrm>
            <a:off x="7874929" y="2394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Diseño y aprobación de la propuesta</a:t>
            </a:r>
          </a:p>
        </p:txBody>
      </p:sp>
      <p:sp>
        <p:nvSpPr>
          <p:cNvPr id="32" name="Rectangle: Rounded Corners 40"/>
          <p:cNvSpPr/>
          <p:nvPr/>
        </p:nvSpPr>
        <p:spPr>
          <a:xfrm>
            <a:off x="8135929" y="2296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E.1.4</a:t>
            </a:r>
          </a:p>
        </p:txBody>
      </p:sp>
      <p:sp>
        <p:nvSpPr>
          <p:cNvPr id="33" name="Rectangle: Rounded Corners 39"/>
          <p:cNvSpPr/>
          <p:nvPr/>
        </p:nvSpPr>
        <p:spPr>
          <a:xfrm>
            <a:off x="7874929" y="4266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Implementación en remuneraciones</a:t>
            </a:r>
          </a:p>
        </p:txBody>
      </p:sp>
      <p:sp>
        <p:nvSpPr>
          <p:cNvPr id="34" name="Rectangle: Rounded Corners 40"/>
          <p:cNvSpPr/>
          <p:nvPr/>
        </p:nvSpPr>
        <p:spPr>
          <a:xfrm>
            <a:off x="8135929" y="4168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E.1.5</a:t>
            </a:r>
          </a:p>
        </p:txBody>
      </p:sp>
      <p:sp>
        <p:nvSpPr>
          <p:cNvPr id="35" name="Rombo 43"/>
          <p:cNvSpPr/>
          <p:nvPr/>
        </p:nvSpPr>
        <p:spPr>
          <a:xfrm>
            <a:off x="6554151" y="4176039"/>
            <a:ext cx="936000" cy="828000"/>
          </a:xfrm>
          <a:prstGeom prst="diamond">
            <a:avLst/>
          </a:prstGeom>
          <a:solidFill>
            <a:schemeClr val="accent3">
              <a:lumMod val="20000"/>
              <a:lumOff val="80000"/>
            </a:schemeClr>
          </a:solidFill>
          <a:ln w="12344" cap="rnd" cmpd="sng" algn="ctr">
            <a:solidFill>
              <a:schemeClr val="accent3">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90000"/>
              </a:lnSpc>
              <a:spcBef>
                <a:spcPts val="0"/>
              </a:spcBef>
              <a:spcAft>
                <a:spcPts val="0"/>
              </a:spcAft>
              <a:buClrTx/>
              <a:buSzTx/>
              <a:buFontTx/>
              <a:buNone/>
              <a:tabLst/>
              <a:defRPr/>
            </a:pPr>
            <a:r>
              <a:rPr lang="es-CL" sz="700">
                <a:solidFill>
                  <a:srgbClr val="696158"/>
                </a:solidFill>
                <a:latin typeface="Calibri"/>
              </a:rPr>
              <a:t>¿Existe alguna desviación?</a:t>
            </a:r>
          </a:p>
        </p:txBody>
      </p:sp>
      <p:sp>
        <p:nvSpPr>
          <p:cNvPr id="36" name="Rectangle: Rounded Corners 39"/>
          <p:cNvSpPr/>
          <p:nvPr/>
        </p:nvSpPr>
        <p:spPr>
          <a:xfrm>
            <a:off x="5233373" y="42660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Ajuste de procedimientos</a:t>
            </a:r>
          </a:p>
        </p:txBody>
      </p:sp>
      <p:sp>
        <p:nvSpPr>
          <p:cNvPr id="37" name="Rectangle: Rounded Corners 40"/>
          <p:cNvSpPr/>
          <p:nvPr/>
        </p:nvSpPr>
        <p:spPr>
          <a:xfrm>
            <a:off x="5494373" y="41688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E.1.6</a:t>
            </a:r>
          </a:p>
        </p:txBody>
      </p:sp>
      <p:sp>
        <p:nvSpPr>
          <p:cNvPr id="38" name="Oval 15"/>
          <p:cNvSpPr/>
          <p:nvPr/>
        </p:nvSpPr>
        <p:spPr>
          <a:xfrm>
            <a:off x="3840595" y="42660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Procedimientos ajustados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39" name="Conector recto de flecha 47"/>
          <p:cNvCxnSpPr>
            <a:cxnSpLocks/>
          </p:cNvCxnSpPr>
          <p:nvPr/>
        </p:nvCxnSpPr>
        <p:spPr>
          <a:xfrm>
            <a:off x="2279039" y="2718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47"/>
          <p:cNvCxnSpPr>
            <a:cxnSpLocks/>
          </p:cNvCxnSpPr>
          <p:nvPr/>
        </p:nvCxnSpPr>
        <p:spPr>
          <a:xfrm>
            <a:off x="3527817"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1" name="Conector recto de flecha 47"/>
          <p:cNvCxnSpPr>
            <a:cxnSpLocks/>
          </p:cNvCxnSpPr>
          <p:nvPr/>
        </p:nvCxnSpPr>
        <p:spPr>
          <a:xfrm>
            <a:off x="4848595"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7"/>
          <p:cNvCxnSpPr>
            <a:cxnSpLocks/>
          </p:cNvCxnSpPr>
          <p:nvPr/>
        </p:nvCxnSpPr>
        <p:spPr>
          <a:xfrm>
            <a:off x="6169373"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3" name="Conector recto de flecha 47"/>
          <p:cNvCxnSpPr>
            <a:cxnSpLocks/>
          </p:cNvCxnSpPr>
          <p:nvPr/>
        </p:nvCxnSpPr>
        <p:spPr>
          <a:xfrm>
            <a:off x="7490151" y="2718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7"/>
          <p:cNvCxnSpPr>
            <a:cxnSpLocks/>
          </p:cNvCxnSpPr>
          <p:nvPr/>
        </p:nvCxnSpPr>
        <p:spPr>
          <a:xfrm>
            <a:off x="8342929" y="3042039"/>
            <a:ext cx="0" cy="1224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7"/>
          <p:cNvCxnSpPr>
            <a:cxnSpLocks/>
          </p:cNvCxnSpPr>
          <p:nvPr/>
        </p:nvCxnSpPr>
        <p:spPr>
          <a:xfrm flipH="1">
            <a:off x="7490151" y="4590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7"/>
          <p:cNvCxnSpPr>
            <a:cxnSpLocks/>
          </p:cNvCxnSpPr>
          <p:nvPr/>
        </p:nvCxnSpPr>
        <p:spPr>
          <a:xfrm flipH="1">
            <a:off x="6169373" y="4590039"/>
            <a:ext cx="384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7" name="CuadroTexto 176"/>
          <p:cNvSpPr txBox="1"/>
          <p:nvPr/>
        </p:nvSpPr>
        <p:spPr>
          <a:xfrm>
            <a:off x="6248151" y="44100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Si</a:t>
            </a:r>
          </a:p>
        </p:txBody>
      </p:sp>
      <p:cxnSp>
        <p:nvCxnSpPr>
          <p:cNvPr id="48" name="Conector recto de flecha 47"/>
          <p:cNvCxnSpPr>
            <a:cxnSpLocks/>
          </p:cNvCxnSpPr>
          <p:nvPr/>
        </p:nvCxnSpPr>
        <p:spPr>
          <a:xfrm flipH="1">
            <a:off x="4920595" y="4590039"/>
            <a:ext cx="312778"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49" name="Oval 15"/>
          <p:cNvSpPr/>
          <p:nvPr/>
        </p:nvSpPr>
        <p:spPr>
          <a:xfrm>
            <a:off x="6482151" y="5274039"/>
            <a:ext cx="1080000" cy="486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Ajustes vigentes</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50" name="Conector recto de flecha 47"/>
          <p:cNvCxnSpPr>
            <a:cxnSpLocks/>
          </p:cNvCxnSpPr>
          <p:nvPr/>
        </p:nvCxnSpPr>
        <p:spPr>
          <a:xfrm>
            <a:off x="7022151" y="5004039"/>
            <a:ext cx="0" cy="27000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51" name="CuadroTexto 176"/>
          <p:cNvSpPr txBox="1"/>
          <p:nvPr/>
        </p:nvSpPr>
        <p:spPr>
          <a:xfrm>
            <a:off x="7058151" y="5022039"/>
            <a:ext cx="288000" cy="162000"/>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91" b="0" i="0" u="none" strike="noStrike" kern="1200" cap="none" spc="0" normalizeH="0" baseline="0">
                <a:ln>
                  <a:noFill/>
                </a:ln>
                <a:solidFill>
                  <a:srgbClr val="696158"/>
                </a:solidFill>
                <a:effectLst/>
                <a:uLnTx/>
                <a:uFillTx/>
                <a:latin typeface="Calibri"/>
                <a:ea typeface="+mn-ea"/>
                <a:cs typeface="+mn-cs"/>
              </a:rPr>
              <a:t>No</a:t>
            </a:r>
          </a:p>
        </p:txBody>
      </p:sp>
    </p:spTree>
  </p:cSld>
  <p:clrMapOvr>
    <a:masterClrMapping/>
  </p:clrMapOvr>
  <mc:AlternateContent>
    <mc:Choice Requires="p14">
      <p:transition p14:dur="250">
        <p:fade/>
      </p:transition>
    </mc:Choice>
    <mc:Fallback>
      <p:transition>
        <p:fade/>
      </p:transition>
    </mc:Fallback>
  </mc:AlternateContent>
</p:sld>
</file>

<file path=ppt/slides/slide55.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E</a:t>
            </a:r>
            <a:r>
              <a:rPr lang="es-CL" sz="2400">
                <a:solidFill>
                  <a:schemeClr val="tx1"/>
                </a:solidFill>
              </a:rPr>
              <a:t>.1 Actividades y tareas| </a:t>
            </a:r>
            <a:r>
              <a:rPr lang="es-CL" sz="2400"/>
              <a:t>Remuneración y compensación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4435740"/>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Recopilación de antecedentes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Recopilar datos internos de rentas actuales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Incorporar datos de evaluaciones de desempeño y antigüedad</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Analizar el presupuesto disponible para el ajuste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rowSpan="5">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Diagnóstico de equidad y competitividad</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Comparar sueldos actuales con la estructura definida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Calcular el compa-ratio de cada persona: sueldo dividido por el punto medio de su banda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diferencias internas y frente al mercado laboral</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Identificar riesgos de rotación o pérdida de personal clave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Priorizar cargos y áreas críticas que requieren ajuste</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rowSpan="5">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Aplicar mecanismos de ajuste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Mecanismo 1 · movimiento de la estructura por IPC y mercado (anual y para todos)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Mecanismo 2 · aumento por mérito dentro de la banda (anual, según nota de desempeño)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Mecanismo 2 · aplicar la matriz de mérito: nota de desempeño por cuartil de compa-ratio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Mecanismo 3 · ajuste por equidad o mercado (fuera de ciclo)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Mecanismo 4 · aumento por promoción a grado superior (fuera de ciclo)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Remuneración y compensación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7" name="Rectangle: Rounded Corners 20"/>
          <p:cNvSpPr/>
          <p:nvPr/>
        </p:nvSpPr>
        <p:spPr>
          <a:xfrm>
            <a:off x="363262" y="18849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E.1.1</a:t>
            </a:r>
          </a:p>
        </p:txBody>
      </p:sp>
      <p:sp>
        <p:nvSpPr>
          <p:cNvPr id="8" name="Rectangle: Rounded Corners 20"/>
          <p:cNvSpPr/>
          <p:nvPr/>
        </p:nvSpPr>
        <p:spPr>
          <a:xfrm>
            <a:off x="363262" y="2943588"/>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E.1.2</a:t>
            </a:r>
          </a:p>
        </p:txBody>
      </p:sp>
      <p:sp>
        <p:nvSpPr>
          <p:cNvPr id="9" name="Rectangle: Rounded Corners 20"/>
          <p:cNvSpPr/>
          <p:nvPr/>
        </p:nvSpPr>
        <p:spPr>
          <a:xfrm>
            <a:off x="363262" y="4575933"/>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E.1.3</a:t>
            </a:r>
          </a:p>
        </p:txBody>
      </p:sp>
    </p:spTree>
  </p:cSld>
  <p:clrMapOvr>
    <a:masterClrMapping/>
  </p:clrMapOvr>
  <mc:AlternateContent>
    <mc:Choice Requires="p14">
      <p:transition p14:dur="250">
        <p:fade/>
      </p:transition>
    </mc:Choice>
    <mc:Fallback>
      <p:transition>
        <p:fade/>
      </p:transition>
    </mc:Fallback>
  </mc:AlternateContent>
</p:sld>
</file>

<file path=ppt/slides/slide56.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E</a:t>
            </a:r>
            <a:r>
              <a:rPr lang="es-CL" sz="2400">
                <a:solidFill>
                  <a:schemeClr val="tx1"/>
                </a:solidFill>
              </a:rPr>
              <a:t>.1 Actividades y tareas| </a:t>
            </a:r>
            <a:r>
              <a:rPr lang="es-CL" sz="2400"/>
              <a:t>Remuneración y compensación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2125634"/>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4">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Diseño y aprobación de la propuesta</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Diseñar alternativas de ajuste salarial y de beneficios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Revisar el costo de la propuesta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Presentar la propuesta a Gerencia de Personas y negocios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408891">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Ajustar, definir versión final y realizar el flujo de aprobación</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Implementación en remuneraciones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Ingresar los ajustes en el sistema de remuneraciones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Ajuste de procedimientos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Ajustar los procedimientos ante desviaciones detectadas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Remuneración y compensación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7" name="Rectangle: Rounded Corners 20"/>
          <p:cNvSpPr/>
          <p:nvPr/>
        </p:nvSpPr>
        <p:spPr>
          <a:xfrm>
            <a:off x="363262" y="2089427"/>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E.1.4</a:t>
            </a:r>
          </a:p>
        </p:txBody>
      </p:sp>
      <p:sp>
        <p:nvSpPr>
          <p:cNvPr id="8" name="Rectangle: Rounded Corners 20"/>
          <p:cNvSpPr/>
          <p:nvPr/>
        </p:nvSpPr>
        <p:spPr>
          <a:xfrm>
            <a:off x="363262" y="279636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E.1.5</a:t>
            </a:r>
          </a:p>
        </p:txBody>
      </p:sp>
      <p:sp>
        <p:nvSpPr>
          <p:cNvPr id="9" name="Rectangle: Rounded Corners 20"/>
          <p:cNvSpPr/>
          <p:nvPr/>
        </p:nvSpPr>
        <p:spPr>
          <a:xfrm>
            <a:off x="363262" y="306921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E.1.6</a:t>
            </a:r>
          </a:p>
        </p:txBody>
      </p:sp>
    </p:spTree>
  </p:cSld>
  <p:clrMapOvr>
    <a:masterClrMapping/>
  </p:clrMapOvr>
  <mc:AlternateContent>
    <mc:Choice Requires="p14">
      <p:transition p14:dur="250">
        <p:fade/>
      </p:transition>
    </mc:Choice>
    <mc:Fallback>
      <p:transition>
        <p:fade/>
      </p:transition>
    </mc:Fallback>
  </mc:AlternateContent>
</p:sld>
</file>

<file path=ppt/slides/slide57.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E.2 Flujograma subproceso| </a:t>
            </a:r>
            <a:r>
              <a:rPr lang="es-CL">
                <a:solidFill>
                  <a:srgbClr val="BFB800"/>
                </a:solidFill>
              </a:rPr>
              <a:t>Beneficios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a:solidFill>
                  <a:srgbClr val="EA7600"/>
                </a:solidFill>
                <a:ea typeface="Calibri"/>
                <a:cs typeface="Calibri"/>
              </a:rPr>
              <a:t>Incorporar y aplicar los beneficios definidos, verificando que los ajustes se reflejen correctamente en la nómina.</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a:solidFill>
                    <a:srgbClr val="EA7600"/>
                  </a:solidFill>
                  <a:latin typeface="+mn-lt"/>
                  <a:ea typeface="Calibri"/>
                  <a:cs typeface="Calibri"/>
                </a:rPr>
                <a:t>Remuneraciones</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a:solidFill>
                    <a:schemeClr val="tx1"/>
                  </a:solidFill>
                  <a:latin typeface="+mn-lt"/>
                  <a:ea typeface="Calibri"/>
                  <a:cs typeface="Calibri"/>
                </a:rPr>
                <a:t>Plataformas de beneficios</a:t>
              </a:r>
              <a:endParaRPr lang="es-ES" sz="1200">
                <a:solidFill>
                  <a:schemeClr val="tx1"/>
                </a:solidFill>
                <a:latin typeface="+mn-lt"/>
                <a:ea typeface="Calibri"/>
                <a:cs typeface="Calibri"/>
              </a:endParaRPr>
            </a:p>
            <a:p>
              <a:pPr marL="377825" lvl="1" indent="-251460">
                <a:buFont typeface="Trebuchet MS,Sans-Serif" panose="020B0603020202020204" pitchFamily="34" charset="0"/>
              </a:pPr>
              <a:r>
                <a:rPr lang="es-CL" sz="1200">
                  <a:solidFill>
                    <a:schemeClr val="tx1"/>
                  </a:solidFill>
                  <a:latin typeface="+mn-lt"/>
                  <a:ea typeface="Calibri"/>
                  <a:cs typeface="Calibri"/>
                </a:rPr>
                <a:t>Sistema de remuneraciones</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a:solidFill>
                    <a:srgbClr val="EA7600"/>
                  </a:solidFill>
                  <a:ea typeface="Calibri"/>
                  <a:cs typeface="Calibri"/>
                </a:rPr>
                <a:t>Desviaciones en nómina</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a:solidFill>
                    <a:srgbClr val="EA7600"/>
                  </a:solidFill>
                  <a:latin typeface="+mn-lt"/>
                  <a:cs typeface="Calibri"/>
                  <a:sym typeface="+mn-lt"/>
                </a:rPr>
                <a:t>SG Compensaciones y Beneficios</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Beneficios</a:t>
            </a:r>
          </a:p>
        </p:txBody>
      </p:sp>
      <p:sp>
        <p:nvSpPr>
          <p:cNvPr id="23" name="Oval 34"/>
          <p:cNvSpPr/>
          <p:nvPr/>
        </p:nvSpPr>
        <p:spPr>
          <a:xfrm>
            <a:off x="1859428" y="3288539"/>
            <a:ext cx="1080000" cy="648000"/>
          </a:xfrm>
          <a:prstGeom prst="ellipse">
            <a:avLst/>
          </a:prstGeom>
          <a:solidFill>
            <a:srgbClr val="EEF8E4"/>
          </a:solidFill>
          <a:ln w="15240" cap="rnd" cmpd="sng" algn="ctr">
            <a:solidFill>
              <a:srgbClr val="92D05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800">
                <a:solidFill>
                  <a:srgbClr val="EA7600"/>
                </a:solidFill>
                <a:latin typeface="Calibri"/>
              </a:rPr>
              <a:t>Ajustes aprobados</a:t>
            </a:r>
          </a:p>
        </p:txBody>
      </p:sp>
      <p:sp>
        <p:nvSpPr>
          <p:cNvPr id="24" name="Rectangle: Rounded Corners 39"/>
          <p:cNvSpPr/>
          <p:nvPr/>
        </p:nvSpPr>
        <p:spPr>
          <a:xfrm>
            <a:off x="4572984" y="3288539"/>
            <a:ext cx="936000" cy="648000"/>
          </a:xfrm>
          <a:prstGeom prst="roundRect">
            <a:avLst>
              <a:gd name="adj" fmla="val 9524"/>
            </a:avLst>
          </a:prstGeom>
          <a:solidFill>
            <a:schemeClr val="tx2">
              <a:lumMod val="20000"/>
              <a:lumOff val="80000"/>
            </a:schemeClr>
          </a:solidFill>
          <a:ln w="1524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Aplicación de beneficios</a:t>
            </a:r>
          </a:p>
        </p:txBody>
      </p:sp>
      <p:sp>
        <p:nvSpPr>
          <p:cNvPr id="25" name="Rectangle: Rounded Corners 40"/>
          <p:cNvSpPr/>
          <p:nvPr/>
        </p:nvSpPr>
        <p:spPr>
          <a:xfrm>
            <a:off x="4833984" y="3191339"/>
            <a:ext cx="414000" cy="180000"/>
          </a:xfrm>
          <a:prstGeom prst="roundRect">
            <a:avLst/>
          </a:prstGeom>
          <a:solidFill>
            <a:srgbClr val="EA7600"/>
          </a:solidFill>
          <a:ln w="22860"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lang="es-CL" sz="880" b="1">
                <a:solidFill>
                  <a:prstClr val="white"/>
                </a:solidFill>
                <a:latin typeface="Calibri"/>
              </a:rPr>
              <a:t>E.2.1</a:t>
            </a:r>
          </a:p>
        </p:txBody>
      </p:sp>
      <p:sp>
        <p:nvSpPr>
          <p:cNvPr id="26" name="Oval 15"/>
          <p:cNvSpPr/>
          <p:nvPr/>
        </p:nvSpPr>
        <p:spPr>
          <a:xfrm>
            <a:off x="7142540" y="3288539"/>
            <a:ext cx="1080000" cy="648000"/>
          </a:xfrm>
          <a:prstGeom prst="ellipse">
            <a:avLst/>
          </a:prstGeom>
          <a:solidFill>
            <a:srgbClr val="FFD5D5"/>
          </a:solidFill>
          <a:ln w="15240" cap="rnd"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3152" tIns="36576" rIns="73152" bIns="36576"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800" b="0" i="0" u="none" strike="noStrike" kern="1200" cap="none" spc="0" normalizeH="0" baseline="0">
                <a:ln>
                  <a:noFill/>
                </a:ln>
                <a:solidFill>
                  <a:srgbClr val="696158"/>
                </a:solidFill>
                <a:effectLst/>
                <a:uLnTx/>
                <a:uFillTx/>
                <a:latin typeface="Calibri"/>
                <a:ea typeface="+mn-ea"/>
                <a:cs typeface="+mn-cs"/>
              </a:rPr>
              <a:t>Beneficios reflejados en nómina</a:t>
            </a:r>
            <a:endParaRPr kumimoji="0" lang="es-CL" sz="800" b="0" i="0" u="none" strike="noStrike" kern="1200" cap="none" spc="0" normalizeH="0" baseline="0" noProof="0">
              <a:ln>
                <a:noFill/>
              </a:ln>
              <a:solidFill>
                <a:srgbClr val="696158"/>
              </a:solidFill>
              <a:effectLst/>
              <a:uLnTx/>
              <a:uFillTx/>
              <a:latin typeface="Calibri"/>
              <a:ea typeface="Calibri"/>
              <a:cs typeface="Calibri"/>
            </a:endParaRPr>
          </a:p>
        </p:txBody>
      </p:sp>
      <p:cxnSp>
        <p:nvCxnSpPr>
          <p:cNvPr id="27" name="Conector recto de flecha 47"/>
          <p:cNvCxnSpPr>
            <a:cxnSpLocks/>
          </p:cNvCxnSpPr>
          <p:nvPr/>
        </p:nvCxnSpPr>
        <p:spPr>
          <a:xfrm>
            <a:off x="2939428" y="3612539"/>
            <a:ext cx="1633556"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47"/>
          <p:cNvCxnSpPr>
            <a:cxnSpLocks/>
          </p:cNvCxnSpPr>
          <p:nvPr/>
        </p:nvCxnSpPr>
        <p:spPr>
          <a:xfrm>
            <a:off x="5508984" y="3612539"/>
            <a:ext cx="1633556" cy="0"/>
          </a:xfrm>
          <a:prstGeom prst="straightConnector1">
            <a:avLst/>
          </a:prstGeom>
          <a:ln w="9525" cap="rnd">
            <a:solidFill>
              <a:schemeClr val="accent5"/>
            </a:solidFill>
            <a:prstDash val="solid"/>
            <a:roun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5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E</a:t>
            </a:r>
            <a:r>
              <a:rPr lang="es-CL" sz="2400">
                <a:solidFill>
                  <a:schemeClr val="tx1"/>
                </a:solidFill>
              </a:rPr>
              <a:t>.2 Actividades y tareas| </a:t>
            </a:r>
            <a:r>
              <a:rPr lang="es-CL" sz="2400"/>
              <a:t>Beneficios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1171050"/>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44045">
                <a:tc rowSpan="3">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rgbClr val="EA7600"/>
                          </a:solidFill>
                          <a:latin typeface="+mn-lt"/>
                          <a:ea typeface="+mn-ea"/>
                          <a:cs typeface="+mn-cs"/>
                        </a:rPr>
                        <a:t>Aplicación de beneficios</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Incorporar los beneficios en las plataformas correspondientes</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Aplicar los beneficios según lo establecido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r h="244045">
                <a:tc vMerge="1">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a:solidFill>
                            <a:schemeClr val="tx1"/>
                          </a:solidFill>
                          <a:latin typeface="+mn-lt"/>
                          <a:ea typeface="+mn-ea"/>
                          <a:cs typeface="+mn-cs"/>
                        </a:rPr>
                        <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a:solidFill>
                            <a:schemeClr val="tx1"/>
                          </a:solidFill>
                          <a:effectLst/>
                          <a:latin typeface="+mn-lt"/>
                          <a:ea typeface="+mn-ea"/>
                          <a:cs typeface="+mn-cs"/>
                        </a:rPr>
                        <a:t>Verificar que los ajustes se reflejen en la nómina</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Beneficios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Personas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Compensaciones y beneficios</a:t>
            </a:r>
          </a:p>
        </p:txBody>
      </p:sp>
      <p:sp>
        <p:nvSpPr>
          <p:cNvPr id="7" name="Rectangle: Rounded Corners 20"/>
          <p:cNvSpPr/>
          <p:nvPr/>
        </p:nvSpPr>
        <p:spPr>
          <a:xfrm>
            <a:off x="363262" y="1884981"/>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E.2.1</a:t>
            </a:r>
          </a:p>
        </p:txBody>
      </p:sp>
    </p:spTree>
  </p:cSld>
  <p:clrMapOvr>
    <a:masterClrMapping/>
  </p:clrMapOvr>
  <mc:AlternateContent>
    <mc:Choice Requires="p14">
      <p:transition p14:dur="250">
        <p:fad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58</Slides>
  <Notes>0</Notes>
  <HiddenSlides>0</HiddenSlides>
  <MMClips>0</MMClips>
  <ScaleCrop>false</ScaleCrop>
  <HeadingPairs>
    <vt:vector size="4" baseType="variant">
      <vt:variant>
        <vt:lpstr>Theme</vt:lpstr>
      </vt:variant>
      <vt:variant>
        <vt:i4>2</vt:i4>
      </vt:variant>
      <vt:variant>
        <vt:lpstr>Slide Titles</vt:lpstr>
      </vt:variant>
      <vt:variant>
        <vt:i4>58</vt:i4>
      </vt:variant>
    </vt:vector>
  </HeadingPairs>
  <TitlesOfParts>
    <vt:vector size="60" baseType="lpstr">
      <vt:lpstr>Arauco Grid 16:9</vt:lpstr>
      <vt:lpstr>1_Arauco Grid 16:9</vt:lpstr>
      <vt:lpstr>Macroprocesos | Negocio de celulosa cuenta con 21 macroprocesos</vt:lpstr>
      <vt:lpstr>1.1 Apertura macroproceso| Gestión de Personas</vt:lpstr>
      <vt:lpstr>1.2 Ficha resumen| Gestión de Personas</vt:lpstr>
      <vt:lpstr>1.3 SIPOC del macroproceso| Gestión de Personas</vt:lpstr>
      <vt:lpstr>A. Ficha resumen| Necesidad estratégica y plan de dotación</vt:lpstr>
      <vt:lpstr>A. SIPOC| Necesidad estratégica y plan de dotación</vt:lpstr>
      <vt:lpstr>A.1 Flujograma subproceso| Identificar necesidades estratégicas de RRHH</vt:lpstr>
      <vt:lpstr>A.1 Actividades y tareas| Identificar necesidades estratégicas de RRHH</vt:lpstr>
      <vt:lpstr>A.2 Flujograma subproceso| Estimar dotación futura</vt:lpstr>
      <vt:lpstr>A.2 Actividades y tareas| Estimar dotación futura</vt:lpstr>
      <vt:lpstr>A.3 Flujograma subproceso| Diseñar plan de dotación / organigrama</vt:lpstr>
      <vt:lpstr>A.3 Actividades y tareas| Diseñar plan de dotación / organigrama</vt:lpstr>
      <vt:lpstr>1.4 Apertura macroproceso| Gestión de Personas</vt:lpstr>
      <vt:lpstr>B. Ficha resumen| Valoración de cargo y banda de renta</vt:lpstr>
      <vt:lpstr>B. SIPOC| Valoración de cargo y banda de renta</vt:lpstr>
      <vt:lpstr>B.1 Flujograma subproceso| Benchmark de remuneración</vt:lpstr>
      <vt:lpstr>B.1 Actividades y tareas| Benchmark de remuneración</vt:lpstr>
      <vt:lpstr>B.2 Flujograma subproceso| Valoración del cargo y definición de bandas salariales</vt:lpstr>
      <vt:lpstr>B.2 Actividades y tareas| Valoración del cargo y definición de bandas salariales</vt:lpstr>
      <vt:lpstr>B.3 Flujograma subproceso| Administración periódica del marco de compensación</vt:lpstr>
      <vt:lpstr>B.3 Actividades y tareas| Administración periódica del marco de compensación</vt:lpstr>
      <vt:lpstr>B.4 Flujograma subproceso| Gobierno y publicación del marco de compensaciones</vt:lpstr>
      <vt:lpstr>B.4 Actividades y tareas| Gobierno y publicación del marco de compensaciones</vt:lpstr>
      <vt:lpstr>1.4 Apertura macroproceso| Gestión de Personas</vt:lpstr>
      <vt:lpstr>C. Ficha resumen| Atracción y selección de personas</vt:lpstr>
      <vt:lpstr>C. SIPOC| Atracción y selección de personas</vt:lpstr>
      <vt:lpstr>C.1 Flujograma subproceso| Requisición y apertura de vacante</vt:lpstr>
      <vt:lpstr>C.1 Actividades y tareas| Requisición y apertura de vacante</vt:lpstr>
      <vt:lpstr>C.2 Flujograma subproceso| Reclutamiento y preselección</vt:lpstr>
      <vt:lpstr>C.2 Actividades y tareas| Reclutamiento y preselección</vt:lpstr>
      <vt:lpstr>C.3 Flujograma subproceso| Evaluación y selección de candidatos</vt:lpstr>
      <vt:lpstr>C.3 Actividades y tareas| Evaluación y selección de candidatos</vt:lpstr>
      <vt:lpstr>C.3 Actividades y tareas| Evaluación y selección de candidatos</vt:lpstr>
      <vt:lpstr>C.4 Flujograma subproceso| Verificación preocupacional y contratación</vt:lpstr>
      <vt:lpstr>C.4 Actividades y tareas| Verificación preocupacional y contratación</vt:lpstr>
      <vt:lpstr>C.4 Actividades y tareas| Verificación preocupacional y contratación</vt:lpstr>
      <vt:lpstr>C.5 Flujograma subproceso| Incorporación y onboarding</vt:lpstr>
      <vt:lpstr>C.5 Actividades y tareas| Incorporación y onboarding</vt:lpstr>
      <vt:lpstr>1.4 Apertura macroproceso| Gestión de Personas</vt:lpstr>
      <vt:lpstr>D. Ficha resumen| Desarrollo organizacional</vt:lpstr>
      <vt:lpstr>D. SIPOC| Desarrollo organizacional</vt:lpstr>
      <vt:lpstr>D.1 Flujograma subproceso| Formación</vt:lpstr>
      <vt:lpstr>D.1 Actividades y tareas| Formación</vt:lpstr>
      <vt:lpstr>D.1 Actividades y tareas| Formación</vt:lpstr>
      <vt:lpstr>D.2 Flujograma subproceso| Gestión del desempeño</vt:lpstr>
      <vt:lpstr>D.2 Actividades y tareas| Gestión del desempeño</vt:lpstr>
      <vt:lpstr>D.2 Actividades y tareas| Gestión del desempeño</vt:lpstr>
      <vt:lpstr>D.2 Actividades y tareas| Gestión del desempeño</vt:lpstr>
      <vt:lpstr>D.3 Flujograma subproceso| Carrera, sucesión y movilidad</vt:lpstr>
      <vt:lpstr>D.3 Actividades y tareas| Carrera, sucesión y movilidad</vt:lpstr>
      <vt:lpstr>1.4 Apertura macroproceso| Gestión de Personas</vt:lpstr>
      <vt:lpstr>E. Ficha resumen| Compensaciones y beneficios</vt:lpstr>
      <vt:lpstr>E. SIPOC| Compensaciones y beneficios</vt:lpstr>
      <vt:lpstr>E.1 Flujograma subproceso| Remuneración y compensación</vt:lpstr>
      <vt:lpstr>E.1 Actividades y tareas| Remuneración y compensación</vt:lpstr>
      <vt:lpstr>E.1 Actividades y tareas| Remuneración y compensación</vt:lpstr>
      <vt:lpstr>E.2 Flujograma subproceso| Beneficios</vt:lpstr>
      <vt:lpstr>E.2 Actividades y tareas| Beneficios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 Procesos · Gestión de Personas</dc:title>
  <dc:creator>Bastián Darwit Vera</dc:creator>
  <cp:lastModifiedBy>Bastián Darwit Vera</cp:lastModifiedBy>
  <cp:revision>1</cp:revision>
  <dcterms:created xsi:type="dcterms:W3CDTF">2026-10-14T18:44:55Z</dcterms:created>
  <dcterms:modified xsi:type="dcterms:W3CDTF">2026-10-14T18:44:55Z</dcterms:modified>
</cp:coreProperties>
</file>